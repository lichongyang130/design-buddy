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3167360" cy="8778240"/>
  <p:notesSz cx="8778240" cy="1316736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1722"/>
        </a:solidFill>
      </p:bgPr>
    </p:bg>
    <p:spTree>
      <p:nvGrpSpPr>
        <p:cNvPr id="1" name=""/>
        <p:cNvGrpSpPr/>
        <p:nvPr/>
      </p:nvGrpSpPr>
      <p:grpSpPr>
        <a:xfrm>
          <a:off x="0" y="0"/>
          <a:ext cx="0" cy="0"/>
          <a:chOff x="0" y="0"/>
          <a:chExt cx="0" cy="0"/>
        </a:xfrm>
      </p:grpSpPr>
      <p:sp>
        <p:nvSpPr>
          <p:cNvPr id="2" name="Shape 0"/>
          <p:cNvSpPr/>
          <p:nvPr/>
        </p:nvSpPr>
        <p:spPr>
          <a:xfrm>
            <a:off x="1243584" y="329184"/>
            <a:ext cx="0" cy="8119872"/>
          </a:xfrm>
          <a:prstGeom prst="line">
            <a:avLst/>
          </a:prstGeom>
          <a:noFill/>
          <a:ln w="10160">
            <a:solidFill>
              <a:srgbClr val="776072"/>
            </a:solidFill>
            <a:prstDash val="solid"/>
          </a:ln>
        </p:spPr>
      </p:sp>
      <p:sp>
        <p:nvSpPr>
          <p:cNvPr id="3" name="Text 1"/>
          <p:cNvSpPr/>
          <p:nvPr/>
        </p:nvSpPr>
        <p:spPr>
          <a:xfrm>
            <a:off x="393192" y="457200"/>
            <a:ext cx="685800" cy="457200"/>
          </a:xfrm>
          <a:prstGeom prst="rect">
            <a:avLst/>
          </a:prstGeom>
          <a:noFill/>
          <a:ln/>
        </p:spPr>
        <p:txBody>
          <a:bodyPr wrap="square" lIns="0" tIns="0" rIns="0" bIns="0" rtlCol="0" anchor="t">
            <a:normAutofit/>
          </a:bodyPr>
          <a:lstStyle/>
          <a:p>
            <a:pPr indent="0" marL="0">
              <a:buNone/>
            </a:pPr>
            <a:r>
              <a:rPr lang="en-US" sz="600" dirty="0">
                <a:solidFill>
                  <a:srgbClr val="C0AAB9"/>
                </a:solidFill>
                <a:latin typeface="Arial" pitchFamily="34" charset="0"/>
                <a:ea typeface="Arial" pitchFamily="34" charset="-122"/>
                <a:cs typeface="Arial" pitchFamily="34" charset="-120"/>
              </a:rPr>
              <a:t>DESIGN BUDDY</a:t>
            </a:r>
            <a:endParaRPr lang="en-US" sz="600" dirty="0"/>
          </a:p>
          <a:p>
            <a:pPr indent="0" marL="0">
              <a:buNone/>
            </a:pPr>
            <a:r>
              <a:rPr lang="en-US" sz="600" dirty="0">
                <a:solidFill>
                  <a:srgbClr val="C0AAB9"/>
                </a:solidFill>
                <a:latin typeface="Arial" pitchFamily="34" charset="0"/>
                <a:ea typeface="Arial" pitchFamily="34" charset="-122"/>
                <a:cs typeface="Arial" pitchFamily="34" charset="-120"/>
              </a:rPr>
              <a:t>CREATIVE EXERCISE</a:t>
            </a:r>
            <a:endParaRPr lang="en-US" sz="600" dirty="0"/>
          </a:p>
        </p:txBody>
      </p:sp>
      <p:sp>
        <p:nvSpPr>
          <p:cNvPr id="4" name="Text 2"/>
          <p:cNvSpPr/>
          <p:nvPr/>
        </p:nvSpPr>
        <p:spPr>
          <a:xfrm>
            <a:off x="502920" y="1920240"/>
            <a:ext cx="502920" cy="4480560"/>
          </a:xfrm>
          <a:prstGeom prst="rect">
            <a:avLst/>
          </a:prstGeom>
          <a:noFill/>
          <a:ln/>
        </p:spPr>
        <p:txBody>
          <a:bodyPr wrap="square" lIns="0" tIns="0" rIns="0" bIns="0" rtlCol="0" anchor="t">
            <a:normAutofit/>
          </a:bodyPr>
          <a:lstStyle/>
          <a:p>
            <a:pPr algn="ctr" indent="0" marL="0">
              <a:buNone/>
            </a:pPr>
            <a:r>
              <a:rPr lang="en-US" sz="2500" dirty="0">
                <a:solidFill>
                  <a:srgbClr val="F0AB8A"/>
                </a:solidFill>
                <a:latin typeface="Georgia" pitchFamily="34" charset="0"/>
                <a:ea typeface="Georgia" pitchFamily="34" charset="-122"/>
                <a:cs typeface="Georgia" pitchFamily="34" charset="-120"/>
              </a:rPr>
              <a:t>A</a:t>
            </a:r>
            <a:endParaRPr lang="en-US" sz="2500" dirty="0"/>
          </a:p>
          <a:p>
            <a:pPr algn="ctr" indent="0" marL="0">
              <a:buNone/>
            </a:pPr>
            <a:r>
              <a:rPr lang="en-US" sz="2500" dirty="0">
                <a:solidFill>
                  <a:srgbClr val="F0AB8A"/>
                </a:solidFill>
                <a:latin typeface="Georgia" pitchFamily="34" charset="0"/>
                <a:ea typeface="Georgia" pitchFamily="34" charset="-122"/>
                <a:cs typeface="Georgia" pitchFamily="34" charset="-120"/>
              </a:rPr>
              <a:t>F</a:t>
            </a:r>
            <a:endParaRPr lang="en-US" sz="2500" dirty="0"/>
          </a:p>
          <a:p>
            <a:pPr algn="ctr" indent="0" marL="0">
              <a:buNone/>
            </a:pPr>
            <a:r>
              <a:rPr lang="en-US" sz="2500" dirty="0">
                <a:solidFill>
                  <a:srgbClr val="F0AB8A"/>
                </a:solidFill>
                <a:latin typeface="Georgia" pitchFamily="34" charset="0"/>
                <a:ea typeface="Georgia" pitchFamily="34" charset="-122"/>
                <a:cs typeface="Georgia" pitchFamily="34" charset="-120"/>
              </a:rPr>
              <a:t>T</a:t>
            </a:r>
            <a:endParaRPr lang="en-US" sz="2500" dirty="0"/>
          </a:p>
          <a:p>
            <a:pPr algn="ctr" indent="0" marL="0">
              <a:buNone/>
            </a:pPr>
            <a:r>
              <a:rPr lang="en-US" sz="2500" dirty="0">
                <a:solidFill>
                  <a:srgbClr val="F0AB8A"/>
                </a:solidFill>
                <a:latin typeface="Georgia" pitchFamily="34" charset="0"/>
                <a:ea typeface="Georgia" pitchFamily="34" charset="-122"/>
                <a:cs typeface="Georgia" pitchFamily="34" charset="-120"/>
              </a:rPr>
              <a:t>E</a:t>
            </a:r>
            <a:endParaRPr lang="en-US" sz="2500" dirty="0"/>
          </a:p>
          <a:p>
            <a:pPr algn="ctr" indent="0" marL="0">
              <a:buNone/>
            </a:pPr>
            <a:r>
              <a:rPr lang="en-US" sz="2500" dirty="0">
                <a:solidFill>
                  <a:srgbClr val="F0AB8A"/>
                </a:solidFill>
                <a:latin typeface="Georgia" pitchFamily="34" charset="0"/>
                <a:ea typeface="Georgia" pitchFamily="34" charset="-122"/>
                <a:cs typeface="Georgia" pitchFamily="34" charset="-120"/>
              </a:rPr>
              <a:t>R</a:t>
            </a:r>
            <a:endParaRPr lang="en-US" sz="2500" dirty="0"/>
          </a:p>
          <a:p>
            <a:pPr algn="ctr" indent="0" marL="0">
              <a:buNone/>
            </a:pPr>
            <a:r>
              <a:rPr lang="en-US" sz="2500" dirty="0">
                <a:solidFill>
                  <a:srgbClr val="F0AB8A"/>
                </a:solidFill>
                <a:latin typeface="Georgia" pitchFamily="34" charset="0"/>
                <a:ea typeface="Georgia" pitchFamily="34" charset="-122"/>
                <a:cs typeface="Georgia" pitchFamily="34" charset="-120"/>
              </a:rPr>
              <a:t>G</a:t>
            </a:r>
            <a:endParaRPr lang="en-US" sz="2500" dirty="0"/>
          </a:p>
          <a:p>
            <a:pPr algn="ctr" indent="0" marL="0">
              <a:buNone/>
            </a:pPr>
            <a:r>
              <a:rPr lang="en-US" sz="2500" dirty="0">
                <a:solidFill>
                  <a:srgbClr val="F0AB8A"/>
                </a:solidFill>
                <a:latin typeface="Georgia" pitchFamily="34" charset="0"/>
                <a:ea typeface="Georgia" pitchFamily="34" charset="-122"/>
                <a:cs typeface="Georgia" pitchFamily="34" charset="-120"/>
              </a:rPr>
              <a:t>L</a:t>
            </a:r>
            <a:endParaRPr lang="en-US" sz="2500" dirty="0"/>
          </a:p>
          <a:p>
            <a:pPr algn="ctr" indent="0" marL="0">
              <a:buNone/>
            </a:pPr>
            <a:r>
              <a:rPr lang="en-US" sz="2500" dirty="0">
                <a:solidFill>
                  <a:srgbClr val="F0AB8A"/>
                </a:solidFill>
                <a:latin typeface="Georgia" pitchFamily="34" charset="0"/>
                <a:ea typeface="Georgia" pitchFamily="34" charset="-122"/>
                <a:cs typeface="Georgia" pitchFamily="34" charset="-120"/>
              </a:rPr>
              <a:t>O</a:t>
            </a:r>
            <a:endParaRPr lang="en-US" sz="2500" dirty="0"/>
          </a:p>
          <a:p>
            <a:pPr algn="ctr" indent="0" marL="0">
              <a:buNone/>
            </a:pPr>
            <a:r>
              <a:rPr lang="en-US" sz="2500" dirty="0">
                <a:solidFill>
                  <a:srgbClr val="F0AB8A"/>
                </a:solidFill>
                <a:latin typeface="Georgia" pitchFamily="34" charset="0"/>
                <a:ea typeface="Georgia" pitchFamily="34" charset="-122"/>
                <a:cs typeface="Georgia" pitchFamily="34" charset="-120"/>
              </a:rPr>
              <a:t>W</a:t>
            </a:r>
            <a:endParaRPr lang="en-US" sz="2500" dirty="0"/>
          </a:p>
        </p:txBody>
      </p:sp>
      <p:sp>
        <p:nvSpPr>
          <p:cNvPr id="5" name="Text 3"/>
          <p:cNvSpPr/>
          <p:nvPr/>
        </p:nvSpPr>
        <p:spPr>
          <a:xfrm>
            <a:off x="402336" y="7022592"/>
            <a:ext cx="731520" cy="594360"/>
          </a:xfrm>
          <a:prstGeom prst="rect">
            <a:avLst/>
          </a:prstGeom>
          <a:noFill/>
          <a:ln/>
        </p:spPr>
        <p:txBody>
          <a:bodyPr wrap="square" lIns="0" tIns="0" rIns="0" bIns="0" rtlCol="0" anchor="t">
            <a:normAutofit/>
          </a:bodyPr>
          <a:lstStyle/>
          <a:p>
            <a:pPr indent="0" marL="0">
              <a:buNone/>
            </a:pPr>
            <a:r>
              <a:rPr lang="en-US" sz="4200" dirty="0">
                <a:solidFill>
                  <a:srgbClr val="F0AB8A"/>
                </a:solidFill>
                <a:latin typeface="Georgia" pitchFamily="34" charset="0"/>
                <a:ea typeface="Georgia" pitchFamily="34" charset="-122"/>
                <a:cs typeface="Georgia" pitchFamily="34" charset="-120"/>
              </a:rPr>
              <a:t>01</a:t>
            </a:r>
            <a:endParaRPr lang="en-US" sz="4200" dirty="0"/>
          </a:p>
        </p:txBody>
      </p:sp>
      <p:sp>
        <p:nvSpPr>
          <p:cNvPr id="6" name="Text 4"/>
          <p:cNvSpPr/>
          <p:nvPr/>
        </p:nvSpPr>
        <p:spPr>
          <a:xfrm>
            <a:off x="402336" y="7818120"/>
            <a:ext cx="731520" cy="411480"/>
          </a:xfrm>
          <a:prstGeom prst="rect">
            <a:avLst/>
          </a:prstGeom>
          <a:noFill/>
          <a:ln/>
        </p:spPr>
        <p:txBody>
          <a:bodyPr wrap="square" lIns="0" tIns="0" rIns="0" bIns="0" rtlCol="0" anchor="t">
            <a:normAutofit/>
          </a:bodyPr>
          <a:lstStyle/>
          <a:p>
            <a:pPr indent="0" marL="0">
              <a:buNone/>
            </a:pPr>
            <a:r>
              <a:rPr lang="en-US" sz="700" dirty="0">
                <a:solidFill>
                  <a:srgbClr val="C0AAB9"/>
                </a:solidFill>
                <a:latin typeface="Arial" pitchFamily="34" charset="0"/>
                <a:ea typeface="Arial" pitchFamily="34" charset="-122"/>
                <a:cs typeface="Arial" pitchFamily="34" charset="-120"/>
              </a:rPr>
              <a:t>ACT 1 / 5</a:t>
            </a:r>
            <a:endParaRPr lang="en-US" sz="700" dirty="0"/>
          </a:p>
          <a:p>
            <a:pPr indent="0" marL="0">
              <a:buNone/>
            </a:pPr>
            <a:r>
              <a:rPr lang="en-US" sz="700" dirty="0">
                <a:solidFill>
                  <a:srgbClr val="C0AAB9"/>
                </a:solidFill>
                <a:latin typeface="Arial" pitchFamily="34" charset="0"/>
                <a:ea typeface="Arial" pitchFamily="34" charset="-122"/>
                <a:cs typeface="Arial" pitchFamily="34" charset="-120"/>
              </a:rPr>
              <a:t>BEAT 1 / 6</a:t>
            </a:r>
            <a:endParaRPr lang="en-US" sz="700" dirty="0"/>
          </a:p>
        </p:txBody>
      </p:sp>
      <p:sp>
        <p:nvSpPr>
          <p:cNvPr id="7" name="Text 5"/>
          <p:cNvSpPr/>
          <p:nvPr/>
        </p:nvSpPr>
        <p:spPr>
          <a:xfrm>
            <a:off x="1499616" y="347472"/>
            <a:ext cx="9144000" cy="164592"/>
          </a:xfrm>
          <a:prstGeom prst="rect">
            <a:avLst/>
          </a:prstGeom>
          <a:noFill/>
          <a:ln/>
        </p:spPr>
        <p:txBody>
          <a:bodyPr wrap="square" lIns="0" tIns="0" rIns="0" bIns="0" rtlCol="0" anchor="t">
            <a:normAutofit/>
          </a:bodyPr>
          <a:lstStyle/>
          <a:p>
            <a:pPr indent="0" marL="0">
              <a:buNone/>
            </a:pPr>
            <a:r>
              <a:rPr lang="en-US" sz="700" spc="120" kern="0" dirty="0">
                <a:solidFill>
                  <a:srgbClr val="F0AB8A"/>
                </a:solidFill>
                <a:latin typeface="Arial" pitchFamily="34" charset="0"/>
                <a:ea typeface="Arial" pitchFamily="34" charset="-122"/>
                <a:cs typeface="Arial" pitchFamily="34" charset="-120"/>
              </a:rPr>
              <a:t>ACT 1 / ARRIVAL</a:t>
            </a:r>
            <a:endParaRPr lang="en-US" sz="700" dirty="0"/>
          </a:p>
        </p:txBody>
      </p:sp>
      <p:sp>
        <p:nvSpPr>
          <p:cNvPr id="8" name="Text 6"/>
          <p:cNvSpPr/>
          <p:nvPr/>
        </p:nvSpPr>
        <p:spPr>
          <a:xfrm>
            <a:off x="1499616" y="612648"/>
            <a:ext cx="9692640" cy="594360"/>
          </a:xfrm>
          <a:prstGeom prst="rect">
            <a:avLst/>
          </a:prstGeom>
          <a:noFill/>
          <a:ln/>
        </p:spPr>
        <p:txBody>
          <a:bodyPr wrap="square" lIns="0" tIns="0" rIns="0" bIns="0" rtlCol="0" anchor="t">
            <a:normAutofit/>
          </a:bodyPr>
          <a:lstStyle/>
          <a:p>
            <a:pPr indent="0" marL="0">
              <a:buNone/>
            </a:pPr>
            <a:r>
              <a:rPr lang="en-US" sz="2800" dirty="0">
                <a:solidFill>
                  <a:srgbClr val="ECDED6"/>
                </a:solidFill>
                <a:latin typeface="Georgia" pitchFamily="34" charset="0"/>
                <a:ea typeface="Georgia" pitchFamily="34" charset="-122"/>
                <a:cs typeface="Georgia" pitchFamily="34" charset="-120"/>
              </a:rPr>
              <a:t>Begin before the curtain.</a:t>
            </a:r>
            <a:endParaRPr lang="en-US" sz="2800" dirty="0"/>
          </a:p>
        </p:txBody>
      </p:sp>
      <p:sp>
        <p:nvSpPr>
          <p:cNvPr id="9" name="Text 7"/>
          <p:cNvSpPr/>
          <p:nvPr/>
        </p:nvSpPr>
        <p:spPr>
          <a:xfrm>
            <a:off x="11475720" y="438912"/>
            <a:ext cx="1325880" cy="182880"/>
          </a:xfrm>
          <a:prstGeom prst="rect">
            <a:avLst/>
          </a:prstGeom>
          <a:noFill/>
          <a:ln/>
        </p:spPr>
        <p:txBody>
          <a:bodyPr wrap="square" lIns="0" tIns="0" rIns="0" bIns="0" rtlCol="0" anchor="t">
            <a:normAutofit/>
          </a:bodyPr>
          <a:lstStyle/>
          <a:p>
            <a:pPr algn="r" indent="0" marL="0">
              <a:buNone/>
            </a:pPr>
            <a:r>
              <a:rPr lang="en-US" sz="700" dirty="0">
                <a:solidFill>
                  <a:srgbClr val="F0AB8A"/>
                </a:solidFill>
                <a:latin typeface="Arial" pitchFamily="34" charset="0"/>
                <a:ea typeface="Arial" pitchFamily="34" charset="-122"/>
                <a:cs typeface="Arial" pitchFamily="34" charset="-120"/>
              </a:rPr>
              <a:t>LOCAL / UNMARKED</a:t>
            </a:r>
            <a:endParaRPr lang="en-US" sz="700" dirty="0"/>
          </a:p>
        </p:txBody>
      </p:sp>
      <p:sp>
        <p:nvSpPr>
          <p:cNvPr id="10" name="Shape 8"/>
          <p:cNvSpPr/>
          <p:nvPr/>
        </p:nvSpPr>
        <p:spPr>
          <a:xfrm>
            <a:off x="1499616" y="1307592"/>
            <a:ext cx="1819656" cy="448056"/>
          </a:xfrm>
          <a:prstGeom prst="rect">
            <a:avLst/>
          </a:prstGeom>
          <a:solidFill>
            <a:srgbClr val="241722"/>
          </a:solidFill>
          <a:ln w="8890">
            <a:solidFill>
              <a:srgbClr val="F0AB8A"/>
            </a:solidFill>
            <a:prstDash val="solid"/>
          </a:ln>
        </p:spPr>
      </p:sp>
      <p:sp>
        <p:nvSpPr>
          <p:cNvPr id="11" name="Text 9"/>
          <p:cNvSpPr/>
          <p:nvPr/>
        </p:nvSpPr>
        <p:spPr>
          <a:xfrm>
            <a:off x="1572768"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F0AB8A"/>
                </a:solidFill>
                <a:latin typeface="Georgia" pitchFamily="34" charset="0"/>
                <a:ea typeface="Georgia" pitchFamily="34" charset="-122"/>
                <a:cs typeface="Georgia" pitchFamily="34" charset="-120"/>
              </a:rPr>
              <a:t>1</a:t>
            </a:r>
            <a:endParaRPr lang="en-US" sz="1700" dirty="0"/>
          </a:p>
        </p:txBody>
      </p:sp>
      <p:sp>
        <p:nvSpPr>
          <p:cNvPr id="12" name="Text 10"/>
          <p:cNvSpPr/>
          <p:nvPr/>
        </p:nvSpPr>
        <p:spPr>
          <a:xfrm>
            <a:off x="1865376"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Begin before the curtain.</a:t>
            </a:r>
            <a:endParaRPr lang="en-US" sz="700" dirty="0"/>
          </a:p>
        </p:txBody>
      </p:sp>
      <p:sp>
        <p:nvSpPr>
          <p:cNvPr id="13" name="Shape 11"/>
          <p:cNvSpPr/>
          <p:nvPr/>
        </p:nvSpPr>
        <p:spPr>
          <a:xfrm>
            <a:off x="3392424" y="1307592"/>
            <a:ext cx="1819656" cy="448056"/>
          </a:xfrm>
          <a:prstGeom prst="rect">
            <a:avLst/>
          </a:prstGeom>
          <a:solidFill>
            <a:srgbClr val="241722"/>
          </a:solidFill>
          <a:ln w="8890">
            <a:solidFill>
              <a:srgbClr val="6D5768"/>
            </a:solidFill>
            <a:prstDash val="solid"/>
          </a:ln>
        </p:spPr>
      </p:sp>
      <p:sp>
        <p:nvSpPr>
          <p:cNvPr id="14" name="Text 12"/>
          <p:cNvSpPr/>
          <p:nvPr/>
        </p:nvSpPr>
        <p:spPr>
          <a:xfrm>
            <a:off x="3465576"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F0AB8A"/>
                </a:solidFill>
                <a:latin typeface="Georgia" pitchFamily="34" charset="0"/>
                <a:ea typeface="Georgia" pitchFamily="34" charset="-122"/>
                <a:cs typeface="Georgia" pitchFamily="34" charset="-120"/>
              </a:rPr>
              <a:t>2</a:t>
            </a:r>
            <a:endParaRPr lang="en-US" sz="1700" dirty="0"/>
          </a:p>
        </p:txBody>
      </p:sp>
      <p:sp>
        <p:nvSpPr>
          <p:cNvPr id="15" name="Text 13"/>
          <p:cNvSpPr/>
          <p:nvPr/>
        </p:nvSpPr>
        <p:spPr>
          <a:xfrm>
            <a:off x="3758184"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Give the room a point of view.</a:t>
            </a:r>
            <a:endParaRPr lang="en-US" sz="700" dirty="0"/>
          </a:p>
        </p:txBody>
      </p:sp>
      <p:sp>
        <p:nvSpPr>
          <p:cNvPr id="16" name="Shape 14"/>
          <p:cNvSpPr/>
          <p:nvPr/>
        </p:nvSpPr>
        <p:spPr>
          <a:xfrm>
            <a:off x="5285232" y="1307592"/>
            <a:ext cx="1819656" cy="448056"/>
          </a:xfrm>
          <a:prstGeom prst="rect">
            <a:avLst/>
          </a:prstGeom>
          <a:solidFill>
            <a:srgbClr val="241722"/>
          </a:solidFill>
          <a:ln w="8890">
            <a:solidFill>
              <a:srgbClr val="6D5768"/>
            </a:solidFill>
            <a:prstDash val="solid"/>
          </a:ln>
        </p:spPr>
      </p:sp>
      <p:sp>
        <p:nvSpPr>
          <p:cNvPr id="17" name="Text 15"/>
          <p:cNvSpPr/>
          <p:nvPr/>
        </p:nvSpPr>
        <p:spPr>
          <a:xfrm>
            <a:off x="5358384"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F0AB8A"/>
                </a:solidFill>
                <a:latin typeface="Georgia" pitchFamily="34" charset="0"/>
                <a:ea typeface="Georgia" pitchFamily="34" charset="-122"/>
                <a:cs typeface="Georgia" pitchFamily="34" charset="-120"/>
              </a:rPr>
              <a:t>3</a:t>
            </a:r>
            <a:endParaRPr lang="en-US" sz="1700" dirty="0"/>
          </a:p>
        </p:txBody>
      </p:sp>
      <p:sp>
        <p:nvSpPr>
          <p:cNvPr id="18" name="Text 16"/>
          <p:cNvSpPr/>
          <p:nvPr/>
        </p:nvSpPr>
        <p:spPr>
          <a:xfrm>
            <a:off x="5650992"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Let an object ask a question.</a:t>
            </a:r>
            <a:endParaRPr lang="en-US" sz="700" dirty="0"/>
          </a:p>
        </p:txBody>
      </p:sp>
      <p:sp>
        <p:nvSpPr>
          <p:cNvPr id="19" name="Shape 17"/>
          <p:cNvSpPr/>
          <p:nvPr/>
        </p:nvSpPr>
        <p:spPr>
          <a:xfrm>
            <a:off x="7178040" y="1307592"/>
            <a:ext cx="1819656" cy="448056"/>
          </a:xfrm>
          <a:prstGeom prst="rect">
            <a:avLst/>
          </a:prstGeom>
          <a:solidFill>
            <a:srgbClr val="241722"/>
          </a:solidFill>
          <a:ln w="8890">
            <a:solidFill>
              <a:srgbClr val="6D5768"/>
            </a:solidFill>
            <a:prstDash val="solid"/>
          </a:ln>
        </p:spPr>
      </p:sp>
      <p:sp>
        <p:nvSpPr>
          <p:cNvPr id="20" name="Text 18"/>
          <p:cNvSpPr/>
          <p:nvPr/>
        </p:nvSpPr>
        <p:spPr>
          <a:xfrm>
            <a:off x="7251192"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F0AB8A"/>
                </a:solidFill>
                <a:latin typeface="Georgia" pitchFamily="34" charset="0"/>
                <a:ea typeface="Georgia" pitchFamily="34" charset="-122"/>
                <a:cs typeface="Georgia" pitchFamily="34" charset="-120"/>
              </a:rPr>
              <a:t>4</a:t>
            </a:r>
            <a:endParaRPr lang="en-US" sz="1700" dirty="0"/>
          </a:p>
        </p:txBody>
      </p:sp>
      <p:sp>
        <p:nvSpPr>
          <p:cNvPr id="21" name="Text 19"/>
          <p:cNvSpPr/>
          <p:nvPr/>
        </p:nvSpPr>
        <p:spPr>
          <a:xfrm>
            <a:off x="7543800"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Start with an incomplete want.</a:t>
            </a:r>
            <a:endParaRPr lang="en-US" sz="700" dirty="0"/>
          </a:p>
        </p:txBody>
      </p:sp>
      <p:sp>
        <p:nvSpPr>
          <p:cNvPr id="22" name="Shape 20"/>
          <p:cNvSpPr/>
          <p:nvPr/>
        </p:nvSpPr>
        <p:spPr>
          <a:xfrm>
            <a:off x="9070848" y="1307592"/>
            <a:ext cx="1819656" cy="448056"/>
          </a:xfrm>
          <a:prstGeom prst="rect">
            <a:avLst/>
          </a:prstGeom>
          <a:solidFill>
            <a:srgbClr val="241722"/>
          </a:solidFill>
          <a:ln w="8890">
            <a:solidFill>
              <a:srgbClr val="6D5768"/>
            </a:solidFill>
            <a:prstDash val="solid"/>
          </a:ln>
        </p:spPr>
      </p:sp>
      <p:sp>
        <p:nvSpPr>
          <p:cNvPr id="23" name="Text 21"/>
          <p:cNvSpPr/>
          <p:nvPr/>
        </p:nvSpPr>
        <p:spPr>
          <a:xfrm>
            <a:off x="9144000"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F0AB8A"/>
                </a:solidFill>
                <a:latin typeface="Georgia" pitchFamily="34" charset="0"/>
                <a:ea typeface="Georgia" pitchFamily="34" charset="-122"/>
                <a:cs typeface="Georgia" pitchFamily="34" charset="-120"/>
              </a:rPr>
              <a:t>5</a:t>
            </a:r>
            <a:endParaRPr lang="en-US" sz="1700" dirty="0"/>
          </a:p>
        </p:txBody>
      </p:sp>
      <p:sp>
        <p:nvSpPr>
          <p:cNvPr id="24" name="Text 22"/>
          <p:cNvSpPr/>
          <p:nvPr/>
        </p:nvSpPr>
        <p:spPr>
          <a:xfrm>
            <a:off x="9436608"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Make an entrance meaningful.</a:t>
            </a:r>
            <a:endParaRPr lang="en-US" sz="700" dirty="0"/>
          </a:p>
        </p:txBody>
      </p:sp>
      <p:sp>
        <p:nvSpPr>
          <p:cNvPr id="25" name="Shape 23"/>
          <p:cNvSpPr/>
          <p:nvPr/>
        </p:nvSpPr>
        <p:spPr>
          <a:xfrm>
            <a:off x="10963656" y="1307592"/>
            <a:ext cx="1819656" cy="448056"/>
          </a:xfrm>
          <a:prstGeom prst="rect">
            <a:avLst/>
          </a:prstGeom>
          <a:solidFill>
            <a:srgbClr val="241722"/>
          </a:solidFill>
          <a:ln w="8890">
            <a:solidFill>
              <a:srgbClr val="6D5768"/>
            </a:solidFill>
            <a:prstDash val="solid"/>
          </a:ln>
        </p:spPr>
      </p:sp>
      <p:sp>
        <p:nvSpPr>
          <p:cNvPr id="26" name="Text 24"/>
          <p:cNvSpPr/>
          <p:nvPr/>
        </p:nvSpPr>
        <p:spPr>
          <a:xfrm>
            <a:off x="11036808"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F0AB8A"/>
                </a:solidFill>
                <a:latin typeface="Georgia" pitchFamily="34" charset="0"/>
                <a:ea typeface="Georgia" pitchFamily="34" charset="-122"/>
                <a:cs typeface="Georgia" pitchFamily="34" charset="-120"/>
              </a:rPr>
              <a:t>6</a:t>
            </a:r>
            <a:endParaRPr lang="en-US" sz="1700" dirty="0"/>
          </a:p>
        </p:txBody>
      </p:sp>
      <p:sp>
        <p:nvSpPr>
          <p:cNvPr id="27" name="Text 25"/>
          <p:cNvSpPr/>
          <p:nvPr/>
        </p:nvSpPr>
        <p:spPr>
          <a:xfrm>
            <a:off x="11329416"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Choose an opening question.</a:t>
            </a:r>
            <a:endParaRPr lang="en-US" sz="700" dirty="0"/>
          </a:p>
        </p:txBody>
      </p:sp>
      <p:pic>
        <p:nvPicPr>
          <p:cNvPr id="28" name="Image 0" descr="/home/user/design-buddy/design-buddy-home/public/atelier/afterglow/images/01.jpg">    </p:cNvPr>
          <p:cNvPicPr>
            <a:picLocks noChangeAspect="1"/>
          </p:cNvPicPr>
          <p:nvPr/>
        </p:nvPicPr>
        <p:blipFill>
          <a:blip r:embed="rId1"/>
          <a:srcRect l="0" r="0" t="0" b="0"/>
          <a:stretch/>
        </p:blipFill>
        <p:spPr>
          <a:xfrm>
            <a:off x="1499616" y="2066544"/>
            <a:ext cx="6949440" cy="3840480"/>
          </a:xfrm>
          <a:prstGeom prst="rect">
            <a:avLst/>
          </a:prstGeom>
        </p:spPr>
      </p:pic>
      <p:sp>
        <p:nvSpPr>
          <p:cNvPr id="29" name="Text 26"/>
          <p:cNvSpPr/>
          <p:nvPr/>
        </p:nvSpPr>
        <p:spPr>
          <a:xfrm>
            <a:off x="1499616" y="6007608"/>
            <a:ext cx="6949440" cy="164592"/>
          </a:xfrm>
          <a:prstGeom prst="rect">
            <a:avLst/>
          </a:prstGeom>
          <a:noFill/>
          <a:ln/>
        </p:spPr>
        <p:txBody>
          <a:bodyPr wrap="square" lIns="0" tIns="0" rIns="0" bIns="0" rtlCol="0" anchor="t">
            <a:normAutofit/>
          </a:bodyPr>
          <a:lstStyle/>
          <a:p>
            <a:pPr indent="0" marL="0">
              <a:buNone/>
            </a:pPr>
            <a:r>
              <a:rPr lang="en-US" sz="650" dirty="0">
                <a:solidFill>
                  <a:srgbClr val="C0AAB9"/>
                </a:solidFill>
                <a:latin typeface="Arial" pitchFamily="34" charset="0"/>
                <a:ea typeface="Arial" pitchFamily="34" charset="-122"/>
                <a:cs typeface="Arial" pitchFamily="34" charset="-120"/>
              </a:rPr>
              <a:t>Watercolour 1 / invented setting and adults / not production evidence</a:t>
            </a:r>
            <a:endParaRPr lang="en-US" sz="650" dirty="0"/>
          </a:p>
        </p:txBody>
      </p:sp>
      <p:sp>
        <p:nvSpPr>
          <p:cNvPr id="30" name="Text 27"/>
          <p:cNvSpPr/>
          <p:nvPr/>
        </p:nvSpPr>
        <p:spPr>
          <a:xfrm>
            <a:off x="8705088" y="2139696"/>
            <a:ext cx="4133088" cy="164592"/>
          </a:xfrm>
          <a:prstGeom prst="rect">
            <a:avLst/>
          </a:prstGeom>
          <a:noFill/>
          <a:ln/>
        </p:spPr>
        <p:txBody>
          <a:bodyPr wrap="square" lIns="0" tIns="0" rIns="0" bIns="0" rtlCol="0" anchor="t">
            <a:normAutofit/>
          </a:bodyPr>
          <a:lstStyle/>
          <a:p>
            <a:pPr indent="0" marL="0">
              <a:buNone/>
            </a:pPr>
            <a:r>
              <a:rPr lang="en-US" sz="700" spc="110" kern="0" dirty="0">
                <a:solidFill>
                  <a:srgbClr val="F0AB8A"/>
                </a:solidFill>
                <a:latin typeface="Arial" pitchFamily="34" charset="0"/>
                <a:ea typeface="Arial" pitchFamily="34" charset="-122"/>
                <a:cs typeface="Arial" pitchFamily="34" charset="-120"/>
              </a:rPr>
              <a:t>STORY INTENTION</a:t>
            </a:r>
            <a:endParaRPr lang="en-US" sz="700" dirty="0"/>
          </a:p>
        </p:txBody>
      </p:sp>
      <p:sp>
        <p:nvSpPr>
          <p:cNvPr id="31" name="Text 28"/>
          <p:cNvSpPr/>
          <p:nvPr/>
        </p:nvSpPr>
        <p:spPr>
          <a:xfrm>
            <a:off x="8705088" y="2514600"/>
            <a:ext cx="4133088" cy="1828800"/>
          </a:xfrm>
          <a:prstGeom prst="rect">
            <a:avLst/>
          </a:prstGeom>
          <a:noFill/>
          <a:ln/>
        </p:spPr>
        <p:txBody>
          <a:bodyPr wrap="square" lIns="0" tIns="0" rIns="0" bIns="0" rtlCol="0" anchor="t">
            <a:normAutofit/>
          </a:bodyPr>
          <a:lstStyle/>
          <a:p>
            <a:pPr indent="0" marL="0">
              <a:buNone/>
            </a:pPr>
            <a:r>
              <a:rPr lang="en-US" sz="1575" dirty="0">
                <a:solidFill>
                  <a:srgbClr val="ECDED6"/>
                </a:solidFill>
                <a:latin typeface="Georgia" pitchFamily="34" charset="0"/>
                <a:ea typeface="Georgia" pitchFamily="34" charset="-122"/>
                <a:cs typeface="Georgia" pitchFamily="34" charset="-120"/>
              </a:rPr>
              <a:t>Imagine a small theatre with no announced production. Two collaborators arrive with different memories of the same room. Let the first exchange reveal a question rather than announce a finished programme.</a:t>
            </a:r>
            <a:endParaRPr lang="en-US" sz="1575" dirty="0"/>
          </a:p>
        </p:txBody>
      </p:sp>
      <p:sp>
        <p:nvSpPr>
          <p:cNvPr id="32" name="Text 29"/>
          <p:cNvSpPr/>
          <p:nvPr/>
        </p:nvSpPr>
        <p:spPr>
          <a:xfrm>
            <a:off x="8705088" y="4572000"/>
            <a:ext cx="4133088" cy="164592"/>
          </a:xfrm>
          <a:prstGeom prst="rect">
            <a:avLst/>
          </a:prstGeom>
          <a:noFill/>
          <a:ln/>
        </p:spPr>
        <p:txBody>
          <a:bodyPr wrap="square" lIns="0" tIns="0" rIns="0" bIns="0" rtlCol="0" anchor="t">
            <a:normAutofit/>
          </a:bodyPr>
          <a:lstStyle/>
          <a:p>
            <a:pPr indent="0" marL="0">
              <a:buNone/>
            </a:pPr>
            <a:r>
              <a:rPr lang="en-US" sz="700" spc="110" kern="0" dirty="0">
                <a:solidFill>
                  <a:srgbClr val="F0AB8A"/>
                </a:solidFill>
                <a:latin typeface="Arial" pitchFamily="34" charset="0"/>
                <a:ea typeface="Arial" pitchFamily="34" charset="-122"/>
                <a:cs typeface="Arial" pitchFamily="34" charset="-120"/>
              </a:rPr>
              <a:t>LEAVE A QUESTION</a:t>
            </a:r>
            <a:endParaRPr lang="en-US" sz="700" dirty="0"/>
          </a:p>
        </p:txBody>
      </p:sp>
      <p:sp>
        <p:nvSpPr>
          <p:cNvPr id="33" name="Text 30"/>
          <p:cNvSpPr/>
          <p:nvPr/>
        </p:nvSpPr>
        <p:spPr>
          <a:xfrm>
            <a:off x="8705088" y="4910328"/>
            <a:ext cx="4133088" cy="822960"/>
          </a:xfrm>
          <a:prstGeom prst="rect">
            <a:avLst/>
          </a:prstGeom>
          <a:noFill/>
          <a:ln/>
        </p:spPr>
        <p:txBody>
          <a:bodyPr wrap="square" lIns="0" tIns="0" rIns="0" bIns="0" rtlCol="0" anchor="t">
            <a:normAutofit/>
          </a:bodyPr>
          <a:lstStyle/>
          <a:p>
            <a:pPr indent="0" marL="0">
              <a:buNone/>
            </a:pPr>
            <a:r>
              <a:rPr lang="en-US" sz="1875" i="1" dirty="0">
                <a:solidFill>
                  <a:srgbClr val="F0AB8A"/>
                </a:solidFill>
                <a:latin typeface="Georgia" pitchFamily="34" charset="0"/>
                <a:ea typeface="Georgia" pitchFamily="34" charset="-122"/>
                <a:cs typeface="Georgia" pitchFamily="34" charset="-120"/>
              </a:rPr>
              <a:t>What does one character notice that the other overlooks?</a:t>
            </a:r>
            <a:endParaRPr lang="en-US" sz="1875" dirty="0"/>
          </a:p>
        </p:txBody>
      </p:sp>
      <p:sp>
        <p:nvSpPr>
          <p:cNvPr id="34" name="Text 31"/>
          <p:cNvSpPr/>
          <p:nvPr/>
        </p:nvSpPr>
        <p:spPr>
          <a:xfrm>
            <a:off x="8705088" y="5806440"/>
            <a:ext cx="4133088" cy="292608"/>
          </a:xfrm>
          <a:prstGeom prst="rect">
            <a:avLst/>
          </a:prstGeom>
          <a:noFill/>
          <a:ln/>
        </p:spPr>
        <p:txBody>
          <a:bodyPr wrap="square" lIns="0" tIns="0" rIns="0" bIns="0" rtlCol="0" anchor="t">
            <a:normAutofit/>
          </a:bodyPr>
          <a:lstStyle/>
          <a:p>
            <a:pPr indent="0" marL="0">
              <a:buNone/>
            </a:pPr>
            <a:r>
              <a:rPr lang="en-US" sz="700" dirty="0">
                <a:solidFill>
                  <a:srgbClr val="C0AAB9"/>
                </a:solidFill>
                <a:latin typeface="Arial" pitchFamily="34" charset="0"/>
                <a:ea typeface="Arial" pitchFamily="34" charset="-122"/>
                <a:cs typeface="Arial" pitchFamily="34" charset="-120"/>
              </a:rPr>
              <a:t>Beat order is not timing, a technical call or a show schedule.</a:t>
            </a:r>
            <a:endParaRPr lang="en-US" sz="700" dirty="0"/>
          </a:p>
        </p:txBody>
      </p:sp>
      <p:sp>
        <p:nvSpPr>
          <p:cNvPr id="35" name="Shape 32"/>
          <p:cNvSpPr/>
          <p:nvPr/>
        </p:nvSpPr>
        <p:spPr>
          <a:xfrm>
            <a:off x="1499616" y="6583680"/>
            <a:ext cx="3675888" cy="1481328"/>
          </a:xfrm>
          <a:prstGeom prst="rect">
            <a:avLst/>
          </a:prstGeom>
          <a:solidFill>
            <a:srgbClr val="241722"/>
          </a:solidFill>
          <a:ln w="8890">
            <a:solidFill>
              <a:srgbClr val="735D6D"/>
            </a:solidFill>
            <a:prstDash val="solid"/>
          </a:ln>
        </p:spPr>
      </p:sp>
      <p:sp>
        <p:nvSpPr>
          <p:cNvPr id="36" name="Text 33"/>
          <p:cNvSpPr/>
          <p:nvPr/>
        </p:nvSpPr>
        <p:spPr>
          <a:xfrm>
            <a:off x="1682496"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F0AB8A"/>
                </a:solidFill>
                <a:latin typeface="Arial" pitchFamily="34" charset="0"/>
                <a:ea typeface="Arial" pitchFamily="34" charset="-122"/>
                <a:cs typeface="Arial" pitchFamily="34" charset="-120"/>
              </a:rPr>
              <a:t>01 / NOTICE</a:t>
            </a:r>
            <a:endParaRPr lang="en-US" sz="700" dirty="0"/>
          </a:p>
        </p:txBody>
      </p:sp>
      <p:sp>
        <p:nvSpPr>
          <p:cNvPr id="37" name="Text 34"/>
          <p:cNvSpPr/>
          <p:nvPr/>
        </p:nvSpPr>
        <p:spPr>
          <a:xfrm>
            <a:off x="1682496"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A room can establish mood without establishing a plot.</a:t>
            </a:r>
            <a:endParaRPr lang="en-US" sz="1500" dirty="0"/>
          </a:p>
        </p:txBody>
      </p:sp>
      <p:sp>
        <p:nvSpPr>
          <p:cNvPr id="38" name="Shape 35"/>
          <p:cNvSpPr/>
          <p:nvPr/>
        </p:nvSpPr>
        <p:spPr>
          <a:xfrm>
            <a:off x="5321808" y="6583680"/>
            <a:ext cx="3675888" cy="1481328"/>
          </a:xfrm>
          <a:prstGeom prst="rect">
            <a:avLst/>
          </a:prstGeom>
          <a:solidFill>
            <a:srgbClr val="241722"/>
          </a:solidFill>
          <a:ln w="8890">
            <a:solidFill>
              <a:srgbClr val="735D6D"/>
            </a:solidFill>
            <a:prstDash val="solid"/>
          </a:ln>
        </p:spPr>
      </p:sp>
      <p:sp>
        <p:nvSpPr>
          <p:cNvPr id="39" name="Text 36"/>
          <p:cNvSpPr/>
          <p:nvPr/>
        </p:nvSpPr>
        <p:spPr>
          <a:xfrm>
            <a:off x="5504688"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F0AB8A"/>
                </a:solidFill>
                <a:latin typeface="Arial" pitchFamily="34" charset="0"/>
                <a:ea typeface="Arial" pitchFamily="34" charset="-122"/>
                <a:cs typeface="Arial" pitchFamily="34" charset="-120"/>
              </a:rPr>
              <a:t>02 / TRY IN WORDS</a:t>
            </a:r>
            <a:endParaRPr lang="en-US" sz="700" dirty="0"/>
          </a:p>
        </p:txBody>
      </p:sp>
      <p:sp>
        <p:nvSpPr>
          <p:cNvPr id="40" name="Text 37"/>
          <p:cNvSpPr/>
          <p:nvPr/>
        </p:nvSpPr>
        <p:spPr>
          <a:xfrm>
            <a:off x="5504688"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Write two opening lines with different priorities.</a:t>
            </a:r>
            <a:endParaRPr lang="en-US" sz="1500" dirty="0"/>
          </a:p>
        </p:txBody>
      </p:sp>
      <p:sp>
        <p:nvSpPr>
          <p:cNvPr id="41" name="Shape 38"/>
          <p:cNvSpPr/>
          <p:nvPr/>
        </p:nvSpPr>
        <p:spPr>
          <a:xfrm>
            <a:off x="9144000" y="6583680"/>
            <a:ext cx="3675888" cy="1481328"/>
          </a:xfrm>
          <a:prstGeom prst="rect">
            <a:avLst/>
          </a:prstGeom>
          <a:solidFill>
            <a:srgbClr val="241722"/>
          </a:solidFill>
          <a:ln w="8890">
            <a:solidFill>
              <a:srgbClr val="735D6D"/>
            </a:solidFill>
            <a:prstDash val="solid"/>
          </a:ln>
        </p:spPr>
      </p:sp>
      <p:sp>
        <p:nvSpPr>
          <p:cNvPr id="42" name="Text 39"/>
          <p:cNvSpPr/>
          <p:nvPr/>
        </p:nvSpPr>
        <p:spPr>
          <a:xfrm>
            <a:off x="9326880"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F0AB8A"/>
                </a:solidFill>
                <a:latin typeface="Arial" pitchFamily="34" charset="0"/>
                <a:ea typeface="Arial" pitchFamily="34" charset="-122"/>
                <a:cs typeface="Arial" pitchFamily="34" charset="-120"/>
              </a:rPr>
              <a:t>03 / KEEP VISIBLE</a:t>
            </a:r>
            <a:endParaRPr lang="en-US" sz="700" dirty="0"/>
          </a:p>
        </p:txBody>
      </p:sp>
      <p:sp>
        <p:nvSpPr>
          <p:cNvPr id="43" name="Text 40"/>
          <p:cNvSpPr/>
          <p:nvPr/>
        </p:nvSpPr>
        <p:spPr>
          <a:xfrm>
            <a:off x="9326880"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Keep both versions; do not vote for a winner yet.</a:t>
            </a:r>
            <a:endParaRPr lang="en-US" sz="1500" dirty="0"/>
          </a:p>
        </p:txBody>
      </p:sp>
      <p:sp>
        <p:nvSpPr>
          <p:cNvPr id="44" name="Shape 41"/>
          <p:cNvSpPr/>
          <p:nvPr/>
        </p:nvSpPr>
        <p:spPr>
          <a:xfrm>
            <a:off x="1499616" y="8211312"/>
            <a:ext cx="11338560" cy="0"/>
          </a:xfrm>
          <a:prstGeom prst="line">
            <a:avLst/>
          </a:prstGeom>
          <a:noFill/>
          <a:ln w="8890">
            <a:solidFill>
              <a:srgbClr val="796170"/>
            </a:solidFill>
            <a:prstDash val="solid"/>
          </a:ln>
        </p:spPr>
      </p:sp>
      <p:sp>
        <p:nvSpPr>
          <p:cNvPr id="45" name="Text 42"/>
          <p:cNvSpPr/>
          <p:nvPr/>
        </p:nvSpPr>
        <p:spPr>
          <a:xfrm>
            <a:off x="1499616" y="8339328"/>
            <a:ext cx="8229600" cy="118872"/>
          </a:xfrm>
          <a:prstGeom prst="rect">
            <a:avLst/>
          </a:prstGeom>
          <a:noFill/>
          <a:ln/>
        </p:spPr>
        <p:txBody>
          <a:bodyPr wrap="square" lIns="0" tIns="0" rIns="0" bIns="0" rtlCol="0" anchor="t">
            <a:normAutofit/>
          </a:bodyPr>
          <a:lstStyle/>
          <a:p>
            <a:pPr indent="0" marL="0">
              <a:buNone/>
            </a:pPr>
            <a:r>
              <a:rPr lang="en-US" sz="650" dirty="0">
                <a:solidFill>
                  <a:srgbClr val="C0AAB9"/>
                </a:solidFill>
                <a:latin typeface="Arial" pitchFamily="34" charset="0"/>
                <a:ea typeface="Arial" pitchFamily="34" charset="-122"/>
                <a:cs typeface="Arial" pitchFamily="34" charset="-120"/>
              </a:rPr>
              <a:t>FICTIONAL WRITING WORKSHOP / NOT A STAGING OR APPROVAL PLAN</a:t>
            </a:r>
            <a:endParaRPr lang="en-US" sz="650" dirty="0"/>
          </a:p>
        </p:txBody>
      </p:sp>
      <p:sp>
        <p:nvSpPr>
          <p:cNvPr id="46" name="Text 43"/>
          <p:cNvSpPr/>
          <p:nvPr/>
        </p:nvSpPr>
        <p:spPr>
          <a:xfrm>
            <a:off x="9729216" y="8339328"/>
            <a:ext cx="3108960" cy="118872"/>
          </a:xfrm>
          <a:prstGeom prst="rect">
            <a:avLst/>
          </a:prstGeom>
          <a:noFill/>
          <a:ln/>
        </p:spPr>
        <p:txBody>
          <a:bodyPr wrap="square" lIns="0" tIns="0" rIns="0" bIns="0" rtlCol="0" anchor="t">
            <a:normAutofit/>
          </a:bodyPr>
          <a:lstStyle/>
          <a:p>
            <a:pPr algn="r" indent="0" marL="0">
              <a:buNone/>
            </a:pPr>
            <a:r>
              <a:rPr lang="en-US" sz="650" dirty="0">
                <a:solidFill>
                  <a:srgbClr val="C0AAB9"/>
                </a:solidFill>
                <a:latin typeface="Arial" pitchFamily="34" charset="0"/>
                <a:ea typeface="Arial" pitchFamily="34" charset="-122"/>
                <a:cs typeface="Arial" pitchFamily="34" charset="-120"/>
              </a:rPr>
              <a:t>DRAFT / 14 OF 15 ARTWORKS / 1 OF 30</a:t>
            </a:r>
            <a:endParaRPr lang="en-US" sz="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41722"/>
        </a:solidFill>
      </p:bgPr>
    </p:bg>
    <p:spTree>
      <p:nvGrpSpPr>
        <p:cNvPr id="1" name=""/>
        <p:cNvGrpSpPr/>
        <p:nvPr/>
      </p:nvGrpSpPr>
      <p:grpSpPr>
        <a:xfrm>
          <a:off x="0" y="0"/>
          <a:ext cx="0" cy="0"/>
          <a:chOff x="0" y="0"/>
          <a:chExt cx="0" cy="0"/>
        </a:xfrm>
      </p:grpSpPr>
      <p:sp>
        <p:nvSpPr>
          <p:cNvPr id="2" name="Shape 0"/>
          <p:cNvSpPr/>
          <p:nvPr/>
        </p:nvSpPr>
        <p:spPr>
          <a:xfrm>
            <a:off x="1243584" y="329184"/>
            <a:ext cx="0" cy="8119872"/>
          </a:xfrm>
          <a:prstGeom prst="line">
            <a:avLst/>
          </a:prstGeom>
          <a:noFill/>
          <a:ln w="10160">
            <a:solidFill>
              <a:srgbClr val="776072"/>
            </a:solidFill>
            <a:prstDash val="solid"/>
          </a:ln>
        </p:spPr>
      </p:sp>
      <p:sp>
        <p:nvSpPr>
          <p:cNvPr id="3" name="Text 1"/>
          <p:cNvSpPr/>
          <p:nvPr/>
        </p:nvSpPr>
        <p:spPr>
          <a:xfrm>
            <a:off x="393192" y="457200"/>
            <a:ext cx="685800" cy="457200"/>
          </a:xfrm>
          <a:prstGeom prst="rect">
            <a:avLst/>
          </a:prstGeom>
          <a:noFill/>
          <a:ln/>
        </p:spPr>
        <p:txBody>
          <a:bodyPr wrap="square" lIns="0" tIns="0" rIns="0" bIns="0" rtlCol="0" anchor="t">
            <a:normAutofit/>
          </a:bodyPr>
          <a:lstStyle/>
          <a:p>
            <a:pPr indent="0" marL="0">
              <a:buNone/>
            </a:pPr>
            <a:r>
              <a:rPr lang="en-US" sz="600" dirty="0">
                <a:solidFill>
                  <a:srgbClr val="C0AAB9"/>
                </a:solidFill>
                <a:latin typeface="Arial" pitchFamily="34" charset="0"/>
                <a:ea typeface="Arial" pitchFamily="34" charset="-122"/>
                <a:cs typeface="Arial" pitchFamily="34" charset="-120"/>
              </a:rPr>
              <a:t>DESIGN BUDDY</a:t>
            </a:r>
            <a:endParaRPr lang="en-US" sz="600" dirty="0"/>
          </a:p>
          <a:p>
            <a:pPr indent="0" marL="0">
              <a:buNone/>
            </a:pPr>
            <a:r>
              <a:rPr lang="en-US" sz="600" dirty="0">
                <a:solidFill>
                  <a:srgbClr val="C0AAB9"/>
                </a:solidFill>
                <a:latin typeface="Arial" pitchFamily="34" charset="0"/>
                <a:ea typeface="Arial" pitchFamily="34" charset="-122"/>
                <a:cs typeface="Arial" pitchFamily="34" charset="-120"/>
              </a:rPr>
              <a:t>CREATIVE EXERCISE</a:t>
            </a:r>
            <a:endParaRPr lang="en-US" sz="600" dirty="0"/>
          </a:p>
        </p:txBody>
      </p:sp>
      <p:sp>
        <p:nvSpPr>
          <p:cNvPr id="4" name="Text 2"/>
          <p:cNvSpPr/>
          <p:nvPr/>
        </p:nvSpPr>
        <p:spPr>
          <a:xfrm>
            <a:off x="502920" y="1920240"/>
            <a:ext cx="502920" cy="4480560"/>
          </a:xfrm>
          <a:prstGeom prst="rect">
            <a:avLst/>
          </a:prstGeom>
          <a:noFill/>
          <a:ln/>
        </p:spPr>
        <p:txBody>
          <a:bodyPr wrap="square" lIns="0" tIns="0" rIns="0" bIns="0" rtlCol="0" anchor="t">
            <a:normAutofit/>
          </a:bodyPr>
          <a:lstStyle/>
          <a:p>
            <a:pPr algn="ctr" indent="0" marL="0">
              <a:buNone/>
            </a:pPr>
            <a:r>
              <a:rPr lang="en-US" sz="2500" dirty="0">
                <a:solidFill>
                  <a:srgbClr val="F0AB8A"/>
                </a:solidFill>
                <a:latin typeface="Georgia" pitchFamily="34" charset="0"/>
                <a:ea typeface="Georgia" pitchFamily="34" charset="-122"/>
                <a:cs typeface="Georgia" pitchFamily="34" charset="-120"/>
              </a:rPr>
              <a:t>A</a:t>
            </a:r>
            <a:endParaRPr lang="en-US" sz="2500" dirty="0"/>
          </a:p>
          <a:p>
            <a:pPr algn="ctr" indent="0" marL="0">
              <a:buNone/>
            </a:pPr>
            <a:r>
              <a:rPr lang="en-US" sz="2500" dirty="0">
                <a:solidFill>
                  <a:srgbClr val="F0AB8A"/>
                </a:solidFill>
                <a:latin typeface="Georgia" pitchFamily="34" charset="0"/>
                <a:ea typeface="Georgia" pitchFamily="34" charset="-122"/>
                <a:cs typeface="Georgia" pitchFamily="34" charset="-120"/>
              </a:rPr>
              <a:t>F</a:t>
            </a:r>
            <a:endParaRPr lang="en-US" sz="2500" dirty="0"/>
          </a:p>
          <a:p>
            <a:pPr algn="ctr" indent="0" marL="0">
              <a:buNone/>
            </a:pPr>
            <a:r>
              <a:rPr lang="en-US" sz="2500" dirty="0">
                <a:solidFill>
                  <a:srgbClr val="F0AB8A"/>
                </a:solidFill>
                <a:latin typeface="Georgia" pitchFamily="34" charset="0"/>
                <a:ea typeface="Georgia" pitchFamily="34" charset="-122"/>
                <a:cs typeface="Georgia" pitchFamily="34" charset="-120"/>
              </a:rPr>
              <a:t>T</a:t>
            </a:r>
            <a:endParaRPr lang="en-US" sz="2500" dirty="0"/>
          </a:p>
          <a:p>
            <a:pPr algn="ctr" indent="0" marL="0">
              <a:buNone/>
            </a:pPr>
            <a:r>
              <a:rPr lang="en-US" sz="2500" dirty="0">
                <a:solidFill>
                  <a:srgbClr val="F0AB8A"/>
                </a:solidFill>
                <a:latin typeface="Georgia" pitchFamily="34" charset="0"/>
                <a:ea typeface="Georgia" pitchFamily="34" charset="-122"/>
                <a:cs typeface="Georgia" pitchFamily="34" charset="-120"/>
              </a:rPr>
              <a:t>E</a:t>
            </a:r>
            <a:endParaRPr lang="en-US" sz="2500" dirty="0"/>
          </a:p>
          <a:p>
            <a:pPr algn="ctr" indent="0" marL="0">
              <a:buNone/>
            </a:pPr>
            <a:r>
              <a:rPr lang="en-US" sz="2500" dirty="0">
                <a:solidFill>
                  <a:srgbClr val="F0AB8A"/>
                </a:solidFill>
                <a:latin typeface="Georgia" pitchFamily="34" charset="0"/>
                <a:ea typeface="Georgia" pitchFamily="34" charset="-122"/>
                <a:cs typeface="Georgia" pitchFamily="34" charset="-120"/>
              </a:rPr>
              <a:t>R</a:t>
            </a:r>
            <a:endParaRPr lang="en-US" sz="2500" dirty="0"/>
          </a:p>
          <a:p>
            <a:pPr algn="ctr" indent="0" marL="0">
              <a:buNone/>
            </a:pPr>
            <a:r>
              <a:rPr lang="en-US" sz="2500" dirty="0">
                <a:solidFill>
                  <a:srgbClr val="F0AB8A"/>
                </a:solidFill>
                <a:latin typeface="Georgia" pitchFamily="34" charset="0"/>
                <a:ea typeface="Georgia" pitchFamily="34" charset="-122"/>
                <a:cs typeface="Georgia" pitchFamily="34" charset="-120"/>
              </a:rPr>
              <a:t>G</a:t>
            </a:r>
            <a:endParaRPr lang="en-US" sz="2500" dirty="0"/>
          </a:p>
          <a:p>
            <a:pPr algn="ctr" indent="0" marL="0">
              <a:buNone/>
            </a:pPr>
            <a:r>
              <a:rPr lang="en-US" sz="2500" dirty="0">
                <a:solidFill>
                  <a:srgbClr val="F0AB8A"/>
                </a:solidFill>
                <a:latin typeface="Georgia" pitchFamily="34" charset="0"/>
                <a:ea typeface="Georgia" pitchFamily="34" charset="-122"/>
                <a:cs typeface="Georgia" pitchFamily="34" charset="-120"/>
              </a:rPr>
              <a:t>L</a:t>
            </a:r>
            <a:endParaRPr lang="en-US" sz="2500" dirty="0"/>
          </a:p>
          <a:p>
            <a:pPr algn="ctr" indent="0" marL="0">
              <a:buNone/>
            </a:pPr>
            <a:r>
              <a:rPr lang="en-US" sz="2500" dirty="0">
                <a:solidFill>
                  <a:srgbClr val="F0AB8A"/>
                </a:solidFill>
                <a:latin typeface="Georgia" pitchFamily="34" charset="0"/>
                <a:ea typeface="Georgia" pitchFamily="34" charset="-122"/>
                <a:cs typeface="Georgia" pitchFamily="34" charset="-120"/>
              </a:rPr>
              <a:t>O</a:t>
            </a:r>
            <a:endParaRPr lang="en-US" sz="2500" dirty="0"/>
          </a:p>
          <a:p>
            <a:pPr algn="ctr" indent="0" marL="0">
              <a:buNone/>
            </a:pPr>
            <a:r>
              <a:rPr lang="en-US" sz="2500" dirty="0">
                <a:solidFill>
                  <a:srgbClr val="F0AB8A"/>
                </a:solidFill>
                <a:latin typeface="Georgia" pitchFamily="34" charset="0"/>
                <a:ea typeface="Georgia" pitchFamily="34" charset="-122"/>
                <a:cs typeface="Georgia" pitchFamily="34" charset="-120"/>
              </a:rPr>
              <a:t>W</a:t>
            </a:r>
            <a:endParaRPr lang="en-US" sz="2500" dirty="0"/>
          </a:p>
        </p:txBody>
      </p:sp>
      <p:sp>
        <p:nvSpPr>
          <p:cNvPr id="5" name="Text 3"/>
          <p:cNvSpPr/>
          <p:nvPr/>
        </p:nvSpPr>
        <p:spPr>
          <a:xfrm>
            <a:off x="402336" y="7022592"/>
            <a:ext cx="731520" cy="594360"/>
          </a:xfrm>
          <a:prstGeom prst="rect">
            <a:avLst/>
          </a:prstGeom>
          <a:noFill/>
          <a:ln/>
        </p:spPr>
        <p:txBody>
          <a:bodyPr wrap="square" lIns="0" tIns="0" rIns="0" bIns="0" rtlCol="0" anchor="t">
            <a:normAutofit/>
          </a:bodyPr>
          <a:lstStyle/>
          <a:p>
            <a:pPr indent="0" marL="0">
              <a:buNone/>
            </a:pPr>
            <a:r>
              <a:rPr lang="en-US" sz="4200" dirty="0">
                <a:solidFill>
                  <a:srgbClr val="F0AB8A"/>
                </a:solidFill>
                <a:latin typeface="Georgia" pitchFamily="34" charset="0"/>
                <a:ea typeface="Georgia" pitchFamily="34" charset="-122"/>
                <a:cs typeface="Georgia" pitchFamily="34" charset="-120"/>
              </a:rPr>
              <a:t>02</a:t>
            </a:r>
            <a:endParaRPr lang="en-US" sz="4200" dirty="0"/>
          </a:p>
        </p:txBody>
      </p:sp>
      <p:sp>
        <p:nvSpPr>
          <p:cNvPr id="6" name="Text 4"/>
          <p:cNvSpPr/>
          <p:nvPr/>
        </p:nvSpPr>
        <p:spPr>
          <a:xfrm>
            <a:off x="402336" y="7818120"/>
            <a:ext cx="731520" cy="411480"/>
          </a:xfrm>
          <a:prstGeom prst="rect">
            <a:avLst/>
          </a:prstGeom>
          <a:noFill/>
          <a:ln/>
        </p:spPr>
        <p:txBody>
          <a:bodyPr wrap="square" lIns="0" tIns="0" rIns="0" bIns="0" rtlCol="0" anchor="t">
            <a:normAutofit/>
          </a:bodyPr>
          <a:lstStyle/>
          <a:p>
            <a:pPr indent="0" marL="0">
              <a:buNone/>
            </a:pPr>
            <a:r>
              <a:rPr lang="en-US" sz="700" dirty="0">
                <a:solidFill>
                  <a:srgbClr val="C0AAB9"/>
                </a:solidFill>
                <a:latin typeface="Arial" pitchFamily="34" charset="0"/>
                <a:ea typeface="Arial" pitchFamily="34" charset="-122"/>
                <a:cs typeface="Arial" pitchFamily="34" charset="-120"/>
              </a:rPr>
              <a:t>ACT 1 / 5</a:t>
            </a:r>
            <a:endParaRPr lang="en-US" sz="700" dirty="0"/>
          </a:p>
          <a:p>
            <a:pPr indent="0" marL="0">
              <a:buNone/>
            </a:pPr>
            <a:r>
              <a:rPr lang="en-US" sz="700" dirty="0">
                <a:solidFill>
                  <a:srgbClr val="C0AAB9"/>
                </a:solidFill>
                <a:latin typeface="Arial" pitchFamily="34" charset="0"/>
                <a:ea typeface="Arial" pitchFamily="34" charset="-122"/>
                <a:cs typeface="Arial" pitchFamily="34" charset="-120"/>
              </a:rPr>
              <a:t>BEAT 2 / 6</a:t>
            </a:r>
            <a:endParaRPr lang="en-US" sz="700" dirty="0"/>
          </a:p>
        </p:txBody>
      </p:sp>
      <p:sp>
        <p:nvSpPr>
          <p:cNvPr id="7" name="Text 5"/>
          <p:cNvSpPr/>
          <p:nvPr/>
        </p:nvSpPr>
        <p:spPr>
          <a:xfrm>
            <a:off x="1499616" y="347472"/>
            <a:ext cx="9144000" cy="164592"/>
          </a:xfrm>
          <a:prstGeom prst="rect">
            <a:avLst/>
          </a:prstGeom>
          <a:noFill/>
          <a:ln/>
        </p:spPr>
        <p:txBody>
          <a:bodyPr wrap="square" lIns="0" tIns="0" rIns="0" bIns="0" rtlCol="0" anchor="t">
            <a:normAutofit/>
          </a:bodyPr>
          <a:lstStyle/>
          <a:p>
            <a:pPr indent="0" marL="0">
              <a:buNone/>
            </a:pPr>
            <a:r>
              <a:rPr lang="en-US" sz="700" spc="120" kern="0" dirty="0">
                <a:solidFill>
                  <a:srgbClr val="F0AB8A"/>
                </a:solidFill>
                <a:latin typeface="Arial" pitchFamily="34" charset="0"/>
                <a:ea typeface="Arial" pitchFamily="34" charset="-122"/>
                <a:cs typeface="Arial" pitchFamily="34" charset="-120"/>
              </a:rPr>
              <a:t>ACT 1 / ARRIVAL</a:t>
            </a:r>
            <a:endParaRPr lang="en-US" sz="700" dirty="0"/>
          </a:p>
        </p:txBody>
      </p:sp>
      <p:sp>
        <p:nvSpPr>
          <p:cNvPr id="8" name="Text 6"/>
          <p:cNvSpPr/>
          <p:nvPr/>
        </p:nvSpPr>
        <p:spPr>
          <a:xfrm>
            <a:off x="1499616" y="612648"/>
            <a:ext cx="9692640" cy="594360"/>
          </a:xfrm>
          <a:prstGeom prst="rect">
            <a:avLst/>
          </a:prstGeom>
          <a:noFill/>
          <a:ln/>
        </p:spPr>
        <p:txBody>
          <a:bodyPr wrap="square" lIns="0" tIns="0" rIns="0" bIns="0" rtlCol="0" anchor="t">
            <a:normAutofit/>
          </a:bodyPr>
          <a:lstStyle/>
          <a:p>
            <a:pPr indent="0" marL="0">
              <a:buNone/>
            </a:pPr>
            <a:r>
              <a:rPr lang="en-US" sz="2800" dirty="0">
                <a:solidFill>
                  <a:srgbClr val="ECDED6"/>
                </a:solidFill>
                <a:latin typeface="Georgia" pitchFamily="34" charset="0"/>
                <a:ea typeface="Georgia" pitchFamily="34" charset="-122"/>
                <a:cs typeface="Georgia" pitchFamily="34" charset="-120"/>
              </a:rPr>
              <a:t>Give the room a point of view.</a:t>
            </a:r>
            <a:endParaRPr lang="en-US" sz="2800" dirty="0"/>
          </a:p>
        </p:txBody>
      </p:sp>
      <p:sp>
        <p:nvSpPr>
          <p:cNvPr id="9" name="Text 7"/>
          <p:cNvSpPr/>
          <p:nvPr/>
        </p:nvSpPr>
        <p:spPr>
          <a:xfrm>
            <a:off x="11475720" y="438912"/>
            <a:ext cx="1325880" cy="182880"/>
          </a:xfrm>
          <a:prstGeom prst="rect">
            <a:avLst/>
          </a:prstGeom>
          <a:noFill/>
          <a:ln/>
        </p:spPr>
        <p:txBody>
          <a:bodyPr wrap="square" lIns="0" tIns="0" rIns="0" bIns="0" rtlCol="0" anchor="t">
            <a:normAutofit/>
          </a:bodyPr>
          <a:lstStyle/>
          <a:p>
            <a:pPr algn="r" indent="0" marL="0">
              <a:buNone/>
            </a:pPr>
            <a:r>
              <a:rPr lang="en-US" sz="700" dirty="0">
                <a:solidFill>
                  <a:srgbClr val="F0AB8A"/>
                </a:solidFill>
                <a:latin typeface="Arial" pitchFamily="34" charset="0"/>
                <a:ea typeface="Arial" pitchFamily="34" charset="-122"/>
                <a:cs typeface="Arial" pitchFamily="34" charset="-120"/>
              </a:rPr>
              <a:t>LOCAL / UNMARKED</a:t>
            </a:r>
            <a:endParaRPr lang="en-US" sz="700" dirty="0"/>
          </a:p>
        </p:txBody>
      </p:sp>
      <p:sp>
        <p:nvSpPr>
          <p:cNvPr id="10" name="Shape 8"/>
          <p:cNvSpPr/>
          <p:nvPr/>
        </p:nvSpPr>
        <p:spPr>
          <a:xfrm>
            <a:off x="1499616" y="1307592"/>
            <a:ext cx="1819656" cy="448056"/>
          </a:xfrm>
          <a:prstGeom prst="rect">
            <a:avLst/>
          </a:prstGeom>
          <a:solidFill>
            <a:srgbClr val="241722"/>
          </a:solidFill>
          <a:ln w="8890">
            <a:solidFill>
              <a:srgbClr val="6D5768"/>
            </a:solidFill>
            <a:prstDash val="solid"/>
          </a:ln>
        </p:spPr>
      </p:sp>
      <p:sp>
        <p:nvSpPr>
          <p:cNvPr id="11" name="Text 9"/>
          <p:cNvSpPr/>
          <p:nvPr/>
        </p:nvSpPr>
        <p:spPr>
          <a:xfrm>
            <a:off x="1572768"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F0AB8A"/>
                </a:solidFill>
                <a:latin typeface="Georgia" pitchFamily="34" charset="0"/>
                <a:ea typeface="Georgia" pitchFamily="34" charset="-122"/>
                <a:cs typeface="Georgia" pitchFamily="34" charset="-120"/>
              </a:rPr>
              <a:t>1</a:t>
            </a:r>
            <a:endParaRPr lang="en-US" sz="1700" dirty="0"/>
          </a:p>
        </p:txBody>
      </p:sp>
      <p:sp>
        <p:nvSpPr>
          <p:cNvPr id="12" name="Text 10"/>
          <p:cNvSpPr/>
          <p:nvPr/>
        </p:nvSpPr>
        <p:spPr>
          <a:xfrm>
            <a:off x="1865376"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Begin before the curtain.</a:t>
            </a:r>
            <a:endParaRPr lang="en-US" sz="700" dirty="0"/>
          </a:p>
        </p:txBody>
      </p:sp>
      <p:sp>
        <p:nvSpPr>
          <p:cNvPr id="13" name="Shape 11"/>
          <p:cNvSpPr/>
          <p:nvPr/>
        </p:nvSpPr>
        <p:spPr>
          <a:xfrm>
            <a:off x="3392424" y="1307592"/>
            <a:ext cx="1819656" cy="448056"/>
          </a:xfrm>
          <a:prstGeom prst="rect">
            <a:avLst/>
          </a:prstGeom>
          <a:solidFill>
            <a:srgbClr val="241722"/>
          </a:solidFill>
          <a:ln w="8890">
            <a:solidFill>
              <a:srgbClr val="F0AB8A"/>
            </a:solidFill>
            <a:prstDash val="solid"/>
          </a:ln>
        </p:spPr>
      </p:sp>
      <p:sp>
        <p:nvSpPr>
          <p:cNvPr id="14" name="Text 12"/>
          <p:cNvSpPr/>
          <p:nvPr/>
        </p:nvSpPr>
        <p:spPr>
          <a:xfrm>
            <a:off x="3465576"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F0AB8A"/>
                </a:solidFill>
                <a:latin typeface="Georgia" pitchFamily="34" charset="0"/>
                <a:ea typeface="Georgia" pitchFamily="34" charset="-122"/>
                <a:cs typeface="Georgia" pitchFamily="34" charset="-120"/>
              </a:rPr>
              <a:t>2</a:t>
            </a:r>
            <a:endParaRPr lang="en-US" sz="1700" dirty="0"/>
          </a:p>
        </p:txBody>
      </p:sp>
      <p:sp>
        <p:nvSpPr>
          <p:cNvPr id="15" name="Text 13"/>
          <p:cNvSpPr/>
          <p:nvPr/>
        </p:nvSpPr>
        <p:spPr>
          <a:xfrm>
            <a:off x="3758184"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Give the room a point of view.</a:t>
            </a:r>
            <a:endParaRPr lang="en-US" sz="700" dirty="0"/>
          </a:p>
        </p:txBody>
      </p:sp>
      <p:sp>
        <p:nvSpPr>
          <p:cNvPr id="16" name="Shape 14"/>
          <p:cNvSpPr/>
          <p:nvPr/>
        </p:nvSpPr>
        <p:spPr>
          <a:xfrm>
            <a:off x="5285232" y="1307592"/>
            <a:ext cx="1819656" cy="448056"/>
          </a:xfrm>
          <a:prstGeom prst="rect">
            <a:avLst/>
          </a:prstGeom>
          <a:solidFill>
            <a:srgbClr val="241722"/>
          </a:solidFill>
          <a:ln w="8890">
            <a:solidFill>
              <a:srgbClr val="6D5768"/>
            </a:solidFill>
            <a:prstDash val="solid"/>
          </a:ln>
        </p:spPr>
      </p:sp>
      <p:sp>
        <p:nvSpPr>
          <p:cNvPr id="17" name="Text 15"/>
          <p:cNvSpPr/>
          <p:nvPr/>
        </p:nvSpPr>
        <p:spPr>
          <a:xfrm>
            <a:off x="5358384"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F0AB8A"/>
                </a:solidFill>
                <a:latin typeface="Georgia" pitchFamily="34" charset="0"/>
                <a:ea typeface="Georgia" pitchFamily="34" charset="-122"/>
                <a:cs typeface="Georgia" pitchFamily="34" charset="-120"/>
              </a:rPr>
              <a:t>3</a:t>
            </a:r>
            <a:endParaRPr lang="en-US" sz="1700" dirty="0"/>
          </a:p>
        </p:txBody>
      </p:sp>
      <p:sp>
        <p:nvSpPr>
          <p:cNvPr id="18" name="Text 16"/>
          <p:cNvSpPr/>
          <p:nvPr/>
        </p:nvSpPr>
        <p:spPr>
          <a:xfrm>
            <a:off x="5650992"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Let an object ask a question.</a:t>
            </a:r>
            <a:endParaRPr lang="en-US" sz="700" dirty="0"/>
          </a:p>
        </p:txBody>
      </p:sp>
      <p:sp>
        <p:nvSpPr>
          <p:cNvPr id="19" name="Shape 17"/>
          <p:cNvSpPr/>
          <p:nvPr/>
        </p:nvSpPr>
        <p:spPr>
          <a:xfrm>
            <a:off x="7178040" y="1307592"/>
            <a:ext cx="1819656" cy="448056"/>
          </a:xfrm>
          <a:prstGeom prst="rect">
            <a:avLst/>
          </a:prstGeom>
          <a:solidFill>
            <a:srgbClr val="241722"/>
          </a:solidFill>
          <a:ln w="8890">
            <a:solidFill>
              <a:srgbClr val="6D5768"/>
            </a:solidFill>
            <a:prstDash val="solid"/>
          </a:ln>
        </p:spPr>
      </p:sp>
      <p:sp>
        <p:nvSpPr>
          <p:cNvPr id="20" name="Text 18"/>
          <p:cNvSpPr/>
          <p:nvPr/>
        </p:nvSpPr>
        <p:spPr>
          <a:xfrm>
            <a:off x="7251192"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F0AB8A"/>
                </a:solidFill>
                <a:latin typeface="Georgia" pitchFamily="34" charset="0"/>
                <a:ea typeface="Georgia" pitchFamily="34" charset="-122"/>
                <a:cs typeface="Georgia" pitchFamily="34" charset="-120"/>
              </a:rPr>
              <a:t>4</a:t>
            </a:r>
            <a:endParaRPr lang="en-US" sz="1700" dirty="0"/>
          </a:p>
        </p:txBody>
      </p:sp>
      <p:sp>
        <p:nvSpPr>
          <p:cNvPr id="21" name="Text 19"/>
          <p:cNvSpPr/>
          <p:nvPr/>
        </p:nvSpPr>
        <p:spPr>
          <a:xfrm>
            <a:off x="7543800"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Start with an incomplete want.</a:t>
            </a:r>
            <a:endParaRPr lang="en-US" sz="700" dirty="0"/>
          </a:p>
        </p:txBody>
      </p:sp>
      <p:sp>
        <p:nvSpPr>
          <p:cNvPr id="22" name="Shape 20"/>
          <p:cNvSpPr/>
          <p:nvPr/>
        </p:nvSpPr>
        <p:spPr>
          <a:xfrm>
            <a:off x="9070848" y="1307592"/>
            <a:ext cx="1819656" cy="448056"/>
          </a:xfrm>
          <a:prstGeom prst="rect">
            <a:avLst/>
          </a:prstGeom>
          <a:solidFill>
            <a:srgbClr val="241722"/>
          </a:solidFill>
          <a:ln w="8890">
            <a:solidFill>
              <a:srgbClr val="6D5768"/>
            </a:solidFill>
            <a:prstDash val="solid"/>
          </a:ln>
        </p:spPr>
      </p:sp>
      <p:sp>
        <p:nvSpPr>
          <p:cNvPr id="23" name="Text 21"/>
          <p:cNvSpPr/>
          <p:nvPr/>
        </p:nvSpPr>
        <p:spPr>
          <a:xfrm>
            <a:off x="9144000"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F0AB8A"/>
                </a:solidFill>
                <a:latin typeface="Georgia" pitchFamily="34" charset="0"/>
                <a:ea typeface="Georgia" pitchFamily="34" charset="-122"/>
                <a:cs typeface="Georgia" pitchFamily="34" charset="-120"/>
              </a:rPr>
              <a:t>5</a:t>
            </a:r>
            <a:endParaRPr lang="en-US" sz="1700" dirty="0"/>
          </a:p>
        </p:txBody>
      </p:sp>
      <p:sp>
        <p:nvSpPr>
          <p:cNvPr id="24" name="Text 22"/>
          <p:cNvSpPr/>
          <p:nvPr/>
        </p:nvSpPr>
        <p:spPr>
          <a:xfrm>
            <a:off x="9436608"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Make an entrance meaningful.</a:t>
            </a:r>
            <a:endParaRPr lang="en-US" sz="700" dirty="0"/>
          </a:p>
        </p:txBody>
      </p:sp>
      <p:sp>
        <p:nvSpPr>
          <p:cNvPr id="25" name="Shape 23"/>
          <p:cNvSpPr/>
          <p:nvPr/>
        </p:nvSpPr>
        <p:spPr>
          <a:xfrm>
            <a:off x="10963656" y="1307592"/>
            <a:ext cx="1819656" cy="448056"/>
          </a:xfrm>
          <a:prstGeom prst="rect">
            <a:avLst/>
          </a:prstGeom>
          <a:solidFill>
            <a:srgbClr val="241722"/>
          </a:solidFill>
          <a:ln w="8890">
            <a:solidFill>
              <a:srgbClr val="6D5768"/>
            </a:solidFill>
            <a:prstDash val="solid"/>
          </a:ln>
        </p:spPr>
      </p:sp>
      <p:sp>
        <p:nvSpPr>
          <p:cNvPr id="26" name="Text 24"/>
          <p:cNvSpPr/>
          <p:nvPr/>
        </p:nvSpPr>
        <p:spPr>
          <a:xfrm>
            <a:off x="11036808"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F0AB8A"/>
                </a:solidFill>
                <a:latin typeface="Georgia" pitchFamily="34" charset="0"/>
                <a:ea typeface="Georgia" pitchFamily="34" charset="-122"/>
                <a:cs typeface="Georgia" pitchFamily="34" charset="-120"/>
              </a:rPr>
              <a:t>6</a:t>
            </a:r>
            <a:endParaRPr lang="en-US" sz="1700" dirty="0"/>
          </a:p>
        </p:txBody>
      </p:sp>
      <p:sp>
        <p:nvSpPr>
          <p:cNvPr id="27" name="Text 25"/>
          <p:cNvSpPr/>
          <p:nvPr/>
        </p:nvSpPr>
        <p:spPr>
          <a:xfrm>
            <a:off x="11329416"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Choose an opening question.</a:t>
            </a:r>
            <a:endParaRPr lang="en-US" sz="700" dirty="0"/>
          </a:p>
        </p:txBody>
      </p:sp>
      <p:pic>
        <p:nvPicPr>
          <p:cNvPr id="28" name="Image 0" descr="/home/user/design-buddy/design-buddy-home/public/atelier/afterglow/images/01.jpg">    </p:cNvPr>
          <p:cNvPicPr>
            <a:picLocks noChangeAspect="1"/>
          </p:cNvPicPr>
          <p:nvPr/>
        </p:nvPicPr>
        <p:blipFill>
          <a:blip r:embed="rId1"/>
          <a:srcRect l="0" r="0" t="0" b="0"/>
          <a:stretch/>
        </p:blipFill>
        <p:spPr>
          <a:xfrm>
            <a:off x="1499616" y="2066544"/>
            <a:ext cx="6949440" cy="3840480"/>
          </a:xfrm>
          <a:prstGeom prst="rect">
            <a:avLst/>
          </a:prstGeom>
        </p:spPr>
      </p:pic>
      <p:sp>
        <p:nvSpPr>
          <p:cNvPr id="29" name="Text 26"/>
          <p:cNvSpPr/>
          <p:nvPr/>
        </p:nvSpPr>
        <p:spPr>
          <a:xfrm>
            <a:off x="1499616" y="6007608"/>
            <a:ext cx="6949440" cy="164592"/>
          </a:xfrm>
          <a:prstGeom prst="rect">
            <a:avLst/>
          </a:prstGeom>
          <a:noFill/>
          <a:ln/>
        </p:spPr>
        <p:txBody>
          <a:bodyPr wrap="square" lIns="0" tIns="0" rIns="0" bIns="0" rtlCol="0" anchor="t">
            <a:normAutofit/>
          </a:bodyPr>
          <a:lstStyle/>
          <a:p>
            <a:pPr indent="0" marL="0">
              <a:buNone/>
            </a:pPr>
            <a:r>
              <a:rPr lang="en-US" sz="650" dirty="0">
                <a:solidFill>
                  <a:srgbClr val="C0AAB9"/>
                </a:solidFill>
                <a:latin typeface="Arial" pitchFamily="34" charset="0"/>
                <a:ea typeface="Arial" pitchFamily="34" charset="-122"/>
                <a:cs typeface="Arial" pitchFamily="34" charset="-120"/>
              </a:rPr>
              <a:t>Watercolour 1 / invented setting and adults / not production evidence</a:t>
            </a:r>
            <a:endParaRPr lang="en-US" sz="650" dirty="0"/>
          </a:p>
        </p:txBody>
      </p:sp>
      <p:sp>
        <p:nvSpPr>
          <p:cNvPr id="30" name="Text 27"/>
          <p:cNvSpPr/>
          <p:nvPr/>
        </p:nvSpPr>
        <p:spPr>
          <a:xfrm>
            <a:off x="8705088" y="2139696"/>
            <a:ext cx="4133088" cy="164592"/>
          </a:xfrm>
          <a:prstGeom prst="rect">
            <a:avLst/>
          </a:prstGeom>
          <a:noFill/>
          <a:ln/>
        </p:spPr>
        <p:txBody>
          <a:bodyPr wrap="square" lIns="0" tIns="0" rIns="0" bIns="0" rtlCol="0" anchor="t">
            <a:normAutofit/>
          </a:bodyPr>
          <a:lstStyle/>
          <a:p>
            <a:pPr indent="0" marL="0">
              <a:buNone/>
            </a:pPr>
            <a:r>
              <a:rPr lang="en-US" sz="700" spc="110" kern="0" dirty="0">
                <a:solidFill>
                  <a:srgbClr val="F0AB8A"/>
                </a:solidFill>
                <a:latin typeface="Arial" pitchFamily="34" charset="0"/>
                <a:ea typeface="Arial" pitchFamily="34" charset="-122"/>
                <a:cs typeface="Arial" pitchFamily="34" charset="-120"/>
              </a:rPr>
              <a:t>STORY INTENTION</a:t>
            </a:r>
            <a:endParaRPr lang="en-US" sz="700" dirty="0"/>
          </a:p>
        </p:txBody>
      </p:sp>
      <p:sp>
        <p:nvSpPr>
          <p:cNvPr id="31" name="Text 28"/>
          <p:cNvSpPr/>
          <p:nvPr/>
        </p:nvSpPr>
        <p:spPr>
          <a:xfrm>
            <a:off x="8705088" y="2514600"/>
            <a:ext cx="4133088" cy="1828800"/>
          </a:xfrm>
          <a:prstGeom prst="rect">
            <a:avLst/>
          </a:prstGeom>
          <a:noFill/>
          <a:ln/>
        </p:spPr>
        <p:txBody>
          <a:bodyPr wrap="square" lIns="0" tIns="0" rIns="0" bIns="0" rtlCol="0" anchor="t">
            <a:normAutofit/>
          </a:bodyPr>
          <a:lstStyle/>
          <a:p>
            <a:pPr indent="0" marL="0">
              <a:buNone/>
            </a:pPr>
            <a:r>
              <a:rPr lang="en-US" sz="1575" dirty="0">
                <a:solidFill>
                  <a:srgbClr val="ECDED6"/>
                </a:solidFill>
                <a:latin typeface="Georgia" pitchFamily="34" charset="0"/>
                <a:ea typeface="Georgia" pitchFamily="34" charset="-122"/>
                <a:cs typeface="Georgia" pitchFamily="34" charset="-120"/>
              </a:rPr>
              <a:t>Describe the auditorium through one imagined character’s attention. A worn seat might suggest familiarity to one person and neglect to another. These are narrative choices, not findings about a real venue.</a:t>
            </a:r>
            <a:endParaRPr lang="en-US" sz="1575" dirty="0"/>
          </a:p>
        </p:txBody>
      </p:sp>
      <p:sp>
        <p:nvSpPr>
          <p:cNvPr id="32" name="Text 29"/>
          <p:cNvSpPr/>
          <p:nvPr/>
        </p:nvSpPr>
        <p:spPr>
          <a:xfrm>
            <a:off x="8705088" y="4572000"/>
            <a:ext cx="4133088" cy="164592"/>
          </a:xfrm>
          <a:prstGeom prst="rect">
            <a:avLst/>
          </a:prstGeom>
          <a:noFill/>
          <a:ln/>
        </p:spPr>
        <p:txBody>
          <a:bodyPr wrap="square" lIns="0" tIns="0" rIns="0" bIns="0" rtlCol="0" anchor="t">
            <a:normAutofit/>
          </a:bodyPr>
          <a:lstStyle/>
          <a:p>
            <a:pPr indent="0" marL="0">
              <a:buNone/>
            </a:pPr>
            <a:r>
              <a:rPr lang="en-US" sz="700" spc="110" kern="0" dirty="0">
                <a:solidFill>
                  <a:srgbClr val="F0AB8A"/>
                </a:solidFill>
                <a:latin typeface="Arial" pitchFamily="34" charset="0"/>
                <a:ea typeface="Arial" pitchFamily="34" charset="-122"/>
                <a:cs typeface="Arial" pitchFamily="34" charset="-120"/>
              </a:rPr>
              <a:t>LEAVE A QUESTION</a:t>
            </a:r>
            <a:endParaRPr lang="en-US" sz="700" dirty="0"/>
          </a:p>
        </p:txBody>
      </p:sp>
      <p:sp>
        <p:nvSpPr>
          <p:cNvPr id="33" name="Text 30"/>
          <p:cNvSpPr/>
          <p:nvPr/>
        </p:nvSpPr>
        <p:spPr>
          <a:xfrm>
            <a:off x="8705088" y="4910328"/>
            <a:ext cx="4133088" cy="822960"/>
          </a:xfrm>
          <a:prstGeom prst="rect">
            <a:avLst/>
          </a:prstGeom>
          <a:noFill/>
          <a:ln/>
        </p:spPr>
        <p:txBody>
          <a:bodyPr wrap="square" lIns="0" tIns="0" rIns="0" bIns="0" rtlCol="0" anchor="t">
            <a:normAutofit/>
          </a:bodyPr>
          <a:lstStyle/>
          <a:p>
            <a:pPr indent="0" marL="0">
              <a:buNone/>
            </a:pPr>
            <a:r>
              <a:rPr lang="en-US" sz="1875" i="1" dirty="0">
                <a:solidFill>
                  <a:srgbClr val="F0AB8A"/>
                </a:solidFill>
                <a:latin typeface="Georgia" pitchFamily="34" charset="0"/>
                <a:ea typeface="Georgia" pitchFamily="34" charset="-122"/>
                <a:cs typeface="Georgia" pitchFamily="34" charset="-120"/>
              </a:rPr>
              <a:t>Which detail changes meaning when the observer changes?</a:t>
            </a:r>
            <a:endParaRPr lang="en-US" sz="1875" dirty="0"/>
          </a:p>
        </p:txBody>
      </p:sp>
      <p:sp>
        <p:nvSpPr>
          <p:cNvPr id="34" name="Text 31"/>
          <p:cNvSpPr/>
          <p:nvPr/>
        </p:nvSpPr>
        <p:spPr>
          <a:xfrm>
            <a:off x="8705088" y="5806440"/>
            <a:ext cx="4133088" cy="292608"/>
          </a:xfrm>
          <a:prstGeom prst="rect">
            <a:avLst/>
          </a:prstGeom>
          <a:noFill/>
          <a:ln/>
        </p:spPr>
        <p:txBody>
          <a:bodyPr wrap="square" lIns="0" tIns="0" rIns="0" bIns="0" rtlCol="0" anchor="t">
            <a:normAutofit/>
          </a:bodyPr>
          <a:lstStyle/>
          <a:p>
            <a:pPr indent="0" marL="0">
              <a:buNone/>
            </a:pPr>
            <a:r>
              <a:rPr lang="en-US" sz="700" dirty="0">
                <a:solidFill>
                  <a:srgbClr val="C0AAB9"/>
                </a:solidFill>
                <a:latin typeface="Arial" pitchFamily="34" charset="0"/>
                <a:ea typeface="Arial" pitchFamily="34" charset="-122"/>
                <a:cs typeface="Arial" pitchFamily="34" charset="-120"/>
              </a:rPr>
              <a:t>Beat order is not timing, a technical call or a show schedule.</a:t>
            </a:r>
            <a:endParaRPr lang="en-US" sz="700" dirty="0"/>
          </a:p>
        </p:txBody>
      </p:sp>
      <p:sp>
        <p:nvSpPr>
          <p:cNvPr id="35" name="Shape 32"/>
          <p:cNvSpPr/>
          <p:nvPr/>
        </p:nvSpPr>
        <p:spPr>
          <a:xfrm>
            <a:off x="1499616" y="6583680"/>
            <a:ext cx="3675888" cy="1481328"/>
          </a:xfrm>
          <a:prstGeom prst="rect">
            <a:avLst/>
          </a:prstGeom>
          <a:solidFill>
            <a:srgbClr val="241722"/>
          </a:solidFill>
          <a:ln w="8890">
            <a:solidFill>
              <a:srgbClr val="735D6D"/>
            </a:solidFill>
            <a:prstDash val="solid"/>
          </a:ln>
        </p:spPr>
      </p:sp>
      <p:sp>
        <p:nvSpPr>
          <p:cNvPr id="36" name="Text 33"/>
          <p:cNvSpPr/>
          <p:nvPr/>
        </p:nvSpPr>
        <p:spPr>
          <a:xfrm>
            <a:off x="1682496"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F0AB8A"/>
                </a:solidFill>
                <a:latin typeface="Arial" pitchFamily="34" charset="0"/>
                <a:ea typeface="Arial" pitchFamily="34" charset="-122"/>
                <a:cs typeface="Arial" pitchFamily="34" charset="-120"/>
              </a:rPr>
              <a:t>01 / NOTICE</a:t>
            </a:r>
            <a:endParaRPr lang="en-US" sz="700" dirty="0"/>
          </a:p>
        </p:txBody>
      </p:sp>
      <p:sp>
        <p:nvSpPr>
          <p:cNvPr id="37" name="Text 34"/>
          <p:cNvSpPr/>
          <p:nvPr/>
        </p:nvSpPr>
        <p:spPr>
          <a:xfrm>
            <a:off x="1682496"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The same visible detail can carry two interpretations.</a:t>
            </a:r>
            <a:endParaRPr lang="en-US" sz="1500" dirty="0"/>
          </a:p>
        </p:txBody>
      </p:sp>
      <p:sp>
        <p:nvSpPr>
          <p:cNvPr id="38" name="Shape 35"/>
          <p:cNvSpPr/>
          <p:nvPr/>
        </p:nvSpPr>
        <p:spPr>
          <a:xfrm>
            <a:off x="5321808" y="6583680"/>
            <a:ext cx="3675888" cy="1481328"/>
          </a:xfrm>
          <a:prstGeom prst="rect">
            <a:avLst/>
          </a:prstGeom>
          <a:solidFill>
            <a:srgbClr val="241722"/>
          </a:solidFill>
          <a:ln w="8890">
            <a:solidFill>
              <a:srgbClr val="735D6D"/>
            </a:solidFill>
            <a:prstDash val="solid"/>
          </a:ln>
        </p:spPr>
      </p:sp>
      <p:sp>
        <p:nvSpPr>
          <p:cNvPr id="39" name="Text 36"/>
          <p:cNvSpPr/>
          <p:nvPr/>
        </p:nvSpPr>
        <p:spPr>
          <a:xfrm>
            <a:off x="5504688"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F0AB8A"/>
                </a:solidFill>
                <a:latin typeface="Arial" pitchFamily="34" charset="0"/>
                <a:ea typeface="Arial" pitchFamily="34" charset="-122"/>
                <a:cs typeface="Arial" pitchFamily="34" charset="-120"/>
              </a:rPr>
              <a:t>02 / TRY IN WORDS</a:t>
            </a:r>
            <a:endParaRPr lang="en-US" sz="700" dirty="0"/>
          </a:p>
        </p:txBody>
      </p:sp>
      <p:sp>
        <p:nvSpPr>
          <p:cNvPr id="40" name="Text 37"/>
          <p:cNvSpPr/>
          <p:nvPr/>
        </p:nvSpPr>
        <p:spPr>
          <a:xfrm>
            <a:off x="5504688"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Rewrite a room description from the second character’s view.</a:t>
            </a:r>
            <a:endParaRPr lang="en-US" sz="1500" dirty="0"/>
          </a:p>
        </p:txBody>
      </p:sp>
      <p:sp>
        <p:nvSpPr>
          <p:cNvPr id="41" name="Shape 38"/>
          <p:cNvSpPr/>
          <p:nvPr/>
        </p:nvSpPr>
        <p:spPr>
          <a:xfrm>
            <a:off x="9144000" y="6583680"/>
            <a:ext cx="3675888" cy="1481328"/>
          </a:xfrm>
          <a:prstGeom prst="rect">
            <a:avLst/>
          </a:prstGeom>
          <a:solidFill>
            <a:srgbClr val="241722"/>
          </a:solidFill>
          <a:ln w="8890">
            <a:solidFill>
              <a:srgbClr val="735D6D"/>
            </a:solidFill>
            <a:prstDash val="solid"/>
          </a:ln>
        </p:spPr>
      </p:sp>
      <p:sp>
        <p:nvSpPr>
          <p:cNvPr id="42" name="Text 39"/>
          <p:cNvSpPr/>
          <p:nvPr/>
        </p:nvSpPr>
        <p:spPr>
          <a:xfrm>
            <a:off x="9326880"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F0AB8A"/>
                </a:solidFill>
                <a:latin typeface="Arial" pitchFamily="34" charset="0"/>
                <a:ea typeface="Arial" pitchFamily="34" charset="-122"/>
                <a:cs typeface="Arial" pitchFamily="34" charset="-120"/>
              </a:rPr>
              <a:t>03 / KEEP VISIBLE</a:t>
            </a:r>
            <a:endParaRPr lang="en-US" sz="700" dirty="0"/>
          </a:p>
        </p:txBody>
      </p:sp>
      <p:sp>
        <p:nvSpPr>
          <p:cNvPr id="43" name="Text 40"/>
          <p:cNvSpPr/>
          <p:nvPr/>
        </p:nvSpPr>
        <p:spPr>
          <a:xfrm>
            <a:off x="9326880"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Separate description from a character’s assumption.</a:t>
            </a:r>
            <a:endParaRPr lang="en-US" sz="1500" dirty="0"/>
          </a:p>
        </p:txBody>
      </p:sp>
      <p:sp>
        <p:nvSpPr>
          <p:cNvPr id="44" name="Shape 41"/>
          <p:cNvSpPr/>
          <p:nvPr/>
        </p:nvSpPr>
        <p:spPr>
          <a:xfrm>
            <a:off x="1499616" y="8211312"/>
            <a:ext cx="11338560" cy="0"/>
          </a:xfrm>
          <a:prstGeom prst="line">
            <a:avLst/>
          </a:prstGeom>
          <a:noFill/>
          <a:ln w="8890">
            <a:solidFill>
              <a:srgbClr val="796170"/>
            </a:solidFill>
            <a:prstDash val="solid"/>
          </a:ln>
        </p:spPr>
      </p:sp>
      <p:sp>
        <p:nvSpPr>
          <p:cNvPr id="45" name="Text 42"/>
          <p:cNvSpPr/>
          <p:nvPr/>
        </p:nvSpPr>
        <p:spPr>
          <a:xfrm>
            <a:off x="1499616" y="8339328"/>
            <a:ext cx="8229600" cy="118872"/>
          </a:xfrm>
          <a:prstGeom prst="rect">
            <a:avLst/>
          </a:prstGeom>
          <a:noFill/>
          <a:ln/>
        </p:spPr>
        <p:txBody>
          <a:bodyPr wrap="square" lIns="0" tIns="0" rIns="0" bIns="0" rtlCol="0" anchor="t">
            <a:normAutofit/>
          </a:bodyPr>
          <a:lstStyle/>
          <a:p>
            <a:pPr indent="0" marL="0">
              <a:buNone/>
            </a:pPr>
            <a:r>
              <a:rPr lang="en-US" sz="650" dirty="0">
                <a:solidFill>
                  <a:srgbClr val="C0AAB9"/>
                </a:solidFill>
                <a:latin typeface="Arial" pitchFamily="34" charset="0"/>
                <a:ea typeface="Arial" pitchFamily="34" charset="-122"/>
                <a:cs typeface="Arial" pitchFamily="34" charset="-120"/>
              </a:rPr>
              <a:t>FICTIONAL WRITING WORKSHOP / NOT A STAGING OR APPROVAL PLAN</a:t>
            </a:r>
            <a:endParaRPr lang="en-US" sz="650" dirty="0"/>
          </a:p>
        </p:txBody>
      </p:sp>
      <p:sp>
        <p:nvSpPr>
          <p:cNvPr id="46" name="Text 43"/>
          <p:cNvSpPr/>
          <p:nvPr/>
        </p:nvSpPr>
        <p:spPr>
          <a:xfrm>
            <a:off x="9729216" y="8339328"/>
            <a:ext cx="3108960" cy="118872"/>
          </a:xfrm>
          <a:prstGeom prst="rect">
            <a:avLst/>
          </a:prstGeom>
          <a:noFill/>
          <a:ln/>
        </p:spPr>
        <p:txBody>
          <a:bodyPr wrap="square" lIns="0" tIns="0" rIns="0" bIns="0" rtlCol="0" anchor="t">
            <a:normAutofit/>
          </a:bodyPr>
          <a:lstStyle/>
          <a:p>
            <a:pPr algn="r" indent="0" marL="0">
              <a:buNone/>
            </a:pPr>
            <a:r>
              <a:rPr lang="en-US" sz="650" dirty="0">
                <a:solidFill>
                  <a:srgbClr val="C0AAB9"/>
                </a:solidFill>
                <a:latin typeface="Arial" pitchFamily="34" charset="0"/>
                <a:ea typeface="Arial" pitchFamily="34" charset="-122"/>
                <a:cs typeface="Arial" pitchFamily="34" charset="-120"/>
              </a:rPr>
              <a:t>DRAFT / 14 OF 15 ARTWORKS / 2 OF 30</a:t>
            </a:r>
            <a:endParaRPr lang="en-US" sz="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41722"/>
        </a:solidFill>
      </p:bgPr>
    </p:bg>
    <p:spTree>
      <p:nvGrpSpPr>
        <p:cNvPr id="1" name=""/>
        <p:cNvGrpSpPr/>
        <p:nvPr/>
      </p:nvGrpSpPr>
      <p:grpSpPr>
        <a:xfrm>
          <a:off x="0" y="0"/>
          <a:ext cx="0" cy="0"/>
          <a:chOff x="0" y="0"/>
          <a:chExt cx="0" cy="0"/>
        </a:xfrm>
      </p:grpSpPr>
      <p:sp>
        <p:nvSpPr>
          <p:cNvPr id="2" name="Shape 0"/>
          <p:cNvSpPr/>
          <p:nvPr/>
        </p:nvSpPr>
        <p:spPr>
          <a:xfrm>
            <a:off x="1243584" y="329184"/>
            <a:ext cx="0" cy="8119872"/>
          </a:xfrm>
          <a:prstGeom prst="line">
            <a:avLst/>
          </a:prstGeom>
          <a:noFill/>
          <a:ln w="10160">
            <a:solidFill>
              <a:srgbClr val="776072"/>
            </a:solidFill>
            <a:prstDash val="solid"/>
          </a:ln>
        </p:spPr>
      </p:sp>
      <p:sp>
        <p:nvSpPr>
          <p:cNvPr id="3" name="Text 1"/>
          <p:cNvSpPr/>
          <p:nvPr/>
        </p:nvSpPr>
        <p:spPr>
          <a:xfrm>
            <a:off x="393192" y="457200"/>
            <a:ext cx="685800" cy="457200"/>
          </a:xfrm>
          <a:prstGeom prst="rect">
            <a:avLst/>
          </a:prstGeom>
          <a:noFill/>
          <a:ln/>
        </p:spPr>
        <p:txBody>
          <a:bodyPr wrap="square" lIns="0" tIns="0" rIns="0" bIns="0" rtlCol="0" anchor="t">
            <a:normAutofit/>
          </a:bodyPr>
          <a:lstStyle/>
          <a:p>
            <a:pPr indent="0" marL="0">
              <a:buNone/>
            </a:pPr>
            <a:r>
              <a:rPr lang="en-US" sz="600" dirty="0">
                <a:solidFill>
                  <a:srgbClr val="C0AAB9"/>
                </a:solidFill>
                <a:latin typeface="Arial" pitchFamily="34" charset="0"/>
                <a:ea typeface="Arial" pitchFamily="34" charset="-122"/>
                <a:cs typeface="Arial" pitchFamily="34" charset="-120"/>
              </a:rPr>
              <a:t>DESIGN BUDDY</a:t>
            </a:r>
            <a:endParaRPr lang="en-US" sz="600" dirty="0"/>
          </a:p>
          <a:p>
            <a:pPr indent="0" marL="0">
              <a:buNone/>
            </a:pPr>
            <a:r>
              <a:rPr lang="en-US" sz="600" dirty="0">
                <a:solidFill>
                  <a:srgbClr val="C0AAB9"/>
                </a:solidFill>
                <a:latin typeface="Arial" pitchFamily="34" charset="0"/>
                <a:ea typeface="Arial" pitchFamily="34" charset="-122"/>
                <a:cs typeface="Arial" pitchFamily="34" charset="-120"/>
              </a:rPr>
              <a:t>CREATIVE EXERCISE</a:t>
            </a:r>
            <a:endParaRPr lang="en-US" sz="600" dirty="0"/>
          </a:p>
        </p:txBody>
      </p:sp>
      <p:sp>
        <p:nvSpPr>
          <p:cNvPr id="4" name="Text 2"/>
          <p:cNvSpPr/>
          <p:nvPr/>
        </p:nvSpPr>
        <p:spPr>
          <a:xfrm>
            <a:off x="502920" y="1920240"/>
            <a:ext cx="502920" cy="4480560"/>
          </a:xfrm>
          <a:prstGeom prst="rect">
            <a:avLst/>
          </a:prstGeom>
          <a:noFill/>
          <a:ln/>
        </p:spPr>
        <p:txBody>
          <a:bodyPr wrap="square" lIns="0" tIns="0" rIns="0" bIns="0" rtlCol="0" anchor="t">
            <a:normAutofit/>
          </a:bodyPr>
          <a:lstStyle/>
          <a:p>
            <a:pPr algn="ctr" indent="0" marL="0">
              <a:buNone/>
            </a:pPr>
            <a:r>
              <a:rPr lang="en-US" sz="2500" dirty="0">
                <a:solidFill>
                  <a:srgbClr val="F0AB8A"/>
                </a:solidFill>
                <a:latin typeface="Georgia" pitchFamily="34" charset="0"/>
                <a:ea typeface="Georgia" pitchFamily="34" charset="-122"/>
                <a:cs typeface="Georgia" pitchFamily="34" charset="-120"/>
              </a:rPr>
              <a:t>A</a:t>
            </a:r>
            <a:endParaRPr lang="en-US" sz="2500" dirty="0"/>
          </a:p>
          <a:p>
            <a:pPr algn="ctr" indent="0" marL="0">
              <a:buNone/>
            </a:pPr>
            <a:r>
              <a:rPr lang="en-US" sz="2500" dirty="0">
                <a:solidFill>
                  <a:srgbClr val="F0AB8A"/>
                </a:solidFill>
                <a:latin typeface="Georgia" pitchFamily="34" charset="0"/>
                <a:ea typeface="Georgia" pitchFamily="34" charset="-122"/>
                <a:cs typeface="Georgia" pitchFamily="34" charset="-120"/>
              </a:rPr>
              <a:t>F</a:t>
            </a:r>
            <a:endParaRPr lang="en-US" sz="2500" dirty="0"/>
          </a:p>
          <a:p>
            <a:pPr algn="ctr" indent="0" marL="0">
              <a:buNone/>
            </a:pPr>
            <a:r>
              <a:rPr lang="en-US" sz="2500" dirty="0">
                <a:solidFill>
                  <a:srgbClr val="F0AB8A"/>
                </a:solidFill>
                <a:latin typeface="Georgia" pitchFamily="34" charset="0"/>
                <a:ea typeface="Georgia" pitchFamily="34" charset="-122"/>
                <a:cs typeface="Georgia" pitchFamily="34" charset="-120"/>
              </a:rPr>
              <a:t>T</a:t>
            </a:r>
            <a:endParaRPr lang="en-US" sz="2500" dirty="0"/>
          </a:p>
          <a:p>
            <a:pPr algn="ctr" indent="0" marL="0">
              <a:buNone/>
            </a:pPr>
            <a:r>
              <a:rPr lang="en-US" sz="2500" dirty="0">
                <a:solidFill>
                  <a:srgbClr val="F0AB8A"/>
                </a:solidFill>
                <a:latin typeface="Georgia" pitchFamily="34" charset="0"/>
                <a:ea typeface="Georgia" pitchFamily="34" charset="-122"/>
                <a:cs typeface="Georgia" pitchFamily="34" charset="-120"/>
              </a:rPr>
              <a:t>E</a:t>
            </a:r>
            <a:endParaRPr lang="en-US" sz="2500" dirty="0"/>
          </a:p>
          <a:p>
            <a:pPr algn="ctr" indent="0" marL="0">
              <a:buNone/>
            </a:pPr>
            <a:r>
              <a:rPr lang="en-US" sz="2500" dirty="0">
                <a:solidFill>
                  <a:srgbClr val="F0AB8A"/>
                </a:solidFill>
                <a:latin typeface="Georgia" pitchFamily="34" charset="0"/>
                <a:ea typeface="Georgia" pitchFamily="34" charset="-122"/>
                <a:cs typeface="Georgia" pitchFamily="34" charset="-120"/>
              </a:rPr>
              <a:t>R</a:t>
            </a:r>
            <a:endParaRPr lang="en-US" sz="2500" dirty="0"/>
          </a:p>
          <a:p>
            <a:pPr algn="ctr" indent="0" marL="0">
              <a:buNone/>
            </a:pPr>
            <a:r>
              <a:rPr lang="en-US" sz="2500" dirty="0">
                <a:solidFill>
                  <a:srgbClr val="F0AB8A"/>
                </a:solidFill>
                <a:latin typeface="Georgia" pitchFamily="34" charset="0"/>
                <a:ea typeface="Georgia" pitchFamily="34" charset="-122"/>
                <a:cs typeface="Georgia" pitchFamily="34" charset="-120"/>
              </a:rPr>
              <a:t>G</a:t>
            </a:r>
            <a:endParaRPr lang="en-US" sz="2500" dirty="0"/>
          </a:p>
          <a:p>
            <a:pPr algn="ctr" indent="0" marL="0">
              <a:buNone/>
            </a:pPr>
            <a:r>
              <a:rPr lang="en-US" sz="2500" dirty="0">
                <a:solidFill>
                  <a:srgbClr val="F0AB8A"/>
                </a:solidFill>
                <a:latin typeface="Georgia" pitchFamily="34" charset="0"/>
                <a:ea typeface="Georgia" pitchFamily="34" charset="-122"/>
                <a:cs typeface="Georgia" pitchFamily="34" charset="-120"/>
              </a:rPr>
              <a:t>L</a:t>
            </a:r>
            <a:endParaRPr lang="en-US" sz="2500" dirty="0"/>
          </a:p>
          <a:p>
            <a:pPr algn="ctr" indent="0" marL="0">
              <a:buNone/>
            </a:pPr>
            <a:r>
              <a:rPr lang="en-US" sz="2500" dirty="0">
                <a:solidFill>
                  <a:srgbClr val="F0AB8A"/>
                </a:solidFill>
                <a:latin typeface="Georgia" pitchFamily="34" charset="0"/>
                <a:ea typeface="Georgia" pitchFamily="34" charset="-122"/>
                <a:cs typeface="Georgia" pitchFamily="34" charset="-120"/>
              </a:rPr>
              <a:t>O</a:t>
            </a:r>
            <a:endParaRPr lang="en-US" sz="2500" dirty="0"/>
          </a:p>
          <a:p>
            <a:pPr algn="ctr" indent="0" marL="0">
              <a:buNone/>
            </a:pPr>
            <a:r>
              <a:rPr lang="en-US" sz="2500" dirty="0">
                <a:solidFill>
                  <a:srgbClr val="F0AB8A"/>
                </a:solidFill>
                <a:latin typeface="Georgia" pitchFamily="34" charset="0"/>
                <a:ea typeface="Georgia" pitchFamily="34" charset="-122"/>
                <a:cs typeface="Georgia" pitchFamily="34" charset="-120"/>
              </a:rPr>
              <a:t>W</a:t>
            </a:r>
            <a:endParaRPr lang="en-US" sz="2500" dirty="0"/>
          </a:p>
        </p:txBody>
      </p:sp>
      <p:sp>
        <p:nvSpPr>
          <p:cNvPr id="5" name="Text 3"/>
          <p:cNvSpPr/>
          <p:nvPr/>
        </p:nvSpPr>
        <p:spPr>
          <a:xfrm>
            <a:off x="402336" y="7022592"/>
            <a:ext cx="731520" cy="594360"/>
          </a:xfrm>
          <a:prstGeom prst="rect">
            <a:avLst/>
          </a:prstGeom>
          <a:noFill/>
          <a:ln/>
        </p:spPr>
        <p:txBody>
          <a:bodyPr wrap="square" lIns="0" tIns="0" rIns="0" bIns="0" rtlCol="0" anchor="t">
            <a:normAutofit/>
          </a:bodyPr>
          <a:lstStyle/>
          <a:p>
            <a:pPr indent="0" marL="0">
              <a:buNone/>
            </a:pPr>
            <a:r>
              <a:rPr lang="en-US" sz="4200" dirty="0">
                <a:solidFill>
                  <a:srgbClr val="F0AB8A"/>
                </a:solidFill>
                <a:latin typeface="Georgia" pitchFamily="34" charset="0"/>
                <a:ea typeface="Georgia" pitchFamily="34" charset="-122"/>
                <a:cs typeface="Georgia" pitchFamily="34" charset="-120"/>
              </a:rPr>
              <a:t>03</a:t>
            </a:r>
            <a:endParaRPr lang="en-US" sz="4200" dirty="0"/>
          </a:p>
        </p:txBody>
      </p:sp>
      <p:sp>
        <p:nvSpPr>
          <p:cNvPr id="6" name="Text 4"/>
          <p:cNvSpPr/>
          <p:nvPr/>
        </p:nvSpPr>
        <p:spPr>
          <a:xfrm>
            <a:off x="402336" y="7818120"/>
            <a:ext cx="731520" cy="411480"/>
          </a:xfrm>
          <a:prstGeom prst="rect">
            <a:avLst/>
          </a:prstGeom>
          <a:noFill/>
          <a:ln/>
        </p:spPr>
        <p:txBody>
          <a:bodyPr wrap="square" lIns="0" tIns="0" rIns="0" bIns="0" rtlCol="0" anchor="t">
            <a:normAutofit/>
          </a:bodyPr>
          <a:lstStyle/>
          <a:p>
            <a:pPr indent="0" marL="0">
              <a:buNone/>
            </a:pPr>
            <a:r>
              <a:rPr lang="en-US" sz="700" dirty="0">
                <a:solidFill>
                  <a:srgbClr val="C0AAB9"/>
                </a:solidFill>
                <a:latin typeface="Arial" pitchFamily="34" charset="0"/>
                <a:ea typeface="Arial" pitchFamily="34" charset="-122"/>
                <a:cs typeface="Arial" pitchFamily="34" charset="-120"/>
              </a:rPr>
              <a:t>ACT 1 / 5</a:t>
            </a:r>
            <a:endParaRPr lang="en-US" sz="700" dirty="0"/>
          </a:p>
          <a:p>
            <a:pPr indent="0" marL="0">
              <a:buNone/>
            </a:pPr>
            <a:r>
              <a:rPr lang="en-US" sz="700" dirty="0">
                <a:solidFill>
                  <a:srgbClr val="C0AAB9"/>
                </a:solidFill>
                <a:latin typeface="Arial" pitchFamily="34" charset="0"/>
                <a:ea typeface="Arial" pitchFamily="34" charset="-122"/>
                <a:cs typeface="Arial" pitchFamily="34" charset="-120"/>
              </a:rPr>
              <a:t>BEAT 3 / 6</a:t>
            </a:r>
            <a:endParaRPr lang="en-US" sz="700" dirty="0"/>
          </a:p>
        </p:txBody>
      </p:sp>
      <p:sp>
        <p:nvSpPr>
          <p:cNvPr id="7" name="Text 5"/>
          <p:cNvSpPr/>
          <p:nvPr/>
        </p:nvSpPr>
        <p:spPr>
          <a:xfrm>
            <a:off x="1499616" y="347472"/>
            <a:ext cx="9144000" cy="164592"/>
          </a:xfrm>
          <a:prstGeom prst="rect">
            <a:avLst/>
          </a:prstGeom>
          <a:noFill/>
          <a:ln/>
        </p:spPr>
        <p:txBody>
          <a:bodyPr wrap="square" lIns="0" tIns="0" rIns="0" bIns="0" rtlCol="0" anchor="t">
            <a:normAutofit/>
          </a:bodyPr>
          <a:lstStyle/>
          <a:p>
            <a:pPr indent="0" marL="0">
              <a:buNone/>
            </a:pPr>
            <a:r>
              <a:rPr lang="en-US" sz="700" spc="120" kern="0" dirty="0">
                <a:solidFill>
                  <a:srgbClr val="F0AB8A"/>
                </a:solidFill>
                <a:latin typeface="Arial" pitchFamily="34" charset="0"/>
                <a:ea typeface="Arial" pitchFamily="34" charset="-122"/>
                <a:cs typeface="Arial" pitchFamily="34" charset="-120"/>
              </a:rPr>
              <a:t>ACT 1 / ARRIVAL</a:t>
            </a:r>
            <a:endParaRPr lang="en-US" sz="700" dirty="0"/>
          </a:p>
        </p:txBody>
      </p:sp>
      <p:sp>
        <p:nvSpPr>
          <p:cNvPr id="8" name="Text 6"/>
          <p:cNvSpPr/>
          <p:nvPr/>
        </p:nvSpPr>
        <p:spPr>
          <a:xfrm>
            <a:off x="1499616" y="612648"/>
            <a:ext cx="9692640" cy="594360"/>
          </a:xfrm>
          <a:prstGeom prst="rect">
            <a:avLst/>
          </a:prstGeom>
          <a:noFill/>
          <a:ln/>
        </p:spPr>
        <p:txBody>
          <a:bodyPr wrap="square" lIns="0" tIns="0" rIns="0" bIns="0" rtlCol="0" anchor="t">
            <a:normAutofit/>
          </a:bodyPr>
          <a:lstStyle/>
          <a:p>
            <a:pPr indent="0" marL="0">
              <a:buNone/>
            </a:pPr>
            <a:r>
              <a:rPr lang="en-US" sz="2800" dirty="0">
                <a:solidFill>
                  <a:srgbClr val="ECDED6"/>
                </a:solidFill>
                <a:latin typeface="Georgia" pitchFamily="34" charset="0"/>
                <a:ea typeface="Georgia" pitchFamily="34" charset="-122"/>
                <a:cs typeface="Georgia" pitchFamily="34" charset="-120"/>
              </a:rPr>
              <a:t>Let an object ask a question.</a:t>
            </a:r>
            <a:endParaRPr lang="en-US" sz="2800" dirty="0"/>
          </a:p>
        </p:txBody>
      </p:sp>
      <p:sp>
        <p:nvSpPr>
          <p:cNvPr id="9" name="Text 7"/>
          <p:cNvSpPr/>
          <p:nvPr/>
        </p:nvSpPr>
        <p:spPr>
          <a:xfrm>
            <a:off x="11475720" y="438912"/>
            <a:ext cx="1325880" cy="182880"/>
          </a:xfrm>
          <a:prstGeom prst="rect">
            <a:avLst/>
          </a:prstGeom>
          <a:noFill/>
          <a:ln/>
        </p:spPr>
        <p:txBody>
          <a:bodyPr wrap="square" lIns="0" tIns="0" rIns="0" bIns="0" rtlCol="0" anchor="t">
            <a:normAutofit/>
          </a:bodyPr>
          <a:lstStyle/>
          <a:p>
            <a:pPr algn="r" indent="0" marL="0">
              <a:buNone/>
            </a:pPr>
            <a:r>
              <a:rPr lang="en-US" sz="700" dirty="0">
                <a:solidFill>
                  <a:srgbClr val="F0AB8A"/>
                </a:solidFill>
                <a:latin typeface="Arial" pitchFamily="34" charset="0"/>
                <a:ea typeface="Arial" pitchFamily="34" charset="-122"/>
                <a:cs typeface="Arial" pitchFamily="34" charset="-120"/>
              </a:rPr>
              <a:t>LOCAL / UNMARKED</a:t>
            </a:r>
            <a:endParaRPr lang="en-US" sz="700" dirty="0"/>
          </a:p>
        </p:txBody>
      </p:sp>
      <p:sp>
        <p:nvSpPr>
          <p:cNvPr id="10" name="Shape 8"/>
          <p:cNvSpPr/>
          <p:nvPr/>
        </p:nvSpPr>
        <p:spPr>
          <a:xfrm>
            <a:off x="1499616" y="1307592"/>
            <a:ext cx="1819656" cy="448056"/>
          </a:xfrm>
          <a:prstGeom prst="rect">
            <a:avLst/>
          </a:prstGeom>
          <a:solidFill>
            <a:srgbClr val="241722"/>
          </a:solidFill>
          <a:ln w="8890">
            <a:solidFill>
              <a:srgbClr val="6D5768"/>
            </a:solidFill>
            <a:prstDash val="solid"/>
          </a:ln>
        </p:spPr>
      </p:sp>
      <p:sp>
        <p:nvSpPr>
          <p:cNvPr id="11" name="Text 9"/>
          <p:cNvSpPr/>
          <p:nvPr/>
        </p:nvSpPr>
        <p:spPr>
          <a:xfrm>
            <a:off x="1572768"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F0AB8A"/>
                </a:solidFill>
                <a:latin typeface="Georgia" pitchFamily="34" charset="0"/>
                <a:ea typeface="Georgia" pitchFamily="34" charset="-122"/>
                <a:cs typeface="Georgia" pitchFamily="34" charset="-120"/>
              </a:rPr>
              <a:t>1</a:t>
            </a:r>
            <a:endParaRPr lang="en-US" sz="1700" dirty="0"/>
          </a:p>
        </p:txBody>
      </p:sp>
      <p:sp>
        <p:nvSpPr>
          <p:cNvPr id="12" name="Text 10"/>
          <p:cNvSpPr/>
          <p:nvPr/>
        </p:nvSpPr>
        <p:spPr>
          <a:xfrm>
            <a:off x="1865376"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Begin before the curtain.</a:t>
            </a:r>
            <a:endParaRPr lang="en-US" sz="700" dirty="0"/>
          </a:p>
        </p:txBody>
      </p:sp>
      <p:sp>
        <p:nvSpPr>
          <p:cNvPr id="13" name="Shape 11"/>
          <p:cNvSpPr/>
          <p:nvPr/>
        </p:nvSpPr>
        <p:spPr>
          <a:xfrm>
            <a:off x="3392424" y="1307592"/>
            <a:ext cx="1819656" cy="448056"/>
          </a:xfrm>
          <a:prstGeom prst="rect">
            <a:avLst/>
          </a:prstGeom>
          <a:solidFill>
            <a:srgbClr val="241722"/>
          </a:solidFill>
          <a:ln w="8890">
            <a:solidFill>
              <a:srgbClr val="6D5768"/>
            </a:solidFill>
            <a:prstDash val="solid"/>
          </a:ln>
        </p:spPr>
      </p:sp>
      <p:sp>
        <p:nvSpPr>
          <p:cNvPr id="14" name="Text 12"/>
          <p:cNvSpPr/>
          <p:nvPr/>
        </p:nvSpPr>
        <p:spPr>
          <a:xfrm>
            <a:off x="3465576"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F0AB8A"/>
                </a:solidFill>
                <a:latin typeface="Georgia" pitchFamily="34" charset="0"/>
                <a:ea typeface="Georgia" pitchFamily="34" charset="-122"/>
                <a:cs typeface="Georgia" pitchFamily="34" charset="-120"/>
              </a:rPr>
              <a:t>2</a:t>
            </a:r>
            <a:endParaRPr lang="en-US" sz="1700" dirty="0"/>
          </a:p>
        </p:txBody>
      </p:sp>
      <p:sp>
        <p:nvSpPr>
          <p:cNvPr id="15" name="Text 13"/>
          <p:cNvSpPr/>
          <p:nvPr/>
        </p:nvSpPr>
        <p:spPr>
          <a:xfrm>
            <a:off x="3758184"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Give the room a point of view.</a:t>
            </a:r>
            <a:endParaRPr lang="en-US" sz="700" dirty="0"/>
          </a:p>
        </p:txBody>
      </p:sp>
      <p:sp>
        <p:nvSpPr>
          <p:cNvPr id="16" name="Shape 14"/>
          <p:cNvSpPr/>
          <p:nvPr/>
        </p:nvSpPr>
        <p:spPr>
          <a:xfrm>
            <a:off x="5285232" y="1307592"/>
            <a:ext cx="1819656" cy="448056"/>
          </a:xfrm>
          <a:prstGeom prst="rect">
            <a:avLst/>
          </a:prstGeom>
          <a:solidFill>
            <a:srgbClr val="241722"/>
          </a:solidFill>
          <a:ln w="8890">
            <a:solidFill>
              <a:srgbClr val="F0AB8A"/>
            </a:solidFill>
            <a:prstDash val="solid"/>
          </a:ln>
        </p:spPr>
      </p:sp>
      <p:sp>
        <p:nvSpPr>
          <p:cNvPr id="17" name="Text 15"/>
          <p:cNvSpPr/>
          <p:nvPr/>
        </p:nvSpPr>
        <p:spPr>
          <a:xfrm>
            <a:off x="5358384"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F0AB8A"/>
                </a:solidFill>
                <a:latin typeface="Georgia" pitchFamily="34" charset="0"/>
                <a:ea typeface="Georgia" pitchFamily="34" charset="-122"/>
                <a:cs typeface="Georgia" pitchFamily="34" charset="-120"/>
              </a:rPr>
              <a:t>3</a:t>
            </a:r>
            <a:endParaRPr lang="en-US" sz="1700" dirty="0"/>
          </a:p>
        </p:txBody>
      </p:sp>
      <p:sp>
        <p:nvSpPr>
          <p:cNvPr id="18" name="Text 16"/>
          <p:cNvSpPr/>
          <p:nvPr/>
        </p:nvSpPr>
        <p:spPr>
          <a:xfrm>
            <a:off x="5650992"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Let an object ask a question.</a:t>
            </a:r>
            <a:endParaRPr lang="en-US" sz="700" dirty="0"/>
          </a:p>
        </p:txBody>
      </p:sp>
      <p:sp>
        <p:nvSpPr>
          <p:cNvPr id="19" name="Shape 17"/>
          <p:cNvSpPr/>
          <p:nvPr/>
        </p:nvSpPr>
        <p:spPr>
          <a:xfrm>
            <a:off x="7178040" y="1307592"/>
            <a:ext cx="1819656" cy="448056"/>
          </a:xfrm>
          <a:prstGeom prst="rect">
            <a:avLst/>
          </a:prstGeom>
          <a:solidFill>
            <a:srgbClr val="241722"/>
          </a:solidFill>
          <a:ln w="8890">
            <a:solidFill>
              <a:srgbClr val="6D5768"/>
            </a:solidFill>
            <a:prstDash val="solid"/>
          </a:ln>
        </p:spPr>
      </p:sp>
      <p:sp>
        <p:nvSpPr>
          <p:cNvPr id="20" name="Text 18"/>
          <p:cNvSpPr/>
          <p:nvPr/>
        </p:nvSpPr>
        <p:spPr>
          <a:xfrm>
            <a:off x="7251192"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F0AB8A"/>
                </a:solidFill>
                <a:latin typeface="Georgia" pitchFamily="34" charset="0"/>
                <a:ea typeface="Georgia" pitchFamily="34" charset="-122"/>
                <a:cs typeface="Georgia" pitchFamily="34" charset="-120"/>
              </a:rPr>
              <a:t>4</a:t>
            </a:r>
            <a:endParaRPr lang="en-US" sz="1700" dirty="0"/>
          </a:p>
        </p:txBody>
      </p:sp>
      <p:sp>
        <p:nvSpPr>
          <p:cNvPr id="21" name="Text 19"/>
          <p:cNvSpPr/>
          <p:nvPr/>
        </p:nvSpPr>
        <p:spPr>
          <a:xfrm>
            <a:off x="7543800"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Start with an incomplete want.</a:t>
            </a:r>
            <a:endParaRPr lang="en-US" sz="700" dirty="0"/>
          </a:p>
        </p:txBody>
      </p:sp>
      <p:sp>
        <p:nvSpPr>
          <p:cNvPr id="22" name="Shape 20"/>
          <p:cNvSpPr/>
          <p:nvPr/>
        </p:nvSpPr>
        <p:spPr>
          <a:xfrm>
            <a:off x="9070848" y="1307592"/>
            <a:ext cx="1819656" cy="448056"/>
          </a:xfrm>
          <a:prstGeom prst="rect">
            <a:avLst/>
          </a:prstGeom>
          <a:solidFill>
            <a:srgbClr val="241722"/>
          </a:solidFill>
          <a:ln w="8890">
            <a:solidFill>
              <a:srgbClr val="6D5768"/>
            </a:solidFill>
            <a:prstDash val="solid"/>
          </a:ln>
        </p:spPr>
      </p:sp>
      <p:sp>
        <p:nvSpPr>
          <p:cNvPr id="23" name="Text 21"/>
          <p:cNvSpPr/>
          <p:nvPr/>
        </p:nvSpPr>
        <p:spPr>
          <a:xfrm>
            <a:off x="9144000"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F0AB8A"/>
                </a:solidFill>
                <a:latin typeface="Georgia" pitchFamily="34" charset="0"/>
                <a:ea typeface="Georgia" pitchFamily="34" charset="-122"/>
                <a:cs typeface="Georgia" pitchFamily="34" charset="-120"/>
              </a:rPr>
              <a:t>5</a:t>
            </a:r>
            <a:endParaRPr lang="en-US" sz="1700" dirty="0"/>
          </a:p>
        </p:txBody>
      </p:sp>
      <p:sp>
        <p:nvSpPr>
          <p:cNvPr id="24" name="Text 22"/>
          <p:cNvSpPr/>
          <p:nvPr/>
        </p:nvSpPr>
        <p:spPr>
          <a:xfrm>
            <a:off x="9436608"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Make an entrance meaningful.</a:t>
            </a:r>
            <a:endParaRPr lang="en-US" sz="700" dirty="0"/>
          </a:p>
        </p:txBody>
      </p:sp>
      <p:sp>
        <p:nvSpPr>
          <p:cNvPr id="25" name="Shape 23"/>
          <p:cNvSpPr/>
          <p:nvPr/>
        </p:nvSpPr>
        <p:spPr>
          <a:xfrm>
            <a:off x="10963656" y="1307592"/>
            <a:ext cx="1819656" cy="448056"/>
          </a:xfrm>
          <a:prstGeom prst="rect">
            <a:avLst/>
          </a:prstGeom>
          <a:solidFill>
            <a:srgbClr val="241722"/>
          </a:solidFill>
          <a:ln w="8890">
            <a:solidFill>
              <a:srgbClr val="6D5768"/>
            </a:solidFill>
            <a:prstDash val="solid"/>
          </a:ln>
        </p:spPr>
      </p:sp>
      <p:sp>
        <p:nvSpPr>
          <p:cNvPr id="26" name="Text 24"/>
          <p:cNvSpPr/>
          <p:nvPr/>
        </p:nvSpPr>
        <p:spPr>
          <a:xfrm>
            <a:off x="11036808"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F0AB8A"/>
                </a:solidFill>
                <a:latin typeface="Georgia" pitchFamily="34" charset="0"/>
                <a:ea typeface="Georgia" pitchFamily="34" charset="-122"/>
                <a:cs typeface="Georgia" pitchFamily="34" charset="-120"/>
              </a:rPr>
              <a:t>6</a:t>
            </a:r>
            <a:endParaRPr lang="en-US" sz="1700" dirty="0"/>
          </a:p>
        </p:txBody>
      </p:sp>
      <p:sp>
        <p:nvSpPr>
          <p:cNvPr id="27" name="Text 25"/>
          <p:cNvSpPr/>
          <p:nvPr/>
        </p:nvSpPr>
        <p:spPr>
          <a:xfrm>
            <a:off x="11329416"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Choose an opening question.</a:t>
            </a:r>
            <a:endParaRPr lang="en-US" sz="700" dirty="0"/>
          </a:p>
        </p:txBody>
      </p:sp>
      <p:pic>
        <p:nvPicPr>
          <p:cNvPr id="28" name="Image 0" descr="/home/user/design-buddy/design-buddy-home/public/atelier/afterglow/images/02.jpg">    </p:cNvPr>
          <p:cNvPicPr>
            <a:picLocks noChangeAspect="1"/>
          </p:cNvPicPr>
          <p:nvPr/>
        </p:nvPicPr>
        <p:blipFill>
          <a:blip r:embed="rId1"/>
          <a:srcRect l="0" r="0" t="0" b="0"/>
          <a:stretch/>
        </p:blipFill>
        <p:spPr>
          <a:xfrm>
            <a:off x="1499616" y="2066544"/>
            <a:ext cx="6949440" cy="3840480"/>
          </a:xfrm>
          <a:prstGeom prst="rect">
            <a:avLst/>
          </a:prstGeom>
        </p:spPr>
      </p:pic>
      <p:sp>
        <p:nvSpPr>
          <p:cNvPr id="29" name="Text 26"/>
          <p:cNvSpPr/>
          <p:nvPr/>
        </p:nvSpPr>
        <p:spPr>
          <a:xfrm>
            <a:off x="1499616" y="6007608"/>
            <a:ext cx="6949440" cy="164592"/>
          </a:xfrm>
          <a:prstGeom prst="rect">
            <a:avLst/>
          </a:prstGeom>
          <a:noFill/>
          <a:ln/>
        </p:spPr>
        <p:txBody>
          <a:bodyPr wrap="square" lIns="0" tIns="0" rIns="0" bIns="0" rtlCol="0" anchor="t">
            <a:normAutofit/>
          </a:bodyPr>
          <a:lstStyle/>
          <a:p>
            <a:pPr indent="0" marL="0">
              <a:buNone/>
            </a:pPr>
            <a:r>
              <a:rPr lang="en-US" sz="650" dirty="0">
                <a:solidFill>
                  <a:srgbClr val="C0AAB9"/>
                </a:solidFill>
                <a:latin typeface="Arial" pitchFamily="34" charset="0"/>
                <a:ea typeface="Arial" pitchFamily="34" charset="-122"/>
                <a:cs typeface="Arial" pitchFamily="34" charset="-120"/>
              </a:rPr>
              <a:t>Watercolour 2 / invented setting and adults / not production evidence</a:t>
            </a:r>
            <a:endParaRPr lang="en-US" sz="650" dirty="0"/>
          </a:p>
        </p:txBody>
      </p:sp>
      <p:sp>
        <p:nvSpPr>
          <p:cNvPr id="30" name="Text 27"/>
          <p:cNvSpPr/>
          <p:nvPr/>
        </p:nvSpPr>
        <p:spPr>
          <a:xfrm>
            <a:off x="8705088" y="2139696"/>
            <a:ext cx="4133088" cy="164592"/>
          </a:xfrm>
          <a:prstGeom prst="rect">
            <a:avLst/>
          </a:prstGeom>
          <a:noFill/>
          <a:ln/>
        </p:spPr>
        <p:txBody>
          <a:bodyPr wrap="square" lIns="0" tIns="0" rIns="0" bIns="0" rtlCol="0" anchor="t">
            <a:normAutofit/>
          </a:bodyPr>
          <a:lstStyle/>
          <a:p>
            <a:pPr indent="0" marL="0">
              <a:buNone/>
            </a:pPr>
            <a:r>
              <a:rPr lang="en-US" sz="700" spc="110" kern="0" dirty="0">
                <a:solidFill>
                  <a:srgbClr val="F0AB8A"/>
                </a:solidFill>
                <a:latin typeface="Arial" pitchFamily="34" charset="0"/>
                <a:ea typeface="Arial" pitchFamily="34" charset="-122"/>
                <a:cs typeface="Arial" pitchFamily="34" charset="-120"/>
              </a:rPr>
              <a:t>STORY INTENTION</a:t>
            </a:r>
            <a:endParaRPr lang="en-US" sz="700" dirty="0"/>
          </a:p>
        </p:txBody>
      </p:sp>
      <p:sp>
        <p:nvSpPr>
          <p:cNvPr id="31" name="Text 28"/>
          <p:cNvSpPr/>
          <p:nvPr/>
        </p:nvSpPr>
        <p:spPr>
          <a:xfrm>
            <a:off x="8705088" y="2514600"/>
            <a:ext cx="4133088" cy="1828800"/>
          </a:xfrm>
          <a:prstGeom prst="rect">
            <a:avLst/>
          </a:prstGeom>
          <a:noFill/>
          <a:ln/>
        </p:spPr>
        <p:txBody>
          <a:bodyPr wrap="square" lIns="0" tIns="0" rIns="0" bIns="0" rtlCol="0" anchor="t">
            <a:normAutofit/>
          </a:bodyPr>
          <a:lstStyle/>
          <a:p>
            <a:pPr indent="0" marL="0">
              <a:buNone/>
            </a:pPr>
            <a:r>
              <a:rPr lang="en-US" sz="1575" dirty="0">
                <a:solidFill>
                  <a:srgbClr val="ECDED6"/>
                </a:solidFill>
                <a:latin typeface="Georgia" pitchFamily="34" charset="0"/>
                <a:ea typeface="Georgia" pitchFamily="34" charset="-122"/>
                <a:cs typeface="Georgia" pitchFamily="34" charset="-120"/>
              </a:rPr>
              <a:t>Choose a blank notebook, an empty chair or a folded coat. Give it a personal meaning within the invented story. Do not present the illustrated object as a historical artefact or an actual production prop.</a:t>
            </a:r>
            <a:endParaRPr lang="en-US" sz="1575" dirty="0"/>
          </a:p>
        </p:txBody>
      </p:sp>
      <p:sp>
        <p:nvSpPr>
          <p:cNvPr id="32" name="Text 29"/>
          <p:cNvSpPr/>
          <p:nvPr/>
        </p:nvSpPr>
        <p:spPr>
          <a:xfrm>
            <a:off x="8705088" y="4572000"/>
            <a:ext cx="4133088" cy="164592"/>
          </a:xfrm>
          <a:prstGeom prst="rect">
            <a:avLst/>
          </a:prstGeom>
          <a:noFill/>
          <a:ln/>
        </p:spPr>
        <p:txBody>
          <a:bodyPr wrap="square" lIns="0" tIns="0" rIns="0" bIns="0" rtlCol="0" anchor="t">
            <a:normAutofit/>
          </a:bodyPr>
          <a:lstStyle/>
          <a:p>
            <a:pPr indent="0" marL="0">
              <a:buNone/>
            </a:pPr>
            <a:r>
              <a:rPr lang="en-US" sz="700" spc="110" kern="0" dirty="0">
                <a:solidFill>
                  <a:srgbClr val="F0AB8A"/>
                </a:solidFill>
                <a:latin typeface="Arial" pitchFamily="34" charset="0"/>
                <a:ea typeface="Arial" pitchFamily="34" charset="-122"/>
                <a:cs typeface="Arial" pitchFamily="34" charset="-120"/>
              </a:rPr>
              <a:t>LEAVE A QUESTION</a:t>
            </a:r>
            <a:endParaRPr lang="en-US" sz="700" dirty="0"/>
          </a:p>
        </p:txBody>
      </p:sp>
      <p:sp>
        <p:nvSpPr>
          <p:cNvPr id="33" name="Text 30"/>
          <p:cNvSpPr/>
          <p:nvPr/>
        </p:nvSpPr>
        <p:spPr>
          <a:xfrm>
            <a:off x="8705088" y="4910328"/>
            <a:ext cx="4133088" cy="822960"/>
          </a:xfrm>
          <a:prstGeom prst="rect">
            <a:avLst/>
          </a:prstGeom>
          <a:noFill/>
          <a:ln/>
        </p:spPr>
        <p:txBody>
          <a:bodyPr wrap="square" lIns="0" tIns="0" rIns="0" bIns="0" rtlCol="0" anchor="t">
            <a:normAutofit/>
          </a:bodyPr>
          <a:lstStyle/>
          <a:p>
            <a:pPr indent="0" marL="0">
              <a:buNone/>
            </a:pPr>
            <a:r>
              <a:rPr lang="en-US" sz="1875" i="1" dirty="0">
                <a:solidFill>
                  <a:srgbClr val="F0AB8A"/>
                </a:solidFill>
                <a:latin typeface="Georgia" pitchFamily="34" charset="0"/>
                <a:ea typeface="Georgia" pitchFamily="34" charset="-122"/>
                <a:cs typeface="Georgia" pitchFamily="34" charset="-120"/>
              </a:rPr>
              <a:t>What question could a closed notebook leave unanswered?</a:t>
            </a:r>
            <a:endParaRPr lang="en-US" sz="1875" dirty="0"/>
          </a:p>
        </p:txBody>
      </p:sp>
      <p:sp>
        <p:nvSpPr>
          <p:cNvPr id="34" name="Text 31"/>
          <p:cNvSpPr/>
          <p:nvPr/>
        </p:nvSpPr>
        <p:spPr>
          <a:xfrm>
            <a:off x="8705088" y="5806440"/>
            <a:ext cx="4133088" cy="292608"/>
          </a:xfrm>
          <a:prstGeom prst="rect">
            <a:avLst/>
          </a:prstGeom>
          <a:noFill/>
          <a:ln/>
        </p:spPr>
        <p:txBody>
          <a:bodyPr wrap="square" lIns="0" tIns="0" rIns="0" bIns="0" rtlCol="0" anchor="t">
            <a:normAutofit/>
          </a:bodyPr>
          <a:lstStyle/>
          <a:p>
            <a:pPr indent="0" marL="0">
              <a:buNone/>
            </a:pPr>
            <a:r>
              <a:rPr lang="en-US" sz="700" dirty="0">
                <a:solidFill>
                  <a:srgbClr val="C0AAB9"/>
                </a:solidFill>
                <a:latin typeface="Arial" pitchFamily="34" charset="0"/>
                <a:ea typeface="Arial" pitchFamily="34" charset="-122"/>
                <a:cs typeface="Arial" pitchFamily="34" charset="-120"/>
              </a:rPr>
              <a:t>Beat order is not timing, a technical call or a show schedule.</a:t>
            </a:r>
            <a:endParaRPr lang="en-US" sz="700" dirty="0"/>
          </a:p>
        </p:txBody>
      </p:sp>
      <p:sp>
        <p:nvSpPr>
          <p:cNvPr id="35" name="Shape 32"/>
          <p:cNvSpPr/>
          <p:nvPr/>
        </p:nvSpPr>
        <p:spPr>
          <a:xfrm>
            <a:off x="1499616" y="6583680"/>
            <a:ext cx="3675888" cy="1481328"/>
          </a:xfrm>
          <a:prstGeom prst="rect">
            <a:avLst/>
          </a:prstGeom>
          <a:solidFill>
            <a:srgbClr val="241722"/>
          </a:solidFill>
          <a:ln w="8890">
            <a:solidFill>
              <a:srgbClr val="735D6D"/>
            </a:solidFill>
            <a:prstDash val="solid"/>
          </a:ln>
        </p:spPr>
      </p:sp>
      <p:sp>
        <p:nvSpPr>
          <p:cNvPr id="36" name="Text 33"/>
          <p:cNvSpPr/>
          <p:nvPr/>
        </p:nvSpPr>
        <p:spPr>
          <a:xfrm>
            <a:off x="1682496"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F0AB8A"/>
                </a:solidFill>
                <a:latin typeface="Arial" pitchFamily="34" charset="0"/>
                <a:ea typeface="Arial" pitchFamily="34" charset="-122"/>
                <a:cs typeface="Arial" pitchFamily="34" charset="-120"/>
              </a:rPr>
              <a:t>01 / NOTICE</a:t>
            </a:r>
            <a:endParaRPr lang="en-US" sz="700" dirty="0"/>
          </a:p>
        </p:txBody>
      </p:sp>
      <p:sp>
        <p:nvSpPr>
          <p:cNvPr id="37" name="Text 34"/>
          <p:cNvSpPr/>
          <p:nvPr/>
        </p:nvSpPr>
        <p:spPr>
          <a:xfrm>
            <a:off x="1682496"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An ordinary object can hold a story’s uncertainty.</a:t>
            </a:r>
            <a:endParaRPr lang="en-US" sz="1500" dirty="0"/>
          </a:p>
        </p:txBody>
      </p:sp>
      <p:sp>
        <p:nvSpPr>
          <p:cNvPr id="38" name="Shape 35"/>
          <p:cNvSpPr/>
          <p:nvPr/>
        </p:nvSpPr>
        <p:spPr>
          <a:xfrm>
            <a:off x="5321808" y="6583680"/>
            <a:ext cx="3675888" cy="1481328"/>
          </a:xfrm>
          <a:prstGeom prst="rect">
            <a:avLst/>
          </a:prstGeom>
          <a:solidFill>
            <a:srgbClr val="241722"/>
          </a:solidFill>
          <a:ln w="8890">
            <a:solidFill>
              <a:srgbClr val="735D6D"/>
            </a:solidFill>
            <a:prstDash val="solid"/>
          </a:ln>
        </p:spPr>
      </p:sp>
      <p:sp>
        <p:nvSpPr>
          <p:cNvPr id="39" name="Text 36"/>
          <p:cNvSpPr/>
          <p:nvPr/>
        </p:nvSpPr>
        <p:spPr>
          <a:xfrm>
            <a:off x="5504688"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F0AB8A"/>
                </a:solidFill>
                <a:latin typeface="Arial" pitchFamily="34" charset="0"/>
                <a:ea typeface="Arial" pitchFamily="34" charset="-122"/>
                <a:cs typeface="Arial" pitchFamily="34" charset="-120"/>
              </a:rPr>
              <a:t>02 / TRY IN WORDS</a:t>
            </a:r>
            <a:endParaRPr lang="en-US" sz="700" dirty="0"/>
          </a:p>
        </p:txBody>
      </p:sp>
      <p:sp>
        <p:nvSpPr>
          <p:cNvPr id="40" name="Text 37"/>
          <p:cNvSpPr/>
          <p:nvPr/>
        </p:nvSpPr>
        <p:spPr>
          <a:xfrm>
            <a:off x="5504688"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Invent two incompatible explanations for the object.</a:t>
            </a:r>
            <a:endParaRPr lang="en-US" sz="1500" dirty="0"/>
          </a:p>
        </p:txBody>
      </p:sp>
      <p:sp>
        <p:nvSpPr>
          <p:cNvPr id="41" name="Shape 38"/>
          <p:cNvSpPr/>
          <p:nvPr/>
        </p:nvSpPr>
        <p:spPr>
          <a:xfrm>
            <a:off x="9144000" y="6583680"/>
            <a:ext cx="3675888" cy="1481328"/>
          </a:xfrm>
          <a:prstGeom prst="rect">
            <a:avLst/>
          </a:prstGeom>
          <a:solidFill>
            <a:srgbClr val="241722"/>
          </a:solidFill>
          <a:ln w="8890">
            <a:solidFill>
              <a:srgbClr val="735D6D"/>
            </a:solidFill>
            <a:prstDash val="solid"/>
          </a:ln>
        </p:spPr>
      </p:sp>
      <p:sp>
        <p:nvSpPr>
          <p:cNvPr id="42" name="Text 39"/>
          <p:cNvSpPr/>
          <p:nvPr/>
        </p:nvSpPr>
        <p:spPr>
          <a:xfrm>
            <a:off x="9326880"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F0AB8A"/>
                </a:solidFill>
                <a:latin typeface="Arial" pitchFamily="34" charset="0"/>
                <a:ea typeface="Arial" pitchFamily="34" charset="-122"/>
                <a:cs typeface="Arial" pitchFamily="34" charset="-120"/>
              </a:rPr>
              <a:t>03 / KEEP VISIBLE</a:t>
            </a:r>
            <a:endParaRPr lang="en-US" sz="700" dirty="0"/>
          </a:p>
        </p:txBody>
      </p:sp>
      <p:sp>
        <p:nvSpPr>
          <p:cNvPr id="43" name="Text 40"/>
          <p:cNvSpPr/>
          <p:nvPr/>
        </p:nvSpPr>
        <p:spPr>
          <a:xfrm>
            <a:off x="9326880"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Leave one explanation unresolved for a later page.</a:t>
            </a:r>
            <a:endParaRPr lang="en-US" sz="1500" dirty="0"/>
          </a:p>
        </p:txBody>
      </p:sp>
      <p:sp>
        <p:nvSpPr>
          <p:cNvPr id="44" name="Shape 41"/>
          <p:cNvSpPr/>
          <p:nvPr/>
        </p:nvSpPr>
        <p:spPr>
          <a:xfrm>
            <a:off x="1499616" y="8211312"/>
            <a:ext cx="11338560" cy="0"/>
          </a:xfrm>
          <a:prstGeom prst="line">
            <a:avLst/>
          </a:prstGeom>
          <a:noFill/>
          <a:ln w="8890">
            <a:solidFill>
              <a:srgbClr val="796170"/>
            </a:solidFill>
            <a:prstDash val="solid"/>
          </a:ln>
        </p:spPr>
      </p:sp>
      <p:sp>
        <p:nvSpPr>
          <p:cNvPr id="45" name="Text 42"/>
          <p:cNvSpPr/>
          <p:nvPr/>
        </p:nvSpPr>
        <p:spPr>
          <a:xfrm>
            <a:off x="1499616" y="8339328"/>
            <a:ext cx="8229600" cy="118872"/>
          </a:xfrm>
          <a:prstGeom prst="rect">
            <a:avLst/>
          </a:prstGeom>
          <a:noFill/>
          <a:ln/>
        </p:spPr>
        <p:txBody>
          <a:bodyPr wrap="square" lIns="0" tIns="0" rIns="0" bIns="0" rtlCol="0" anchor="t">
            <a:normAutofit/>
          </a:bodyPr>
          <a:lstStyle/>
          <a:p>
            <a:pPr indent="0" marL="0">
              <a:buNone/>
            </a:pPr>
            <a:r>
              <a:rPr lang="en-US" sz="650" dirty="0">
                <a:solidFill>
                  <a:srgbClr val="C0AAB9"/>
                </a:solidFill>
                <a:latin typeface="Arial" pitchFamily="34" charset="0"/>
                <a:ea typeface="Arial" pitchFamily="34" charset="-122"/>
                <a:cs typeface="Arial" pitchFamily="34" charset="-120"/>
              </a:rPr>
              <a:t>FICTIONAL WRITING WORKSHOP / NOT A STAGING OR APPROVAL PLAN</a:t>
            </a:r>
            <a:endParaRPr lang="en-US" sz="650" dirty="0"/>
          </a:p>
        </p:txBody>
      </p:sp>
      <p:sp>
        <p:nvSpPr>
          <p:cNvPr id="46" name="Text 43"/>
          <p:cNvSpPr/>
          <p:nvPr/>
        </p:nvSpPr>
        <p:spPr>
          <a:xfrm>
            <a:off x="9729216" y="8339328"/>
            <a:ext cx="3108960" cy="118872"/>
          </a:xfrm>
          <a:prstGeom prst="rect">
            <a:avLst/>
          </a:prstGeom>
          <a:noFill/>
          <a:ln/>
        </p:spPr>
        <p:txBody>
          <a:bodyPr wrap="square" lIns="0" tIns="0" rIns="0" bIns="0" rtlCol="0" anchor="t">
            <a:normAutofit/>
          </a:bodyPr>
          <a:lstStyle/>
          <a:p>
            <a:pPr algn="r" indent="0" marL="0">
              <a:buNone/>
            </a:pPr>
            <a:r>
              <a:rPr lang="en-US" sz="650" dirty="0">
                <a:solidFill>
                  <a:srgbClr val="C0AAB9"/>
                </a:solidFill>
                <a:latin typeface="Arial" pitchFamily="34" charset="0"/>
                <a:ea typeface="Arial" pitchFamily="34" charset="-122"/>
                <a:cs typeface="Arial" pitchFamily="34" charset="-120"/>
              </a:rPr>
              <a:t>DRAFT / 14 OF 15 ARTWORKS / 3 OF 30</a:t>
            </a:r>
            <a:endParaRPr lang="en-US" sz="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41722"/>
        </a:solidFill>
      </p:bgPr>
    </p:bg>
    <p:spTree>
      <p:nvGrpSpPr>
        <p:cNvPr id="1" name=""/>
        <p:cNvGrpSpPr/>
        <p:nvPr/>
      </p:nvGrpSpPr>
      <p:grpSpPr>
        <a:xfrm>
          <a:off x="0" y="0"/>
          <a:ext cx="0" cy="0"/>
          <a:chOff x="0" y="0"/>
          <a:chExt cx="0" cy="0"/>
        </a:xfrm>
      </p:grpSpPr>
      <p:sp>
        <p:nvSpPr>
          <p:cNvPr id="2" name="Shape 0"/>
          <p:cNvSpPr/>
          <p:nvPr/>
        </p:nvSpPr>
        <p:spPr>
          <a:xfrm>
            <a:off x="1243584" y="329184"/>
            <a:ext cx="0" cy="8119872"/>
          </a:xfrm>
          <a:prstGeom prst="line">
            <a:avLst/>
          </a:prstGeom>
          <a:noFill/>
          <a:ln w="10160">
            <a:solidFill>
              <a:srgbClr val="776072"/>
            </a:solidFill>
            <a:prstDash val="solid"/>
          </a:ln>
        </p:spPr>
      </p:sp>
      <p:sp>
        <p:nvSpPr>
          <p:cNvPr id="3" name="Text 1"/>
          <p:cNvSpPr/>
          <p:nvPr/>
        </p:nvSpPr>
        <p:spPr>
          <a:xfrm>
            <a:off x="393192" y="457200"/>
            <a:ext cx="685800" cy="457200"/>
          </a:xfrm>
          <a:prstGeom prst="rect">
            <a:avLst/>
          </a:prstGeom>
          <a:noFill/>
          <a:ln/>
        </p:spPr>
        <p:txBody>
          <a:bodyPr wrap="square" lIns="0" tIns="0" rIns="0" bIns="0" rtlCol="0" anchor="t">
            <a:normAutofit/>
          </a:bodyPr>
          <a:lstStyle/>
          <a:p>
            <a:pPr indent="0" marL="0">
              <a:buNone/>
            </a:pPr>
            <a:r>
              <a:rPr lang="en-US" sz="600" dirty="0">
                <a:solidFill>
                  <a:srgbClr val="C0AAB9"/>
                </a:solidFill>
                <a:latin typeface="Arial" pitchFamily="34" charset="0"/>
                <a:ea typeface="Arial" pitchFamily="34" charset="-122"/>
                <a:cs typeface="Arial" pitchFamily="34" charset="-120"/>
              </a:rPr>
              <a:t>DESIGN BUDDY</a:t>
            </a:r>
            <a:endParaRPr lang="en-US" sz="600" dirty="0"/>
          </a:p>
          <a:p>
            <a:pPr indent="0" marL="0">
              <a:buNone/>
            </a:pPr>
            <a:r>
              <a:rPr lang="en-US" sz="600" dirty="0">
                <a:solidFill>
                  <a:srgbClr val="C0AAB9"/>
                </a:solidFill>
                <a:latin typeface="Arial" pitchFamily="34" charset="0"/>
                <a:ea typeface="Arial" pitchFamily="34" charset="-122"/>
                <a:cs typeface="Arial" pitchFamily="34" charset="-120"/>
              </a:rPr>
              <a:t>CREATIVE EXERCISE</a:t>
            </a:r>
            <a:endParaRPr lang="en-US" sz="600" dirty="0"/>
          </a:p>
        </p:txBody>
      </p:sp>
      <p:sp>
        <p:nvSpPr>
          <p:cNvPr id="4" name="Text 2"/>
          <p:cNvSpPr/>
          <p:nvPr/>
        </p:nvSpPr>
        <p:spPr>
          <a:xfrm>
            <a:off x="502920" y="1920240"/>
            <a:ext cx="502920" cy="4480560"/>
          </a:xfrm>
          <a:prstGeom prst="rect">
            <a:avLst/>
          </a:prstGeom>
          <a:noFill/>
          <a:ln/>
        </p:spPr>
        <p:txBody>
          <a:bodyPr wrap="square" lIns="0" tIns="0" rIns="0" bIns="0" rtlCol="0" anchor="t">
            <a:normAutofit/>
          </a:bodyPr>
          <a:lstStyle/>
          <a:p>
            <a:pPr algn="ctr" indent="0" marL="0">
              <a:buNone/>
            </a:pPr>
            <a:r>
              <a:rPr lang="en-US" sz="2500" dirty="0">
                <a:solidFill>
                  <a:srgbClr val="F0AB8A"/>
                </a:solidFill>
                <a:latin typeface="Georgia" pitchFamily="34" charset="0"/>
                <a:ea typeface="Georgia" pitchFamily="34" charset="-122"/>
                <a:cs typeface="Georgia" pitchFamily="34" charset="-120"/>
              </a:rPr>
              <a:t>A</a:t>
            </a:r>
            <a:endParaRPr lang="en-US" sz="2500" dirty="0"/>
          </a:p>
          <a:p>
            <a:pPr algn="ctr" indent="0" marL="0">
              <a:buNone/>
            </a:pPr>
            <a:r>
              <a:rPr lang="en-US" sz="2500" dirty="0">
                <a:solidFill>
                  <a:srgbClr val="F0AB8A"/>
                </a:solidFill>
                <a:latin typeface="Georgia" pitchFamily="34" charset="0"/>
                <a:ea typeface="Georgia" pitchFamily="34" charset="-122"/>
                <a:cs typeface="Georgia" pitchFamily="34" charset="-120"/>
              </a:rPr>
              <a:t>F</a:t>
            </a:r>
            <a:endParaRPr lang="en-US" sz="2500" dirty="0"/>
          </a:p>
          <a:p>
            <a:pPr algn="ctr" indent="0" marL="0">
              <a:buNone/>
            </a:pPr>
            <a:r>
              <a:rPr lang="en-US" sz="2500" dirty="0">
                <a:solidFill>
                  <a:srgbClr val="F0AB8A"/>
                </a:solidFill>
                <a:latin typeface="Georgia" pitchFamily="34" charset="0"/>
                <a:ea typeface="Georgia" pitchFamily="34" charset="-122"/>
                <a:cs typeface="Georgia" pitchFamily="34" charset="-120"/>
              </a:rPr>
              <a:t>T</a:t>
            </a:r>
            <a:endParaRPr lang="en-US" sz="2500" dirty="0"/>
          </a:p>
          <a:p>
            <a:pPr algn="ctr" indent="0" marL="0">
              <a:buNone/>
            </a:pPr>
            <a:r>
              <a:rPr lang="en-US" sz="2500" dirty="0">
                <a:solidFill>
                  <a:srgbClr val="F0AB8A"/>
                </a:solidFill>
                <a:latin typeface="Georgia" pitchFamily="34" charset="0"/>
                <a:ea typeface="Georgia" pitchFamily="34" charset="-122"/>
                <a:cs typeface="Georgia" pitchFamily="34" charset="-120"/>
              </a:rPr>
              <a:t>E</a:t>
            </a:r>
            <a:endParaRPr lang="en-US" sz="2500" dirty="0"/>
          </a:p>
          <a:p>
            <a:pPr algn="ctr" indent="0" marL="0">
              <a:buNone/>
            </a:pPr>
            <a:r>
              <a:rPr lang="en-US" sz="2500" dirty="0">
                <a:solidFill>
                  <a:srgbClr val="F0AB8A"/>
                </a:solidFill>
                <a:latin typeface="Georgia" pitchFamily="34" charset="0"/>
                <a:ea typeface="Georgia" pitchFamily="34" charset="-122"/>
                <a:cs typeface="Georgia" pitchFamily="34" charset="-120"/>
              </a:rPr>
              <a:t>R</a:t>
            </a:r>
            <a:endParaRPr lang="en-US" sz="2500" dirty="0"/>
          </a:p>
          <a:p>
            <a:pPr algn="ctr" indent="0" marL="0">
              <a:buNone/>
            </a:pPr>
            <a:r>
              <a:rPr lang="en-US" sz="2500" dirty="0">
                <a:solidFill>
                  <a:srgbClr val="F0AB8A"/>
                </a:solidFill>
                <a:latin typeface="Georgia" pitchFamily="34" charset="0"/>
                <a:ea typeface="Georgia" pitchFamily="34" charset="-122"/>
                <a:cs typeface="Georgia" pitchFamily="34" charset="-120"/>
              </a:rPr>
              <a:t>G</a:t>
            </a:r>
            <a:endParaRPr lang="en-US" sz="2500" dirty="0"/>
          </a:p>
          <a:p>
            <a:pPr algn="ctr" indent="0" marL="0">
              <a:buNone/>
            </a:pPr>
            <a:r>
              <a:rPr lang="en-US" sz="2500" dirty="0">
                <a:solidFill>
                  <a:srgbClr val="F0AB8A"/>
                </a:solidFill>
                <a:latin typeface="Georgia" pitchFamily="34" charset="0"/>
                <a:ea typeface="Georgia" pitchFamily="34" charset="-122"/>
                <a:cs typeface="Georgia" pitchFamily="34" charset="-120"/>
              </a:rPr>
              <a:t>L</a:t>
            </a:r>
            <a:endParaRPr lang="en-US" sz="2500" dirty="0"/>
          </a:p>
          <a:p>
            <a:pPr algn="ctr" indent="0" marL="0">
              <a:buNone/>
            </a:pPr>
            <a:r>
              <a:rPr lang="en-US" sz="2500" dirty="0">
                <a:solidFill>
                  <a:srgbClr val="F0AB8A"/>
                </a:solidFill>
                <a:latin typeface="Georgia" pitchFamily="34" charset="0"/>
                <a:ea typeface="Georgia" pitchFamily="34" charset="-122"/>
                <a:cs typeface="Georgia" pitchFamily="34" charset="-120"/>
              </a:rPr>
              <a:t>O</a:t>
            </a:r>
            <a:endParaRPr lang="en-US" sz="2500" dirty="0"/>
          </a:p>
          <a:p>
            <a:pPr algn="ctr" indent="0" marL="0">
              <a:buNone/>
            </a:pPr>
            <a:r>
              <a:rPr lang="en-US" sz="2500" dirty="0">
                <a:solidFill>
                  <a:srgbClr val="F0AB8A"/>
                </a:solidFill>
                <a:latin typeface="Georgia" pitchFamily="34" charset="0"/>
                <a:ea typeface="Georgia" pitchFamily="34" charset="-122"/>
                <a:cs typeface="Georgia" pitchFamily="34" charset="-120"/>
              </a:rPr>
              <a:t>W</a:t>
            </a:r>
            <a:endParaRPr lang="en-US" sz="2500" dirty="0"/>
          </a:p>
        </p:txBody>
      </p:sp>
      <p:sp>
        <p:nvSpPr>
          <p:cNvPr id="5" name="Text 3"/>
          <p:cNvSpPr/>
          <p:nvPr/>
        </p:nvSpPr>
        <p:spPr>
          <a:xfrm>
            <a:off x="402336" y="7022592"/>
            <a:ext cx="731520" cy="594360"/>
          </a:xfrm>
          <a:prstGeom prst="rect">
            <a:avLst/>
          </a:prstGeom>
          <a:noFill/>
          <a:ln/>
        </p:spPr>
        <p:txBody>
          <a:bodyPr wrap="square" lIns="0" tIns="0" rIns="0" bIns="0" rtlCol="0" anchor="t">
            <a:normAutofit/>
          </a:bodyPr>
          <a:lstStyle/>
          <a:p>
            <a:pPr indent="0" marL="0">
              <a:buNone/>
            </a:pPr>
            <a:r>
              <a:rPr lang="en-US" sz="4200" dirty="0">
                <a:solidFill>
                  <a:srgbClr val="F0AB8A"/>
                </a:solidFill>
                <a:latin typeface="Georgia" pitchFamily="34" charset="0"/>
                <a:ea typeface="Georgia" pitchFamily="34" charset="-122"/>
                <a:cs typeface="Georgia" pitchFamily="34" charset="-120"/>
              </a:rPr>
              <a:t>04</a:t>
            </a:r>
            <a:endParaRPr lang="en-US" sz="4200" dirty="0"/>
          </a:p>
        </p:txBody>
      </p:sp>
      <p:sp>
        <p:nvSpPr>
          <p:cNvPr id="6" name="Text 4"/>
          <p:cNvSpPr/>
          <p:nvPr/>
        </p:nvSpPr>
        <p:spPr>
          <a:xfrm>
            <a:off x="402336" y="7818120"/>
            <a:ext cx="731520" cy="411480"/>
          </a:xfrm>
          <a:prstGeom prst="rect">
            <a:avLst/>
          </a:prstGeom>
          <a:noFill/>
          <a:ln/>
        </p:spPr>
        <p:txBody>
          <a:bodyPr wrap="square" lIns="0" tIns="0" rIns="0" bIns="0" rtlCol="0" anchor="t">
            <a:normAutofit/>
          </a:bodyPr>
          <a:lstStyle/>
          <a:p>
            <a:pPr indent="0" marL="0">
              <a:buNone/>
            </a:pPr>
            <a:r>
              <a:rPr lang="en-US" sz="700" dirty="0">
                <a:solidFill>
                  <a:srgbClr val="C0AAB9"/>
                </a:solidFill>
                <a:latin typeface="Arial" pitchFamily="34" charset="0"/>
                <a:ea typeface="Arial" pitchFamily="34" charset="-122"/>
                <a:cs typeface="Arial" pitchFamily="34" charset="-120"/>
              </a:rPr>
              <a:t>ACT 1 / 5</a:t>
            </a:r>
            <a:endParaRPr lang="en-US" sz="700" dirty="0"/>
          </a:p>
          <a:p>
            <a:pPr indent="0" marL="0">
              <a:buNone/>
            </a:pPr>
            <a:r>
              <a:rPr lang="en-US" sz="700" dirty="0">
                <a:solidFill>
                  <a:srgbClr val="C0AAB9"/>
                </a:solidFill>
                <a:latin typeface="Arial" pitchFamily="34" charset="0"/>
                <a:ea typeface="Arial" pitchFamily="34" charset="-122"/>
                <a:cs typeface="Arial" pitchFamily="34" charset="-120"/>
              </a:rPr>
              <a:t>BEAT 4 / 6</a:t>
            </a:r>
            <a:endParaRPr lang="en-US" sz="700" dirty="0"/>
          </a:p>
        </p:txBody>
      </p:sp>
      <p:sp>
        <p:nvSpPr>
          <p:cNvPr id="7" name="Text 5"/>
          <p:cNvSpPr/>
          <p:nvPr/>
        </p:nvSpPr>
        <p:spPr>
          <a:xfrm>
            <a:off x="1499616" y="347472"/>
            <a:ext cx="9144000" cy="164592"/>
          </a:xfrm>
          <a:prstGeom prst="rect">
            <a:avLst/>
          </a:prstGeom>
          <a:noFill/>
          <a:ln/>
        </p:spPr>
        <p:txBody>
          <a:bodyPr wrap="square" lIns="0" tIns="0" rIns="0" bIns="0" rtlCol="0" anchor="t">
            <a:normAutofit/>
          </a:bodyPr>
          <a:lstStyle/>
          <a:p>
            <a:pPr indent="0" marL="0">
              <a:buNone/>
            </a:pPr>
            <a:r>
              <a:rPr lang="en-US" sz="700" spc="120" kern="0" dirty="0">
                <a:solidFill>
                  <a:srgbClr val="F0AB8A"/>
                </a:solidFill>
                <a:latin typeface="Arial" pitchFamily="34" charset="0"/>
                <a:ea typeface="Arial" pitchFamily="34" charset="-122"/>
                <a:cs typeface="Arial" pitchFamily="34" charset="-120"/>
              </a:rPr>
              <a:t>ACT 1 / ARRIVAL</a:t>
            </a:r>
            <a:endParaRPr lang="en-US" sz="700" dirty="0"/>
          </a:p>
        </p:txBody>
      </p:sp>
      <p:sp>
        <p:nvSpPr>
          <p:cNvPr id="8" name="Text 6"/>
          <p:cNvSpPr/>
          <p:nvPr/>
        </p:nvSpPr>
        <p:spPr>
          <a:xfrm>
            <a:off x="1499616" y="612648"/>
            <a:ext cx="9692640" cy="594360"/>
          </a:xfrm>
          <a:prstGeom prst="rect">
            <a:avLst/>
          </a:prstGeom>
          <a:noFill/>
          <a:ln/>
        </p:spPr>
        <p:txBody>
          <a:bodyPr wrap="square" lIns="0" tIns="0" rIns="0" bIns="0" rtlCol="0" anchor="t">
            <a:normAutofit/>
          </a:bodyPr>
          <a:lstStyle/>
          <a:p>
            <a:pPr indent="0" marL="0">
              <a:buNone/>
            </a:pPr>
            <a:r>
              <a:rPr lang="en-US" sz="2800" dirty="0">
                <a:solidFill>
                  <a:srgbClr val="ECDED6"/>
                </a:solidFill>
                <a:latin typeface="Georgia" pitchFamily="34" charset="0"/>
                <a:ea typeface="Georgia" pitchFamily="34" charset="-122"/>
                <a:cs typeface="Georgia" pitchFamily="34" charset="-120"/>
              </a:rPr>
              <a:t>Start with an incomplete want.</a:t>
            </a:r>
            <a:endParaRPr lang="en-US" sz="2800" dirty="0"/>
          </a:p>
        </p:txBody>
      </p:sp>
      <p:sp>
        <p:nvSpPr>
          <p:cNvPr id="9" name="Text 7"/>
          <p:cNvSpPr/>
          <p:nvPr/>
        </p:nvSpPr>
        <p:spPr>
          <a:xfrm>
            <a:off x="11475720" y="438912"/>
            <a:ext cx="1325880" cy="182880"/>
          </a:xfrm>
          <a:prstGeom prst="rect">
            <a:avLst/>
          </a:prstGeom>
          <a:noFill/>
          <a:ln/>
        </p:spPr>
        <p:txBody>
          <a:bodyPr wrap="square" lIns="0" tIns="0" rIns="0" bIns="0" rtlCol="0" anchor="t">
            <a:normAutofit/>
          </a:bodyPr>
          <a:lstStyle/>
          <a:p>
            <a:pPr algn="r" indent="0" marL="0">
              <a:buNone/>
            </a:pPr>
            <a:r>
              <a:rPr lang="en-US" sz="700" dirty="0">
                <a:solidFill>
                  <a:srgbClr val="F0AB8A"/>
                </a:solidFill>
                <a:latin typeface="Arial" pitchFamily="34" charset="0"/>
                <a:ea typeface="Arial" pitchFamily="34" charset="-122"/>
                <a:cs typeface="Arial" pitchFamily="34" charset="-120"/>
              </a:rPr>
              <a:t>LOCAL / UNMARKED</a:t>
            </a:r>
            <a:endParaRPr lang="en-US" sz="700" dirty="0"/>
          </a:p>
        </p:txBody>
      </p:sp>
      <p:sp>
        <p:nvSpPr>
          <p:cNvPr id="10" name="Shape 8"/>
          <p:cNvSpPr/>
          <p:nvPr/>
        </p:nvSpPr>
        <p:spPr>
          <a:xfrm>
            <a:off x="1499616" y="1307592"/>
            <a:ext cx="1819656" cy="448056"/>
          </a:xfrm>
          <a:prstGeom prst="rect">
            <a:avLst/>
          </a:prstGeom>
          <a:solidFill>
            <a:srgbClr val="241722"/>
          </a:solidFill>
          <a:ln w="8890">
            <a:solidFill>
              <a:srgbClr val="6D5768"/>
            </a:solidFill>
            <a:prstDash val="solid"/>
          </a:ln>
        </p:spPr>
      </p:sp>
      <p:sp>
        <p:nvSpPr>
          <p:cNvPr id="11" name="Text 9"/>
          <p:cNvSpPr/>
          <p:nvPr/>
        </p:nvSpPr>
        <p:spPr>
          <a:xfrm>
            <a:off x="1572768"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F0AB8A"/>
                </a:solidFill>
                <a:latin typeface="Georgia" pitchFamily="34" charset="0"/>
                <a:ea typeface="Georgia" pitchFamily="34" charset="-122"/>
                <a:cs typeface="Georgia" pitchFamily="34" charset="-120"/>
              </a:rPr>
              <a:t>1</a:t>
            </a:r>
            <a:endParaRPr lang="en-US" sz="1700" dirty="0"/>
          </a:p>
        </p:txBody>
      </p:sp>
      <p:sp>
        <p:nvSpPr>
          <p:cNvPr id="12" name="Text 10"/>
          <p:cNvSpPr/>
          <p:nvPr/>
        </p:nvSpPr>
        <p:spPr>
          <a:xfrm>
            <a:off x="1865376"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Begin before the curtain.</a:t>
            </a:r>
            <a:endParaRPr lang="en-US" sz="700" dirty="0"/>
          </a:p>
        </p:txBody>
      </p:sp>
      <p:sp>
        <p:nvSpPr>
          <p:cNvPr id="13" name="Shape 11"/>
          <p:cNvSpPr/>
          <p:nvPr/>
        </p:nvSpPr>
        <p:spPr>
          <a:xfrm>
            <a:off x="3392424" y="1307592"/>
            <a:ext cx="1819656" cy="448056"/>
          </a:xfrm>
          <a:prstGeom prst="rect">
            <a:avLst/>
          </a:prstGeom>
          <a:solidFill>
            <a:srgbClr val="241722"/>
          </a:solidFill>
          <a:ln w="8890">
            <a:solidFill>
              <a:srgbClr val="6D5768"/>
            </a:solidFill>
            <a:prstDash val="solid"/>
          </a:ln>
        </p:spPr>
      </p:sp>
      <p:sp>
        <p:nvSpPr>
          <p:cNvPr id="14" name="Text 12"/>
          <p:cNvSpPr/>
          <p:nvPr/>
        </p:nvSpPr>
        <p:spPr>
          <a:xfrm>
            <a:off x="3465576"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F0AB8A"/>
                </a:solidFill>
                <a:latin typeface="Georgia" pitchFamily="34" charset="0"/>
                <a:ea typeface="Georgia" pitchFamily="34" charset="-122"/>
                <a:cs typeface="Georgia" pitchFamily="34" charset="-120"/>
              </a:rPr>
              <a:t>2</a:t>
            </a:r>
            <a:endParaRPr lang="en-US" sz="1700" dirty="0"/>
          </a:p>
        </p:txBody>
      </p:sp>
      <p:sp>
        <p:nvSpPr>
          <p:cNvPr id="15" name="Text 13"/>
          <p:cNvSpPr/>
          <p:nvPr/>
        </p:nvSpPr>
        <p:spPr>
          <a:xfrm>
            <a:off x="3758184"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Give the room a point of view.</a:t>
            </a:r>
            <a:endParaRPr lang="en-US" sz="700" dirty="0"/>
          </a:p>
        </p:txBody>
      </p:sp>
      <p:sp>
        <p:nvSpPr>
          <p:cNvPr id="16" name="Shape 14"/>
          <p:cNvSpPr/>
          <p:nvPr/>
        </p:nvSpPr>
        <p:spPr>
          <a:xfrm>
            <a:off x="5285232" y="1307592"/>
            <a:ext cx="1819656" cy="448056"/>
          </a:xfrm>
          <a:prstGeom prst="rect">
            <a:avLst/>
          </a:prstGeom>
          <a:solidFill>
            <a:srgbClr val="241722"/>
          </a:solidFill>
          <a:ln w="8890">
            <a:solidFill>
              <a:srgbClr val="6D5768"/>
            </a:solidFill>
            <a:prstDash val="solid"/>
          </a:ln>
        </p:spPr>
      </p:sp>
      <p:sp>
        <p:nvSpPr>
          <p:cNvPr id="17" name="Text 15"/>
          <p:cNvSpPr/>
          <p:nvPr/>
        </p:nvSpPr>
        <p:spPr>
          <a:xfrm>
            <a:off x="5358384"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F0AB8A"/>
                </a:solidFill>
                <a:latin typeface="Georgia" pitchFamily="34" charset="0"/>
                <a:ea typeface="Georgia" pitchFamily="34" charset="-122"/>
                <a:cs typeface="Georgia" pitchFamily="34" charset="-120"/>
              </a:rPr>
              <a:t>3</a:t>
            </a:r>
            <a:endParaRPr lang="en-US" sz="1700" dirty="0"/>
          </a:p>
        </p:txBody>
      </p:sp>
      <p:sp>
        <p:nvSpPr>
          <p:cNvPr id="18" name="Text 16"/>
          <p:cNvSpPr/>
          <p:nvPr/>
        </p:nvSpPr>
        <p:spPr>
          <a:xfrm>
            <a:off x="5650992"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Let an object ask a question.</a:t>
            </a:r>
            <a:endParaRPr lang="en-US" sz="700" dirty="0"/>
          </a:p>
        </p:txBody>
      </p:sp>
      <p:sp>
        <p:nvSpPr>
          <p:cNvPr id="19" name="Shape 17"/>
          <p:cNvSpPr/>
          <p:nvPr/>
        </p:nvSpPr>
        <p:spPr>
          <a:xfrm>
            <a:off x="7178040" y="1307592"/>
            <a:ext cx="1819656" cy="448056"/>
          </a:xfrm>
          <a:prstGeom prst="rect">
            <a:avLst/>
          </a:prstGeom>
          <a:solidFill>
            <a:srgbClr val="241722"/>
          </a:solidFill>
          <a:ln w="8890">
            <a:solidFill>
              <a:srgbClr val="F0AB8A"/>
            </a:solidFill>
            <a:prstDash val="solid"/>
          </a:ln>
        </p:spPr>
      </p:sp>
      <p:sp>
        <p:nvSpPr>
          <p:cNvPr id="20" name="Text 18"/>
          <p:cNvSpPr/>
          <p:nvPr/>
        </p:nvSpPr>
        <p:spPr>
          <a:xfrm>
            <a:off x="7251192"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F0AB8A"/>
                </a:solidFill>
                <a:latin typeface="Georgia" pitchFamily="34" charset="0"/>
                <a:ea typeface="Georgia" pitchFamily="34" charset="-122"/>
                <a:cs typeface="Georgia" pitchFamily="34" charset="-120"/>
              </a:rPr>
              <a:t>4</a:t>
            </a:r>
            <a:endParaRPr lang="en-US" sz="1700" dirty="0"/>
          </a:p>
        </p:txBody>
      </p:sp>
      <p:sp>
        <p:nvSpPr>
          <p:cNvPr id="21" name="Text 19"/>
          <p:cNvSpPr/>
          <p:nvPr/>
        </p:nvSpPr>
        <p:spPr>
          <a:xfrm>
            <a:off x="7543800"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Start with an incomplete want.</a:t>
            </a:r>
            <a:endParaRPr lang="en-US" sz="700" dirty="0"/>
          </a:p>
        </p:txBody>
      </p:sp>
      <p:sp>
        <p:nvSpPr>
          <p:cNvPr id="22" name="Shape 20"/>
          <p:cNvSpPr/>
          <p:nvPr/>
        </p:nvSpPr>
        <p:spPr>
          <a:xfrm>
            <a:off x="9070848" y="1307592"/>
            <a:ext cx="1819656" cy="448056"/>
          </a:xfrm>
          <a:prstGeom prst="rect">
            <a:avLst/>
          </a:prstGeom>
          <a:solidFill>
            <a:srgbClr val="241722"/>
          </a:solidFill>
          <a:ln w="8890">
            <a:solidFill>
              <a:srgbClr val="6D5768"/>
            </a:solidFill>
            <a:prstDash val="solid"/>
          </a:ln>
        </p:spPr>
      </p:sp>
      <p:sp>
        <p:nvSpPr>
          <p:cNvPr id="23" name="Text 21"/>
          <p:cNvSpPr/>
          <p:nvPr/>
        </p:nvSpPr>
        <p:spPr>
          <a:xfrm>
            <a:off x="9144000"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F0AB8A"/>
                </a:solidFill>
                <a:latin typeface="Georgia" pitchFamily="34" charset="0"/>
                <a:ea typeface="Georgia" pitchFamily="34" charset="-122"/>
                <a:cs typeface="Georgia" pitchFamily="34" charset="-120"/>
              </a:rPr>
              <a:t>5</a:t>
            </a:r>
            <a:endParaRPr lang="en-US" sz="1700" dirty="0"/>
          </a:p>
        </p:txBody>
      </p:sp>
      <p:sp>
        <p:nvSpPr>
          <p:cNvPr id="24" name="Text 22"/>
          <p:cNvSpPr/>
          <p:nvPr/>
        </p:nvSpPr>
        <p:spPr>
          <a:xfrm>
            <a:off x="9436608"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Make an entrance meaningful.</a:t>
            </a:r>
            <a:endParaRPr lang="en-US" sz="700" dirty="0"/>
          </a:p>
        </p:txBody>
      </p:sp>
      <p:sp>
        <p:nvSpPr>
          <p:cNvPr id="25" name="Shape 23"/>
          <p:cNvSpPr/>
          <p:nvPr/>
        </p:nvSpPr>
        <p:spPr>
          <a:xfrm>
            <a:off x="10963656" y="1307592"/>
            <a:ext cx="1819656" cy="448056"/>
          </a:xfrm>
          <a:prstGeom prst="rect">
            <a:avLst/>
          </a:prstGeom>
          <a:solidFill>
            <a:srgbClr val="241722"/>
          </a:solidFill>
          <a:ln w="8890">
            <a:solidFill>
              <a:srgbClr val="6D5768"/>
            </a:solidFill>
            <a:prstDash val="solid"/>
          </a:ln>
        </p:spPr>
      </p:sp>
      <p:sp>
        <p:nvSpPr>
          <p:cNvPr id="26" name="Text 24"/>
          <p:cNvSpPr/>
          <p:nvPr/>
        </p:nvSpPr>
        <p:spPr>
          <a:xfrm>
            <a:off x="11036808"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F0AB8A"/>
                </a:solidFill>
                <a:latin typeface="Georgia" pitchFamily="34" charset="0"/>
                <a:ea typeface="Georgia" pitchFamily="34" charset="-122"/>
                <a:cs typeface="Georgia" pitchFamily="34" charset="-120"/>
              </a:rPr>
              <a:t>6</a:t>
            </a:r>
            <a:endParaRPr lang="en-US" sz="1700" dirty="0"/>
          </a:p>
        </p:txBody>
      </p:sp>
      <p:sp>
        <p:nvSpPr>
          <p:cNvPr id="27" name="Text 25"/>
          <p:cNvSpPr/>
          <p:nvPr/>
        </p:nvSpPr>
        <p:spPr>
          <a:xfrm>
            <a:off x="11329416"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Choose an opening question.</a:t>
            </a:r>
            <a:endParaRPr lang="en-US" sz="700" dirty="0"/>
          </a:p>
        </p:txBody>
      </p:sp>
      <p:pic>
        <p:nvPicPr>
          <p:cNvPr id="28" name="Image 0" descr="/home/user/design-buddy/design-buddy-home/public/atelier/afterglow/images/02.jpg">    </p:cNvPr>
          <p:cNvPicPr>
            <a:picLocks noChangeAspect="1"/>
          </p:cNvPicPr>
          <p:nvPr/>
        </p:nvPicPr>
        <p:blipFill>
          <a:blip r:embed="rId1"/>
          <a:srcRect l="0" r="0" t="0" b="0"/>
          <a:stretch/>
        </p:blipFill>
        <p:spPr>
          <a:xfrm>
            <a:off x="1499616" y="2066544"/>
            <a:ext cx="6949440" cy="3840480"/>
          </a:xfrm>
          <a:prstGeom prst="rect">
            <a:avLst/>
          </a:prstGeom>
        </p:spPr>
      </p:pic>
      <p:sp>
        <p:nvSpPr>
          <p:cNvPr id="29" name="Text 26"/>
          <p:cNvSpPr/>
          <p:nvPr/>
        </p:nvSpPr>
        <p:spPr>
          <a:xfrm>
            <a:off x="1499616" y="6007608"/>
            <a:ext cx="6949440" cy="164592"/>
          </a:xfrm>
          <a:prstGeom prst="rect">
            <a:avLst/>
          </a:prstGeom>
          <a:noFill/>
          <a:ln/>
        </p:spPr>
        <p:txBody>
          <a:bodyPr wrap="square" lIns="0" tIns="0" rIns="0" bIns="0" rtlCol="0" anchor="t">
            <a:normAutofit/>
          </a:bodyPr>
          <a:lstStyle/>
          <a:p>
            <a:pPr indent="0" marL="0">
              <a:buNone/>
            </a:pPr>
            <a:r>
              <a:rPr lang="en-US" sz="650" dirty="0">
                <a:solidFill>
                  <a:srgbClr val="C0AAB9"/>
                </a:solidFill>
                <a:latin typeface="Arial" pitchFamily="34" charset="0"/>
                <a:ea typeface="Arial" pitchFamily="34" charset="-122"/>
                <a:cs typeface="Arial" pitchFamily="34" charset="-120"/>
              </a:rPr>
              <a:t>Watercolour 2 / invented setting and adults / not production evidence</a:t>
            </a:r>
            <a:endParaRPr lang="en-US" sz="650" dirty="0"/>
          </a:p>
        </p:txBody>
      </p:sp>
      <p:sp>
        <p:nvSpPr>
          <p:cNvPr id="30" name="Text 27"/>
          <p:cNvSpPr/>
          <p:nvPr/>
        </p:nvSpPr>
        <p:spPr>
          <a:xfrm>
            <a:off x="8705088" y="2139696"/>
            <a:ext cx="4133088" cy="164592"/>
          </a:xfrm>
          <a:prstGeom prst="rect">
            <a:avLst/>
          </a:prstGeom>
          <a:noFill/>
          <a:ln/>
        </p:spPr>
        <p:txBody>
          <a:bodyPr wrap="square" lIns="0" tIns="0" rIns="0" bIns="0" rtlCol="0" anchor="t">
            <a:normAutofit/>
          </a:bodyPr>
          <a:lstStyle/>
          <a:p>
            <a:pPr indent="0" marL="0">
              <a:buNone/>
            </a:pPr>
            <a:r>
              <a:rPr lang="en-US" sz="700" spc="110" kern="0" dirty="0">
                <a:solidFill>
                  <a:srgbClr val="F0AB8A"/>
                </a:solidFill>
                <a:latin typeface="Arial" pitchFamily="34" charset="0"/>
                <a:ea typeface="Arial" pitchFamily="34" charset="-122"/>
                <a:cs typeface="Arial" pitchFamily="34" charset="-120"/>
              </a:rPr>
              <a:t>STORY INTENTION</a:t>
            </a:r>
            <a:endParaRPr lang="en-US" sz="700" dirty="0"/>
          </a:p>
        </p:txBody>
      </p:sp>
      <p:sp>
        <p:nvSpPr>
          <p:cNvPr id="31" name="Text 28"/>
          <p:cNvSpPr/>
          <p:nvPr/>
        </p:nvSpPr>
        <p:spPr>
          <a:xfrm>
            <a:off x="8705088" y="2514600"/>
            <a:ext cx="4133088" cy="1828800"/>
          </a:xfrm>
          <a:prstGeom prst="rect">
            <a:avLst/>
          </a:prstGeom>
          <a:noFill/>
          <a:ln/>
        </p:spPr>
        <p:txBody>
          <a:bodyPr wrap="square" lIns="0" tIns="0" rIns="0" bIns="0" rtlCol="0" anchor="t">
            <a:normAutofit/>
          </a:bodyPr>
          <a:lstStyle/>
          <a:p>
            <a:pPr indent="0" marL="0">
              <a:buNone/>
            </a:pPr>
            <a:r>
              <a:rPr lang="en-US" sz="1575" dirty="0">
                <a:solidFill>
                  <a:srgbClr val="ECDED6"/>
                </a:solidFill>
                <a:latin typeface="Georgia" pitchFamily="34" charset="0"/>
                <a:ea typeface="Georgia" pitchFamily="34" charset="-122"/>
                <a:cs typeface="Georgia" pitchFamily="34" charset="-120"/>
              </a:rPr>
              <a:t>A character can want to be heard without knowing what to say. Write a modest desire that could change through conversation. Avoid turning a creative exercise into a diagnosis of a real participant.</a:t>
            </a:r>
            <a:endParaRPr lang="en-US" sz="1575" dirty="0"/>
          </a:p>
        </p:txBody>
      </p:sp>
      <p:sp>
        <p:nvSpPr>
          <p:cNvPr id="32" name="Text 29"/>
          <p:cNvSpPr/>
          <p:nvPr/>
        </p:nvSpPr>
        <p:spPr>
          <a:xfrm>
            <a:off x="8705088" y="4572000"/>
            <a:ext cx="4133088" cy="164592"/>
          </a:xfrm>
          <a:prstGeom prst="rect">
            <a:avLst/>
          </a:prstGeom>
          <a:noFill/>
          <a:ln/>
        </p:spPr>
        <p:txBody>
          <a:bodyPr wrap="square" lIns="0" tIns="0" rIns="0" bIns="0" rtlCol="0" anchor="t">
            <a:normAutofit/>
          </a:bodyPr>
          <a:lstStyle/>
          <a:p>
            <a:pPr indent="0" marL="0">
              <a:buNone/>
            </a:pPr>
            <a:r>
              <a:rPr lang="en-US" sz="700" spc="110" kern="0" dirty="0">
                <a:solidFill>
                  <a:srgbClr val="F0AB8A"/>
                </a:solidFill>
                <a:latin typeface="Arial" pitchFamily="34" charset="0"/>
                <a:ea typeface="Arial" pitchFamily="34" charset="-122"/>
                <a:cs typeface="Arial" pitchFamily="34" charset="-120"/>
              </a:rPr>
              <a:t>LEAVE A QUESTION</a:t>
            </a:r>
            <a:endParaRPr lang="en-US" sz="700" dirty="0"/>
          </a:p>
        </p:txBody>
      </p:sp>
      <p:sp>
        <p:nvSpPr>
          <p:cNvPr id="33" name="Text 30"/>
          <p:cNvSpPr/>
          <p:nvPr/>
        </p:nvSpPr>
        <p:spPr>
          <a:xfrm>
            <a:off x="8705088" y="4910328"/>
            <a:ext cx="4133088" cy="822960"/>
          </a:xfrm>
          <a:prstGeom prst="rect">
            <a:avLst/>
          </a:prstGeom>
          <a:noFill/>
          <a:ln/>
        </p:spPr>
        <p:txBody>
          <a:bodyPr wrap="square" lIns="0" tIns="0" rIns="0" bIns="0" rtlCol="0" anchor="t">
            <a:normAutofit/>
          </a:bodyPr>
          <a:lstStyle/>
          <a:p>
            <a:pPr indent="0" marL="0">
              <a:buNone/>
            </a:pPr>
            <a:r>
              <a:rPr lang="en-US" sz="1875" i="1" dirty="0">
                <a:solidFill>
                  <a:srgbClr val="F0AB8A"/>
                </a:solidFill>
                <a:latin typeface="Georgia" pitchFamily="34" charset="0"/>
                <a:ea typeface="Georgia" pitchFamily="34" charset="-122"/>
                <a:cs typeface="Georgia" pitchFamily="34" charset="-120"/>
              </a:rPr>
              <a:t>What would count as a small change for this invented character?</a:t>
            </a:r>
            <a:endParaRPr lang="en-US" sz="1875" dirty="0"/>
          </a:p>
        </p:txBody>
      </p:sp>
      <p:sp>
        <p:nvSpPr>
          <p:cNvPr id="34" name="Text 31"/>
          <p:cNvSpPr/>
          <p:nvPr/>
        </p:nvSpPr>
        <p:spPr>
          <a:xfrm>
            <a:off x="8705088" y="5806440"/>
            <a:ext cx="4133088" cy="292608"/>
          </a:xfrm>
          <a:prstGeom prst="rect">
            <a:avLst/>
          </a:prstGeom>
          <a:noFill/>
          <a:ln/>
        </p:spPr>
        <p:txBody>
          <a:bodyPr wrap="square" lIns="0" tIns="0" rIns="0" bIns="0" rtlCol="0" anchor="t">
            <a:normAutofit/>
          </a:bodyPr>
          <a:lstStyle/>
          <a:p>
            <a:pPr indent="0" marL="0">
              <a:buNone/>
            </a:pPr>
            <a:r>
              <a:rPr lang="en-US" sz="700" dirty="0">
                <a:solidFill>
                  <a:srgbClr val="C0AAB9"/>
                </a:solidFill>
                <a:latin typeface="Arial" pitchFamily="34" charset="0"/>
                <a:ea typeface="Arial" pitchFamily="34" charset="-122"/>
                <a:cs typeface="Arial" pitchFamily="34" charset="-120"/>
              </a:rPr>
              <a:t>Beat order is not timing, a technical call or a show schedule.</a:t>
            </a:r>
            <a:endParaRPr lang="en-US" sz="700" dirty="0"/>
          </a:p>
        </p:txBody>
      </p:sp>
      <p:sp>
        <p:nvSpPr>
          <p:cNvPr id="35" name="Shape 32"/>
          <p:cNvSpPr/>
          <p:nvPr/>
        </p:nvSpPr>
        <p:spPr>
          <a:xfrm>
            <a:off x="1499616" y="6583680"/>
            <a:ext cx="3675888" cy="1481328"/>
          </a:xfrm>
          <a:prstGeom prst="rect">
            <a:avLst/>
          </a:prstGeom>
          <a:solidFill>
            <a:srgbClr val="241722"/>
          </a:solidFill>
          <a:ln w="8890">
            <a:solidFill>
              <a:srgbClr val="735D6D"/>
            </a:solidFill>
            <a:prstDash val="solid"/>
          </a:ln>
        </p:spPr>
      </p:sp>
      <p:sp>
        <p:nvSpPr>
          <p:cNvPr id="36" name="Text 33"/>
          <p:cNvSpPr/>
          <p:nvPr/>
        </p:nvSpPr>
        <p:spPr>
          <a:xfrm>
            <a:off x="1682496"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F0AB8A"/>
                </a:solidFill>
                <a:latin typeface="Arial" pitchFamily="34" charset="0"/>
                <a:ea typeface="Arial" pitchFamily="34" charset="-122"/>
                <a:cs typeface="Arial" pitchFamily="34" charset="-120"/>
              </a:rPr>
              <a:t>01 / NOTICE</a:t>
            </a:r>
            <a:endParaRPr lang="en-US" sz="700" dirty="0"/>
          </a:p>
        </p:txBody>
      </p:sp>
      <p:sp>
        <p:nvSpPr>
          <p:cNvPr id="37" name="Text 34"/>
          <p:cNvSpPr/>
          <p:nvPr/>
        </p:nvSpPr>
        <p:spPr>
          <a:xfrm>
            <a:off x="1682496"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A desire is not the same as a complete plan.</a:t>
            </a:r>
            <a:endParaRPr lang="en-US" sz="1500" dirty="0"/>
          </a:p>
        </p:txBody>
      </p:sp>
      <p:sp>
        <p:nvSpPr>
          <p:cNvPr id="38" name="Shape 35"/>
          <p:cNvSpPr/>
          <p:nvPr/>
        </p:nvSpPr>
        <p:spPr>
          <a:xfrm>
            <a:off x="5321808" y="6583680"/>
            <a:ext cx="3675888" cy="1481328"/>
          </a:xfrm>
          <a:prstGeom prst="rect">
            <a:avLst/>
          </a:prstGeom>
          <a:solidFill>
            <a:srgbClr val="241722"/>
          </a:solidFill>
          <a:ln w="8890">
            <a:solidFill>
              <a:srgbClr val="735D6D"/>
            </a:solidFill>
            <a:prstDash val="solid"/>
          </a:ln>
        </p:spPr>
      </p:sp>
      <p:sp>
        <p:nvSpPr>
          <p:cNvPr id="39" name="Text 36"/>
          <p:cNvSpPr/>
          <p:nvPr/>
        </p:nvSpPr>
        <p:spPr>
          <a:xfrm>
            <a:off x="5504688"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F0AB8A"/>
                </a:solidFill>
                <a:latin typeface="Arial" pitchFamily="34" charset="0"/>
                <a:ea typeface="Arial" pitchFamily="34" charset="-122"/>
                <a:cs typeface="Arial" pitchFamily="34" charset="-120"/>
              </a:rPr>
              <a:t>02 / TRY IN WORDS</a:t>
            </a:r>
            <a:endParaRPr lang="en-US" sz="700" dirty="0"/>
          </a:p>
        </p:txBody>
      </p:sp>
      <p:sp>
        <p:nvSpPr>
          <p:cNvPr id="40" name="Text 37"/>
          <p:cNvSpPr/>
          <p:nvPr/>
        </p:nvSpPr>
        <p:spPr>
          <a:xfrm>
            <a:off x="5504688"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Describe the want in one sentence without naming a trait.</a:t>
            </a:r>
            <a:endParaRPr lang="en-US" sz="1500" dirty="0"/>
          </a:p>
        </p:txBody>
      </p:sp>
      <p:sp>
        <p:nvSpPr>
          <p:cNvPr id="41" name="Shape 38"/>
          <p:cNvSpPr/>
          <p:nvPr/>
        </p:nvSpPr>
        <p:spPr>
          <a:xfrm>
            <a:off x="9144000" y="6583680"/>
            <a:ext cx="3675888" cy="1481328"/>
          </a:xfrm>
          <a:prstGeom prst="rect">
            <a:avLst/>
          </a:prstGeom>
          <a:solidFill>
            <a:srgbClr val="241722"/>
          </a:solidFill>
          <a:ln w="8890">
            <a:solidFill>
              <a:srgbClr val="735D6D"/>
            </a:solidFill>
            <a:prstDash val="solid"/>
          </a:ln>
        </p:spPr>
      </p:sp>
      <p:sp>
        <p:nvSpPr>
          <p:cNvPr id="42" name="Text 39"/>
          <p:cNvSpPr/>
          <p:nvPr/>
        </p:nvSpPr>
        <p:spPr>
          <a:xfrm>
            <a:off x="9326880"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F0AB8A"/>
                </a:solidFill>
                <a:latin typeface="Arial" pitchFamily="34" charset="0"/>
                <a:ea typeface="Arial" pitchFamily="34" charset="-122"/>
                <a:cs typeface="Arial" pitchFamily="34" charset="-120"/>
              </a:rPr>
              <a:t>03 / KEEP VISIBLE</a:t>
            </a:r>
            <a:endParaRPr lang="en-US" sz="700" dirty="0"/>
          </a:p>
        </p:txBody>
      </p:sp>
      <p:sp>
        <p:nvSpPr>
          <p:cNvPr id="43" name="Text 40"/>
          <p:cNvSpPr/>
          <p:nvPr/>
        </p:nvSpPr>
        <p:spPr>
          <a:xfrm>
            <a:off x="9326880"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Keep the character fictional and the stakes bounded.</a:t>
            </a:r>
            <a:endParaRPr lang="en-US" sz="1500" dirty="0"/>
          </a:p>
        </p:txBody>
      </p:sp>
      <p:sp>
        <p:nvSpPr>
          <p:cNvPr id="44" name="Shape 41"/>
          <p:cNvSpPr/>
          <p:nvPr/>
        </p:nvSpPr>
        <p:spPr>
          <a:xfrm>
            <a:off x="1499616" y="8211312"/>
            <a:ext cx="11338560" cy="0"/>
          </a:xfrm>
          <a:prstGeom prst="line">
            <a:avLst/>
          </a:prstGeom>
          <a:noFill/>
          <a:ln w="8890">
            <a:solidFill>
              <a:srgbClr val="796170"/>
            </a:solidFill>
            <a:prstDash val="solid"/>
          </a:ln>
        </p:spPr>
      </p:sp>
      <p:sp>
        <p:nvSpPr>
          <p:cNvPr id="45" name="Text 42"/>
          <p:cNvSpPr/>
          <p:nvPr/>
        </p:nvSpPr>
        <p:spPr>
          <a:xfrm>
            <a:off x="1499616" y="8339328"/>
            <a:ext cx="8229600" cy="118872"/>
          </a:xfrm>
          <a:prstGeom prst="rect">
            <a:avLst/>
          </a:prstGeom>
          <a:noFill/>
          <a:ln/>
        </p:spPr>
        <p:txBody>
          <a:bodyPr wrap="square" lIns="0" tIns="0" rIns="0" bIns="0" rtlCol="0" anchor="t">
            <a:normAutofit/>
          </a:bodyPr>
          <a:lstStyle/>
          <a:p>
            <a:pPr indent="0" marL="0">
              <a:buNone/>
            </a:pPr>
            <a:r>
              <a:rPr lang="en-US" sz="650" dirty="0">
                <a:solidFill>
                  <a:srgbClr val="C0AAB9"/>
                </a:solidFill>
                <a:latin typeface="Arial" pitchFamily="34" charset="0"/>
                <a:ea typeface="Arial" pitchFamily="34" charset="-122"/>
                <a:cs typeface="Arial" pitchFamily="34" charset="-120"/>
              </a:rPr>
              <a:t>FICTIONAL WRITING WORKSHOP / NOT A STAGING OR APPROVAL PLAN</a:t>
            </a:r>
            <a:endParaRPr lang="en-US" sz="650" dirty="0"/>
          </a:p>
        </p:txBody>
      </p:sp>
      <p:sp>
        <p:nvSpPr>
          <p:cNvPr id="46" name="Text 43"/>
          <p:cNvSpPr/>
          <p:nvPr/>
        </p:nvSpPr>
        <p:spPr>
          <a:xfrm>
            <a:off x="9729216" y="8339328"/>
            <a:ext cx="3108960" cy="118872"/>
          </a:xfrm>
          <a:prstGeom prst="rect">
            <a:avLst/>
          </a:prstGeom>
          <a:noFill/>
          <a:ln/>
        </p:spPr>
        <p:txBody>
          <a:bodyPr wrap="square" lIns="0" tIns="0" rIns="0" bIns="0" rtlCol="0" anchor="t">
            <a:normAutofit/>
          </a:bodyPr>
          <a:lstStyle/>
          <a:p>
            <a:pPr algn="r" indent="0" marL="0">
              <a:buNone/>
            </a:pPr>
            <a:r>
              <a:rPr lang="en-US" sz="650" dirty="0">
                <a:solidFill>
                  <a:srgbClr val="C0AAB9"/>
                </a:solidFill>
                <a:latin typeface="Arial" pitchFamily="34" charset="0"/>
                <a:ea typeface="Arial" pitchFamily="34" charset="-122"/>
                <a:cs typeface="Arial" pitchFamily="34" charset="-120"/>
              </a:rPr>
              <a:t>DRAFT / 14 OF 15 ARTWORKS / 4 OF 30</a:t>
            </a:r>
            <a:endParaRPr lang="en-US" sz="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41722"/>
        </a:solidFill>
      </p:bgPr>
    </p:bg>
    <p:spTree>
      <p:nvGrpSpPr>
        <p:cNvPr id="1" name=""/>
        <p:cNvGrpSpPr/>
        <p:nvPr/>
      </p:nvGrpSpPr>
      <p:grpSpPr>
        <a:xfrm>
          <a:off x="0" y="0"/>
          <a:ext cx="0" cy="0"/>
          <a:chOff x="0" y="0"/>
          <a:chExt cx="0" cy="0"/>
        </a:xfrm>
      </p:grpSpPr>
      <p:sp>
        <p:nvSpPr>
          <p:cNvPr id="2" name="Shape 0"/>
          <p:cNvSpPr/>
          <p:nvPr/>
        </p:nvSpPr>
        <p:spPr>
          <a:xfrm>
            <a:off x="1243584" y="329184"/>
            <a:ext cx="0" cy="8119872"/>
          </a:xfrm>
          <a:prstGeom prst="line">
            <a:avLst/>
          </a:prstGeom>
          <a:noFill/>
          <a:ln w="10160">
            <a:solidFill>
              <a:srgbClr val="776072"/>
            </a:solidFill>
            <a:prstDash val="solid"/>
          </a:ln>
        </p:spPr>
      </p:sp>
      <p:sp>
        <p:nvSpPr>
          <p:cNvPr id="3" name="Text 1"/>
          <p:cNvSpPr/>
          <p:nvPr/>
        </p:nvSpPr>
        <p:spPr>
          <a:xfrm>
            <a:off x="393192" y="457200"/>
            <a:ext cx="685800" cy="457200"/>
          </a:xfrm>
          <a:prstGeom prst="rect">
            <a:avLst/>
          </a:prstGeom>
          <a:noFill/>
          <a:ln/>
        </p:spPr>
        <p:txBody>
          <a:bodyPr wrap="square" lIns="0" tIns="0" rIns="0" bIns="0" rtlCol="0" anchor="t">
            <a:normAutofit/>
          </a:bodyPr>
          <a:lstStyle/>
          <a:p>
            <a:pPr indent="0" marL="0">
              <a:buNone/>
            </a:pPr>
            <a:r>
              <a:rPr lang="en-US" sz="600" dirty="0">
                <a:solidFill>
                  <a:srgbClr val="C0AAB9"/>
                </a:solidFill>
                <a:latin typeface="Arial" pitchFamily="34" charset="0"/>
                <a:ea typeface="Arial" pitchFamily="34" charset="-122"/>
                <a:cs typeface="Arial" pitchFamily="34" charset="-120"/>
              </a:rPr>
              <a:t>DESIGN BUDDY</a:t>
            </a:r>
            <a:endParaRPr lang="en-US" sz="600" dirty="0"/>
          </a:p>
          <a:p>
            <a:pPr indent="0" marL="0">
              <a:buNone/>
            </a:pPr>
            <a:r>
              <a:rPr lang="en-US" sz="600" dirty="0">
                <a:solidFill>
                  <a:srgbClr val="C0AAB9"/>
                </a:solidFill>
                <a:latin typeface="Arial" pitchFamily="34" charset="0"/>
                <a:ea typeface="Arial" pitchFamily="34" charset="-122"/>
                <a:cs typeface="Arial" pitchFamily="34" charset="-120"/>
              </a:rPr>
              <a:t>CREATIVE EXERCISE</a:t>
            </a:r>
            <a:endParaRPr lang="en-US" sz="600" dirty="0"/>
          </a:p>
        </p:txBody>
      </p:sp>
      <p:sp>
        <p:nvSpPr>
          <p:cNvPr id="4" name="Text 2"/>
          <p:cNvSpPr/>
          <p:nvPr/>
        </p:nvSpPr>
        <p:spPr>
          <a:xfrm>
            <a:off x="502920" y="1920240"/>
            <a:ext cx="502920" cy="4480560"/>
          </a:xfrm>
          <a:prstGeom prst="rect">
            <a:avLst/>
          </a:prstGeom>
          <a:noFill/>
          <a:ln/>
        </p:spPr>
        <p:txBody>
          <a:bodyPr wrap="square" lIns="0" tIns="0" rIns="0" bIns="0" rtlCol="0" anchor="t">
            <a:normAutofit/>
          </a:bodyPr>
          <a:lstStyle/>
          <a:p>
            <a:pPr algn="ctr" indent="0" marL="0">
              <a:buNone/>
            </a:pPr>
            <a:r>
              <a:rPr lang="en-US" sz="2500" dirty="0">
                <a:solidFill>
                  <a:srgbClr val="F0AB8A"/>
                </a:solidFill>
                <a:latin typeface="Georgia" pitchFamily="34" charset="0"/>
                <a:ea typeface="Georgia" pitchFamily="34" charset="-122"/>
                <a:cs typeface="Georgia" pitchFamily="34" charset="-120"/>
              </a:rPr>
              <a:t>A</a:t>
            </a:r>
            <a:endParaRPr lang="en-US" sz="2500" dirty="0"/>
          </a:p>
          <a:p>
            <a:pPr algn="ctr" indent="0" marL="0">
              <a:buNone/>
            </a:pPr>
            <a:r>
              <a:rPr lang="en-US" sz="2500" dirty="0">
                <a:solidFill>
                  <a:srgbClr val="F0AB8A"/>
                </a:solidFill>
                <a:latin typeface="Georgia" pitchFamily="34" charset="0"/>
                <a:ea typeface="Georgia" pitchFamily="34" charset="-122"/>
                <a:cs typeface="Georgia" pitchFamily="34" charset="-120"/>
              </a:rPr>
              <a:t>F</a:t>
            </a:r>
            <a:endParaRPr lang="en-US" sz="2500" dirty="0"/>
          </a:p>
          <a:p>
            <a:pPr algn="ctr" indent="0" marL="0">
              <a:buNone/>
            </a:pPr>
            <a:r>
              <a:rPr lang="en-US" sz="2500" dirty="0">
                <a:solidFill>
                  <a:srgbClr val="F0AB8A"/>
                </a:solidFill>
                <a:latin typeface="Georgia" pitchFamily="34" charset="0"/>
                <a:ea typeface="Georgia" pitchFamily="34" charset="-122"/>
                <a:cs typeface="Georgia" pitchFamily="34" charset="-120"/>
              </a:rPr>
              <a:t>T</a:t>
            </a:r>
            <a:endParaRPr lang="en-US" sz="2500" dirty="0"/>
          </a:p>
          <a:p>
            <a:pPr algn="ctr" indent="0" marL="0">
              <a:buNone/>
            </a:pPr>
            <a:r>
              <a:rPr lang="en-US" sz="2500" dirty="0">
                <a:solidFill>
                  <a:srgbClr val="F0AB8A"/>
                </a:solidFill>
                <a:latin typeface="Georgia" pitchFamily="34" charset="0"/>
                <a:ea typeface="Georgia" pitchFamily="34" charset="-122"/>
                <a:cs typeface="Georgia" pitchFamily="34" charset="-120"/>
              </a:rPr>
              <a:t>E</a:t>
            </a:r>
            <a:endParaRPr lang="en-US" sz="2500" dirty="0"/>
          </a:p>
          <a:p>
            <a:pPr algn="ctr" indent="0" marL="0">
              <a:buNone/>
            </a:pPr>
            <a:r>
              <a:rPr lang="en-US" sz="2500" dirty="0">
                <a:solidFill>
                  <a:srgbClr val="F0AB8A"/>
                </a:solidFill>
                <a:latin typeface="Georgia" pitchFamily="34" charset="0"/>
                <a:ea typeface="Georgia" pitchFamily="34" charset="-122"/>
                <a:cs typeface="Georgia" pitchFamily="34" charset="-120"/>
              </a:rPr>
              <a:t>R</a:t>
            </a:r>
            <a:endParaRPr lang="en-US" sz="2500" dirty="0"/>
          </a:p>
          <a:p>
            <a:pPr algn="ctr" indent="0" marL="0">
              <a:buNone/>
            </a:pPr>
            <a:r>
              <a:rPr lang="en-US" sz="2500" dirty="0">
                <a:solidFill>
                  <a:srgbClr val="F0AB8A"/>
                </a:solidFill>
                <a:latin typeface="Georgia" pitchFamily="34" charset="0"/>
                <a:ea typeface="Georgia" pitchFamily="34" charset="-122"/>
                <a:cs typeface="Georgia" pitchFamily="34" charset="-120"/>
              </a:rPr>
              <a:t>G</a:t>
            </a:r>
            <a:endParaRPr lang="en-US" sz="2500" dirty="0"/>
          </a:p>
          <a:p>
            <a:pPr algn="ctr" indent="0" marL="0">
              <a:buNone/>
            </a:pPr>
            <a:r>
              <a:rPr lang="en-US" sz="2500" dirty="0">
                <a:solidFill>
                  <a:srgbClr val="F0AB8A"/>
                </a:solidFill>
                <a:latin typeface="Georgia" pitchFamily="34" charset="0"/>
                <a:ea typeface="Georgia" pitchFamily="34" charset="-122"/>
                <a:cs typeface="Georgia" pitchFamily="34" charset="-120"/>
              </a:rPr>
              <a:t>L</a:t>
            </a:r>
            <a:endParaRPr lang="en-US" sz="2500" dirty="0"/>
          </a:p>
          <a:p>
            <a:pPr algn="ctr" indent="0" marL="0">
              <a:buNone/>
            </a:pPr>
            <a:r>
              <a:rPr lang="en-US" sz="2500" dirty="0">
                <a:solidFill>
                  <a:srgbClr val="F0AB8A"/>
                </a:solidFill>
                <a:latin typeface="Georgia" pitchFamily="34" charset="0"/>
                <a:ea typeface="Georgia" pitchFamily="34" charset="-122"/>
                <a:cs typeface="Georgia" pitchFamily="34" charset="-120"/>
              </a:rPr>
              <a:t>O</a:t>
            </a:r>
            <a:endParaRPr lang="en-US" sz="2500" dirty="0"/>
          </a:p>
          <a:p>
            <a:pPr algn="ctr" indent="0" marL="0">
              <a:buNone/>
            </a:pPr>
            <a:r>
              <a:rPr lang="en-US" sz="2500" dirty="0">
                <a:solidFill>
                  <a:srgbClr val="F0AB8A"/>
                </a:solidFill>
                <a:latin typeface="Georgia" pitchFamily="34" charset="0"/>
                <a:ea typeface="Georgia" pitchFamily="34" charset="-122"/>
                <a:cs typeface="Georgia" pitchFamily="34" charset="-120"/>
              </a:rPr>
              <a:t>W</a:t>
            </a:r>
            <a:endParaRPr lang="en-US" sz="2500" dirty="0"/>
          </a:p>
        </p:txBody>
      </p:sp>
      <p:sp>
        <p:nvSpPr>
          <p:cNvPr id="5" name="Text 3"/>
          <p:cNvSpPr/>
          <p:nvPr/>
        </p:nvSpPr>
        <p:spPr>
          <a:xfrm>
            <a:off x="402336" y="7022592"/>
            <a:ext cx="731520" cy="594360"/>
          </a:xfrm>
          <a:prstGeom prst="rect">
            <a:avLst/>
          </a:prstGeom>
          <a:noFill/>
          <a:ln/>
        </p:spPr>
        <p:txBody>
          <a:bodyPr wrap="square" lIns="0" tIns="0" rIns="0" bIns="0" rtlCol="0" anchor="t">
            <a:normAutofit/>
          </a:bodyPr>
          <a:lstStyle/>
          <a:p>
            <a:pPr indent="0" marL="0">
              <a:buNone/>
            </a:pPr>
            <a:r>
              <a:rPr lang="en-US" sz="4200" dirty="0">
                <a:solidFill>
                  <a:srgbClr val="F0AB8A"/>
                </a:solidFill>
                <a:latin typeface="Georgia" pitchFamily="34" charset="0"/>
                <a:ea typeface="Georgia" pitchFamily="34" charset="-122"/>
                <a:cs typeface="Georgia" pitchFamily="34" charset="-120"/>
              </a:rPr>
              <a:t>05</a:t>
            </a:r>
            <a:endParaRPr lang="en-US" sz="4200" dirty="0"/>
          </a:p>
        </p:txBody>
      </p:sp>
      <p:sp>
        <p:nvSpPr>
          <p:cNvPr id="6" name="Text 4"/>
          <p:cNvSpPr/>
          <p:nvPr/>
        </p:nvSpPr>
        <p:spPr>
          <a:xfrm>
            <a:off x="402336" y="7818120"/>
            <a:ext cx="731520" cy="411480"/>
          </a:xfrm>
          <a:prstGeom prst="rect">
            <a:avLst/>
          </a:prstGeom>
          <a:noFill/>
          <a:ln/>
        </p:spPr>
        <p:txBody>
          <a:bodyPr wrap="square" lIns="0" tIns="0" rIns="0" bIns="0" rtlCol="0" anchor="t">
            <a:normAutofit/>
          </a:bodyPr>
          <a:lstStyle/>
          <a:p>
            <a:pPr indent="0" marL="0">
              <a:buNone/>
            </a:pPr>
            <a:r>
              <a:rPr lang="en-US" sz="700" dirty="0">
                <a:solidFill>
                  <a:srgbClr val="C0AAB9"/>
                </a:solidFill>
                <a:latin typeface="Arial" pitchFamily="34" charset="0"/>
                <a:ea typeface="Arial" pitchFamily="34" charset="-122"/>
                <a:cs typeface="Arial" pitchFamily="34" charset="-120"/>
              </a:rPr>
              <a:t>ACT 1 / 5</a:t>
            </a:r>
            <a:endParaRPr lang="en-US" sz="700" dirty="0"/>
          </a:p>
          <a:p>
            <a:pPr indent="0" marL="0">
              <a:buNone/>
            </a:pPr>
            <a:r>
              <a:rPr lang="en-US" sz="700" dirty="0">
                <a:solidFill>
                  <a:srgbClr val="C0AAB9"/>
                </a:solidFill>
                <a:latin typeface="Arial" pitchFamily="34" charset="0"/>
                <a:ea typeface="Arial" pitchFamily="34" charset="-122"/>
                <a:cs typeface="Arial" pitchFamily="34" charset="-120"/>
              </a:rPr>
              <a:t>BEAT 5 / 6</a:t>
            </a:r>
            <a:endParaRPr lang="en-US" sz="700" dirty="0"/>
          </a:p>
        </p:txBody>
      </p:sp>
      <p:sp>
        <p:nvSpPr>
          <p:cNvPr id="7" name="Text 5"/>
          <p:cNvSpPr/>
          <p:nvPr/>
        </p:nvSpPr>
        <p:spPr>
          <a:xfrm>
            <a:off x="1499616" y="347472"/>
            <a:ext cx="9144000" cy="164592"/>
          </a:xfrm>
          <a:prstGeom prst="rect">
            <a:avLst/>
          </a:prstGeom>
          <a:noFill/>
          <a:ln/>
        </p:spPr>
        <p:txBody>
          <a:bodyPr wrap="square" lIns="0" tIns="0" rIns="0" bIns="0" rtlCol="0" anchor="t">
            <a:normAutofit/>
          </a:bodyPr>
          <a:lstStyle/>
          <a:p>
            <a:pPr indent="0" marL="0">
              <a:buNone/>
            </a:pPr>
            <a:r>
              <a:rPr lang="en-US" sz="700" spc="120" kern="0" dirty="0">
                <a:solidFill>
                  <a:srgbClr val="F0AB8A"/>
                </a:solidFill>
                <a:latin typeface="Arial" pitchFamily="34" charset="0"/>
                <a:ea typeface="Arial" pitchFamily="34" charset="-122"/>
                <a:cs typeface="Arial" pitchFamily="34" charset="-120"/>
              </a:rPr>
              <a:t>ACT 1 / ARRIVAL</a:t>
            </a:r>
            <a:endParaRPr lang="en-US" sz="700" dirty="0"/>
          </a:p>
        </p:txBody>
      </p:sp>
      <p:sp>
        <p:nvSpPr>
          <p:cNvPr id="8" name="Text 6"/>
          <p:cNvSpPr/>
          <p:nvPr/>
        </p:nvSpPr>
        <p:spPr>
          <a:xfrm>
            <a:off x="1499616" y="612648"/>
            <a:ext cx="9692640" cy="594360"/>
          </a:xfrm>
          <a:prstGeom prst="rect">
            <a:avLst/>
          </a:prstGeom>
          <a:noFill/>
          <a:ln/>
        </p:spPr>
        <p:txBody>
          <a:bodyPr wrap="square" lIns="0" tIns="0" rIns="0" bIns="0" rtlCol="0" anchor="t">
            <a:normAutofit/>
          </a:bodyPr>
          <a:lstStyle/>
          <a:p>
            <a:pPr indent="0" marL="0">
              <a:buNone/>
            </a:pPr>
            <a:r>
              <a:rPr lang="en-US" sz="2800" dirty="0">
                <a:solidFill>
                  <a:srgbClr val="ECDED6"/>
                </a:solidFill>
                <a:latin typeface="Georgia" pitchFamily="34" charset="0"/>
                <a:ea typeface="Georgia" pitchFamily="34" charset="-122"/>
                <a:cs typeface="Georgia" pitchFamily="34" charset="-120"/>
              </a:rPr>
              <a:t>Make an entrance meaningful.</a:t>
            </a:r>
            <a:endParaRPr lang="en-US" sz="2800" dirty="0"/>
          </a:p>
        </p:txBody>
      </p:sp>
      <p:sp>
        <p:nvSpPr>
          <p:cNvPr id="9" name="Text 7"/>
          <p:cNvSpPr/>
          <p:nvPr/>
        </p:nvSpPr>
        <p:spPr>
          <a:xfrm>
            <a:off x="11475720" y="438912"/>
            <a:ext cx="1325880" cy="182880"/>
          </a:xfrm>
          <a:prstGeom prst="rect">
            <a:avLst/>
          </a:prstGeom>
          <a:noFill/>
          <a:ln/>
        </p:spPr>
        <p:txBody>
          <a:bodyPr wrap="square" lIns="0" tIns="0" rIns="0" bIns="0" rtlCol="0" anchor="t">
            <a:normAutofit/>
          </a:bodyPr>
          <a:lstStyle/>
          <a:p>
            <a:pPr algn="r" indent="0" marL="0">
              <a:buNone/>
            </a:pPr>
            <a:r>
              <a:rPr lang="en-US" sz="700" dirty="0">
                <a:solidFill>
                  <a:srgbClr val="F0AB8A"/>
                </a:solidFill>
                <a:latin typeface="Arial" pitchFamily="34" charset="0"/>
                <a:ea typeface="Arial" pitchFamily="34" charset="-122"/>
                <a:cs typeface="Arial" pitchFamily="34" charset="-120"/>
              </a:rPr>
              <a:t>LOCAL / UNMARKED</a:t>
            </a:r>
            <a:endParaRPr lang="en-US" sz="700" dirty="0"/>
          </a:p>
        </p:txBody>
      </p:sp>
      <p:sp>
        <p:nvSpPr>
          <p:cNvPr id="10" name="Shape 8"/>
          <p:cNvSpPr/>
          <p:nvPr/>
        </p:nvSpPr>
        <p:spPr>
          <a:xfrm>
            <a:off x="1499616" y="1307592"/>
            <a:ext cx="1819656" cy="448056"/>
          </a:xfrm>
          <a:prstGeom prst="rect">
            <a:avLst/>
          </a:prstGeom>
          <a:solidFill>
            <a:srgbClr val="241722"/>
          </a:solidFill>
          <a:ln w="8890">
            <a:solidFill>
              <a:srgbClr val="6D5768"/>
            </a:solidFill>
            <a:prstDash val="solid"/>
          </a:ln>
        </p:spPr>
      </p:sp>
      <p:sp>
        <p:nvSpPr>
          <p:cNvPr id="11" name="Text 9"/>
          <p:cNvSpPr/>
          <p:nvPr/>
        </p:nvSpPr>
        <p:spPr>
          <a:xfrm>
            <a:off x="1572768"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F0AB8A"/>
                </a:solidFill>
                <a:latin typeface="Georgia" pitchFamily="34" charset="0"/>
                <a:ea typeface="Georgia" pitchFamily="34" charset="-122"/>
                <a:cs typeface="Georgia" pitchFamily="34" charset="-120"/>
              </a:rPr>
              <a:t>1</a:t>
            </a:r>
            <a:endParaRPr lang="en-US" sz="1700" dirty="0"/>
          </a:p>
        </p:txBody>
      </p:sp>
      <p:sp>
        <p:nvSpPr>
          <p:cNvPr id="12" name="Text 10"/>
          <p:cNvSpPr/>
          <p:nvPr/>
        </p:nvSpPr>
        <p:spPr>
          <a:xfrm>
            <a:off x="1865376"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Begin before the curtain.</a:t>
            </a:r>
            <a:endParaRPr lang="en-US" sz="700" dirty="0"/>
          </a:p>
        </p:txBody>
      </p:sp>
      <p:sp>
        <p:nvSpPr>
          <p:cNvPr id="13" name="Shape 11"/>
          <p:cNvSpPr/>
          <p:nvPr/>
        </p:nvSpPr>
        <p:spPr>
          <a:xfrm>
            <a:off x="3392424" y="1307592"/>
            <a:ext cx="1819656" cy="448056"/>
          </a:xfrm>
          <a:prstGeom prst="rect">
            <a:avLst/>
          </a:prstGeom>
          <a:solidFill>
            <a:srgbClr val="241722"/>
          </a:solidFill>
          <a:ln w="8890">
            <a:solidFill>
              <a:srgbClr val="6D5768"/>
            </a:solidFill>
            <a:prstDash val="solid"/>
          </a:ln>
        </p:spPr>
      </p:sp>
      <p:sp>
        <p:nvSpPr>
          <p:cNvPr id="14" name="Text 12"/>
          <p:cNvSpPr/>
          <p:nvPr/>
        </p:nvSpPr>
        <p:spPr>
          <a:xfrm>
            <a:off x="3465576"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F0AB8A"/>
                </a:solidFill>
                <a:latin typeface="Georgia" pitchFamily="34" charset="0"/>
                <a:ea typeface="Georgia" pitchFamily="34" charset="-122"/>
                <a:cs typeface="Georgia" pitchFamily="34" charset="-120"/>
              </a:rPr>
              <a:t>2</a:t>
            </a:r>
            <a:endParaRPr lang="en-US" sz="1700" dirty="0"/>
          </a:p>
        </p:txBody>
      </p:sp>
      <p:sp>
        <p:nvSpPr>
          <p:cNvPr id="15" name="Text 13"/>
          <p:cNvSpPr/>
          <p:nvPr/>
        </p:nvSpPr>
        <p:spPr>
          <a:xfrm>
            <a:off x="3758184"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Give the room a point of view.</a:t>
            </a:r>
            <a:endParaRPr lang="en-US" sz="700" dirty="0"/>
          </a:p>
        </p:txBody>
      </p:sp>
      <p:sp>
        <p:nvSpPr>
          <p:cNvPr id="16" name="Shape 14"/>
          <p:cNvSpPr/>
          <p:nvPr/>
        </p:nvSpPr>
        <p:spPr>
          <a:xfrm>
            <a:off x="5285232" y="1307592"/>
            <a:ext cx="1819656" cy="448056"/>
          </a:xfrm>
          <a:prstGeom prst="rect">
            <a:avLst/>
          </a:prstGeom>
          <a:solidFill>
            <a:srgbClr val="241722"/>
          </a:solidFill>
          <a:ln w="8890">
            <a:solidFill>
              <a:srgbClr val="6D5768"/>
            </a:solidFill>
            <a:prstDash val="solid"/>
          </a:ln>
        </p:spPr>
      </p:sp>
      <p:sp>
        <p:nvSpPr>
          <p:cNvPr id="17" name="Text 15"/>
          <p:cNvSpPr/>
          <p:nvPr/>
        </p:nvSpPr>
        <p:spPr>
          <a:xfrm>
            <a:off x="5358384"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F0AB8A"/>
                </a:solidFill>
                <a:latin typeface="Georgia" pitchFamily="34" charset="0"/>
                <a:ea typeface="Georgia" pitchFamily="34" charset="-122"/>
                <a:cs typeface="Georgia" pitchFamily="34" charset="-120"/>
              </a:rPr>
              <a:t>3</a:t>
            </a:r>
            <a:endParaRPr lang="en-US" sz="1700" dirty="0"/>
          </a:p>
        </p:txBody>
      </p:sp>
      <p:sp>
        <p:nvSpPr>
          <p:cNvPr id="18" name="Text 16"/>
          <p:cNvSpPr/>
          <p:nvPr/>
        </p:nvSpPr>
        <p:spPr>
          <a:xfrm>
            <a:off x="5650992"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Let an object ask a question.</a:t>
            </a:r>
            <a:endParaRPr lang="en-US" sz="700" dirty="0"/>
          </a:p>
        </p:txBody>
      </p:sp>
      <p:sp>
        <p:nvSpPr>
          <p:cNvPr id="19" name="Shape 17"/>
          <p:cNvSpPr/>
          <p:nvPr/>
        </p:nvSpPr>
        <p:spPr>
          <a:xfrm>
            <a:off x="7178040" y="1307592"/>
            <a:ext cx="1819656" cy="448056"/>
          </a:xfrm>
          <a:prstGeom prst="rect">
            <a:avLst/>
          </a:prstGeom>
          <a:solidFill>
            <a:srgbClr val="241722"/>
          </a:solidFill>
          <a:ln w="8890">
            <a:solidFill>
              <a:srgbClr val="6D5768"/>
            </a:solidFill>
            <a:prstDash val="solid"/>
          </a:ln>
        </p:spPr>
      </p:sp>
      <p:sp>
        <p:nvSpPr>
          <p:cNvPr id="20" name="Text 18"/>
          <p:cNvSpPr/>
          <p:nvPr/>
        </p:nvSpPr>
        <p:spPr>
          <a:xfrm>
            <a:off x="7251192"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F0AB8A"/>
                </a:solidFill>
                <a:latin typeface="Georgia" pitchFamily="34" charset="0"/>
                <a:ea typeface="Georgia" pitchFamily="34" charset="-122"/>
                <a:cs typeface="Georgia" pitchFamily="34" charset="-120"/>
              </a:rPr>
              <a:t>4</a:t>
            </a:r>
            <a:endParaRPr lang="en-US" sz="1700" dirty="0"/>
          </a:p>
        </p:txBody>
      </p:sp>
      <p:sp>
        <p:nvSpPr>
          <p:cNvPr id="21" name="Text 19"/>
          <p:cNvSpPr/>
          <p:nvPr/>
        </p:nvSpPr>
        <p:spPr>
          <a:xfrm>
            <a:off x="7543800"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Start with an incomplete want.</a:t>
            </a:r>
            <a:endParaRPr lang="en-US" sz="700" dirty="0"/>
          </a:p>
        </p:txBody>
      </p:sp>
      <p:sp>
        <p:nvSpPr>
          <p:cNvPr id="22" name="Shape 20"/>
          <p:cNvSpPr/>
          <p:nvPr/>
        </p:nvSpPr>
        <p:spPr>
          <a:xfrm>
            <a:off x="9070848" y="1307592"/>
            <a:ext cx="1819656" cy="448056"/>
          </a:xfrm>
          <a:prstGeom prst="rect">
            <a:avLst/>
          </a:prstGeom>
          <a:solidFill>
            <a:srgbClr val="241722"/>
          </a:solidFill>
          <a:ln w="8890">
            <a:solidFill>
              <a:srgbClr val="F0AB8A"/>
            </a:solidFill>
            <a:prstDash val="solid"/>
          </a:ln>
        </p:spPr>
      </p:sp>
      <p:sp>
        <p:nvSpPr>
          <p:cNvPr id="23" name="Text 21"/>
          <p:cNvSpPr/>
          <p:nvPr/>
        </p:nvSpPr>
        <p:spPr>
          <a:xfrm>
            <a:off x="9144000"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F0AB8A"/>
                </a:solidFill>
                <a:latin typeface="Georgia" pitchFamily="34" charset="0"/>
                <a:ea typeface="Georgia" pitchFamily="34" charset="-122"/>
                <a:cs typeface="Georgia" pitchFamily="34" charset="-120"/>
              </a:rPr>
              <a:t>5</a:t>
            </a:r>
            <a:endParaRPr lang="en-US" sz="1700" dirty="0"/>
          </a:p>
        </p:txBody>
      </p:sp>
      <p:sp>
        <p:nvSpPr>
          <p:cNvPr id="24" name="Text 22"/>
          <p:cNvSpPr/>
          <p:nvPr/>
        </p:nvSpPr>
        <p:spPr>
          <a:xfrm>
            <a:off x="9436608"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Make an entrance meaningful.</a:t>
            </a:r>
            <a:endParaRPr lang="en-US" sz="700" dirty="0"/>
          </a:p>
        </p:txBody>
      </p:sp>
      <p:sp>
        <p:nvSpPr>
          <p:cNvPr id="25" name="Shape 23"/>
          <p:cNvSpPr/>
          <p:nvPr/>
        </p:nvSpPr>
        <p:spPr>
          <a:xfrm>
            <a:off x="10963656" y="1307592"/>
            <a:ext cx="1819656" cy="448056"/>
          </a:xfrm>
          <a:prstGeom prst="rect">
            <a:avLst/>
          </a:prstGeom>
          <a:solidFill>
            <a:srgbClr val="241722"/>
          </a:solidFill>
          <a:ln w="8890">
            <a:solidFill>
              <a:srgbClr val="6D5768"/>
            </a:solidFill>
            <a:prstDash val="solid"/>
          </a:ln>
        </p:spPr>
      </p:sp>
      <p:sp>
        <p:nvSpPr>
          <p:cNvPr id="26" name="Text 24"/>
          <p:cNvSpPr/>
          <p:nvPr/>
        </p:nvSpPr>
        <p:spPr>
          <a:xfrm>
            <a:off x="11036808"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F0AB8A"/>
                </a:solidFill>
                <a:latin typeface="Georgia" pitchFamily="34" charset="0"/>
                <a:ea typeface="Georgia" pitchFamily="34" charset="-122"/>
                <a:cs typeface="Georgia" pitchFamily="34" charset="-120"/>
              </a:rPr>
              <a:t>6</a:t>
            </a:r>
            <a:endParaRPr lang="en-US" sz="1700" dirty="0"/>
          </a:p>
        </p:txBody>
      </p:sp>
      <p:sp>
        <p:nvSpPr>
          <p:cNvPr id="27" name="Text 25"/>
          <p:cNvSpPr/>
          <p:nvPr/>
        </p:nvSpPr>
        <p:spPr>
          <a:xfrm>
            <a:off x="11329416"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Choose an opening question.</a:t>
            </a:r>
            <a:endParaRPr lang="en-US" sz="700" dirty="0"/>
          </a:p>
        </p:txBody>
      </p:sp>
      <p:pic>
        <p:nvPicPr>
          <p:cNvPr id="28" name="Image 0" descr="/home/user/design-buddy/design-buddy-home/public/atelier/afterglow/images/03.jpg">    </p:cNvPr>
          <p:cNvPicPr>
            <a:picLocks noChangeAspect="1"/>
          </p:cNvPicPr>
          <p:nvPr/>
        </p:nvPicPr>
        <p:blipFill>
          <a:blip r:embed="rId1"/>
          <a:srcRect l="0" r="0" t="0" b="0"/>
          <a:stretch/>
        </p:blipFill>
        <p:spPr>
          <a:xfrm>
            <a:off x="1499616" y="2066544"/>
            <a:ext cx="6949440" cy="3840480"/>
          </a:xfrm>
          <a:prstGeom prst="rect">
            <a:avLst/>
          </a:prstGeom>
        </p:spPr>
      </p:pic>
      <p:sp>
        <p:nvSpPr>
          <p:cNvPr id="29" name="Text 26"/>
          <p:cNvSpPr/>
          <p:nvPr/>
        </p:nvSpPr>
        <p:spPr>
          <a:xfrm>
            <a:off x="1499616" y="6007608"/>
            <a:ext cx="6949440" cy="164592"/>
          </a:xfrm>
          <a:prstGeom prst="rect">
            <a:avLst/>
          </a:prstGeom>
          <a:noFill/>
          <a:ln/>
        </p:spPr>
        <p:txBody>
          <a:bodyPr wrap="square" lIns="0" tIns="0" rIns="0" bIns="0" rtlCol="0" anchor="t">
            <a:normAutofit/>
          </a:bodyPr>
          <a:lstStyle/>
          <a:p>
            <a:pPr indent="0" marL="0">
              <a:buNone/>
            </a:pPr>
            <a:r>
              <a:rPr lang="en-US" sz="650" dirty="0">
                <a:solidFill>
                  <a:srgbClr val="C0AAB9"/>
                </a:solidFill>
                <a:latin typeface="Arial" pitchFamily="34" charset="0"/>
                <a:ea typeface="Arial" pitchFamily="34" charset="-122"/>
                <a:cs typeface="Arial" pitchFamily="34" charset="-120"/>
              </a:rPr>
              <a:t>Watercolour 3 / invented setting and adults / not production evidence</a:t>
            </a:r>
            <a:endParaRPr lang="en-US" sz="650" dirty="0"/>
          </a:p>
        </p:txBody>
      </p:sp>
      <p:sp>
        <p:nvSpPr>
          <p:cNvPr id="30" name="Text 27"/>
          <p:cNvSpPr/>
          <p:nvPr/>
        </p:nvSpPr>
        <p:spPr>
          <a:xfrm>
            <a:off x="8705088" y="2139696"/>
            <a:ext cx="4133088" cy="164592"/>
          </a:xfrm>
          <a:prstGeom prst="rect">
            <a:avLst/>
          </a:prstGeom>
          <a:noFill/>
          <a:ln/>
        </p:spPr>
        <p:txBody>
          <a:bodyPr wrap="square" lIns="0" tIns="0" rIns="0" bIns="0" rtlCol="0" anchor="t">
            <a:normAutofit/>
          </a:bodyPr>
          <a:lstStyle/>
          <a:p>
            <a:pPr indent="0" marL="0">
              <a:buNone/>
            </a:pPr>
            <a:r>
              <a:rPr lang="en-US" sz="700" spc="110" kern="0" dirty="0">
                <a:solidFill>
                  <a:srgbClr val="F0AB8A"/>
                </a:solidFill>
                <a:latin typeface="Arial" pitchFamily="34" charset="0"/>
                <a:ea typeface="Arial" pitchFamily="34" charset="-122"/>
                <a:cs typeface="Arial" pitchFamily="34" charset="-120"/>
              </a:rPr>
              <a:t>STORY INTENTION</a:t>
            </a:r>
            <a:endParaRPr lang="en-US" sz="700" dirty="0"/>
          </a:p>
        </p:txBody>
      </p:sp>
      <p:sp>
        <p:nvSpPr>
          <p:cNvPr id="31" name="Text 28"/>
          <p:cNvSpPr/>
          <p:nvPr/>
        </p:nvSpPr>
        <p:spPr>
          <a:xfrm>
            <a:off x="8705088" y="2514600"/>
            <a:ext cx="4133088" cy="1828800"/>
          </a:xfrm>
          <a:prstGeom prst="rect">
            <a:avLst/>
          </a:prstGeom>
          <a:noFill/>
          <a:ln/>
        </p:spPr>
        <p:txBody>
          <a:bodyPr wrap="square" lIns="0" tIns="0" rIns="0" bIns="0" rtlCol="0" anchor="t">
            <a:normAutofit/>
          </a:bodyPr>
          <a:lstStyle/>
          <a:p>
            <a:pPr indent="0" marL="0">
              <a:buNone/>
            </a:pPr>
            <a:r>
              <a:rPr lang="en-US" sz="1575" dirty="0">
                <a:solidFill>
                  <a:srgbClr val="ECDED6"/>
                </a:solidFill>
                <a:latin typeface="Georgia" pitchFamily="34" charset="0"/>
                <a:ea typeface="Georgia" pitchFamily="34" charset="-122"/>
                <a:cs typeface="Georgia" pitchFamily="34" charset="-120"/>
              </a:rPr>
              <a:t>An arrival can change what people expect from a room. Imagine a late collaborator entering an otherwise quiet conversation. Explore attention and hesitation in prose, not directions for moving real performers.</a:t>
            </a:r>
            <a:endParaRPr lang="en-US" sz="1575" dirty="0"/>
          </a:p>
        </p:txBody>
      </p:sp>
      <p:sp>
        <p:nvSpPr>
          <p:cNvPr id="32" name="Text 29"/>
          <p:cNvSpPr/>
          <p:nvPr/>
        </p:nvSpPr>
        <p:spPr>
          <a:xfrm>
            <a:off x="8705088" y="4572000"/>
            <a:ext cx="4133088" cy="164592"/>
          </a:xfrm>
          <a:prstGeom prst="rect">
            <a:avLst/>
          </a:prstGeom>
          <a:noFill/>
          <a:ln/>
        </p:spPr>
        <p:txBody>
          <a:bodyPr wrap="square" lIns="0" tIns="0" rIns="0" bIns="0" rtlCol="0" anchor="t">
            <a:normAutofit/>
          </a:bodyPr>
          <a:lstStyle/>
          <a:p>
            <a:pPr indent="0" marL="0">
              <a:buNone/>
            </a:pPr>
            <a:r>
              <a:rPr lang="en-US" sz="700" spc="110" kern="0" dirty="0">
                <a:solidFill>
                  <a:srgbClr val="F0AB8A"/>
                </a:solidFill>
                <a:latin typeface="Arial" pitchFamily="34" charset="0"/>
                <a:ea typeface="Arial" pitchFamily="34" charset="-122"/>
                <a:cs typeface="Arial" pitchFamily="34" charset="-120"/>
              </a:rPr>
              <a:t>LEAVE A QUESTION</a:t>
            </a:r>
            <a:endParaRPr lang="en-US" sz="700" dirty="0"/>
          </a:p>
        </p:txBody>
      </p:sp>
      <p:sp>
        <p:nvSpPr>
          <p:cNvPr id="33" name="Text 30"/>
          <p:cNvSpPr/>
          <p:nvPr/>
        </p:nvSpPr>
        <p:spPr>
          <a:xfrm>
            <a:off x="8705088" y="4910328"/>
            <a:ext cx="4133088" cy="822960"/>
          </a:xfrm>
          <a:prstGeom prst="rect">
            <a:avLst/>
          </a:prstGeom>
          <a:noFill/>
          <a:ln/>
        </p:spPr>
        <p:txBody>
          <a:bodyPr wrap="square" lIns="0" tIns="0" rIns="0" bIns="0" rtlCol="0" anchor="t">
            <a:normAutofit/>
          </a:bodyPr>
          <a:lstStyle/>
          <a:p>
            <a:pPr indent="0" marL="0">
              <a:buNone/>
            </a:pPr>
            <a:r>
              <a:rPr lang="en-US" sz="1875" i="1" dirty="0">
                <a:solidFill>
                  <a:srgbClr val="F0AB8A"/>
                </a:solidFill>
                <a:latin typeface="Georgia" pitchFamily="34" charset="0"/>
                <a:ea typeface="Georgia" pitchFamily="34" charset="-122"/>
                <a:cs typeface="Georgia" pitchFamily="34" charset="-120"/>
              </a:rPr>
              <a:t>What expectation shifts when the third voice arrives?</a:t>
            </a:r>
            <a:endParaRPr lang="en-US" sz="1875" dirty="0"/>
          </a:p>
        </p:txBody>
      </p:sp>
      <p:sp>
        <p:nvSpPr>
          <p:cNvPr id="34" name="Text 31"/>
          <p:cNvSpPr/>
          <p:nvPr/>
        </p:nvSpPr>
        <p:spPr>
          <a:xfrm>
            <a:off x="8705088" y="5806440"/>
            <a:ext cx="4133088" cy="292608"/>
          </a:xfrm>
          <a:prstGeom prst="rect">
            <a:avLst/>
          </a:prstGeom>
          <a:noFill/>
          <a:ln/>
        </p:spPr>
        <p:txBody>
          <a:bodyPr wrap="square" lIns="0" tIns="0" rIns="0" bIns="0" rtlCol="0" anchor="t">
            <a:normAutofit/>
          </a:bodyPr>
          <a:lstStyle/>
          <a:p>
            <a:pPr indent="0" marL="0">
              <a:buNone/>
            </a:pPr>
            <a:r>
              <a:rPr lang="en-US" sz="700" dirty="0">
                <a:solidFill>
                  <a:srgbClr val="C0AAB9"/>
                </a:solidFill>
                <a:latin typeface="Arial" pitchFamily="34" charset="0"/>
                <a:ea typeface="Arial" pitchFamily="34" charset="-122"/>
                <a:cs typeface="Arial" pitchFamily="34" charset="-120"/>
              </a:rPr>
              <a:t>Beat order is not timing, a technical call or a show schedule.</a:t>
            </a:r>
            <a:endParaRPr lang="en-US" sz="700" dirty="0"/>
          </a:p>
        </p:txBody>
      </p:sp>
      <p:sp>
        <p:nvSpPr>
          <p:cNvPr id="35" name="Shape 32"/>
          <p:cNvSpPr/>
          <p:nvPr/>
        </p:nvSpPr>
        <p:spPr>
          <a:xfrm>
            <a:off x="1499616" y="6583680"/>
            <a:ext cx="3675888" cy="1481328"/>
          </a:xfrm>
          <a:prstGeom prst="rect">
            <a:avLst/>
          </a:prstGeom>
          <a:solidFill>
            <a:srgbClr val="241722"/>
          </a:solidFill>
          <a:ln w="8890">
            <a:solidFill>
              <a:srgbClr val="735D6D"/>
            </a:solidFill>
            <a:prstDash val="solid"/>
          </a:ln>
        </p:spPr>
      </p:sp>
      <p:sp>
        <p:nvSpPr>
          <p:cNvPr id="36" name="Text 33"/>
          <p:cNvSpPr/>
          <p:nvPr/>
        </p:nvSpPr>
        <p:spPr>
          <a:xfrm>
            <a:off x="1682496"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F0AB8A"/>
                </a:solidFill>
                <a:latin typeface="Arial" pitchFamily="34" charset="0"/>
                <a:ea typeface="Arial" pitchFamily="34" charset="-122"/>
                <a:cs typeface="Arial" pitchFamily="34" charset="-120"/>
              </a:rPr>
              <a:t>01 / NOTICE</a:t>
            </a:r>
            <a:endParaRPr lang="en-US" sz="700" dirty="0"/>
          </a:p>
        </p:txBody>
      </p:sp>
      <p:sp>
        <p:nvSpPr>
          <p:cNvPr id="37" name="Text 34"/>
          <p:cNvSpPr/>
          <p:nvPr/>
        </p:nvSpPr>
        <p:spPr>
          <a:xfrm>
            <a:off x="1682496"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A new voice can alter an exchange without raising its volume.</a:t>
            </a:r>
            <a:endParaRPr lang="en-US" sz="1500" dirty="0"/>
          </a:p>
        </p:txBody>
      </p:sp>
      <p:sp>
        <p:nvSpPr>
          <p:cNvPr id="38" name="Shape 35"/>
          <p:cNvSpPr/>
          <p:nvPr/>
        </p:nvSpPr>
        <p:spPr>
          <a:xfrm>
            <a:off x="5321808" y="6583680"/>
            <a:ext cx="3675888" cy="1481328"/>
          </a:xfrm>
          <a:prstGeom prst="rect">
            <a:avLst/>
          </a:prstGeom>
          <a:solidFill>
            <a:srgbClr val="241722"/>
          </a:solidFill>
          <a:ln w="8890">
            <a:solidFill>
              <a:srgbClr val="735D6D"/>
            </a:solidFill>
            <a:prstDash val="solid"/>
          </a:ln>
        </p:spPr>
      </p:sp>
      <p:sp>
        <p:nvSpPr>
          <p:cNvPr id="39" name="Text 36"/>
          <p:cNvSpPr/>
          <p:nvPr/>
        </p:nvSpPr>
        <p:spPr>
          <a:xfrm>
            <a:off x="5504688"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F0AB8A"/>
                </a:solidFill>
                <a:latin typeface="Arial" pitchFamily="34" charset="0"/>
                <a:ea typeface="Arial" pitchFamily="34" charset="-122"/>
                <a:cs typeface="Arial" pitchFamily="34" charset="-120"/>
              </a:rPr>
              <a:t>02 / TRY IN WORDS</a:t>
            </a:r>
            <a:endParaRPr lang="en-US" sz="700" dirty="0"/>
          </a:p>
        </p:txBody>
      </p:sp>
      <p:sp>
        <p:nvSpPr>
          <p:cNvPr id="40" name="Text 37"/>
          <p:cNvSpPr/>
          <p:nvPr/>
        </p:nvSpPr>
        <p:spPr>
          <a:xfrm>
            <a:off x="5504688"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Write the same entrance as welcome and as interruption.</a:t>
            </a:r>
            <a:endParaRPr lang="en-US" sz="1500" dirty="0"/>
          </a:p>
        </p:txBody>
      </p:sp>
      <p:sp>
        <p:nvSpPr>
          <p:cNvPr id="41" name="Shape 38"/>
          <p:cNvSpPr/>
          <p:nvPr/>
        </p:nvSpPr>
        <p:spPr>
          <a:xfrm>
            <a:off x="9144000" y="6583680"/>
            <a:ext cx="3675888" cy="1481328"/>
          </a:xfrm>
          <a:prstGeom prst="rect">
            <a:avLst/>
          </a:prstGeom>
          <a:solidFill>
            <a:srgbClr val="241722"/>
          </a:solidFill>
          <a:ln w="8890">
            <a:solidFill>
              <a:srgbClr val="735D6D"/>
            </a:solidFill>
            <a:prstDash val="solid"/>
          </a:ln>
        </p:spPr>
      </p:sp>
      <p:sp>
        <p:nvSpPr>
          <p:cNvPr id="42" name="Text 39"/>
          <p:cNvSpPr/>
          <p:nvPr/>
        </p:nvSpPr>
        <p:spPr>
          <a:xfrm>
            <a:off x="9326880"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F0AB8A"/>
                </a:solidFill>
                <a:latin typeface="Arial" pitchFamily="34" charset="0"/>
                <a:ea typeface="Arial" pitchFamily="34" charset="-122"/>
                <a:cs typeface="Arial" pitchFamily="34" charset="-120"/>
              </a:rPr>
              <a:t>03 / KEEP VISIBLE</a:t>
            </a:r>
            <a:endParaRPr lang="en-US" sz="700" dirty="0"/>
          </a:p>
        </p:txBody>
      </p:sp>
      <p:sp>
        <p:nvSpPr>
          <p:cNvPr id="43" name="Text 40"/>
          <p:cNvSpPr/>
          <p:nvPr/>
        </p:nvSpPr>
        <p:spPr>
          <a:xfrm>
            <a:off x="9326880"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Compare meanings, not physical rehearsal instructions.</a:t>
            </a:r>
            <a:endParaRPr lang="en-US" sz="1500" dirty="0"/>
          </a:p>
        </p:txBody>
      </p:sp>
      <p:sp>
        <p:nvSpPr>
          <p:cNvPr id="44" name="Shape 41"/>
          <p:cNvSpPr/>
          <p:nvPr/>
        </p:nvSpPr>
        <p:spPr>
          <a:xfrm>
            <a:off x="1499616" y="8211312"/>
            <a:ext cx="11338560" cy="0"/>
          </a:xfrm>
          <a:prstGeom prst="line">
            <a:avLst/>
          </a:prstGeom>
          <a:noFill/>
          <a:ln w="8890">
            <a:solidFill>
              <a:srgbClr val="796170"/>
            </a:solidFill>
            <a:prstDash val="solid"/>
          </a:ln>
        </p:spPr>
      </p:sp>
      <p:sp>
        <p:nvSpPr>
          <p:cNvPr id="45" name="Text 42"/>
          <p:cNvSpPr/>
          <p:nvPr/>
        </p:nvSpPr>
        <p:spPr>
          <a:xfrm>
            <a:off x="1499616" y="8339328"/>
            <a:ext cx="8229600" cy="118872"/>
          </a:xfrm>
          <a:prstGeom prst="rect">
            <a:avLst/>
          </a:prstGeom>
          <a:noFill/>
          <a:ln/>
        </p:spPr>
        <p:txBody>
          <a:bodyPr wrap="square" lIns="0" tIns="0" rIns="0" bIns="0" rtlCol="0" anchor="t">
            <a:normAutofit/>
          </a:bodyPr>
          <a:lstStyle/>
          <a:p>
            <a:pPr indent="0" marL="0">
              <a:buNone/>
            </a:pPr>
            <a:r>
              <a:rPr lang="en-US" sz="650" dirty="0">
                <a:solidFill>
                  <a:srgbClr val="C0AAB9"/>
                </a:solidFill>
                <a:latin typeface="Arial" pitchFamily="34" charset="0"/>
                <a:ea typeface="Arial" pitchFamily="34" charset="-122"/>
                <a:cs typeface="Arial" pitchFamily="34" charset="-120"/>
              </a:rPr>
              <a:t>FICTIONAL WRITING WORKSHOP / NOT A STAGING OR APPROVAL PLAN</a:t>
            </a:r>
            <a:endParaRPr lang="en-US" sz="650" dirty="0"/>
          </a:p>
        </p:txBody>
      </p:sp>
      <p:sp>
        <p:nvSpPr>
          <p:cNvPr id="46" name="Text 43"/>
          <p:cNvSpPr/>
          <p:nvPr/>
        </p:nvSpPr>
        <p:spPr>
          <a:xfrm>
            <a:off x="9729216" y="8339328"/>
            <a:ext cx="3108960" cy="118872"/>
          </a:xfrm>
          <a:prstGeom prst="rect">
            <a:avLst/>
          </a:prstGeom>
          <a:noFill/>
          <a:ln/>
        </p:spPr>
        <p:txBody>
          <a:bodyPr wrap="square" lIns="0" tIns="0" rIns="0" bIns="0" rtlCol="0" anchor="t">
            <a:normAutofit/>
          </a:bodyPr>
          <a:lstStyle/>
          <a:p>
            <a:pPr algn="r" indent="0" marL="0">
              <a:buNone/>
            </a:pPr>
            <a:r>
              <a:rPr lang="en-US" sz="650" dirty="0">
                <a:solidFill>
                  <a:srgbClr val="C0AAB9"/>
                </a:solidFill>
                <a:latin typeface="Arial" pitchFamily="34" charset="0"/>
                <a:ea typeface="Arial" pitchFamily="34" charset="-122"/>
                <a:cs typeface="Arial" pitchFamily="34" charset="-120"/>
              </a:rPr>
              <a:t>DRAFT / 14 OF 15 ARTWORKS / 5 OF 30</a:t>
            </a:r>
            <a:endParaRPr lang="en-US" sz="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41722"/>
        </a:solidFill>
      </p:bgPr>
    </p:bg>
    <p:spTree>
      <p:nvGrpSpPr>
        <p:cNvPr id="1" name=""/>
        <p:cNvGrpSpPr/>
        <p:nvPr/>
      </p:nvGrpSpPr>
      <p:grpSpPr>
        <a:xfrm>
          <a:off x="0" y="0"/>
          <a:ext cx="0" cy="0"/>
          <a:chOff x="0" y="0"/>
          <a:chExt cx="0" cy="0"/>
        </a:xfrm>
      </p:grpSpPr>
      <p:sp>
        <p:nvSpPr>
          <p:cNvPr id="2" name="Shape 0"/>
          <p:cNvSpPr/>
          <p:nvPr/>
        </p:nvSpPr>
        <p:spPr>
          <a:xfrm>
            <a:off x="1243584" y="329184"/>
            <a:ext cx="0" cy="8119872"/>
          </a:xfrm>
          <a:prstGeom prst="line">
            <a:avLst/>
          </a:prstGeom>
          <a:noFill/>
          <a:ln w="10160">
            <a:solidFill>
              <a:srgbClr val="776072"/>
            </a:solidFill>
            <a:prstDash val="solid"/>
          </a:ln>
        </p:spPr>
      </p:sp>
      <p:sp>
        <p:nvSpPr>
          <p:cNvPr id="3" name="Text 1"/>
          <p:cNvSpPr/>
          <p:nvPr/>
        </p:nvSpPr>
        <p:spPr>
          <a:xfrm>
            <a:off x="393192" y="457200"/>
            <a:ext cx="685800" cy="457200"/>
          </a:xfrm>
          <a:prstGeom prst="rect">
            <a:avLst/>
          </a:prstGeom>
          <a:noFill/>
          <a:ln/>
        </p:spPr>
        <p:txBody>
          <a:bodyPr wrap="square" lIns="0" tIns="0" rIns="0" bIns="0" rtlCol="0" anchor="t">
            <a:normAutofit/>
          </a:bodyPr>
          <a:lstStyle/>
          <a:p>
            <a:pPr indent="0" marL="0">
              <a:buNone/>
            </a:pPr>
            <a:r>
              <a:rPr lang="en-US" sz="600" dirty="0">
                <a:solidFill>
                  <a:srgbClr val="C0AAB9"/>
                </a:solidFill>
                <a:latin typeface="Arial" pitchFamily="34" charset="0"/>
                <a:ea typeface="Arial" pitchFamily="34" charset="-122"/>
                <a:cs typeface="Arial" pitchFamily="34" charset="-120"/>
              </a:rPr>
              <a:t>DESIGN BUDDY</a:t>
            </a:r>
            <a:endParaRPr lang="en-US" sz="600" dirty="0"/>
          </a:p>
          <a:p>
            <a:pPr indent="0" marL="0">
              <a:buNone/>
            </a:pPr>
            <a:r>
              <a:rPr lang="en-US" sz="600" dirty="0">
                <a:solidFill>
                  <a:srgbClr val="C0AAB9"/>
                </a:solidFill>
                <a:latin typeface="Arial" pitchFamily="34" charset="0"/>
                <a:ea typeface="Arial" pitchFamily="34" charset="-122"/>
                <a:cs typeface="Arial" pitchFamily="34" charset="-120"/>
              </a:rPr>
              <a:t>CREATIVE EXERCISE</a:t>
            </a:r>
            <a:endParaRPr lang="en-US" sz="600" dirty="0"/>
          </a:p>
        </p:txBody>
      </p:sp>
      <p:sp>
        <p:nvSpPr>
          <p:cNvPr id="4" name="Text 2"/>
          <p:cNvSpPr/>
          <p:nvPr/>
        </p:nvSpPr>
        <p:spPr>
          <a:xfrm>
            <a:off x="502920" y="1920240"/>
            <a:ext cx="502920" cy="4480560"/>
          </a:xfrm>
          <a:prstGeom prst="rect">
            <a:avLst/>
          </a:prstGeom>
          <a:noFill/>
          <a:ln/>
        </p:spPr>
        <p:txBody>
          <a:bodyPr wrap="square" lIns="0" tIns="0" rIns="0" bIns="0" rtlCol="0" anchor="t">
            <a:normAutofit/>
          </a:bodyPr>
          <a:lstStyle/>
          <a:p>
            <a:pPr algn="ctr" indent="0" marL="0">
              <a:buNone/>
            </a:pPr>
            <a:r>
              <a:rPr lang="en-US" sz="2500" dirty="0">
                <a:solidFill>
                  <a:srgbClr val="F0AB8A"/>
                </a:solidFill>
                <a:latin typeface="Georgia" pitchFamily="34" charset="0"/>
                <a:ea typeface="Georgia" pitchFamily="34" charset="-122"/>
                <a:cs typeface="Georgia" pitchFamily="34" charset="-120"/>
              </a:rPr>
              <a:t>A</a:t>
            </a:r>
            <a:endParaRPr lang="en-US" sz="2500" dirty="0"/>
          </a:p>
          <a:p>
            <a:pPr algn="ctr" indent="0" marL="0">
              <a:buNone/>
            </a:pPr>
            <a:r>
              <a:rPr lang="en-US" sz="2500" dirty="0">
                <a:solidFill>
                  <a:srgbClr val="F0AB8A"/>
                </a:solidFill>
                <a:latin typeface="Georgia" pitchFamily="34" charset="0"/>
                <a:ea typeface="Georgia" pitchFamily="34" charset="-122"/>
                <a:cs typeface="Georgia" pitchFamily="34" charset="-120"/>
              </a:rPr>
              <a:t>F</a:t>
            </a:r>
            <a:endParaRPr lang="en-US" sz="2500" dirty="0"/>
          </a:p>
          <a:p>
            <a:pPr algn="ctr" indent="0" marL="0">
              <a:buNone/>
            </a:pPr>
            <a:r>
              <a:rPr lang="en-US" sz="2500" dirty="0">
                <a:solidFill>
                  <a:srgbClr val="F0AB8A"/>
                </a:solidFill>
                <a:latin typeface="Georgia" pitchFamily="34" charset="0"/>
                <a:ea typeface="Georgia" pitchFamily="34" charset="-122"/>
                <a:cs typeface="Georgia" pitchFamily="34" charset="-120"/>
              </a:rPr>
              <a:t>T</a:t>
            </a:r>
            <a:endParaRPr lang="en-US" sz="2500" dirty="0"/>
          </a:p>
          <a:p>
            <a:pPr algn="ctr" indent="0" marL="0">
              <a:buNone/>
            </a:pPr>
            <a:r>
              <a:rPr lang="en-US" sz="2500" dirty="0">
                <a:solidFill>
                  <a:srgbClr val="F0AB8A"/>
                </a:solidFill>
                <a:latin typeface="Georgia" pitchFamily="34" charset="0"/>
                <a:ea typeface="Georgia" pitchFamily="34" charset="-122"/>
                <a:cs typeface="Georgia" pitchFamily="34" charset="-120"/>
              </a:rPr>
              <a:t>E</a:t>
            </a:r>
            <a:endParaRPr lang="en-US" sz="2500" dirty="0"/>
          </a:p>
          <a:p>
            <a:pPr algn="ctr" indent="0" marL="0">
              <a:buNone/>
            </a:pPr>
            <a:r>
              <a:rPr lang="en-US" sz="2500" dirty="0">
                <a:solidFill>
                  <a:srgbClr val="F0AB8A"/>
                </a:solidFill>
                <a:latin typeface="Georgia" pitchFamily="34" charset="0"/>
                <a:ea typeface="Georgia" pitchFamily="34" charset="-122"/>
                <a:cs typeface="Georgia" pitchFamily="34" charset="-120"/>
              </a:rPr>
              <a:t>R</a:t>
            </a:r>
            <a:endParaRPr lang="en-US" sz="2500" dirty="0"/>
          </a:p>
          <a:p>
            <a:pPr algn="ctr" indent="0" marL="0">
              <a:buNone/>
            </a:pPr>
            <a:r>
              <a:rPr lang="en-US" sz="2500" dirty="0">
                <a:solidFill>
                  <a:srgbClr val="F0AB8A"/>
                </a:solidFill>
                <a:latin typeface="Georgia" pitchFamily="34" charset="0"/>
                <a:ea typeface="Georgia" pitchFamily="34" charset="-122"/>
                <a:cs typeface="Georgia" pitchFamily="34" charset="-120"/>
              </a:rPr>
              <a:t>G</a:t>
            </a:r>
            <a:endParaRPr lang="en-US" sz="2500" dirty="0"/>
          </a:p>
          <a:p>
            <a:pPr algn="ctr" indent="0" marL="0">
              <a:buNone/>
            </a:pPr>
            <a:r>
              <a:rPr lang="en-US" sz="2500" dirty="0">
                <a:solidFill>
                  <a:srgbClr val="F0AB8A"/>
                </a:solidFill>
                <a:latin typeface="Georgia" pitchFamily="34" charset="0"/>
                <a:ea typeface="Georgia" pitchFamily="34" charset="-122"/>
                <a:cs typeface="Georgia" pitchFamily="34" charset="-120"/>
              </a:rPr>
              <a:t>L</a:t>
            </a:r>
            <a:endParaRPr lang="en-US" sz="2500" dirty="0"/>
          </a:p>
          <a:p>
            <a:pPr algn="ctr" indent="0" marL="0">
              <a:buNone/>
            </a:pPr>
            <a:r>
              <a:rPr lang="en-US" sz="2500" dirty="0">
                <a:solidFill>
                  <a:srgbClr val="F0AB8A"/>
                </a:solidFill>
                <a:latin typeface="Georgia" pitchFamily="34" charset="0"/>
                <a:ea typeface="Georgia" pitchFamily="34" charset="-122"/>
                <a:cs typeface="Georgia" pitchFamily="34" charset="-120"/>
              </a:rPr>
              <a:t>O</a:t>
            </a:r>
            <a:endParaRPr lang="en-US" sz="2500" dirty="0"/>
          </a:p>
          <a:p>
            <a:pPr algn="ctr" indent="0" marL="0">
              <a:buNone/>
            </a:pPr>
            <a:r>
              <a:rPr lang="en-US" sz="2500" dirty="0">
                <a:solidFill>
                  <a:srgbClr val="F0AB8A"/>
                </a:solidFill>
                <a:latin typeface="Georgia" pitchFamily="34" charset="0"/>
                <a:ea typeface="Georgia" pitchFamily="34" charset="-122"/>
                <a:cs typeface="Georgia" pitchFamily="34" charset="-120"/>
              </a:rPr>
              <a:t>W</a:t>
            </a:r>
            <a:endParaRPr lang="en-US" sz="2500" dirty="0"/>
          </a:p>
        </p:txBody>
      </p:sp>
      <p:sp>
        <p:nvSpPr>
          <p:cNvPr id="5" name="Text 3"/>
          <p:cNvSpPr/>
          <p:nvPr/>
        </p:nvSpPr>
        <p:spPr>
          <a:xfrm>
            <a:off x="402336" y="7022592"/>
            <a:ext cx="731520" cy="594360"/>
          </a:xfrm>
          <a:prstGeom prst="rect">
            <a:avLst/>
          </a:prstGeom>
          <a:noFill/>
          <a:ln/>
        </p:spPr>
        <p:txBody>
          <a:bodyPr wrap="square" lIns="0" tIns="0" rIns="0" bIns="0" rtlCol="0" anchor="t">
            <a:normAutofit/>
          </a:bodyPr>
          <a:lstStyle/>
          <a:p>
            <a:pPr indent="0" marL="0">
              <a:buNone/>
            </a:pPr>
            <a:r>
              <a:rPr lang="en-US" sz="4200" dirty="0">
                <a:solidFill>
                  <a:srgbClr val="F0AB8A"/>
                </a:solidFill>
                <a:latin typeface="Georgia" pitchFamily="34" charset="0"/>
                <a:ea typeface="Georgia" pitchFamily="34" charset="-122"/>
                <a:cs typeface="Georgia" pitchFamily="34" charset="-120"/>
              </a:rPr>
              <a:t>06</a:t>
            </a:r>
            <a:endParaRPr lang="en-US" sz="4200" dirty="0"/>
          </a:p>
        </p:txBody>
      </p:sp>
      <p:sp>
        <p:nvSpPr>
          <p:cNvPr id="6" name="Text 4"/>
          <p:cNvSpPr/>
          <p:nvPr/>
        </p:nvSpPr>
        <p:spPr>
          <a:xfrm>
            <a:off x="402336" y="7818120"/>
            <a:ext cx="731520" cy="411480"/>
          </a:xfrm>
          <a:prstGeom prst="rect">
            <a:avLst/>
          </a:prstGeom>
          <a:noFill/>
          <a:ln/>
        </p:spPr>
        <p:txBody>
          <a:bodyPr wrap="square" lIns="0" tIns="0" rIns="0" bIns="0" rtlCol="0" anchor="t">
            <a:normAutofit/>
          </a:bodyPr>
          <a:lstStyle/>
          <a:p>
            <a:pPr indent="0" marL="0">
              <a:buNone/>
            </a:pPr>
            <a:r>
              <a:rPr lang="en-US" sz="700" dirty="0">
                <a:solidFill>
                  <a:srgbClr val="C0AAB9"/>
                </a:solidFill>
                <a:latin typeface="Arial" pitchFamily="34" charset="0"/>
                <a:ea typeface="Arial" pitchFamily="34" charset="-122"/>
                <a:cs typeface="Arial" pitchFamily="34" charset="-120"/>
              </a:rPr>
              <a:t>ACT 1 / 5</a:t>
            </a:r>
            <a:endParaRPr lang="en-US" sz="700" dirty="0"/>
          </a:p>
          <a:p>
            <a:pPr indent="0" marL="0">
              <a:buNone/>
            </a:pPr>
            <a:r>
              <a:rPr lang="en-US" sz="700" dirty="0">
                <a:solidFill>
                  <a:srgbClr val="C0AAB9"/>
                </a:solidFill>
                <a:latin typeface="Arial" pitchFamily="34" charset="0"/>
                <a:ea typeface="Arial" pitchFamily="34" charset="-122"/>
                <a:cs typeface="Arial" pitchFamily="34" charset="-120"/>
              </a:rPr>
              <a:t>BEAT 6 / 6</a:t>
            </a:r>
            <a:endParaRPr lang="en-US" sz="700" dirty="0"/>
          </a:p>
        </p:txBody>
      </p:sp>
      <p:sp>
        <p:nvSpPr>
          <p:cNvPr id="7" name="Text 5"/>
          <p:cNvSpPr/>
          <p:nvPr/>
        </p:nvSpPr>
        <p:spPr>
          <a:xfrm>
            <a:off x="1499616" y="347472"/>
            <a:ext cx="9144000" cy="164592"/>
          </a:xfrm>
          <a:prstGeom prst="rect">
            <a:avLst/>
          </a:prstGeom>
          <a:noFill/>
          <a:ln/>
        </p:spPr>
        <p:txBody>
          <a:bodyPr wrap="square" lIns="0" tIns="0" rIns="0" bIns="0" rtlCol="0" anchor="t">
            <a:normAutofit/>
          </a:bodyPr>
          <a:lstStyle/>
          <a:p>
            <a:pPr indent="0" marL="0">
              <a:buNone/>
            </a:pPr>
            <a:r>
              <a:rPr lang="en-US" sz="700" spc="120" kern="0" dirty="0">
                <a:solidFill>
                  <a:srgbClr val="F0AB8A"/>
                </a:solidFill>
                <a:latin typeface="Arial" pitchFamily="34" charset="0"/>
                <a:ea typeface="Arial" pitchFamily="34" charset="-122"/>
                <a:cs typeface="Arial" pitchFamily="34" charset="-120"/>
              </a:rPr>
              <a:t>ACT 1 / ARRIVAL</a:t>
            </a:r>
            <a:endParaRPr lang="en-US" sz="700" dirty="0"/>
          </a:p>
        </p:txBody>
      </p:sp>
      <p:sp>
        <p:nvSpPr>
          <p:cNvPr id="8" name="Text 6"/>
          <p:cNvSpPr/>
          <p:nvPr/>
        </p:nvSpPr>
        <p:spPr>
          <a:xfrm>
            <a:off x="1499616" y="612648"/>
            <a:ext cx="9692640" cy="594360"/>
          </a:xfrm>
          <a:prstGeom prst="rect">
            <a:avLst/>
          </a:prstGeom>
          <a:noFill/>
          <a:ln/>
        </p:spPr>
        <p:txBody>
          <a:bodyPr wrap="square" lIns="0" tIns="0" rIns="0" bIns="0" rtlCol="0" anchor="t">
            <a:normAutofit/>
          </a:bodyPr>
          <a:lstStyle/>
          <a:p>
            <a:pPr indent="0" marL="0">
              <a:buNone/>
            </a:pPr>
            <a:r>
              <a:rPr lang="en-US" sz="2800" dirty="0">
                <a:solidFill>
                  <a:srgbClr val="ECDED6"/>
                </a:solidFill>
                <a:latin typeface="Georgia" pitchFamily="34" charset="0"/>
                <a:ea typeface="Georgia" pitchFamily="34" charset="-122"/>
                <a:cs typeface="Georgia" pitchFamily="34" charset="-120"/>
              </a:rPr>
              <a:t>Choose an opening question.</a:t>
            </a:r>
            <a:endParaRPr lang="en-US" sz="2800" dirty="0"/>
          </a:p>
        </p:txBody>
      </p:sp>
      <p:sp>
        <p:nvSpPr>
          <p:cNvPr id="9" name="Text 7"/>
          <p:cNvSpPr/>
          <p:nvPr/>
        </p:nvSpPr>
        <p:spPr>
          <a:xfrm>
            <a:off x="11475720" y="438912"/>
            <a:ext cx="1325880" cy="182880"/>
          </a:xfrm>
          <a:prstGeom prst="rect">
            <a:avLst/>
          </a:prstGeom>
          <a:noFill/>
          <a:ln/>
        </p:spPr>
        <p:txBody>
          <a:bodyPr wrap="square" lIns="0" tIns="0" rIns="0" bIns="0" rtlCol="0" anchor="t">
            <a:normAutofit/>
          </a:bodyPr>
          <a:lstStyle/>
          <a:p>
            <a:pPr algn="r" indent="0" marL="0">
              <a:buNone/>
            </a:pPr>
            <a:r>
              <a:rPr lang="en-US" sz="700" dirty="0">
                <a:solidFill>
                  <a:srgbClr val="F0AB8A"/>
                </a:solidFill>
                <a:latin typeface="Arial" pitchFamily="34" charset="0"/>
                <a:ea typeface="Arial" pitchFamily="34" charset="-122"/>
                <a:cs typeface="Arial" pitchFamily="34" charset="-120"/>
              </a:rPr>
              <a:t>LOCAL / UNMARKED</a:t>
            </a:r>
            <a:endParaRPr lang="en-US" sz="700" dirty="0"/>
          </a:p>
        </p:txBody>
      </p:sp>
      <p:sp>
        <p:nvSpPr>
          <p:cNvPr id="10" name="Shape 8"/>
          <p:cNvSpPr/>
          <p:nvPr/>
        </p:nvSpPr>
        <p:spPr>
          <a:xfrm>
            <a:off x="1499616" y="1307592"/>
            <a:ext cx="1819656" cy="448056"/>
          </a:xfrm>
          <a:prstGeom prst="rect">
            <a:avLst/>
          </a:prstGeom>
          <a:solidFill>
            <a:srgbClr val="241722"/>
          </a:solidFill>
          <a:ln w="8890">
            <a:solidFill>
              <a:srgbClr val="6D5768"/>
            </a:solidFill>
            <a:prstDash val="solid"/>
          </a:ln>
        </p:spPr>
      </p:sp>
      <p:sp>
        <p:nvSpPr>
          <p:cNvPr id="11" name="Text 9"/>
          <p:cNvSpPr/>
          <p:nvPr/>
        </p:nvSpPr>
        <p:spPr>
          <a:xfrm>
            <a:off x="1572768"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F0AB8A"/>
                </a:solidFill>
                <a:latin typeface="Georgia" pitchFamily="34" charset="0"/>
                <a:ea typeface="Georgia" pitchFamily="34" charset="-122"/>
                <a:cs typeface="Georgia" pitchFamily="34" charset="-120"/>
              </a:rPr>
              <a:t>1</a:t>
            </a:r>
            <a:endParaRPr lang="en-US" sz="1700" dirty="0"/>
          </a:p>
        </p:txBody>
      </p:sp>
      <p:sp>
        <p:nvSpPr>
          <p:cNvPr id="12" name="Text 10"/>
          <p:cNvSpPr/>
          <p:nvPr/>
        </p:nvSpPr>
        <p:spPr>
          <a:xfrm>
            <a:off x="1865376"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Begin before the curtain.</a:t>
            </a:r>
            <a:endParaRPr lang="en-US" sz="700" dirty="0"/>
          </a:p>
        </p:txBody>
      </p:sp>
      <p:sp>
        <p:nvSpPr>
          <p:cNvPr id="13" name="Shape 11"/>
          <p:cNvSpPr/>
          <p:nvPr/>
        </p:nvSpPr>
        <p:spPr>
          <a:xfrm>
            <a:off x="3392424" y="1307592"/>
            <a:ext cx="1819656" cy="448056"/>
          </a:xfrm>
          <a:prstGeom prst="rect">
            <a:avLst/>
          </a:prstGeom>
          <a:solidFill>
            <a:srgbClr val="241722"/>
          </a:solidFill>
          <a:ln w="8890">
            <a:solidFill>
              <a:srgbClr val="6D5768"/>
            </a:solidFill>
            <a:prstDash val="solid"/>
          </a:ln>
        </p:spPr>
      </p:sp>
      <p:sp>
        <p:nvSpPr>
          <p:cNvPr id="14" name="Text 12"/>
          <p:cNvSpPr/>
          <p:nvPr/>
        </p:nvSpPr>
        <p:spPr>
          <a:xfrm>
            <a:off x="3465576"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F0AB8A"/>
                </a:solidFill>
                <a:latin typeface="Georgia" pitchFamily="34" charset="0"/>
                <a:ea typeface="Georgia" pitchFamily="34" charset="-122"/>
                <a:cs typeface="Georgia" pitchFamily="34" charset="-120"/>
              </a:rPr>
              <a:t>2</a:t>
            </a:r>
            <a:endParaRPr lang="en-US" sz="1700" dirty="0"/>
          </a:p>
        </p:txBody>
      </p:sp>
      <p:sp>
        <p:nvSpPr>
          <p:cNvPr id="15" name="Text 13"/>
          <p:cNvSpPr/>
          <p:nvPr/>
        </p:nvSpPr>
        <p:spPr>
          <a:xfrm>
            <a:off x="3758184"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Give the room a point of view.</a:t>
            </a:r>
            <a:endParaRPr lang="en-US" sz="700" dirty="0"/>
          </a:p>
        </p:txBody>
      </p:sp>
      <p:sp>
        <p:nvSpPr>
          <p:cNvPr id="16" name="Shape 14"/>
          <p:cNvSpPr/>
          <p:nvPr/>
        </p:nvSpPr>
        <p:spPr>
          <a:xfrm>
            <a:off x="5285232" y="1307592"/>
            <a:ext cx="1819656" cy="448056"/>
          </a:xfrm>
          <a:prstGeom prst="rect">
            <a:avLst/>
          </a:prstGeom>
          <a:solidFill>
            <a:srgbClr val="241722"/>
          </a:solidFill>
          <a:ln w="8890">
            <a:solidFill>
              <a:srgbClr val="6D5768"/>
            </a:solidFill>
            <a:prstDash val="solid"/>
          </a:ln>
        </p:spPr>
      </p:sp>
      <p:sp>
        <p:nvSpPr>
          <p:cNvPr id="17" name="Text 15"/>
          <p:cNvSpPr/>
          <p:nvPr/>
        </p:nvSpPr>
        <p:spPr>
          <a:xfrm>
            <a:off x="5358384"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F0AB8A"/>
                </a:solidFill>
                <a:latin typeface="Georgia" pitchFamily="34" charset="0"/>
                <a:ea typeface="Georgia" pitchFamily="34" charset="-122"/>
                <a:cs typeface="Georgia" pitchFamily="34" charset="-120"/>
              </a:rPr>
              <a:t>3</a:t>
            </a:r>
            <a:endParaRPr lang="en-US" sz="1700" dirty="0"/>
          </a:p>
        </p:txBody>
      </p:sp>
      <p:sp>
        <p:nvSpPr>
          <p:cNvPr id="18" name="Text 16"/>
          <p:cNvSpPr/>
          <p:nvPr/>
        </p:nvSpPr>
        <p:spPr>
          <a:xfrm>
            <a:off x="5650992"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Let an object ask a question.</a:t>
            </a:r>
            <a:endParaRPr lang="en-US" sz="700" dirty="0"/>
          </a:p>
        </p:txBody>
      </p:sp>
      <p:sp>
        <p:nvSpPr>
          <p:cNvPr id="19" name="Shape 17"/>
          <p:cNvSpPr/>
          <p:nvPr/>
        </p:nvSpPr>
        <p:spPr>
          <a:xfrm>
            <a:off x="7178040" y="1307592"/>
            <a:ext cx="1819656" cy="448056"/>
          </a:xfrm>
          <a:prstGeom prst="rect">
            <a:avLst/>
          </a:prstGeom>
          <a:solidFill>
            <a:srgbClr val="241722"/>
          </a:solidFill>
          <a:ln w="8890">
            <a:solidFill>
              <a:srgbClr val="6D5768"/>
            </a:solidFill>
            <a:prstDash val="solid"/>
          </a:ln>
        </p:spPr>
      </p:sp>
      <p:sp>
        <p:nvSpPr>
          <p:cNvPr id="20" name="Text 18"/>
          <p:cNvSpPr/>
          <p:nvPr/>
        </p:nvSpPr>
        <p:spPr>
          <a:xfrm>
            <a:off x="7251192"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F0AB8A"/>
                </a:solidFill>
                <a:latin typeface="Georgia" pitchFamily="34" charset="0"/>
                <a:ea typeface="Georgia" pitchFamily="34" charset="-122"/>
                <a:cs typeface="Georgia" pitchFamily="34" charset="-120"/>
              </a:rPr>
              <a:t>4</a:t>
            </a:r>
            <a:endParaRPr lang="en-US" sz="1700" dirty="0"/>
          </a:p>
        </p:txBody>
      </p:sp>
      <p:sp>
        <p:nvSpPr>
          <p:cNvPr id="21" name="Text 19"/>
          <p:cNvSpPr/>
          <p:nvPr/>
        </p:nvSpPr>
        <p:spPr>
          <a:xfrm>
            <a:off x="7543800"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Start with an incomplete want.</a:t>
            </a:r>
            <a:endParaRPr lang="en-US" sz="700" dirty="0"/>
          </a:p>
        </p:txBody>
      </p:sp>
      <p:sp>
        <p:nvSpPr>
          <p:cNvPr id="22" name="Shape 20"/>
          <p:cNvSpPr/>
          <p:nvPr/>
        </p:nvSpPr>
        <p:spPr>
          <a:xfrm>
            <a:off x="9070848" y="1307592"/>
            <a:ext cx="1819656" cy="448056"/>
          </a:xfrm>
          <a:prstGeom prst="rect">
            <a:avLst/>
          </a:prstGeom>
          <a:solidFill>
            <a:srgbClr val="241722"/>
          </a:solidFill>
          <a:ln w="8890">
            <a:solidFill>
              <a:srgbClr val="6D5768"/>
            </a:solidFill>
            <a:prstDash val="solid"/>
          </a:ln>
        </p:spPr>
      </p:sp>
      <p:sp>
        <p:nvSpPr>
          <p:cNvPr id="23" name="Text 21"/>
          <p:cNvSpPr/>
          <p:nvPr/>
        </p:nvSpPr>
        <p:spPr>
          <a:xfrm>
            <a:off x="9144000"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F0AB8A"/>
                </a:solidFill>
                <a:latin typeface="Georgia" pitchFamily="34" charset="0"/>
                <a:ea typeface="Georgia" pitchFamily="34" charset="-122"/>
                <a:cs typeface="Georgia" pitchFamily="34" charset="-120"/>
              </a:rPr>
              <a:t>5</a:t>
            </a:r>
            <a:endParaRPr lang="en-US" sz="1700" dirty="0"/>
          </a:p>
        </p:txBody>
      </p:sp>
      <p:sp>
        <p:nvSpPr>
          <p:cNvPr id="24" name="Text 22"/>
          <p:cNvSpPr/>
          <p:nvPr/>
        </p:nvSpPr>
        <p:spPr>
          <a:xfrm>
            <a:off x="9436608"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Make an entrance meaningful.</a:t>
            </a:r>
            <a:endParaRPr lang="en-US" sz="700" dirty="0"/>
          </a:p>
        </p:txBody>
      </p:sp>
      <p:sp>
        <p:nvSpPr>
          <p:cNvPr id="25" name="Shape 23"/>
          <p:cNvSpPr/>
          <p:nvPr/>
        </p:nvSpPr>
        <p:spPr>
          <a:xfrm>
            <a:off x="10963656" y="1307592"/>
            <a:ext cx="1819656" cy="448056"/>
          </a:xfrm>
          <a:prstGeom prst="rect">
            <a:avLst/>
          </a:prstGeom>
          <a:solidFill>
            <a:srgbClr val="241722"/>
          </a:solidFill>
          <a:ln w="8890">
            <a:solidFill>
              <a:srgbClr val="F0AB8A"/>
            </a:solidFill>
            <a:prstDash val="solid"/>
          </a:ln>
        </p:spPr>
      </p:sp>
      <p:sp>
        <p:nvSpPr>
          <p:cNvPr id="26" name="Text 24"/>
          <p:cNvSpPr/>
          <p:nvPr/>
        </p:nvSpPr>
        <p:spPr>
          <a:xfrm>
            <a:off x="11036808"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F0AB8A"/>
                </a:solidFill>
                <a:latin typeface="Georgia" pitchFamily="34" charset="0"/>
                <a:ea typeface="Georgia" pitchFamily="34" charset="-122"/>
                <a:cs typeface="Georgia" pitchFamily="34" charset="-120"/>
              </a:rPr>
              <a:t>6</a:t>
            </a:r>
            <a:endParaRPr lang="en-US" sz="1700" dirty="0"/>
          </a:p>
        </p:txBody>
      </p:sp>
      <p:sp>
        <p:nvSpPr>
          <p:cNvPr id="27" name="Text 25"/>
          <p:cNvSpPr/>
          <p:nvPr/>
        </p:nvSpPr>
        <p:spPr>
          <a:xfrm>
            <a:off x="11329416"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Choose an opening question.</a:t>
            </a:r>
            <a:endParaRPr lang="en-US" sz="700" dirty="0"/>
          </a:p>
        </p:txBody>
      </p:sp>
      <p:pic>
        <p:nvPicPr>
          <p:cNvPr id="28" name="Image 0" descr="/home/user/design-buddy/design-buddy-home/public/atelier/afterglow/images/03.jpg">    </p:cNvPr>
          <p:cNvPicPr>
            <a:picLocks noChangeAspect="1"/>
          </p:cNvPicPr>
          <p:nvPr/>
        </p:nvPicPr>
        <p:blipFill>
          <a:blip r:embed="rId1"/>
          <a:srcRect l="0" r="0" t="0" b="0"/>
          <a:stretch/>
        </p:blipFill>
        <p:spPr>
          <a:xfrm>
            <a:off x="1499616" y="2066544"/>
            <a:ext cx="6949440" cy="3840480"/>
          </a:xfrm>
          <a:prstGeom prst="rect">
            <a:avLst/>
          </a:prstGeom>
        </p:spPr>
      </p:pic>
      <p:sp>
        <p:nvSpPr>
          <p:cNvPr id="29" name="Text 26"/>
          <p:cNvSpPr/>
          <p:nvPr/>
        </p:nvSpPr>
        <p:spPr>
          <a:xfrm>
            <a:off x="1499616" y="6007608"/>
            <a:ext cx="6949440" cy="164592"/>
          </a:xfrm>
          <a:prstGeom prst="rect">
            <a:avLst/>
          </a:prstGeom>
          <a:noFill/>
          <a:ln/>
        </p:spPr>
        <p:txBody>
          <a:bodyPr wrap="square" lIns="0" tIns="0" rIns="0" bIns="0" rtlCol="0" anchor="t">
            <a:normAutofit/>
          </a:bodyPr>
          <a:lstStyle/>
          <a:p>
            <a:pPr indent="0" marL="0">
              <a:buNone/>
            </a:pPr>
            <a:r>
              <a:rPr lang="en-US" sz="650" dirty="0">
                <a:solidFill>
                  <a:srgbClr val="C0AAB9"/>
                </a:solidFill>
                <a:latin typeface="Arial" pitchFamily="34" charset="0"/>
                <a:ea typeface="Arial" pitchFamily="34" charset="-122"/>
                <a:cs typeface="Arial" pitchFamily="34" charset="-120"/>
              </a:rPr>
              <a:t>Watercolour 3 / invented setting and adults / not production evidence</a:t>
            </a:r>
            <a:endParaRPr lang="en-US" sz="650" dirty="0"/>
          </a:p>
        </p:txBody>
      </p:sp>
      <p:sp>
        <p:nvSpPr>
          <p:cNvPr id="30" name="Text 27"/>
          <p:cNvSpPr/>
          <p:nvPr/>
        </p:nvSpPr>
        <p:spPr>
          <a:xfrm>
            <a:off x="8705088" y="2139696"/>
            <a:ext cx="4133088" cy="164592"/>
          </a:xfrm>
          <a:prstGeom prst="rect">
            <a:avLst/>
          </a:prstGeom>
          <a:noFill/>
          <a:ln/>
        </p:spPr>
        <p:txBody>
          <a:bodyPr wrap="square" lIns="0" tIns="0" rIns="0" bIns="0" rtlCol="0" anchor="t">
            <a:normAutofit/>
          </a:bodyPr>
          <a:lstStyle/>
          <a:p>
            <a:pPr indent="0" marL="0">
              <a:buNone/>
            </a:pPr>
            <a:r>
              <a:rPr lang="en-US" sz="700" spc="110" kern="0" dirty="0">
                <a:solidFill>
                  <a:srgbClr val="F0AB8A"/>
                </a:solidFill>
                <a:latin typeface="Arial" pitchFamily="34" charset="0"/>
                <a:ea typeface="Arial" pitchFamily="34" charset="-122"/>
                <a:cs typeface="Arial" pitchFamily="34" charset="-120"/>
              </a:rPr>
              <a:t>STORY INTENTION</a:t>
            </a:r>
            <a:endParaRPr lang="en-US" sz="700" dirty="0"/>
          </a:p>
        </p:txBody>
      </p:sp>
      <p:sp>
        <p:nvSpPr>
          <p:cNvPr id="31" name="Text 28"/>
          <p:cNvSpPr/>
          <p:nvPr/>
        </p:nvSpPr>
        <p:spPr>
          <a:xfrm>
            <a:off x="8705088" y="2514600"/>
            <a:ext cx="4133088" cy="1828800"/>
          </a:xfrm>
          <a:prstGeom prst="rect">
            <a:avLst/>
          </a:prstGeom>
          <a:noFill/>
          <a:ln/>
        </p:spPr>
        <p:txBody>
          <a:bodyPr wrap="square" lIns="0" tIns="0" rIns="0" bIns="0" rtlCol="0" anchor="t">
            <a:normAutofit/>
          </a:bodyPr>
          <a:lstStyle/>
          <a:p>
            <a:pPr indent="0" marL="0">
              <a:buNone/>
            </a:pPr>
            <a:r>
              <a:rPr lang="en-US" sz="1575" dirty="0">
                <a:solidFill>
                  <a:srgbClr val="ECDED6"/>
                </a:solidFill>
                <a:latin typeface="Georgia" pitchFamily="34" charset="0"/>
                <a:ea typeface="Georgia" pitchFamily="34" charset="-122"/>
                <a:cs typeface="Georgia" pitchFamily="34" charset="-120"/>
              </a:rPr>
              <a:t>Look back at the five opening exercises. Select a question that leaves more than one plausible response. This local choice is a creative note, not a confirmed programme, booking or audience commitment.</a:t>
            </a:r>
            <a:endParaRPr lang="en-US" sz="1575" dirty="0"/>
          </a:p>
        </p:txBody>
      </p:sp>
      <p:sp>
        <p:nvSpPr>
          <p:cNvPr id="32" name="Text 29"/>
          <p:cNvSpPr/>
          <p:nvPr/>
        </p:nvSpPr>
        <p:spPr>
          <a:xfrm>
            <a:off x="8705088" y="4572000"/>
            <a:ext cx="4133088" cy="164592"/>
          </a:xfrm>
          <a:prstGeom prst="rect">
            <a:avLst/>
          </a:prstGeom>
          <a:noFill/>
          <a:ln/>
        </p:spPr>
        <p:txBody>
          <a:bodyPr wrap="square" lIns="0" tIns="0" rIns="0" bIns="0" rtlCol="0" anchor="t">
            <a:normAutofit/>
          </a:bodyPr>
          <a:lstStyle/>
          <a:p>
            <a:pPr indent="0" marL="0">
              <a:buNone/>
            </a:pPr>
            <a:r>
              <a:rPr lang="en-US" sz="700" spc="110" kern="0" dirty="0">
                <a:solidFill>
                  <a:srgbClr val="F0AB8A"/>
                </a:solidFill>
                <a:latin typeface="Arial" pitchFamily="34" charset="0"/>
                <a:ea typeface="Arial" pitchFamily="34" charset="-122"/>
                <a:cs typeface="Arial" pitchFamily="34" charset="-120"/>
              </a:rPr>
              <a:t>LEAVE A QUESTION</a:t>
            </a:r>
            <a:endParaRPr lang="en-US" sz="700" dirty="0"/>
          </a:p>
        </p:txBody>
      </p:sp>
      <p:sp>
        <p:nvSpPr>
          <p:cNvPr id="33" name="Text 30"/>
          <p:cNvSpPr/>
          <p:nvPr/>
        </p:nvSpPr>
        <p:spPr>
          <a:xfrm>
            <a:off x="8705088" y="4910328"/>
            <a:ext cx="4133088" cy="822960"/>
          </a:xfrm>
          <a:prstGeom prst="rect">
            <a:avLst/>
          </a:prstGeom>
          <a:noFill/>
          <a:ln/>
        </p:spPr>
        <p:txBody>
          <a:bodyPr wrap="square" lIns="0" tIns="0" rIns="0" bIns="0" rtlCol="0" anchor="t">
            <a:normAutofit/>
          </a:bodyPr>
          <a:lstStyle/>
          <a:p>
            <a:pPr indent="0" marL="0">
              <a:buNone/>
            </a:pPr>
            <a:r>
              <a:rPr lang="en-US" sz="1875" i="1" dirty="0">
                <a:solidFill>
                  <a:srgbClr val="F0AB8A"/>
                </a:solidFill>
                <a:latin typeface="Georgia" pitchFamily="34" charset="0"/>
                <a:ea typeface="Georgia" pitchFamily="34" charset="-122"/>
                <a:cs typeface="Georgia" pitchFamily="34" charset="-120"/>
              </a:rPr>
              <a:t>Which question invites the clearest next scene?</a:t>
            </a:r>
            <a:endParaRPr lang="en-US" sz="1875" dirty="0"/>
          </a:p>
        </p:txBody>
      </p:sp>
      <p:sp>
        <p:nvSpPr>
          <p:cNvPr id="34" name="Text 31"/>
          <p:cNvSpPr/>
          <p:nvPr/>
        </p:nvSpPr>
        <p:spPr>
          <a:xfrm>
            <a:off x="8705088" y="5806440"/>
            <a:ext cx="4133088" cy="292608"/>
          </a:xfrm>
          <a:prstGeom prst="rect">
            <a:avLst/>
          </a:prstGeom>
          <a:noFill/>
          <a:ln/>
        </p:spPr>
        <p:txBody>
          <a:bodyPr wrap="square" lIns="0" tIns="0" rIns="0" bIns="0" rtlCol="0" anchor="t">
            <a:normAutofit/>
          </a:bodyPr>
          <a:lstStyle/>
          <a:p>
            <a:pPr indent="0" marL="0">
              <a:buNone/>
            </a:pPr>
            <a:r>
              <a:rPr lang="en-US" sz="700" dirty="0">
                <a:solidFill>
                  <a:srgbClr val="C0AAB9"/>
                </a:solidFill>
                <a:latin typeface="Arial" pitchFamily="34" charset="0"/>
                <a:ea typeface="Arial" pitchFamily="34" charset="-122"/>
                <a:cs typeface="Arial" pitchFamily="34" charset="-120"/>
              </a:rPr>
              <a:t>Beat order is not timing, a technical call or a show schedule.</a:t>
            </a:r>
            <a:endParaRPr lang="en-US" sz="700" dirty="0"/>
          </a:p>
        </p:txBody>
      </p:sp>
      <p:sp>
        <p:nvSpPr>
          <p:cNvPr id="35" name="Shape 32"/>
          <p:cNvSpPr/>
          <p:nvPr/>
        </p:nvSpPr>
        <p:spPr>
          <a:xfrm>
            <a:off x="1499616" y="6583680"/>
            <a:ext cx="3675888" cy="1481328"/>
          </a:xfrm>
          <a:prstGeom prst="rect">
            <a:avLst/>
          </a:prstGeom>
          <a:solidFill>
            <a:srgbClr val="241722"/>
          </a:solidFill>
          <a:ln w="8890">
            <a:solidFill>
              <a:srgbClr val="735D6D"/>
            </a:solidFill>
            <a:prstDash val="solid"/>
          </a:ln>
        </p:spPr>
      </p:sp>
      <p:sp>
        <p:nvSpPr>
          <p:cNvPr id="36" name="Text 33"/>
          <p:cNvSpPr/>
          <p:nvPr/>
        </p:nvSpPr>
        <p:spPr>
          <a:xfrm>
            <a:off x="1682496"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F0AB8A"/>
                </a:solidFill>
                <a:latin typeface="Arial" pitchFamily="34" charset="0"/>
                <a:ea typeface="Arial" pitchFamily="34" charset="-122"/>
                <a:cs typeface="Arial" pitchFamily="34" charset="-120"/>
              </a:rPr>
              <a:t>01 / NOTICE</a:t>
            </a:r>
            <a:endParaRPr lang="en-US" sz="700" dirty="0"/>
          </a:p>
        </p:txBody>
      </p:sp>
      <p:sp>
        <p:nvSpPr>
          <p:cNvPr id="37" name="Text 34"/>
          <p:cNvSpPr/>
          <p:nvPr/>
        </p:nvSpPr>
        <p:spPr>
          <a:xfrm>
            <a:off x="1682496"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An opening can promise exploration rather than an answer.</a:t>
            </a:r>
            <a:endParaRPr lang="en-US" sz="1500" dirty="0"/>
          </a:p>
        </p:txBody>
      </p:sp>
      <p:sp>
        <p:nvSpPr>
          <p:cNvPr id="38" name="Shape 35"/>
          <p:cNvSpPr/>
          <p:nvPr/>
        </p:nvSpPr>
        <p:spPr>
          <a:xfrm>
            <a:off x="5321808" y="6583680"/>
            <a:ext cx="3675888" cy="1481328"/>
          </a:xfrm>
          <a:prstGeom prst="rect">
            <a:avLst/>
          </a:prstGeom>
          <a:solidFill>
            <a:srgbClr val="241722"/>
          </a:solidFill>
          <a:ln w="8890">
            <a:solidFill>
              <a:srgbClr val="735D6D"/>
            </a:solidFill>
            <a:prstDash val="solid"/>
          </a:ln>
        </p:spPr>
      </p:sp>
      <p:sp>
        <p:nvSpPr>
          <p:cNvPr id="39" name="Text 36"/>
          <p:cNvSpPr/>
          <p:nvPr/>
        </p:nvSpPr>
        <p:spPr>
          <a:xfrm>
            <a:off x="5504688"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F0AB8A"/>
                </a:solidFill>
                <a:latin typeface="Arial" pitchFamily="34" charset="0"/>
                <a:ea typeface="Arial" pitchFamily="34" charset="-122"/>
                <a:cs typeface="Arial" pitchFamily="34" charset="-120"/>
              </a:rPr>
              <a:t>02 / TRY IN WORDS</a:t>
            </a:r>
            <a:endParaRPr lang="en-US" sz="700" dirty="0"/>
          </a:p>
        </p:txBody>
      </p:sp>
      <p:sp>
        <p:nvSpPr>
          <p:cNvPr id="40" name="Text 37"/>
          <p:cNvSpPr/>
          <p:nvPr/>
        </p:nvSpPr>
        <p:spPr>
          <a:xfrm>
            <a:off x="5504688"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Write a one-sentence invitation to the fictional story.</a:t>
            </a:r>
            <a:endParaRPr lang="en-US" sz="1500" dirty="0"/>
          </a:p>
        </p:txBody>
      </p:sp>
      <p:sp>
        <p:nvSpPr>
          <p:cNvPr id="41" name="Shape 38"/>
          <p:cNvSpPr/>
          <p:nvPr/>
        </p:nvSpPr>
        <p:spPr>
          <a:xfrm>
            <a:off x="9144000" y="6583680"/>
            <a:ext cx="3675888" cy="1481328"/>
          </a:xfrm>
          <a:prstGeom prst="rect">
            <a:avLst/>
          </a:prstGeom>
          <a:solidFill>
            <a:srgbClr val="241722"/>
          </a:solidFill>
          <a:ln w="8890">
            <a:solidFill>
              <a:srgbClr val="735D6D"/>
            </a:solidFill>
            <a:prstDash val="solid"/>
          </a:ln>
        </p:spPr>
      </p:sp>
      <p:sp>
        <p:nvSpPr>
          <p:cNvPr id="42" name="Text 39"/>
          <p:cNvSpPr/>
          <p:nvPr/>
        </p:nvSpPr>
        <p:spPr>
          <a:xfrm>
            <a:off x="9326880"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F0AB8A"/>
                </a:solidFill>
                <a:latin typeface="Arial" pitchFamily="34" charset="0"/>
                <a:ea typeface="Arial" pitchFamily="34" charset="-122"/>
                <a:cs typeface="Arial" pitchFamily="34" charset="-120"/>
              </a:rPr>
              <a:t>03 / KEEP VISIBLE</a:t>
            </a:r>
            <a:endParaRPr lang="en-US" sz="700" dirty="0"/>
          </a:p>
        </p:txBody>
      </p:sp>
      <p:sp>
        <p:nvSpPr>
          <p:cNvPr id="43" name="Text 40"/>
          <p:cNvSpPr/>
          <p:nvPr/>
        </p:nvSpPr>
        <p:spPr>
          <a:xfrm>
            <a:off x="9326880"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Name the uncertainty you intentionally keep.</a:t>
            </a:r>
            <a:endParaRPr lang="en-US" sz="1500" dirty="0"/>
          </a:p>
        </p:txBody>
      </p:sp>
      <p:sp>
        <p:nvSpPr>
          <p:cNvPr id="44" name="Shape 41"/>
          <p:cNvSpPr/>
          <p:nvPr/>
        </p:nvSpPr>
        <p:spPr>
          <a:xfrm>
            <a:off x="1499616" y="8211312"/>
            <a:ext cx="11338560" cy="0"/>
          </a:xfrm>
          <a:prstGeom prst="line">
            <a:avLst/>
          </a:prstGeom>
          <a:noFill/>
          <a:ln w="8890">
            <a:solidFill>
              <a:srgbClr val="796170"/>
            </a:solidFill>
            <a:prstDash val="solid"/>
          </a:ln>
        </p:spPr>
      </p:sp>
      <p:sp>
        <p:nvSpPr>
          <p:cNvPr id="45" name="Text 42"/>
          <p:cNvSpPr/>
          <p:nvPr/>
        </p:nvSpPr>
        <p:spPr>
          <a:xfrm>
            <a:off x="1499616" y="8339328"/>
            <a:ext cx="8229600" cy="118872"/>
          </a:xfrm>
          <a:prstGeom prst="rect">
            <a:avLst/>
          </a:prstGeom>
          <a:noFill/>
          <a:ln/>
        </p:spPr>
        <p:txBody>
          <a:bodyPr wrap="square" lIns="0" tIns="0" rIns="0" bIns="0" rtlCol="0" anchor="t">
            <a:normAutofit/>
          </a:bodyPr>
          <a:lstStyle/>
          <a:p>
            <a:pPr indent="0" marL="0">
              <a:buNone/>
            </a:pPr>
            <a:r>
              <a:rPr lang="en-US" sz="650" dirty="0">
                <a:solidFill>
                  <a:srgbClr val="C0AAB9"/>
                </a:solidFill>
                <a:latin typeface="Arial" pitchFamily="34" charset="0"/>
                <a:ea typeface="Arial" pitchFamily="34" charset="-122"/>
                <a:cs typeface="Arial" pitchFamily="34" charset="-120"/>
              </a:rPr>
              <a:t>FICTIONAL WRITING WORKSHOP / NOT A STAGING OR APPROVAL PLAN</a:t>
            </a:r>
            <a:endParaRPr lang="en-US" sz="650" dirty="0"/>
          </a:p>
        </p:txBody>
      </p:sp>
      <p:sp>
        <p:nvSpPr>
          <p:cNvPr id="46" name="Text 43"/>
          <p:cNvSpPr/>
          <p:nvPr/>
        </p:nvSpPr>
        <p:spPr>
          <a:xfrm>
            <a:off x="9729216" y="8339328"/>
            <a:ext cx="3108960" cy="118872"/>
          </a:xfrm>
          <a:prstGeom prst="rect">
            <a:avLst/>
          </a:prstGeom>
          <a:noFill/>
          <a:ln/>
        </p:spPr>
        <p:txBody>
          <a:bodyPr wrap="square" lIns="0" tIns="0" rIns="0" bIns="0" rtlCol="0" anchor="t">
            <a:normAutofit/>
          </a:bodyPr>
          <a:lstStyle/>
          <a:p>
            <a:pPr algn="r" indent="0" marL="0">
              <a:buNone/>
            </a:pPr>
            <a:r>
              <a:rPr lang="en-US" sz="650" dirty="0">
                <a:solidFill>
                  <a:srgbClr val="C0AAB9"/>
                </a:solidFill>
                <a:latin typeface="Arial" pitchFamily="34" charset="0"/>
                <a:ea typeface="Arial" pitchFamily="34" charset="-122"/>
                <a:cs typeface="Arial" pitchFamily="34" charset="-120"/>
              </a:rPr>
              <a:t>DRAFT / 14 OF 15 ARTWORKS / 6 OF 30</a:t>
            </a:r>
            <a:endParaRPr lang="en-US" sz="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253B"/>
        </a:solidFill>
      </p:bgPr>
    </p:bg>
    <p:spTree>
      <p:nvGrpSpPr>
        <p:cNvPr id="1" name=""/>
        <p:cNvGrpSpPr/>
        <p:nvPr/>
      </p:nvGrpSpPr>
      <p:grpSpPr>
        <a:xfrm>
          <a:off x="0" y="0"/>
          <a:ext cx="0" cy="0"/>
          <a:chOff x="0" y="0"/>
          <a:chExt cx="0" cy="0"/>
        </a:xfrm>
      </p:grpSpPr>
      <p:sp>
        <p:nvSpPr>
          <p:cNvPr id="2" name="Shape 0"/>
          <p:cNvSpPr/>
          <p:nvPr/>
        </p:nvSpPr>
        <p:spPr>
          <a:xfrm>
            <a:off x="1243584" y="329184"/>
            <a:ext cx="0" cy="8119872"/>
          </a:xfrm>
          <a:prstGeom prst="line">
            <a:avLst/>
          </a:prstGeom>
          <a:noFill/>
          <a:ln w="10160">
            <a:solidFill>
              <a:srgbClr val="776072"/>
            </a:solidFill>
            <a:prstDash val="solid"/>
          </a:ln>
        </p:spPr>
      </p:sp>
      <p:sp>
        <p:nvSpPr>
          <p:cNvPr id="3" name="Text 1"/>
          <p:cNvSpPr/>
          <p:nvPr/>
        </p:nvSpPr>
        <p:spPr>
          <a:xfrm>
            <a:off x="393192" y="457200"/>
            <a:ext cx="685800" cy="457200"/>
          </a:xfrm>
          <a:prstGeom prst="rect">
            <a:avLst/>
          </a:prstGeom>
          <a:noFill/>
          <a:ln/>
        </p:spPr>
        <p:txBody>
          <a:bodyPr wrap="square" lIns="0" tIns="0" rIns="0" bIns="0" rtlCol="0" anchor="t">
            <a:normAutofit/>
          </a:bodyPr>
          <a:lstStyle/>
          <a:p>
            <a:pPr indent="0" marL="0">
              <a:buNone/>
            </a:pPr>
            <a:r>
              <a:rPr lang="en-US" sz="600" dirty="0">
                <a:solidFill>
                  <a:srgbClr val="C0AAB9"/>
                </a:solidFill>
                <a:latin typeface="Arial" pitchFamily="34" charset="0"/>
                <a:ea typeface="Arial" pitchFamily="34" charset="-122"/>
                <a:cs typeface="Arial" pitchFamily="34" charset="-120"/>
              </a:rPr>
              <a:t>DESIGN BUDDY</a:t>
            </a:r>
            <a:endParaRPr lang="en-US" sz="600" dirty="0"/>
          </a:p>
          <a:p>
            <a:pPr indent="0" marL="0">
              <a:buNone/>
            </a:pPr>
            <a:r>
              <a:rPr lang="en-US" sz="600" dirty="0">
                <a:solidFill>
                  <a:srgbClr val="C0AAB9"/>
                </a:solidFill>
                <a:latin typeface="Arial" pitchFamily="34" charset="0"/>
                <a:ea typeface="Arial" pitchFamily="34" charset="-122"/>
                <a:cs typeface="Arial" pitchFamily="34" charset="-120"/>
              </a:rPr>
              <a:t>CREATIVE EXERCISE</a:t>
            </a:r>
            <a:endParaRPr lang="en-US" sz="600" dirty="0"/>
          </a:p>
        </p:txBody>
      </p:sp>
      <p:sp>
        <p:nvSpPr>
          <p:cNvPr id="4" name="Text 2"/>
          <p:cNvSpPr/>
          <p:nvPr/>
        </p:nvSpPr>
        <p:spPr>
          <a:xfrm>
            <a:off x="502920" y="1920240"/>
            <a:ext cx="502920" cy="4480560"/>
          </a:xfrm>
          <a:prstGeom prst="rect">
            <a:avLst/>
          </a:prstGeom>
          <a:noFill/>
          <a:ln/>
        </p:spPr>
        <p:txBody>
          <a:bodyPr wrap="square" lIns="0" tIns="0" rIns="0" bIns="0" rtlCol="0" anchor="t">
            <a:normAutofit/>
          </a:bodyPr>
          <a:lstStyle/>
          <a:p>
            <a:pPr algn="ctr" indent="0" marL="0">
              <a:buNone/>
            </a:pPr>
            <a:r>
              <a:rPr lang="en-US" sz="2500" dirty="0">
                <a:solidFill>
                  <a:srgbClr val="83BADF"/>
                </a:solidFill>
                <a:latin typeface="Georgia" pitchFamily="34" charset="0"/>
                <a:ea typeface="Georgia" pitchFamily="34" charset="-122"/>
                <a:cs typeface="Georgia" pitchFamily="34" charset="-120"/>
              </a:rPr>
              <a:t>A</a:t>
            </a:r>
            <a:endParaRPr lang="en-US" sz="2500" dirty="0"/>
          </a:p>
          <a:p>
            <a:pPr algn="ctr" indent="0" marL="0">
              <a:buNone/>
            </a:pPr>
            <a:r>
              <a:rPr lang="en-US" sz="2500" dirty="0">
                <a:solidFill>
                  <a:srgbClr val="83BADF"/>
                </a:solidFill>
                <a:latin typeface="Georgia" pitchFamily="34" charset="0"/>
                <a:ea typeface="Georgia" pitchFamily="34" charset="-122"/>
                <a:cs typeface="Georgia" pitchFamily="34" charset="-120"/>
              </a:rPr>
              <a:t>F</a:t>
            </a:r>
            <a:endParaRPr lang="en-US" sz="2500" dirty="0"/>
          </a:p>
          <a:p>
            <a:pPr algn="ctr" indent="0" marL="0">
              <a:buNone/>
            </a:pPr>
            <a:r>
              <a:rPr lang="en-US" sz="2500" dirty="0">
                <a:solidFill>
                  <a:srgbClr val="83BADF"/>
                </a:solidFill>
                <a:latin typeface="Georgia" pitchFamily="34" charset="0"/>
                <a:ea typeface="Georgia" pitchFamily="34" charset="-122"/>
                <a:cs typeface="Georgia" pitchFamily="34" charset="-120"/>
              </a:rPr>
              <a:t>T</a:t>
            </a:r>
            <a:endParaRPr lang="en-US" sz="2500" dirty="0"/>
          </a:p>
          <a:p>
            <a:pPr algn="ctr" indent="0" marL="0">
              <a:buNone/>
            </a:pPr>
            <a:r>
              <a:rPr lang="en-US" sz="2500" dirty="0">
                <a:solidFill>
                  <a:srgbClr val="83BADF"/>
                </a:solidFill>
                <a:latin typeface="Georgia" pitchFamily="34" charset="0"/>
                <a:ea typeface="Georgia" pitchFamily="34" charset="-122"/>
                <a:cs typeface="Georgia" pitchFamily="34" charset="-120"/>
              </a:rPr>
              <a:t>E</a:t>
            </a:r>
            <a:endParaRPr lang="en-US" sz="2500" dirty="0"/>
          </a:p>
          <a:p>
            <a:pPr algn="ctr" indent="0" marL="0">
              <a:buNone/>
            </a:pPr>
            <a:r>
              <a:rPr lang="en-US" sz="2500" dirty="0">
                <a:solidFill>
                  <a:srgbClr val="83BADF"/>
                </a:solidFill>
                <a:latin typeface="Georgia" pitchFamily="34" charset="0"/>
                <a:ea typeface="Georgia" pitchFamily="34" charset="-122"/>
                <a:cs typeface="Georgia" pitchFamily="34" charset="-120"/>
              </a:rPr>
              <a:t>R</a:t>
            </a:r>
            <a:endParaRPr lang="en-US" sz="2500" dirty="0"/>
          </a:p>
          <a:p>
            <a:pPr algn="ctr" indent="0" marL="0">
              <a:buNone/>
            </a:pPr>
            <a:r>
              <a:rPr lang="en-US" sz="2500" dirty="0">
                <a:solidFill>
                  <a:srgbClr val="83BADF"/>
                </a:solidFill>
                <a:latin typeface="Georgia" pitchFamily="34" charset="0"/>
                <a:ea typeface="Georgia" pitchFamily="34" charset="-122"/>
                <a:cs typeface="Georgia" pitchFamily="34" charset="-120"/>
              </a:rPr>
              <a:t>G</a:t>
            </a:r>
            <a:endParaRPr lang="en-US" sz="2500" dirty="0"/>
          </a:p>
          <a:p>
            <a:pPr algn="ctr" indent="0" marL="0">
              <a:buNone/>
            </a:pPr>
            <a:r>
              <a:rPr lang="en-US" sz="2500" dirty="0">
                <a:solidFill>
                  <a:srgbClr val="83BADF"/>
                </a:solidFill>
                <a:latin typeface="Georgia" pitchFamily="34" charset="0"/>
                <a:ea typeface="Georgia" pitchFamily="34" charset="-122"/>
                <a:cs typeface="Georgia" pitchFamily="34" charset="-120"/>
              </a:rPr>
              <a:t>L</a:t>
            </a:r>
            <a:endParaRPr lang="en-US" sz="2500" dirty="0"/>
          </a:p>
          <a:p>
            <a:pPr algn="ctr" indent="0" marL="0">
              <a:buNone/>
            </a:pPr>
            <a:r>
              <a:rPr lang="en-US" sz="2500" dirty="0">
                <a:solidFill>
                  <a:srgbClr val="83BADF"/>
                </a:solidFill>
                <a:latin typeface="Georgia" pitchFamily="34" charset="0"/>
                <a:ea typeface="Georgia" pitchFamily="34" charset="-122"/>
                <a:cs typeface="Georgia" pitchFamily="34" charset="-120"/>
              </a:rPr>
              <a:t>O</a:t>
            </a:r>
            <a:endParaRPr lang="en-US" sz="2500" dirty="0"/>
          </a:p>
          <a:p>
            <a:pPr algn="ctr" indent="0" marL="0">
              <a:buNone/>
            </a:pPr>
            <a:r>
              <a:rPr lang="en-US" sz="2500" dirty="0">
                <a:solidFill>
                  <a:srgbClr val="83BADF"/>
                </a:solidFill>
                <a:latin typeface="Georgia" pitchFamily="34" charset="0"/>
                <a:ea typeface="Georgia" pitchFamily="34" charset="-122"/>
                <a:cs typeface="Georgia" pitchFamily="34" charset="-120"/>
              </a:rPr>
              <a:t>W</a:t>
            </a:r>
            <a:endParaRPr lang="en-US" sz="2500" dirty="0"/>
          </a:p>
        </p:txBody>
      </p:sp>
      <p:sp>
        <p:nvSpPr>
          <p:cNvPr id="5" name="Text 3"/>
          <p:cNvSpPr/>
          <p:nvPr/>
        </p:nvSpPr>
        <p:spPr>
          <a:xfrm>
            <a:off x="402336" y="7022592"/>
            <a:ext cx="731520" cy="594360"/>
          </a:xfrm>
          <a:prstGeom prst="rect">
            <a:avLst/>
          </a:prstGeom>
          <a:noFill/>
          <a:ln/>
        </p:spPr>
        <p:txBody>
          <a:bodyPr wrap="square" lIns="0" tIns="0" rIns="0" bIns="0" rtlCol="0" anchor="t">
            <a:normAutofit/>
          </a:bodyPr>
          <a:lstStyle/>
          <a:p>
            <a:pPr indent="0" marL="0">
              <a:buNone/>
            </a:pPr>
            <a:r>
              <a:rPr lang="en-US" sz="4200" dirty="0">
                <a:solidFill>
                  <a:srgbClr val="83BADF"/>
                </a:solidFill>
                <a:latin typeface="Georgia" pitchFamily="34" charset="0"/>
                <a:ea typeface="Georgia" pitchFamily="34" charset="-122"/>
                <a:cs typeface="Georgia" pitchFamily="34" charset="-120"/>
              </a:rPr>
              <a:t>07</a:t>
            </a:r>
            <a:endParaRPr lang="en-US" sz="4200" dirty="0"/>
          </a:p>
        </p:txBody>
      </p:sp>
      <p:sp>
        <p:nvSpPr>
          <p:cNvPr id="6" name="Text 4"/>
          <p:cNvSpPr/>
          <p:nvPr/>
        </p:nvSpPr>
        <p:spPr>
          <a:xfrm>
            <a:off x="402336" y="7818120"/>
            <a:ext cx="731520" cy="411480"/>
          </a:xfrm>
          <a:prstGeom prst="rect">
            <a:avLst/>
          </a:prstGeom>
          <a:noFill/>
          <a:ln/>
        </p:spPr>
        <p:txBody>
          <a:bodyPr wrap="square" lIns="0" tIns="0" rIns="0" bIns="0" rtlCol="0" anchor="t">
            <a:normAutofit/>
          </a:bodyPr>
          <a:lstStyle/>
          <a:p>
            <a:pPr indent="0" marL="0">
              <a:buNone/>
            </a:pPr>
            <a:r>
              <a:rPr lang="en-US" sz="700" dirty="0">
                <a:solidFill>
                  <a:srgbClr val="C0AAB9"/>
                </a:solidFill>
                <a:latin typeface="Arial" pitchFamily="34" charset="0"/>
                <a:ea typeface="Arial" pitchFamily="34" charset="-122"/>
                <a:cs typeface="Arial" pitchFamily="34" charset="-120"/>
              </a:rPr>
              <a:t>ACT 2 / 5</a:t>
            </a:r>
            <a:endParaRPr lang="en-US" sz="700" dirty="0"/>
          </a:p>
          <a:p>
            <a:pPr indent="0" marL="0">
              <a:buNone/>
            </a:pPr>
            <a:r>
              <a:rPr lang="en-US" sz="700" dirty="0">
                <a:solidFill>
                  <a:srgbClr val="C0AAB9"/>
                </a:solidFill>
                <a:latin typeface="Arial" pitchFamily="34" charset="0"/>
                <a:ea typeface="Arial" pitchFamily="34" charset="-122"/>
                <a:cs typeface="Arial" pitchFamily="34" charset="-120"/>
              </a:rPr>
              <a:t>BEAT 1 / 6</a:t>
            </a:r>
            <a:endParaRPr lang="en-US" sz="700" dirty="0"/>
          </a:p>
        </p:txBody>
      </p:sp>
      <p:sp>
        <p:nvSpPr>
          <p:cNvPr id="7" name="Text 5"/>
          <p:cNvSpPr/>
          <p:nvPr/>
        </p:nvSpPr>
        <p:spPr>
          <a:xfrm>
            <a:off x="1499616" y="347472"/>
            <a:ext cx="9144000" cy="164592"/>
          </a:xfrm>
          <a:prstGeom prst="rect">
            <a:avLst/>
          </a:prstGeom>
          <a:noFill/>
          <a:ln/>
        </p:spPr>
        <p:txBody>
          <a:bodyPr wrap="square" lIns="0" tIns="0" rIns="0" bIns="0" rtlCol="0" anchor="t">
            <a:normAutofit/>
          </a:bodyPr>
          <a:lstStyle/>
          <a:p>
            <a:pPr indent="0" marL="0">
              <a:buNone/>
            </a:pPr>
            <a:r>
              <a:rPr lang="en-US" sz="700" spc="120" kern="0" dirty="0">
                <a:solidFill>
                  <a:srgbClr val="83BADF"/>
                </a:solidFill>
                <a:latin typeface="Arial" pitchFamily="34" charset="0"/>
                <a:ea typeface="Arial" pitchFamily="34" charset="-122"/>
                <a:cs typeface="Arial" pitchFamily="34" charset="-120"/>
              </a:rPr>
              <a:t>ACT 2 / CONTRAST</a:t>
            </a:r>
            <a:endParaRPr lang="en-US" sz="700" dirty="0"/>
          </a:p>
        </p:txBody>
      </p:sp>
      <p:sp>
        <p:nvSpPr>
          <p:cNvPr id="8" name="Text 6"/>
          <p:cNvSpPr/>
          <p:nvPr/>
        </p:nvSpPr>
        <p:spPr>
          <a:xfrm>
            <a:off x="1499616" y="612648"/>
            <a:ext cx="9692640" cy="594360"/>
          </a:xfrm>
          <a:prstGeom prst="rect">
            <a:avLst/>
          </a:prstGeom>
          <a:noFill/>
          <a:ln/>
        </p:spPr>
        <p:txBody>
          <a:bodyPr wrap="square" lIns="0" tIns="0" rIns="0" bIns="0" rtlCol="0" anchor="t">
            <a:normAutofit/>
          </a:bodyPr>
          <a:lstStyle/>
          <a:p>
            <a:pPr indent="0" marL="0">
              <a:buNone/>
            </a:pPr>
            <a:r>
              <a:rPr lang="en-US" sz="2800" dirty="0">
                <a:solidFill>
                  <a:srgbClr val="ECDED6"/>
                </a:solidFill>
                <a:latin typeface="Georgia" pitchFamily="34" charset="0"/>
                <a:ea typeface="Georgia" pitchFamily="34" charset="-122"/>
                <a:cs typeface="Georgia" pitchFamily="34" charset="-120"/>
              </a:rPr>
              <a:t>Set two versions side by side.</a:t>
            </a:r>
            <a:endParaRPr lang="en-US" sz="2800" dirty="0"/>
          </a:p>
        </p:txBody>
      </p:sp>
      <p:sp>
        <p:nvSpPr>
          <p:cNvPr id="9" name="Text 7"/>
          <p:cNvSpPr/>
          <p:nvPr/>
        </p:nvSpPr>
        <p:spPr>
          <a:xfrm>
            <a:off x="11475720" y="438912"/>
            <a:ext cx="1325880" cy="182880"/>
          </a:xfrm>
          <a:prstGeom prst="rect">
            <a:avLst/>
          </a:prstGeom>
          <a:noFill/>
          <a:ln/>
        </p:spPr>
        <p:txBody>
          <a:bodyPr wrap="square" lIns="0" tIns="0" rIns="0" bIns="0" rtlCol="0" anchor="t">
            <a:normAutofit/>
          </a:bodyPr>
          <a:lstStyle/>
          <a:p>
            <a:pPr algn="r" indent="0" marL="0">
              <a:buNone/>
            </a:pPr>
            <a:r>
              <a:rPr lang="en-US" sz="700" dirty="0">
                <a:solidFill>
                  <a:srgbClr val="83BADF"/>
                </a:solidFill>
                <a:latin typeface="Arial" pitchFamily="34" charset="0"/>
                <a:ea typeface="Arial" pitchFamily="34" charset="-122"/>
                <a:cs typeface="Arial" pitchFamily="34" charset="-120"/>
              </a:rPr>
              <a:t>LOCAL / UNMARKED</a:t>
            </a:r>
            <a:endParaRPr lang="en-US" sz="700" dirty="0"/>
          </a:p>
        </p:txBody>
      </p:sp>
      <p:sp>
        <p:nvSpPr>
          <p:cNvPr id="10" name="Shape 8"/>
          <p:cNvSpPr/>
          <p:nvPr/>
        </p:nvSpPr>
        <p:spPr>
          <a:xfrm>
            <a:off x="1499616" y="1307592"/>
            <a:ext cx="1819656" cy="448056"/>
          </a:xfrm>
          <a:prstGeom prst="rect">
            <a:avLst/>
          </a:prstGeom>
          <a:solidFill>
            <a:srgbClr val="12253B"/>
          </a:solidFill>
          <a:ln w="8890">
            <a:solidFill>
              <a:srgbClr val="83BADF"/>
            </a:solidFill>
            <a:prstDash val="solid"/>
          </a:ln>
        </p:spPr>
      </p:sp>
      <p:sp>
        <p:nvSpPr>
          <p:cNvPr id="11" name="Text 9"/>
          <p:cNvSpPr/>
          <p:nvPr/>
        </p:nvSpPr>
        <p:spPr>
          <a:xfrm>
            <a:off x="1572768"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83BADF"/>
                </a:solidFill>
                <a:latin typeface="Georgia" pitchFamily="34" charset="0"/>
                <a:ea typeface="Georgia" pitchFamily="34" charset="-122"/>
                <a:cs typeface="Georgia" pitchFamily="34" charset="-120"/>
              </a:rPr>
              <a:t>1</a:t>
            </a:r>
            <a:endParaRPr lang="en-US" sz="1700" dirty="0"/>
          </a:p>
        </p:txBody>
      </p:sp>
      <p:sp>
        <p:nvSpPr>
          <p:cNvPr id="12" name="Text 10"/>
          <p:cNvSpPr/>
          <p:nvPr/>
        </p:nvSpPr>
        <p:spPr>
          <a:xfrm>
            <a:off x="1865376"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Set two versions side by side.</a:t>
            </a:r>
            <a:endParaRPr lang="en-US" sz="700" dirty="0"/>
          </a:p>
        </p:txBody>
      </p:sp>
      <p:sp>
        <p:nvSpPr>
          <p:cNvPr id="13" name="Shape 11"/>
          <p:cNvSpPr/>
          <p:nvPr/>
        </p:nvSpPr>
        <p:spPr>
          <a:xfrm>
            <a:off x="3392424" y="1307592"/>
            <a:ext cx="1819656" cy="448056"/>
          </a:xfrm>
          <a:prstGeom prst="rect">
            <a:avLst/>
          </a:prstGeom>
          <a:solidFill>
            <a:srgbClr val="12253B"/>
          </a:solidFill>
          <a:ln w="8890">
            <a:solidFill>
              <a:srgbClr val="6D5768"/>
            </a:solidFill>
            <a:prstDash val="solid"/>
          </a:ln>
        </p:spPr>
      </p:sp>
      <p:sp>
        <p:nvSpPr>
          <p:cNvPr id="14" name="Text 12"/>
          <p:cNvSpPr/>
          <p:nvPr/>
        </p:nvSpPr>
        <p:spPr>
          <a:xfrm>
            <a:off x="3465576"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83BADF"/>
                </a:solidFill>
                <a:latin typeface="Georgia" pitchFamily="34" charset="0"/>
                <a:ea typeface="Georgia" pitchFamily="34" charset="-122"/>
                <a:cs typeface="Georgia" pitchFamily="34" charset="-120"/>
              </a:rPr>
              <a:t>2</a:t>
            </a:r>
            <a:endParaRPr lang="en-US" sz="1700" dirty="0"/>
          </a:p>
        </p:txBody>
      </p:sp>
      <p:sp>
        <p:nvSpPr>
          <p:cNvPr id="15" name="Text 13"/>
          <p:cNvSpPr/>
          <p:nvPr/>
        </p:nvSpPr>
        <p:spPr>
          <a:xfrm>
            <a:off x="3758184"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Change the light in the sentence.</a:t>
            </a:r>
            <a:endParaRPr lang="en-US" sz="700" dirty="0"/>
          </a:p>
        </p:txBody>
      </p:sp>
      <p:sp>
        <p:nvSpPr>
          <p:cNvPr id="16" name="Shape 14"/>
          <p:cNvSpPr/>
          <p:nvPr/>
        </p:nvSpPr>
        <p:spPr>
          <a:xfrm>
            <a:off x="5285232" y="1307592"/>
            <a:ext cx="1819656" cy="448056"/>
          </a:xfrm>
          <a:prstGeom prst="rect">
            <a:avLst/>
          </a:prstGeom>
          <a:solidFill>
            <a:srgbClr val="12253B"/>
          </a:solidFill>
          <a:ln w="8890">
            <a:solidFill>
              <a:srgbClr val="6D5768"/>
            </a:solidFill>
            <a:prstDash val="solid"/>
          </a:ln>
        </p:spPr>
      </p:sp>
      <p:sp>
        <p:nvSpPr>
          <p:cNvPr id="17" name="Text 15"/>
          <p:cNvSpPr/>
          <p:nvPr/>
        </p:nvSpPr>
        <p:spPr>
          <a:xfrm>
            <a:off x="5358384"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83BADF"/>
                </a:solidFill>
                <a:latin typeface="Georgia" pitchFamily="34" charset="0"/>
                <a:ea typeface="Georgia" pitchFamily="34" charset="-122"/>
                <a:cs typeface="Georgia" pitchFamily="34" charset="-120"/>
              </a:rPr>
              <a:t>3</a:t>
            </a:r>
            <a:endParaRPr lang="en-US" sz="1700" dirty="0"/>
          </a:p>
        </p:txBody>
      </p:sp>
      <p:sp>
        <p:nvSpPr>
          <p:cNvPr id="18" name="Text 16"/>
          <p:cNvSpPr/>
          <p:nvPr/>
        </p:nvSpPr>
        <p:spPr>
          <a:xfrm>
            <a:off x="5650992"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Let silence have alternatives.</a:t>
            </a:r>
            <a:endParaRPr lang="en-US" sz="700" dirty="0"/>
          </a:p>
        </p:txBody>
      </p:sp>
      <p:sp>
        <p:nvSpPr>
          <p:cNvPr id="19" name="Shape 17"/>
          <p:cNvSpPr/>
          <p:nvPr/>
        </p:nvSpPr>
        <p:spPr>
          <a:xfrm>
            <a:off x="7178040" y="1307592"/>
            <a:ext cx="1819656" cy="448056"/>
          </a:xfrm>
          <a:prstGeom prst="rect">
            <a:avLst/>
          </a:prstGeom>
          <a:solidFill>
            <a:srgbClr val="12253B"/>
          </a:solidFill>
          <a:ln w="8890">
            <a:solidFill>
              <a:srgbClr val="6D5768"/>
            </a:solidFill>
            <a:prstDash val="solid"/>
          </a:ln>
        </p:spPr>
      </p:sp>
      <p:sp>
        <p:nvSpPr>
          <p:cNvPr id="20" name="Text 18"/>
          <p:cNvSpPr/>
          <p:nvPr/>
        </p:nvSpPr>
        <p:spPr>
          <a:xfrm>
            <a:off x="7251192"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83BADF"/>
                </a:solidFill>
                <a:latin typeface="Georgia" pitchFamily="34" charset="0"/>
                <a:ea typeface="Georgia" pitchFamily="34" charset="-122"/>
                <a:cs typeface="Georgia" pitchFamily="34" charset="-120"/>
              </a:rPr>
              <a:t>4</a:t>
            </a:r>
            <a:endParaRPr lang="en-US" sz="1700" dirty="0"/>
          </a:p>
        </p:txBody>
      </p:sp>
      <p:sp>
        <p:nvSpPr>
          <p:cNvPr id="21" name="Text 19"/>
          <p:cNvSpPr/>
          <p:nvPr/>
        </p:nvSpPr>
        <p:spPr>
          <a:xfrm>
            <a:off x="7543800"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Offer a generous disagreement.</a:t>
            </a:r>
            <a:endParaRPr lang="en-US" sz="700" dirty="0"/>
          </a:p>
        </p:txBody>
      </p:sp>
      <p:sp>
        <p:nvSpPr>
          <p:cNvPr id="22" name="Shape 20"/>
          <p:cNvSpPr/>
          <p:nvPr/>
        </p:nvSpPr>
        <p:spPr>
          <a:xfrm>
            <a:off x="9070848" y="1307592"/>
            <a:ext cx="1819656" cy="448056"/>
          </a:xfrm>
          <a:prstGeom prst="rect">
            <a:avLst/>
          </a:prstGeom>
          <a:solidFill>
            <a:srgbClr val="12253B"/>
          </a:solidFill>
          <a:ln w="8890">
            <a:solidFill>
              <a:srgbClr val="6D5768"/>
            </a:solidFill>
            <a:prstDash val="solid"/>
          </a:ln>
        </p:spPr>
      </p:sp>
      <p:sp>
        <p:nvSpPr>
          <p:cNvPr id="23" name="Text 21"/>
          <p:cNvSpPr/>
          <p:nvPr/>
        </p:nvSpPr>
        <p:spPr>
          <a:xfrm>
            <a:off x="9144000"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83BADF"/>
                </a:solidFill>
                <a:latin typeface="Georgia" pitchFamily="34" charset="0"/>
                <a:ea typeface="Georgia" pitchFamily="34" charset="-122"/>
                <a:cs typeface="Georgia" pitchFamily="34" charset="-120"/>
              </a:rPr>
              <a:t>5</a:t>
            </a:r>
            <a:endParaRPr lang="en-US" sz="1700" dirty="0"/>
          </a:p>
        </p:txBody>
      </p:sp>
      <p:sp>
        <p:nvSpPr>
          <p:cNvPr id="24" name="Text 22"/>
          <p:cNvSpPr/>
          <p:nvPr/>
        </p:nvSpPr>
        <p:spPr>
          <a:xfrm>
            <a:off x="9436608"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Test a reversal of expectation.</a:t>
            </a:r>
            <a:endParaRPr lang="en-US" sz="700" dirty="0"/>
          </a:p>
        </p:txBody>
      </p:sp>
      <p:sp>
        <p:nvSpPr>
          <p:cNvPr id="25" name="Shape 23"/>
          <p:cNvSpPr/>
          <p:nvPr/>
        </p:nvSpPr>
        <p:spPr>
          <a:xfrm>
            <a:off x="10963656" y="1307592"/>
            <a:ext cx="1819656" cy="448056"/>
          </a:xfrm>
          <a:prstGeom prst="rect">
            <a:avLst/>
          </a:prstGeom>
          <a:solidFill>
            <a:srgbClr val="12253B"/>
          </a:solidFill>
          <a:ln w="8890">
            <a:solidFill>
              <a:srgbClr val="6D5768"/>
            </a:solidFill>
            <a:prstDash val="solid"/>
          </a:ln>
        </p:spPr>
      </p:sp>
      <p:sp>
        <p:nvSpPr>
          <p:cNvPr id="26" name="Text 24"/>
          <p:cNvSpPr/>
          <p:nvPr/>
        </p:nvSpPr>
        <p:spPr>
          <a:xfrm>
            <a:off x="11036808"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83BADF"/>
                </a:solidFill>
                <a:latin typeface="Georgia" pitchFamily="34" charset="0"/>
                <a:ea typeface="Georgia" pitchFamily="34" charset="-122"/>
                <a:cs typeface="Georgia" pitchFamily="34" charset="-120"/>
              </a:rPr>
              <a:t>6</a:t>
            </a:r>
            <a:endParaRPr lang="en-US" sz="1700" dirty="0"/>
          </a:p>
        </p:txBody>
      </p:sp>
      <p:sp>
        <p:nvSpPr>
          <p:cNvPr id="27" name="Text 25"/>
          <p:cNvSpPr/>
          <p:nvPr/>
        </p:nvSpPr>
        <p:spPr>
          <a:xfrm>
            <a:off x="11329416"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Name what contrast reveals.</a:t>
            </a:r>
            <a:endParaRPr lang="en-US" sz="700" dirty="0"/>
          </a:p>
        </p:txBody>
      </p:sp>
      <p:pic>
        <p:nvPicPr>
          <p:cNvPr id="28" name="Image 0" descr="/home/user/design-buddy/design-buddy-home/public/atelier/afterglow/images/04.jpg">    </p:cNvPr>
          <p:cNvPicPr>
            <a:picLocks noChangeAspect="1"/>
          </p:cNvPicPr>
          <p:nvPr/>
        </p:nvPicPr>
        <p:blipFill>
          <a:blip r:embed="rId1"/>
          <a:srcRect l="0" r="0" t="0" b="0"/>
          <a:stretch/>
        </p:blipFill>
        <p:spPr>
          <a:xfrm>
            <a:off x="1499616" y="2066544"/>
            <a:ext cx="6949440" cy="3840480"/>
          </a:xfrm>
          <a:prstGeom prst="rect">
            <a:avLst/>
          </a:prstGeom>
        </p:spPr>
      </p:pic>
      <p:sp>
        <p:nvSpPr>
          <p:cNvPr id="29" name="Text 26"/>
          <p:cNvSpPr/>
          <p:nvPr/>
        </p:nvSpPr>
        <p:spPr>
          <a:xfrm>
            <a:off x="1499616" y="6007608"/>
            <a:ext cx="6949440" cy="164592"/>
          </a:xfrm>
          <a:prstGeom prst="rect">
            <a:avLst/>
          </a:prstGeom>
          <a:noFill/>
          <a:ln/>
        </p:spPr>
        <p:txBody>
          <a:bodyPr wrap="square" lIns="0" tIns="0" rIns="0" bIns="0" rtlCol="0" anchor="t">
            <a:normAutofit/>
          </a:bodyPr>
          <a:lstStyle/>
          <a:p>
            <a:pPr indent="0" marL="0">
              <a:buNone/>
            </a:pPr>
            <a:r>
              <a:rPr lang="en-US" sz="650" dirty="0">
                <a:solidFill>
                  <a:srgbClr val="C0AAB9"/>
                </a:solidFill>
                <a:latin typeface="Arial" pitchFamily="34" charset="0"/>
                <a:ea typeface="Arial" pitchFamily="34" charset="-122"/>
                <a:cs typeface="Arial" pitchFamily="34" charset="-120"/>
              </a:rPr>
              <a:t>Watercolour 4 / invented setting and adults / not production evidence</a:t>
            </a:r>
            <a:endParaRPr lang="en-US" sz="650" dirty="0"/>
          </a:p>
        </p:txBody>
      </p:sp>
      <p:sp>
        <p:nvSpPr>
          <p:cNvPr id="30" name="Text 27"/>
          <p:cNvSpPr/>
          <p:nvPr/>
        </p:nvSpPr>
        <p:spPr>
          <a:xfrm>
            <a:off x="8705088" y="2139696"/>
            <a:ext cx="4133088" cy="164592"/>
          </a:xfrm>
          <a:prstGeom prst="rect">
            <a:avLst/>
          </a:prstGeom>
          <a:noFill/>
          <a:ln/>
        </p:spPr>
        <p:txBody>
          <a:bodyPr wrap="square" lIns="0" tIns="0" rIns="0" bIns="0" rtlCol="0" anchor="t">
            <a:normAutofit/>
          </a:bodyPr>
          <a:lstStyle/>
          <a:p>
            <a:pPr indent="0" marL="0">
              <a:buNone/>
            </a:pPr>
            <a:r>
              <a:rPr lang="en-US" sz="700" spc="110" kern="0" dirty="0">
                <a:solidFill>
                  <a:srgbClr val="83BADF"/>
                </a:solidFill>
                <a:latin typeface="Arial" pitchFamily="34" charset="0"/>
                <a:ea typeface="Arial" pitchFamily="34" charset="-122"/>
                <a:cs typeface="Arial" pitchFamily="34" charset="-120"/>
              </a:rPr>
              <a:t>STORY INTENTION</a:t>
            </a:r>
            <a:endParaRPr lang="en-US" sz="700" dirty="0"/>
          </a:p>
        </p:txBody>
      </p:sp>
      <p:sp>
        <p:nvSpPr>
          <p:cNvPr id="31" name="Text 28"/>
          <p:cNvSpPr/>
          <p:nvPr/>
        </p:nvSpPr>
        <p:spPr>
          <a:xfrm>
            <a:off x="8705088" y="2514600"/>
            <a:ext cx="4133088" cy="1828800"/>
          </a:xfrm>
          <a:prstGeom prst="rect">
            <a:avLst/>
          </a:prstGeom>
          <a:noFill/>
          <a:ln/>
        </p:spPr>
        <p:txBody>
          <a:bodyPr wrap="square" lIns="0" tIns="0" rIns="0" bIns="0" rtlCol="0" anchor="t">
            <a:normAutofit/>
          </a:bodyPr>
          <a:lstStyle/>
          <a:p>
            <a:pPr indent="0" marL="0">
              <a:buNone/>
            </a:pPr>
            <a:r>
              <a:rPr lang="en-US" sz="1575" dirty="0">
                <a:solidFill>
                  <a:srgbClr val="ECDED6"/>
                </a:solidFill>
                <a:latin typeface="Georgia" pitchFamily="34" charset="0"/>
                <a:ea typeface="Georgia" pitchFamily="34" charset="-122"/>
                <a:cs typeface="Georgia" pitchFamily="34" charset="-120"/>
              </a:rPr>
              <a:t>One character remembers a generous room; another remembers a room that never listened. Give each a specific fictional detail. Contrast becomes richer when neither voice is reduced to a slogan.</a:t>
            </a:r>
            <a:endParaRPr lang="en-US" sz="1575" dirty="0"/>
          </a:p>
        </p:txBody>
      </p:sp>
      <p:sp>
        <p:nvSpPr>
          <p:cNvPr id="32" name="Text 29"/>
          <p:cNvSpPr/>
          <p:nvPr/>
        </p:nvSpPr>
        <p:spPr>
          <a:xfrm>
            <a:off x="8705088" y="4572000"/>
            <a:ext cx="4133088" cy="164592"/>
          </a:xfrm>
          <a:prstGeom prst="rect">
            <a:avLst/>
          </a:prstGeom>
          <a:noFill/>
          <a:ln/>
        </p:spPr>
        <p:txBody>
          <a:bodyPr wrap="square" lIns="0" tIns="0" rIns="0" bIns="0" rtlCol="0" anchor="t">
            <a:normAutofit/>
          </a:bodyPr>
          <a:lstStyle/>
          <a:p>
            <a:pPr indent="0" marL="0">
              <a:buNone/>
            </a:pPr>
            <a:r>
              <a:rPr lang="en-US" sz="700" spc="110" kern="0" dirty="0">
                <a:solidFill>
                  <a:srgbClr val="83BADF"/>
                </a:solidFill>
                <a:latin typeface="Arial" pitchFamily="34" charset="0"/>
                <a:ea typeface="Arial" pitchFamily="34" charset="-122"/>
                <a:cs typeface="Arial" pitchFamily="34" charset="-120"/>
              </a:rPr>
              <a:t>LEAVE A QUESTION</a:t>
            </a:r>
            <a:endParaRPr lang="en-US" sz="700" dirty="0"/>
          </a:p>
        </p:txBody>
      </p:sp>
      <p:sp>
        <p:nvSpPr>
          <p:cNvPr id="33" name="Text 30"/>
          <p:cNvSpPr/>
          <p:nvPr/>
        </p:nvSpPr>
        <p:spPr>
          <a:xfrm>
            <a:off x="8705088" y="4910328"/>
            <a:ext cx="4133088" cy="822960"/>
          </a:xfrm>
          <a:prstGeom prst="rect">
            <a:avLst/>
          </a:prstGeom>
          <a:noFill/>
          <a:ln/>
        </p:spPr>
        <p:txBody>
          <a:bodyPr wrap="square" lIns="0" tIns="0" rIns="0" bIns="0" rtlCol="0" anchor="t">
            <a:normAutofit/>
          </a:bodyPr>
          <a:lstStyle/>
          <a:p>
            <a:pPr indent="0" marL="0">
              <a:buNone/>
            </a:pPr>
            <a:r>
              <a:rPr lang="en-US" sz="1875" i="1" dirty="0">
                <a:solidFill>
                  <a:srgbClr val="83BADF"/>
                </a:solidFill>
                <a:latin typeface="Georgia" pitchFamily="34" charset="0"/>
                <a:ea typeface="Georgia" pitchFamily="34" charset="-122"/>
                <a:cs typeface="Georgia" pitchFamily="34" charset="-120"/>
              </a:rPr>
              <a:t>How can both versions feel internally plausible?</a:t>
            </a:r>
            <a:endParaRPr lang="en-US" sz="1875" dirty="0"/>
          </a:p>
        </p:txBody>
      </p:sp>
      <p:sp>
        <p:nvSpPr>
          <p:cNvPr id="34" name="Text 31"/>
          <p:cNvSpPr/>
          <p:nvPr/>
        </p:nvSpPr>
        <p:spPr>
          <a:xfrm>
            <a:off x="8705088" y="5806440"/>
            <a:ext cx="4133088" cy="292608"/>
          </a:xfrm>
          <a:prstGeom prst="rect">
            <a:avLst/>
          </a:prstGeom>
          <a:noFill/>
          <a:ln/>
        </p:spPr>
        <p:txBody>
          <a:bodyPr wrap="square" lIns="0" tIns="0" rIns="0" bIns="0" rtlCol="0" anchor="t">
            <a:normAutofit/>
          </a:bodyPr>
          <a:lstStyle/>
          <a:p>
            <a:pPr indent="0" marL="0">
              <a:buNone/>
            </a:pPr>
            <a:r>
              <a:rPr lang="en-US" sz="700" dirty="0">
                <a:solidFill>
                  <a:srgbClr val="C0AAB9"/>
                </a:solidFill>
                <a:latin typeface="Arial" pitchFamily="34" charset="0"/>
                <a:ea typeface="Arial" pitchFamily="34" charset="-122"/>
                <a:cs typeface="Arial" pitchFamily="34" charset="-120"/>
              </a:rPr>
              <a:t>Beat order is not timing, a technical call or a show schedule.</a:t>
            </a:r>
            <a:endParaRPr lang="en-US" sz="700" dirty="0"/>
          </a:p>
        </p:txBody>
      </p:sp>
      <p:sp>
        <p:nvSpPr>
          <p:cNvPr id="35" name="Shape 32"/>
          <p:cNvSpPr/>
          <p:nvPr/>
        </p:nvSpPr>
        <p:spPr>
          <a:xfrm>
            <a:off x="1499616" y="6583680"/>
            <a:ext cx="3675888" cy="1481328"/>
          </a:xfrm>
          <a:prstGeom prst="rect">
            <a:avLst/>
          </a:prstGeom>
          <a:solidFill>
            <a:srgbClr val="12253B"/>
          </a:solidFill>
          <a:ln w="8890">
            <a:solidFill>
              <a:srgbClr val="735D6D"/>
            </a:solidFill>
            <a:prstDash val="solid"/>
          </a:ln>
        </p:spPr>
      </p:sp>
      <p:sp>
        <p:nvSpPr>
          <p:cNvPr id="36" name="Text 33"/>
          <p:cNvSpPr/>
          <p:nvPr/>
        </p:nvSpPr>
        <p:spPr>
          <a:xfrm>
            <a:off x="1682496"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83BADF"/>
                </a:solidFill>
                <a:latin typeface="Arial" pitchFamily="34" charset="0"/>
                <a:ea typeface="Arial" pitchFamily="34" charset="-122"/>
                <a:cs typeface="Arial" pitchFamily="34" charset="-120"/>
              </a:rPr>
              <a:t>01 / NOTICE</a:t>
            </a:r>
            <a:endParaRPr lang="en-US" sz="700" dirty="0"/>
          </a:p>
        </p:txBody>
      </p:sp>
      <p:sp>
        <p:nvSpPr>
          <p:cNvPr id="37" name="Text 34"/>
          <p:cNvSpPr/>
          <p:nvPr/>
        </p:nvSpPr>
        <p:spPr>
          <a:xfrm>
            <a:off x="1682496"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Contrasting memories need not be ranked as measured facts.</a:t>
            </a:r>
            <a:endParaRPr lang="en-US" sz="1500" dirty="0"/>
          </a:p>
        </p:txBody>
      </p:sp>
      <p:sp>
        <p:nvSpPr>
          <p:cNvPr id="38" name="Shape 35"/>
          <p:cNvSpPr/>
          <p:nvPr/>
        </p:nvSpPr>
        <p:spPr>
          <a:xfrm>
            <a:off x="5321808" y="6583680"/>
            <a:ext cx="3675888" cy="1481328"/>
          </a:xfrm>
          <a:prstGeom prst="rect">
            <a:avLst/>
          </a:prstGeom>
          <a:solidFill>
            <a:srgbClr val="12253B"/>
          </a:solidFill>
          <a:ln w="8890">
            <a:solidFill>
              <a:srgbClr val="735D6D"/>
            </a:solidFill>
            <a:prstDash val="solid"/>
          </a:ln>
        </p:spPr>
      </p:sp>
      <p:sp>
        <p:nvSpPr>
          <p:cNvPr id="39" name="Text 36"/>
          <p:cNvSpPr/>
          <p:nvPr/>
        </p:nvSpPr>
        <p:spPr>
          <a:xfrm>
            <a:off x="5504688"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83BADF"/>
                </a:solidFill>
                <a:latin typeface="Arial" pitchFamily="34" charset="0"/>
                <a:ea typeface="Arial" pitchFamily="34" charset="-122"/>
                <a:cs typeface="Arial" pitchFamily="34" charset="-120"/>
              </a:rPr>
              <a:t>02 / TRY IN WORDS</a:t>
            </a:r>
            <a:endParaRPr lang="en-US" sz="700" dirty="0"/>
          </a:p>
        </p:txBody>
      </p:sp>
      <p:sp>
        <p:nvSpPr>
          <p:cNvPr id="40" name="Text 37"/>
          <p:cNvSpPr/>
          <p:nvPr/>
        </p:nvSpPr>
        <p:spPr>
          <a:xfrm>
            <a:off x="5504688"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Write one short memory for each imagined speaker.</a:t>
            </a:r>
            <a:endParaRPr lang="en-US" sz="1500" dirty="0"/>
          </a:p>
        </p:txBody>
      </p:sp>
      <p:sp>
        <p:nvSpPr>
          <p:cNvPr id="41" name="Shape 38"/>
          <p:cNvSpPr/>
          <p:nvPr/>
        </p:nvSpPr>
        <p:spPr>
          <a:xfrm>
            <a:off x="9144000" y="6583680"/>
            <a:ext cx="3675888" cy="1481328"/>
          </a:xfrm>
          <a:prstGeom prst="rect">
            <a:avLst/>
          </a:prstGeom>
          <a:solidFill>
            <a:srgbClr val="12253B"/>
          </a:solidFill>
          <a:ln w="8890">
            <a:solidFill>
              <a:srgbClr val="735D6D"/>
            </a:solidFill>
            <a:prstDash val="solid"/>
          </a:ln>
        </p:spPr>
      </p:sp>
      <p:sp>
        <p:nvSpPr>
          <p:cNvPr id="42" name="Text 39"/>
          <p:cNvSpPr/>
          <p:nvPr/>
        </p:nvSpPr>
        <p:spPr>
          <a:xfrm>
            <a:off x="9326880"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83BADF"/>
                </a:solidFill>
                <a:latin typeface="Arial" pitchFamily="34" charset="0"/>
                <a:ea typeface="Arial" pitchFamily="34" charset="-122"/>
                <a:cs typeface="Arial" pitchFamily="34" charset="-120"/>
              </a:rPr>
              <a:t>03 / KEEP VISIBLE</a:t>
            </a:r>
            <a:endParaRPr lang="en-US" sz="700" dirty="0"/>
          </a:p>
        </p:txBody>
      </p:sp>
      <p:sp>
        <p:nvSpPr>
          <p:cNvPr id="43" name="Text 40"/>
          <p:cNvSpPr/>
          <p:nvPr/>
        </p:nvSpPr>
        <p:spPr>
          <a:xfrm>
            <a:off x="9326880"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Keep the source of each claim inside the story.</a:t>
            </a:r>
            <a:endParaRPr lang="en-US" sz="1500" dirty="0"/>
          </a:p>
        </p:txBody>
      </p:sp>
      <p:sp>
        <p:nvSpPr>
          <p:cNvPr id="44" name="Shape 41"/>
          <p:cNvSpPr/>
          <p:nvPr/>
        </p:nvSpPr>
        <p:spPr>
          <a:xfrm>
            <a:off x="1499616" y="8211312"/>
            <a:ext cx="11338560" cy="0"/>
          </a:xfrm>
          <a:prstGeom prst="line">
            <a:avLst/>
          </a:prstGeom>
          <a:noFill/>
          <a:ln w="8890">
            <a:solidFill>
              <a:srgbClr val="796170"/>
            </a:solidFill>
            <a:prstDash val="solid"/>
          </a:ln>
        </p:spPr>
      </p:sp>
      <p:sp>
        <p:nvSpPr>
          <p:cNvPr id="45" name="Text 42"/>
          <p:cNvSpPr/>
          <p:nvPr/>
        </p:nvSpPr>
        <p:spPr>
          <a:xfrm>
            <a:off x="1499616" y="8339328"/>
            <a:ext cx="8229600" cy="118872"/>
          </a:xfrm>
          <a:prstGeom prst="rect">
            <a:avLst/>
          </a:prstGeom>
          <a:noFill/>
          <a:ln/>
        </p:spPr>
        <p:txBody>
          <a:bodyPr wrap="square" lIns="0" tIns="0" rIns="0" bIns="0" rtlCol="0" anchor="t">
            <a:normAutofit/>
          </a:bodyPr>
          <a:lstStyle/>
          <a:p>
            <a:pPr indent="0" marL="0">
              <a:buNone/>
            </a:pPr>
            <a:r>
              <a:rPr lang="en-US" sz="650" dirty="0">
                <a:solidFill>
                  <a:srgbClr val="C0AAB9"/>
                </a:solidFill>
                <a:latin typeface="Arial" pitchFamily="34" charset="0"/>
                <a:ea typeface="Arial" pitchFamily="34" charset="-122"/>
                <a:cs typeface="Arial" pitchFamily="34" charset="-120"/>
              </a:rPr>
              <a:t>FICTIONAL WRITING WORKSHOP / NOT A STAGING OR APPROVAL PLAN</a:t>
            </a:r>
            <a:endParaRPr lang="en-US" sz="650" dirty="0"/>
          </a:p>
        </p:txBody>
      </p:sp>
      <p:sp>
        <p:nvSpPr>
          <p:cNvPr id="46" name="Text 43"/>
          <p:cNvSpPr/>
          <p:nvPr/>
        </p:nvSpPr>
        <p:spPr>
          <a:xfrm>
            <a:off x="9729216" y="8339328"/>
            <a:ext cx="3108960" cy="118872"/>
          </a:xfrm>
          <a:prstGeom prst="rect">
            <a:avLst/>
          </a:prstGeom>
          <a:noFill/>
          <a:ln/>
        </p:spPr>
        <p:txBody>
          <a:bodyPr wrap="square" lIns="0" tIns="0" rIns="0" bIns="0" rtlCol="0" anchor="t">
            <a:normAutofit/>
          </a:bodyPr>
          <a:lstStyle/>
          <a:p>
            <a:pPr algn="r" indent="0" marL="0">
              <a:buNone/>
            </a:pPr>
            <a:r>
              <a:rPr lang="en-US" sz="650" dirty="0">
                <a:solidFill>
                  <a:srgbClr val="C0AAB9"/>
                </a:solidFill>
                <a:latin typeface="Arial" pitchFamily="34" charset="0"/>
                <a:ea typeface="Arial" pitchFamily="34" charset="-122"/>
                <a:cs typeface="Arial" pitchFamily="34" charset="-120"/>
              </a:rPr>
              <a:t>DRAFT / 14 OF 15 ARTWORKS / 7 OF 30</a:t>
            </a:r>
            <a:endParaRPr lang="en-US" sz="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253B"/>
        </a:solidFill>
      </p:bgPr>
    </p:bg>
    <p:spTree>
      <p:nvGrpSpPr>
        <p:cNvPr id="1" name=""/>
        <p:cNvGrpSpPr/>
        <p:nvPr/>
      </p:nvGrpSpPr>
      <p:grpSpPr>
        <a:xfrm>
          <a:off x="0" y="0"/>
          <a:ext cx="0" cy="0"/>
          <a:chOff x="0" y="0"/>
          <a:chExt cx="0" cy="0"/>
        </a:xfrm>
      </p:grpSpPr>
      <p:sp>
        <p:nvSpPr>
          <p:cNvPr id="2" name="Shape 0"/>
          <p:cNvSpPr/>
          <p:nvPr/>
        </p:nvSpPr>
        <p:spPr>
          <a:xfrm>
            <a:off x="1243584" y="329184"/>
            <a:ext cx="0" cy="8119872"/>
          </a:xfrm>
          <a:prstGeom prst="line">
            <a:avLst/>
          </a:prstGeom>
          <a:noFill/>
          <a:ln w="10160">
            <a:solidFill>
              <a:srgbClr val="776072"/>
            </a:solidFill>
            <a:prstDash val="solid"/>
          </a:ln>
        </p:spPr>
      </p:sp>
      <p:sp>
        <p:nvSpPr>
          <p:cNvPr id="3" name="Text 1"/>
          <p:cNvSpPr/>
          <p:nvPr/>
        </p:nvSpPr>
        <p:spPr>
          <a:xfrm>
            <a:off x="393192" y="457200"/>
            <a:ext cx="685800" cy="457200"/>
          </a:xfrm>
          <a:prstGeom prst="rect">
            <a:avLst/>
          </a:prstGeom>
          <a:noFill/>
          <a:ln/>
        </p:spPr>
        <p:txBody>
          <a:bodyPr wrap="square" lIns="0" tIns="0" rIns="0" bIns="0" rtlCol="0" anchor="t">
            <a:normAutofit/>
          </a:bodyPr>
          <a:lstStyle/>
          <a:p>
            <a:pPr indent="0" marL="0">
              <a:buNone/>
            </a:pPr>
            <a:r>
              <a:rPr lang="en-US" sz="600" dirty="0">
                <a:solidFill>
                  <a:srgbClr val="C0AAB9"/>
                </a:solidFill>
                <a:latin typeface="Arial" pitchFamily="34" charset="0"/>
                <a:ea typeface="Arial" pitchFamily="34" charset="-122"/>
                <a:cs typeface="Arial" pitchFamily="34" charset="-120"/>
              </a:rPr>
              <a:t>DESIGN BUDDY</a:t>
            </a:r>
            <a:endParaRPr lang="en-US" sz="600" dirty="0"/>
          </a:p>
          <a:p>
            <a:pPr indent="0" marL="0">
              <a:buNone/>
            </a:pPr>
            <a:r>
              <a:rPr lang="en-US" sz="600" dirty="0">
                <a:solidFill>
                  <a:srgbClr val="C0AAB9"/>
                </a:solidFill>
                <a:latin typeface="Arial" pitchFamily="34" charset="0"/>
                <a:ea typeface="Arial" pitchFamily="34" charset="-122"/>
                <a:cs typeface="Arial" pitchFamily="34" charset="-120"/>
              </a:rPr>
              <a:t>CREATIVE EXERCISE</a:t>
            </a:r>
            <a:endParaRPr lang="en-US" sz="600" dirty="0"/>
          </a:p>
        </p:txBody>
      </p:sp>
      <p:sp>
        <p:nvSpPr>
          <p:cNvPr id="4" name="Text 2"/>
          <p:cNvSpPr/>
          <p:nvPr/>
        </p:nvSpPr>
        <p:spPr>
          <a:xfrm>
            <a:off x="502920" y="1920240"/>
            <a:ext cx="502920" cy="4480560"/>
          </a:xfrm>
          <a:prstGeom prst="rect">
            <a:avLst/>
          </a:prstGeom>
          <a:noFill/>
          <a:ln/>
        </p:spPr>
        <p:txBody>
          <a:bodyPr wrap="square" lIns="0" tIns="0" rIns="0" bIns="0" rtlCol="0" anchor="t">
            <a:normAutofit/>
          </a:bodyPr>
          <a:lstStyle/>
          <a:p>
            <a:pPr algn="ctr" indent="0" marL="0">
              <a:buNone/>
            </a:pPr>
            <a:r>
              <a:rPr lang="en-US" sz="2500" dirty="0">
                <a:solidFill>
                  <a:srgbClr val="83BADF"/>
                </a:solidFill>
                <a:latin typeface="Georgia" pitchFamily="34" charset="0"/>
                <a:ea typeface="Georgia" pitchFamily="34" charset="-122"/>
                <a:cs typeface="Georgia" pitchFamily="34" charset="-120"/>
              </a:rPr>
              <a:t>A</a:t>
            </a:r>
            <a:endParaRPr lang="en-US" sz="2500" dirty="0"/>
          </a:p>
          <a:p>
            <a:pPr algn="ctr" indent="0" marL="0">
              <a:buNone/>
            </a:pPr>
            <a:r>
              <a:rPr lang="en-US" sz="2500" dirty="0">
                <a:solidFill>
                  <a:srgbClr val="83BADF"/>
                </a:solidFill>
                <a:latin typeface="Georgia" pitchFamily="34" charset="0"/>
                <a:ea typeface="Georgia" pitchFamily="34" charset="-122"/>
                <a:cs typeface="Georgia" pitchFamily="34" charset="-120"/>
              </a:rPr>
              <a:t>F</a:t>
            </a:r>
            <a:endParaRPr lang="en-US" sz="2500" dirty="0"/>
          </a:p>
          <a:p>
            <a:pPr algn="ctr" indent="0" marL="0">
              <a:buNone/>
            </a:pPr>
            <a:r>
              <a:rPr lang="en-US" sz="2500" dirty="0">
                <a:solidFill>
                  <a:srgbClr val="83BADF"/>
                </a:solidFill>
                <a:latin typeface="Georgia" pitchFamily="34" charset="0"/>
                <a:ea typeface="Georgia" pitchFamily="34" charset="-122"/>
                <a:cs typeface="Georgia" pitchFamily="34" charset="-120"/>
              </a:rPr>
              <a:t>T</a:t>
            </a:r>
            <a:endParaRPr lang="en-US" sz="2500" dirty="0"/>
          </a:p>
          <a:p>
            <a:pPr algn="ctr" indent="0" marL="0">
              <a:buNone/>
            </a:pPr>
            <a:r>
              <a:rPr lang="en-US" sz="2500" dirty="0">
                <a:solidFill>
                  <a:srgbClr val="83BADF"/>
                </a:solidFill>
                <a:latin typeface="Georgia" pitchFamily="34" charset="0"/>
                <a:ea typeface="Georgia" pitchFamily="34" charset="-122"/>
                <a:cs typeface="Georgia" pitchFamily="34" charset="-120"/>
              </a:rPr>
              <a:t>E</a:t>
            </a:r>
            <a:endParaRPr lang="en-US" sz="2500" dirty="0"/>
          </a:p>
          <a:p>
            <a:pPr algn="ctr" indent="0" marL="0">
              <a:buNone/>
            </a:pPr>
            <a:r>
              <a:rPr lang="en-US" sz="2500" dirty="0">
                <a:solidFill>
                  <a:srgbClr val="83BADF"/>
                </a:solidFill>
                <a:latin typeface="Georgia" pitchFamily="34" charset="0"/>
                <a:ea typeface="Georgia" pitchFamily="34" charset="-122"/>
                <a:cs typeface="Georgia" pitchFamily="34" charset="-120"/>
              </a:rPr>
              <a:t>R</a:t>
            </a:r>
            <a:endParaRPr lang="en-US" sz="2500" dirty="0"/>
          </a:p>
          <a:p>
            <a:pPr algn="ctr" indent="0" marL="0">
              <a:buNone/>
            </a:pPr>
            <a:r>
              <a:rPr lang="en-US" sz="2500" dirty="0">
                <a:solidFill>
                  <a:srgbClr val="83BADF"/>
                </a:solidFill>
                <a:latin typeface="Georgia" pitchFamily="34" charset="0"/>
                <a:ea typeface="Georgia" pitchFamily="34" charset="-122"/>
                <a:cs typeface="Georgia" pitchFamily="34" charset="-120"/>
              </a:rPr>
              <a:t>G</a:t>
            </a:r>
            <a:endParaRPr lang="en-US" sz="2500" dirty="0"/>
          </a:p>
          <a:p>
            <a:pPr algn="ctr" indent="0" marL="0">
              <a:buNone/>
            </a:pPr>
            <a:r>
              <a:rPr lang="en-US" sz="2500" dirty="0">
                <a:solidFill>
                  <a:srgbClr val="83BADF"/>
                </a:solidFill>
                <a:latin typeface="Georgia" pitchFamily="34" charset="0"/>
                <a:ea typeface="Georgia" pitchFamily="34" charset="-122"/>
                <a:cs typeface="Georgia" pitchFamily="34" charset="-120"/>
              </a:rPr>
              <a:t>L</a:t>
            </a:r>
            <a:endParaRPr lang="en-US" sz="2500" dirty="0"/>
          </a:p>
          <a:p>
            <a:pPr algn="ctr" indent="0" marL="0">
              <a:buNone/>
            </a:pPr>
            <a:r>
              <a:rPr lang="en-US" sz="2500" dirty="0">
                <a:solidFill>
                  <a:srgbClr val="83BADF"/>
                </a:solidFill>
                <a:latin typeface="Georgia" pitchFamily="34" charset="0"/>
                <a:ea typeface="Georgia" pitchFamily="34" charset="-122"/>
                <a:cs typeface="Georgia" pitchFamily="34" charset="-120"/>
              </a:rPr>
              <a:t>O</a:t>
            </a:r>
            <a:endParaRPr lang="en-US" sz="2500" dirty="0"/>
          </a:p>
          <a:p>
            <a:pPr algn="ctr" indent="0" marL="0">
              <a:buNone/>
            </a:pPr>
            <a:r>
              <a:rPr lang="en-US" sz="2500" dirty="0">
                <a:solidFill>
                  <a:srgbClr val="83BADF"/>
                </a:solidFill>
                <a:latin typeface="Georgia" pitchFamily="34" charset="0"/>
                <a:ea typeface="Georgia" pitchFamily="34" charset="-122"/>
                <a:cs typeface="Georgia" pitchFamily="34" charset="-120"/>
              </a:rPr>
              <a:t>W</a:t>
            </a:r>
            <a:endParaRPr lang="en-US" sz="2500" dirty="0"/>
          </a:p>
        </p:txBody>
      </p:sp>
      <p:sp>
        <p:nvSpPr>
          <p:cNvPr id="5" name="Text 3"/>
          <p:cNvSpPr/>
          <p:nvPr/>
        </p:nvSpPr>
        <p:spPr>
          <a:xfrm>
            <a:off x="402336" y="7022592"/>
            <a:ext cx="731520" cy="594360"/>
          </a:xfrm>
          <a:prstGeom prst="rect">
            <a:avLst/>
          </a:prstGeom>
          <a:noFill/>
          <a:ln/>
        </p:spPr>
        <p:txBody>
          <a:bodyPr wrap="square" lIns="0" tIns="0" rIns="0" bIns="0" rtlCol="0" anchor="t">
            <a:normAutofit/>
          </a:bodyPr>
          <a:lstStyle/>
          <a:p>
            <a:pPr indent="0" marL="0">
              <a:buNone/>
            </a:pPr>
            <a:r>
              <a:rPr lang="en-US" sz="4200" dirty="0">
                <a:solidFill>
                  <a:srgbClr val="83BADF"/>
                </a:solidFill>
                <a:latin typeface="Georgia" pitchFamily="34" charset="0"/>
                <a:ea typeface="Georgia" pitchFamily="34" charset="-122"/>
                <a:cs typeface="Georgia" pitchFamily="34" charset="-120"/>
              </a:rPr>
              <a:t>08</a:t>
            </a:r>
            <a:endParaRPr lang="en-US" sz="4200" dirty="0"/>
          </a:p>
        </p:txBody>
      </p:sp>
      <p:sp>
        <p:nvSpPr>
          <p:cNvPr id="6" name="Text 4"/>
          <p:cNvSpPr/>
          <p:nvPr/>
        </p:nvSpPr>
        <p:spPr>
          <a:xfrm>
            <a:off x="402336" y="7818120"/>
            <a:ext cx="731520" cy="411480"/>
          </a:xfrm>
          <a:prstGeom prst="rect">
            <a:avLst/>
          </a:prstGeom>
          <a:noFill/>
          <a:ln/>
        </p:spPr>
        <p:txBody>
          <a:bodyPr wrap="square" lIns="0" tIns="0" rIns="0" bIns="0" rtlCol="0" anchor="t">
            <a:normAutofit/>
          </a:bodyPr>
          <a:lstStyle/>
          <a:p>
            <a:pPr indent="0" marL="0">
              <a:buNone/>
            </a:pPr>
            <a:r>
              <a:rPr lang="en-US" sz="700" dirty="0">
                <a:solidFill>
                  <a:srgbClr val="C0AAB9"/>
                </a:solidFill>
                <a:latin typeface="Arial" pitchFamily="34" charset="0"/>
                <a:ea typeface="Arial" pitchFamily="34" charset="-122"/>
                <a:cs typeface="Arial" pitchFamily="34" charset="-120"/>
              </a:rPr>
              <a:t>ACT 2 / 5</a:t>
            </a:r>
            <a:endParaRPr lang="en-US" sz="700" dirty="0"/>
          </a:p>
          <a:p>
            <a:pPr indent="0" marL="0">
              <a:buNone/>
            </a:pPr>
            <a:r>
              <a:rPr lang="en-US" sz="700" dirty="0">
                <a:solidFill>
                  <a:srgbClr val="C0AAB9"/>
                </a:solidFill>
                <a:latin typeface="Arial" pitchFamily="34" charset="0"/>
                <a:ea typeface="Arial" pitchFamily="34" charset="-122"/>
                <a:cs typeface="Arial" pitchFamily="34" charset="-120"/>
              </a:rPr>
              <a:t>BEAT 2 / 6</a:t>
            </a:r>
            <a:endParaRPr lang="en-US" sz="700" dirty="0"/>
          </a:p>
        </p:txBody>
      </p:sp>
      <p:sp>
        <p:nvSpPr>
          <p:cNvPr id="7" name="Text 5"/>
          <p:cNvSpPr/>
          <p:nvPr/>
        </p:nvSpPr>
        <p:spPr>
          <a:xfrm>
            <a:off x="1499616" y="347472"/>
            <a:ext cx="9144000" cy="164592"/>
          </a:xfrm>
          <a:prstGeom prst="rect">
            <a:avLst/>
          </a:prstGeom>
          <a:noFill/>
          <a:ln/>
        </p:spPr>
        <p:txBody>
          <a:bodyPr wrap="square" lIns="0" tIns="0" rIns="0" bIns="0" rtlCol="0" anchor="t">
            <a:normAutofit/>
          </a:bodyPr>
          <a:lstStyle/>
          <a:p>
            <a:pPr indent="0" marL="0">
              <a:buNone/>
            </a:pPr>
            <a:r>
              <a:rPr lang="en-US" sz="700" spc="120" kern="0" dirty="0">
                <a:solidFill>
                  <a:srgbClr val="83BADF"/>
                </a:solidFill>
                <a:latin typeface="Arial" pitchFamily="34" charset="0"/>
                <a:ea typeface="Arial" pitchFamily="34" charset="-122"/>
                <a:cs typeface="Arial" pitchFamily="34" charset="-120"/>
              </a:rPr>
              <a:t>ACT 2 / CONTRAST</a:t>
            </a:r>
            <a:endParaRPr lang="en-US" sz="700" dirty="0"/>
          </a:p>
        </p:txBody>
      </p:sp>
      <p:sp>
        <p:nvSpPr>
          <p:cNvPr id="8" name="Text 6"/>
          <p:cNvSpPr/>
          <p:nvPr/>
        </p:nvSpPr>
        <p:spPr>
          <a:xfrm>
            <a:off x="1499616" y="612648"/>
            <a:ext cx="9692640" cy="594360"/>
          </a:xfrm>
          <a:prstGeom prst="rect">
            <a:avLst/>
          </a:prstGeom>
          <a:noFill/>
          <a:ln/>
        </p:spPr>
        <p:txBody>
          <a:bodyPr wrap="square" lIns="0" tIns="0" rIns="0" bIns="0" rtlCol="0" anchor="t">
            <a:normAutofit/>
          </a:bodyPr>
          <a:lstStyle/>
          <a:p>
            <a:pPr indent="0" marL="0">
              <a:buNone/>
            </a:pPr>
            <a:r>
              <a:rPr lang="en-US" sz="2800" dirty="0">
                <a:solidFill>
                  <a:srgbClr val="ECDED6"/>
                </a:solidFill>
                <a:latin typeface="Georgia" pitchFamily="34" charset="0"/>
                <a:ea typeface="Georgia" pitchFamily="34" charset="-122"/>
                <a:cs typeface="Georgia" pitchFamily="34" charset="-120"/>
              </a:rPr>
              <a:t>Change the light in the sentence.</a:t>
            </a:r>
            <a:endParaRPr lang="en-US" sz="2800" dirty="0"/>
          </a:p>
        </p:txBody>
      </p:sp>
      <p:sp>
        <p:nvSpPr>
          <p:cNvPr id="9" name="Text 7"/>
          <p:cNvSpPr/>
          <p:nvPr/>
        </p:nvSpPr>
        <p:spPr>
          <a:xfrm>
            <a:off x="11475720" y="438912"/>
            <a:ext cx="1325880" cy="182880"/>
          </a:xfrm>
          <a:prstGeom prst="rect">
            <a:avLst/>
          </a:prstGeom>
          <a:noFill/>
          <a:ln/>
        </p:spPr>
        <p:txBody>
          <a:bodyPr wrap="square" lIns="0" tIns="0" rIns="0" bIns="0" rtlCol="0" anchor="t">
            <a:normAutofit/>
          </a:bodyPr>
          <a:lstStyle/>
          <a:p>
            <a:pPr algn="r" indent="0" marL="0">
              <a:buNone/>
            </a:pPr>
            <a:r>
              <a:rPr lang="en-US" sz="700" dirty="0">
                <a:solidFill>
                  <a:srgbClr val="83BADF"/>
                </a:solidFill>
                <a:latin typeface="Arial" pitchFamily="34" charset="0"/>
                <a:ea typeface="Arial" pitchFamily="34" charset="-122"/>
                <a:cs typeface="Arial" pitchFamily="34" charset="-120"/>
              </a:rPr>
              <a:t>LOCAL / UNMARKED</a:t>
            </a:r>
            <a:endParaRPr lang="en-US" sz="700" dirty="0"/>
          </a:p>
        </p:txBody>
      </p:sp>
      <p:sp>
        <p:nvSpPr>
          <p:cNvPr id="10" name="Shape 8"/>
          <p:cNvSpPr/>
          <p:nvPr/>
        </p:nvSpPr>
        <p:spPr>
          <a:xfrm>
            <a:off x="1499616" y="1307592"/>
            <a:ext cx="1819656" cy="448056"/>
          </a:xfrm>
          <a:prstGeom prst="rect">
            <a:avLst/>
          </a:prstGeom>
          <a:solidFill>
            <a:srgbClr val="12253B"/>
          </a:solidFill>
          <a:ln w="8890">
            <a:solidFill>
              <a:srgbClr val="6D5768"/>
            </a:solidFill>
            <a:prstDash val="solid"/>
          </a:ln>
        </p:spPr>
      </p:sp>
      <p:sp>
        <p:nvSpPr>
          <p:cNvPr id="11" name="Text 9"/>
          <p:cNvSpPr/>
          <p:nvPr/>
        </p:nvSpPr>
        <p:spPr>
          <a:xfrm>
            <a:off x="1572768"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83BADF"/>
                </a:solidFill>
                <a:latin typeface="Georgia" pitchFamily="34" charset="0"/>
                <a:ea typeface="Georgia" pitchFamily="34" charset="-122"/>
                <a:cs typeface="Georgia" pitchFamily="34" charset="-120"/>
              </a:rPr>
              <a:t>1</a:t>
            </a:r>
            <a:endParaRPr lang="en-US" sz="1700" dirty="0"/>
          </a:p>
        </p:txBody>
      </p:sp>
      <p:sp>
        <p:nvSpPr>
          <p:cNvPr id="12" name="Text 10"/>
          <p:cNvSpPr/>
          <p:nvPr/>
        </p:nvSpPr>
        <p:spPr>
          <a:xfrm>
            <a:off x="1865376"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Set two versions side by side.</a:t>
            </a:r>
            <a:endParaRPr lang="en-US" sz="700" dirty="0"/>
          </a:p>
        </p:txBody>
      </p:sp>
      <p:sp>
        <p:nvSpPr>
          <p:cNvPr id="13" name="Shape 11"/>
          <p:cNvSpPr/>
          <p:nvPr/>
        </p:nvSpPr>
        <p:spPr>
          <a:xfrm>
            <a:off x="3392424" y="1307592"/>
            <a:ext cx="1819656" cy="448056"/>
          </a:xfrm>
          <a:prstGeom prst="rect">
            <a:avLst/>
          </a:prstGeom>
          <a:solidFill>
            <a:srgbClr val="12253B"/>
          </a:solidFill>
          <a:ln w="8890">
            <a:solidFill>
              <a:srgbClr val="83BADF"/>
            </a:solidFill>
            <a:prstDash val="solid"/>
          </a:ln>
        </p:spPr>
      </p:sp>
      <p:sp>
        <p:nvSpPr>
          <p:cNvPr id="14" name="Text 12"/>
          <p:cNvSpPr/>
          <p:nvPr/>
        </p:nvSpPr>
        <p:spPr>
          <a:xfrm>
            <a:off x="3465576"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83BADF"/>
                </a:solidFill>
                <a:latin typeface="Georgia" pitchFamily="34" charset="0"/>
                <a:ea typeface="Georgia" pitchFamily="34" charset="-122"/>
                <a:cs typeface="Georgia" pitchFamily="34" charset="-120"/>
              </a:rPr>
              <a:t>2</a:t>
            </a:r>
            <a:endParaRPr lang="en-US" sz="1700" dirty="0"/>
          </a:p>
        </p:txBody>
      </p:sp>
      <p:sp>
        <p:nvSpPr>
          <p:cNvPr id="15" name="Text 13"/>
          <p:cNvSpPr/>
          <p:nvPr/>
        </p:nvSpPr>
        <p:spPr>
          <a:xfrm>
            <a:off x="3758184"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Change the light in the sentence.</a:t>
            </a:r>
            <a:endParaRPr lang="en-US" sz="700" dirty="0"/>
          </a:p>
        </p:txBody>
      </p:sp>
      <p:sp>
        <p:nvSpPr>
          <p:cNvPr id="16" name="Shape 14"/>
          <p:cNvSpPr/>
          <p:nvPr/>
        </p:nvSpPr>
        <p:spPr>
          <a:xfrm>
            <a:off x="5285232" y="1307592"/>
            <a:ext cx="1819656" cy="448056"/>
          </a:xfrm>
          <a:prstGeom prst="rect">
            <a:avLst/>
          </a:prstGeom>
          <a:solidFill>
            <a:srgbClr val="12253B"/>
          </a:solidFill>
          <a:ln w="8890">
            <a:solidFill>
              <a:srgbClr val="6D5768"/>
            </a:solidFill>
            <a:prstDash val="solid"/>
          </a:ln>
        </p:spPr>
      </p:sp>
      <p:sp>
        <p:nvSpPr>
          <p:cNvPr id="17" name="Text 15"/>
          <p:cNvSpPr/>
          <p:nvPr/>
        </p:nvSpPr>
        <p:spPr>
          <a:xfrm>
            <a:off x="5358384"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83BADF"/>
                </a:solidFill>
                <a:latin typeface="Georgia" pitchFamily="34" charset="0"/>
                <a:ea typeface="Georgia" pitchFamily="34" charset="-122"/>
                <a:cs typeface="Georgia" pitchFamily="34" charset="-120"/>
              </a:rPr>
              <a:t>3</a:t>
            </a:r>
            <a:endParaRPr lang="en-US" sz="1700" dirty="0"/>
          </a:p>
        </p:txBody>
      </p:sp>
      <p:sp>
        <p:nvSpPr>
          <p:cNvPr id="18" name="Text 16"/>
          <p:cNvSpPr/>
          <p:nvPr/>
        </p:nvSpPr>
        <p:spPr>
          <a:xfrm>
            <a:off x="5650992"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Let silence have alternatives.</a:t>
            </a:r>
            <a:endParaRPr lang="en-US" sz="700" dirty="0"/>
          </a:p>
        </p:txBody>
      </p:sp>
      <p:sp>
        <p:nvSpPr>
          <p:cNvPr id="19" name="Shape 17"/>
          <p:cNvSpPr/>
          <p:nvPr/>
        </p:nvSpPr>
        <p:spPr>
          <a:xfrm>
            <a:off x="7178040" y="1307592"/>
            <a:ext cx="1819656" cy="448056"/>
          </a:xfrm>
          <a:prstGeom prst="rect">
            <a:avLst/>
          </a:prstGeom>
          <a:solidFill>
            <a:srgbClr val="12253B"/>
          </a:solidFill>
          <a:ln w="8890">
            <a:solidFill>
              <a:srgbClr val="6D5768"/>
            </a:solidFill>
            <a:prstDash val="solid"/>
          </a:ln>
        </p:spPr>
      </p:sp>
      <p:sp>
        <p:nvSpPr>
          <p:cNvPr id="20" name="Text 18"/>
          <p:cNvSpPr/>
          <p:nvPr/>
        </p:nvSpPr>
        <p:spPr>
          <a:xfrm>
            <a:off x="7251192"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83BADF"/>
                </a:solidFill>
                <a:latin typeface="Georgia" pitchFamily="34" charset="0"/>
                <a:ea typeface="Georgia" pitchFamily="34" charset="-122"/>
                <a:cs typeface="Georgia" pitchFamily="34" charset="-120"/>
              </a:rPr>
              <a:t>4</a:t>
            </a:r>
            <a:endParaRPr lang="en-US" sz="1700" dirty="0"/>
          </a:p>
        </p:txBody>
      </p:sp>
      <p:sp>
        <p:nvSpPr>
          <p:cNvPr id="21" name="Text 19"/>
          <p:cNvSpPr/>
          <p:nvPr/>
        </p:nvSpPr>
        <p:spPr>
          <a:xfrm>
            <a:off x="7543800"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Offer a generous disagreement.</a:t>
            </a:r>
            <a:endParaRPr lang="en-US" sz="700" dirty="0"/>
          </a:p>
        </p:txBody>
      </p:sp>
      <p:sp>
        <p:nvSpPr>
          <p:cNvPr id="22" name="Shape 20"/>
          <p:cNvSpPr/>
          <p:nvPr/>
        </p:nvSpPr>
        <p:spPr>
          <a:xfrm>
            <a:off x="9070848" y="1307592"/>
            <a:ext cx="1819656" cy="448056"/>
          </a:xfrm>
          <a:prstGeom prst="rect">
            <a:avLst/>
          </a:prstGeom>
          <a:solidFill>
            <a:srgbClr val="12253B"/>
          </a:solidFill>
          <a:ln w="8890">
            <a:solidFill>
              <a:srgbClr val="6D5768"/>
            </a:solidFill>
            <a:prstDash val="solid"/>
          </a:ln>
        </p:spPr>
      </p:sp>
      <p:sp>
        <p:nvSpPr>
          <p:cNvPr id="23" name="Text 21"/>
          <p:cNvSpPr/>
          <p:nvPr/>
        </p:nvSpPr>
        <p:spPr>
          <a:xfrm>
            <a:off x="9144000"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83BADF"/>
                </a:solidFill>
                <a:latin typeface="Georgia" pitchFamily="34" charset="0"/>
                <a:ea typeface="Georgia" pitchFamily="34" charset="-122"/>
                <a:cs typeface="Georgia" pitchFamily="34" charset="-120"/>
              </a:rPr>
              <a:t>5</a:t>
            </a:r>
            <a:endParaRPr lang="en-US" sz="1700" dirty="0"/>
          </a:p>
        </p:txBody>
      </p:sp>
      <p:sp>
        <p:nvSpPr>
          <p:cNvPr id="24" name="Text 22"/>
          <p:cNvSpPr/>
          <p:nvPr/>
        </p:nvSpPr>
        <p:spPr>
          <a:xfrm>
            <a:off x="9436608"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Test a reversal of expectation.</a:t>
            </a:r>
            <a:endParaRPr lang="en-US" sz="700" dirty="0"/>
          </a:p>
        </p:txBody>
      </p:sp>
      <p:sp>
        <p:nvSpPr>
          <p:cNvPr id="25" name="Shape 23"/>
          <p:cNvSpPr/>
          <p:nvPr/>
        </p:nvSpPr>
        <p:spPr>
          <a:xfrm>
            <a:off x="10963656" y="1307592"/>
            <a:ext cx="1819656" cy="448056"/>
          </a:xfrm>
          <a:prstGeom prst="rect">
            <a:avLst/>
          </a:prstGeom>
          <a:solidFill>
            <a:srgbClr val="12253B"/>
          </a:solidFill>
          <a:ln w="8890">
            <a:solidFill>
              <a:srgbClr val="6D5768"/>
            </a:solidFill>
            <a:prstDash val="solid"/>
          </a:ln>
        </p:spPr>
      </p:sp>
      <p:sp>
        <p:nvSpPr>
          <p:cNvPr id="26" name="Text 24"/>
          <p:cNvSpPr/>
          <p:nvPr/>
        </p:nvSpPr>
        <p:spPr>
          <a:xfrm>
            <a:off x="11036808"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83BADF"/>
                </a:solidFill>
                <a:latin typeface="Georgia" pitchFamily="34" charset="0"/>
                <a:ea typeface="Georgia" pitchFamily="34" charset="-122"/>
                <a:cs typeface="Georgia" pitchFamily="34" charset="-120"/>
              </a:rPr>
              <a:t>6</a:t>
            </a:r>
            <a:endParaRPr lang="en-US" sz="1700" dirty="0"/>
          </a:p>
        </p:txBody>
      </p:sp>
      <p:sp>
        <p:nvSpPr>
          <p:cNvPr id="27" name="Text 25"/>
          <p:cNvSpPr/>
          <p:nvPr/>
        </p:nvSpPr>
        <p:spPr>
          <a:xfrm>
            <a:off x="11329416"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Name what contrast reveals.</a:t>
            </a:r>
            <a:endParaRPr lang="en-US" sz="700" dirty="0"/>
          </a:p>
        </p:txBody>
      </p:sp>
      <p:pic>
        <p:nvPicPr>
          <p:cNvPr id="28" name="Image 0" descr="/home/user/design-buddy/design-buddy-home/public/atelier/afterglow/images/04.jpg">    </p:cNvPr>
          <p:cNvPicPr>
            <a:picLocks noChangeAspect="1"/>
          </p:cNvPicPr>
          <p:nvPr/>
        </p:nvPicPr>
        <p:blipFill>
          <a:blip r:embed="rId1"/>
          <a:srcRect l="0" r="0" t="0" b="0"/>
          <a:stretch/>
        </p:blipFill>
        <p:spPr>
          <a:xfrm>
            <a:off x="1499616" y="2066544"/>
            <a:ext cx="6949440" cy="3840480"/>
          </a:xfrm>
          <a:prstGeom prst="rect">
            <a:avLst/>
          </a:prstGeom>
        </p:spPr>
      </p:pic>
      <p:sp>
        <p:nvSpPr>
          <p:cNvPr id="29" name="Text 26"/>
          <p:cNvSpPr/>
          <p:nvPr/>
        </p:nvSpPr>
        <p:spPr>
          <a:xfrm>
            <a:off x="1499616" y="6007608"/>
            <a:ext cx="6949440" cy="164592"/>
          </a:xfrm>
          <a:prstGeom prst="rect">
            <a:avLst/>
          </a:prstGeom>
          <a:noFill/>
          <a:ln/>
        </p:spPr>
        <p:txBody>
          <a:bodyPr wrap="square" lIns="0" tIns="0" rIns="0" bIns="0" rtlCol="0" anchor="t">
            <a:normAutofit/>
          </a:bodyPr>
          <a:lstStyle/>
          <a:p>
            <a:pPr indent="0" marL="0">
              <a:buNone/>
            </a:pPr>
            <a:r>
              <a:rPr lang="en-US" sz="650" dirty="0">
                <a:solidFill>
                  <a:srgbClr val="C0AAB9"/>
                </a:solidFill>
                <a:latin typeface="Arial" pitchFamily="34" charset="0"/>
                <a:ea typeface="Arial" pitchFamily="34" charset="-122"/>
                <a:cs typeface="Arial" pitchFamily="34" charset="-120"/>
              </a:rPr>
              <a:t>Watercolour 4 / invented setting and adults / not production evidence</a:t>
            </a:r>
            <a:endParaRPr lang="en-US" sz="650" dirty="0"/>
          </a:p>
        </p:txBody>
      </p:sp>
      <p:sp>
        <p:nvSpPr>
          <p:cNvPr id="30" name="Text 27"/>
          <p:cNvSpPr/>
          <p:nvPr/>
        </p:nvSpPr>
        <p:spPr>
          <a:xfrm>
            <a:off x="8705088" y="2139696"/>
            <a:ext cx="4133088" cy="164592"/>
          </a:xfrm>
          <a:prstGeom prst="rect">
            <a:avLst/>
          </a:prstGeom>
          <a:noFill/>
          <a:ln/>
        </p:spPr>
        <p:txBody>
          <a:bodyPr wrap="square" lIns="0" tIns="0" rIns="0" bIns="0" rtlCol="0" anchor="t">
            <a:normAutofit/>
          </a:bodyPr>
          <a:lstStyle/>
          <a:p>
            <a:pPr indent="0" marL="0">
              <a:buNone/>
            </a:pPr>
            <a:r>
              <a:rPr lang="en-US" sz="700" spc="110" kern="0" dirty="0">
                <a:solidFill>
                  <a:srgbClr val="83BADF"/>
                </a:solidFill>
                <a:latin typeface="Arial" pitchFamily="34" charset="0"/>
                <a:ea typeface="Arial" pitchFamily="34" charset="-122"/>
                <a:cs typeface="Arial" pitchFamily="34" charset="-120"/>
              </a:rPr>
              <a:t>STORY INTENTION</a:t>
            </a:r>
            <a:endParaRPr lang="en-US" sz="700" dirty="0"/>
          </a:p>
        </p:txBody>
      </p:sp>
      <p:sp>
        <p:nvSpPr>
          <p:cNvPr id="31" name="Text 28"/>
          <p:cNvSpPr/>
          <p:nvPr/>
        </p:nvSpPr>
        <p:spPr>
          <a:xfrm>
            <a:off x="8705088" y="2514600"/>
            <a:ext cx="4133088" cy="1828800"/>
          </a:xfrm>
          <a:prstGeom prst="rect">
            <a:avLst/>
          </a:prstGeom>
          <a:noFill/>
          <a:ln/>
        </p:spPr>
        <p:txBody>
          <a:bodyPr wrap="square" lIns="0" tIns="0" rIns="0" bIns="0" rtlCol="0" anchor="t">
            <a:normAutofit/>
          </a:bodyPr>
          <a:lstStyle/>
          <a:p>
            <a:pPr indent="0" marL="0">
              <a:buNone/>
            </a:pPr>
            <a:r>
              <a:rPr lang="en-US" sz="1575" dirty="0">
                <a:solidFill>
                  <a:srgbClr val="ECDED6"/>
                </a:solidFill>
                <a:latin typeface="Georgia" pitchFamily="34" charset="0"/>
                <a:ea typeface="Georgia" pitchFamily="34" charset="-122"/>
                <a:cs typeface="Georgia" pitchFamily="34" charset="-120"/>
              </a:rPr>
              <a:t>Describe the same lobby first with distant violet evening, then with warm amber lamps. Use language to explore mood. The pictures are visual prompts, not a lighting specification or electrical plan.</a:t>
            </a:r>
            <a:endParaRPr lang="en-US" sz="1575" dirty="0"/>
          </a:p>
        </p:txBody>
      </p:sp>
      <p:sp>
        <p:nvSpPr>
          <p:cNvPr id="32" name="Text 29"/>
          <p:cNvSpPr/>
          <p:nvPr/>
        </p:nvSpPr>
        <p:spPr>
          <a:xfrm>
            <a:off x="8705088" y="4572000"/>
            <a:ext cx="4133088" cy="164592"/>
          </a:xfrm>
          <a:prstGeom prst="rect">
            <a:avLst/>
          </a:prstGeom>
          <a:noFill/>
          <a:ln/>
        </p:spPr>
        <p:txBody>
          <a:bodyPr wrap="square" lIns="0" tIns="0" rIns="0" bIns="0" rtlCol="0" anchor="t">
            <a:normAutofit/>
          </a:bodyPr>
          <a:lstStyle/>
          <a:p>
            <a:pPr indent="0" marL="0">
              <a:buNone/>
            </a:pPr>
            <a:r>
              <a:rPr lang="en-US" sz="700" spc="110" kern="0" dirty="0">
                <a:solidFill>
                  <a:srgbClr val="83BADF"/>
                </a:solidFill>
                <a:latin typeface="Arial" pitchFamily="34" charset="0"/>
                <a:ea typeface="Arial" pitchFamily="34" charset="-122"/>
                <a:cs typeface="Arial" pitchFamily="34" charset="-120"/>
              </a:rPr>
              <a:t>LEAVE A QUESTION</a:t>
            </a:r>
            <a:endParaRPr lang="en-US" sz="700" dirty="0"/>
          </a:p>
        </p:txBody>
      </p:sp>
      <p:sp>
        <p:nvSpPr>
          <p:cNvPr id="33" name="Text 30"/>
          <p:cNvSpPr/>
          <p:nvPr/>
        </p:nvSpPr>
        <p:spPr>
          <a:xfrm>
            <a:off x="8705088" y="4910328"/>
            <a:ext cx="4133088" cy="822960"/>
          </a:xfrm>
          <a:prstGeom prst="rect">
            <a:avLst/>
          </a:prstGeom>
          <a:noFill/>
          <a:ln/>
        </p:spPr>
        <p:txBody>
          <a:bodyPr wrap="square" lIns="0" tIns="0" rIns="0" bIns="0" rtlCol="0" anchor="t">
            <a:normAutofit/>
          </a:bodyPr>
          <a:lstStyle/>
          <a:p>
            <a:pPr indent="0" marL="0">
              <a:buNone/>
            </a:pPr>
            <a:r>
              <a:rPr lang="en-US" sz="1875" i="1" dirty="0">
                <a:solidFill>
                  <a:srgbClr val="83BADF"/>
                </a:solidFill>
                <a:latin typeface="Georgia" pitchFamily="34" charset="0"/>
                <a:ea typeface="Georgia" pitchFamily="34" charset="-122"/>
                <a:cs typeface="Georgia" pitchFamily="34" charset="-120"/>
              </a:rPr>
              <a:t>What emotional reading changes while the facts stay the same?</a:t>
            </a:r>
            <a:endParaRPr lang="en-US" sz="1875" dirty="0"/>
          </a:p>
        </p:txBody>
      </p:sp>
      <p:sp>
        <p:nvSpPr>
          <p:cNvPr id="34" name="Text 31"/>
          <p:cNvSpPr/>
          <p:nvPr/>
        </p:nvSpPr>
        <p:spPr>
          <a:xfrm>
            <a:off x="8705088" y="5806440"/>
            <a:ext cx="4133088" cy="292608"/>
          </a:xfrm>
          <a:prstGeom prst="rect">
            <a:avLst/>
          </a:prstGeom>
          <a:noFill/>
          <a:ln/>
        </p:spPr>
        <p:txBody>
          <a:bodyPr wrap="square" lIns="0" tIns="0" rIns="0" bIns="0" rtlCol="0" anchor="t">
            <a:normAutofit/>
          </a:bodyPr>
          <a:lstStyle/>
          <a:p>
            <a:pPr indent="0" marL="0">
              <a:buNone/>
            </a:pPr>
            <a:r>
              <a:rPr lang="en-US" sz="700" dirty="0">
                <a:solidFill>
                  <a:srgbClr val="C0AAB9"/>
                </a:solidFill>
                <a:latin typeface="Arial" pitchFamily="34" charset="0"/>
                <a:ea typeface="Arial" pitchFamily="34" charset="-122"/>
                <a:cs typeface="Arial" pitchFamily="34" charset="-120"/>
              </a:rPr>
              <a:t>Beat order is not timing, a technical call or a show schedule.</a:t>
            </a:r>
            <a:endParaRPr lang="en-US" sz="700" dirty="0"/>
          </a:p>
        </p:txBody>
      </p:sp>
      <p:sp>
        <p:nvSpPr>
          <p:cNvPr id="35" name="Shape 32"/>
          <p:cNvSpPr/>
          <p:nvPr/>
        </p:nvSpPr>
        <p:spPr>
          <a:xfrm>
            <a:off x="1499616" y="6583680"/>
            <a:ext cx="3675888" cy="1481328"/>
          </a:xfrm>
          <a:prstGeom prst="rect">
            <a:avLst/>
          </a:prstGeom>
          <a:solidFill>
            <a:srgbClr val="12253B"/>
          </a:solidFill>
          <a:ln w="8890">
            <a:solidFill>
              <a:srgbClr val="735D6D"/>
            </a:solidFill>
            <a:prstDash val="solid"/>
          </a:ln>
        </p:spPr>
      </p:sp>
      <p:sp>
        <p:nvSpPr>
          <p:cNvPr id="36" name="Text 33"/>
          <p:cNvSpPr/>
          <p:nvPr/>
        </p:nvSpPr>
        <p:spPr>
          <a:xfrm>
            <a:off x="1682496"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83BADF"/>
                </a:solidFill>
                <a:latin typeface="Arial" pitchFamily="34" charset="0"/>
                <a:ea typeface="Arial" pitchFamily="34" charset="-122"/>
                <a:cs typeface="Arial" pitchFamily="34" charset="-120"/>
              </a:rPr>
              <a:t>01 / NOTICE</a:t>
            </a:r>
            <a:endParaRPr lang="en-US" sz="700" dirty="0"/>
          </a:p>
        </p:txBody>
      </p:sp>
      <p:sp>
        <p:nvSpPr>
          <p:cNvPr id="37" name="Text 34"/>
          <p:cNvSpPr/>
          <p:nvPr/>
        </p:nvSpPr>
        <p:spPr>
          <a:xfrm>
            <a:off x="1682496"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Colour can suggest a mood without proving an emotion.</a:t>
            </a:r>
            <a:endParaRPr lang="en-US" sz="1500" dirty="0"/>
          </a:p>
        </p:txBody>
      </p:sp>
      <p:sp>
        <p:nvSpPr>
          <p:cNvPr id="38" name="Shape 35"/>
          <p:cNvSpPr/>
          <p:nvPr/>
        </p:nvSpPr>
        <p:spPr>
          <a:xfrm>
            <a:off x="5321808" y="6583680"/>
            <a:ext cx="3675888" cy="1481328"/>
          </a:xfrm>
          <a:prstGeom prst="rect">
            <a:avLst/>
          </a:prstGeom>
          <a:solidFill>
            <a:srgbClr val="12253B"/>
          </a:solidFill>
          <a:ln w="8890">
            <a:solidFill>
              <a:srgbClr val="735D6D"/>
            </a:solidFill>
            <a:prstDash val="solid"/>
          </a:ln>
        </p:spPr>
      </p:sp>
      <p:sp>
        <p:nvSpPr>
          <p:cNvPr id="39" name="Text 36"/>
          <p:cNvSpPr/>
          <p:nvPr/>
        </p:nvSpPr>
        <p:spPr>
          <a:xfrm>
            <a:off x="5504688"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83BADF"/>
                </a:solidFill>
                <a:latin typeface="Arial" pitchFamily="34" charset="0"/>
                <a:ea typeface="Arial" pitchFamily="34" charset="-122"/>
                <a:cs typeface="Arial" pitchFamily="34" charset="-120"/>
              </a:rPr>
              <a:t>02 / TRY IN WORDS</a:t>
            </a:r>
            <a:endParaRPr lang="en-US" sz="700" dirty="0"/>
          </a:p>
        </p:txBody>
      </p:sp>
      <p:sp>
        <p:nvSpPr>
          <p:cNvPr id="40" name="Text 37"/>
          <p:cNvSpPr/>
          <p:nvPr/>
        </p:nvSpPr>
        <p:spPr>
          <a:xfrm>
            <a:off x="5504688"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Replace three descriptive words, leaving the action unchanged.</a:t>
            </a:r>
            <a:endParaRPr lang="en-US" sz="1500" dirty="0"/>
          </a:p>
        </p:txBody>
      </p:sp>
      <p:sp>
        <p:nvSpPr>
          <p:cNvPr id="41" name="Shape 38"/>
          <p:cNvSpPr/>
          <p:nvPr/>
        </p:nvSpPr>
        <p:spPr>
          <a:xfrm>
            <a:off x="9144000" y="6583680"/>
            <a:ext cx="3675888" cy="1481328"/>
          </a:xfrm>
          <a:prstGeom prst="rect">
            <a:avLst/>
          </a:prstGeom>
          <a:solidFill>
            <a:srgbClr val="12253B"/>
          </a:solidFill>
          <a:ln w="8890">
            <a:solidFill>
              <a:srgbClr val="735D6D"/>
            </a:solidFill>
            <a:prstDash val="solid"/>
          </a:ln>
        </p:spPr>
      </p:sp>
      <p:sp>
        <p:nvSpPr>
          <p:cNvPr id="42" name="Text 39"/>
          <p:cNvSpPr/>
          <p:nvPr/>
        </p:nvSpPr>
        <p:spPr>
          <a:xfrm>
            <a:off x="9326880"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83BADF"/>
                </a:solidFill>
                <a:latin typeface="Arial" pitchFamily="34" charset="0"/>
                <a:ea typeface="Arial" pitchFamily="34" charset="-122"/>
                <a:cs typeface="Arial" pitchFamily="34" charset="-120"/>
              </a:rPr>
              <a:t>03 / KEEP VISIBLE</a:t>
            </a:r>
            <a:endParaRPr lang="en-US" sz="700" dirty="0"/>
          </a:p>
        </p:txBody>
      </p:sp>
      <p:sp>
        <p:nvSpPr>
          <p:cNvPr id="43" name="Text 40"/>
          <p:cNvSpPr/>
          <p:nvPr/>
        </p:nvSpPr>
        <p:spPr>
          <a:xfrm>
            <a:off x="9326880"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Do not turn a colour association into a universal rule.</a:t>
            </a:r>
            <a:endParaRPr lang="en-US" sz="1500" dirty="0"/>
          </a:p>
        </p:txBody>
      </p:sp>
      <p:sp>
        <p:nvSpPr>
          <p:cNvPr id="44" name="Shape 41"/>
          <p:cNvSpPr/>
          <p:nvPr/>
        </p:nvSpPr>
        <p:spPr>
          <a:xfrm>
            <a:off x="1499616" y="8211312"/>
            <a:ext cx="11338560" cy="0"/>
          </a:xfrm>
          <a:prstGeom prst="line">
            <a:avLst/>
          </a:prstGeom>
          <a:noFill/>
          <a:ln w="8890">
            <a:solidFill>
              <a:srgbClr val="796170"/>
            </a:solidFill>
            <a:prstDash val="solid"/>
          </a:ln>
        </p:spPr>
      </p:sp>
      <p:sp>
        <p:nvSpPr>
          <p:cNvPr id="45" name="Text 42"/>
          <p:cNvSpPr/>
          <p:nvPr/>
        </p:nvSpPr>
        <p:spPr>
          <a:xfrm>
            <a:off x="1499616" y="8339328"/>
            <a:ext cx="8229600" cy="118872"/>
          </a:xfrm>
          <a:prstGeom prst="rect">
            <a:avLst/>
          </a:prstGeom>
          <a:noFill/>
          <a:ln/>
        </p:spPr>
        <p:txBody>
          <a:bodyPr wrap="square" lIns="0" tIns="0" rIns="0" bIns="0" rtlCol="0" anchor="t">
            <a:normAutofit/>
          </a:bodyPr>
          <a:lstStyle/>
          <a:p>
            <a:pPr indent="0" marL="0">
              <a:buNone/>
            </a:pPr>
            <a:r>
              <a:rPr lang="en-US" sz="650" dirty="0">
                <a:solidFill>
                  <a:srgbClr val="C0AAB9"/>
                </a:solidFill>
                <a:latin typeface="Arial" pitchFamily="34" charset="0"/>
                <a:ea typeface="Arial" pitchFamily="34" charset="-122"/>
                <a:cs typeface="Arial" pitchFamily="34" charset="-120"/>
              </a:rPr>
              <a:t>FICTIONAL WRITING WORKSHOP / NOT A STAGING OR APPROVAL PLAN</a:t>
            </a:r>
            <a:endParaRPr lang="en-US" sz="650" dirty="0"/>
          </a:p>
        </p:txBody>
      </p:sp>
      <p:sp>
        <p:nvSpPr>
          <p:cNvPr id="46" name="Text 43"/>
          <p:cNvSpPr/>
          <p:nvPr/>
        </p:nvSpPr>
        <p:spPr>
          <a:xfrm>
            <a:off x="9729216" y="8339328"/>
            <a:ext cx="3108960" cy="118872"/>
          </a:xfrm>
          <a:prstGeom prst="rect">
            <a:avLst/>
          </a:prstGeom>
          <a:noFill/>
          <a:ln/>
        </p:spPr>
        <p:txBody>
          <a:bodyPr wrap="square" lIns="0" tIns="0" rIns="0" bIns="0" rtlCol="0" anchor="t">
            <a:normAutofit/>
          </a:bodyPr>
          <a:lstStyle/>
          <a:p>
            <a:pPr algn="r" indent="0" marL="0">
              <a:buNone/>
            </a:pPr>
            <a:r>
              <a:rPr lang="en-US" sz="650" dirty="0">
                <a:solidFill>
                  <a:srgbClr val="C0AAB9"/>
                </a:solidFill>
                <a:latin typeface="Arial" pitchFamily="34" charset="0"/>
                <a:ea typeface="Arial" pitchFamily="34" charset="-122"/>
                <a:cs typeface="Arial" pitchFamily="34" charset="-120"/>
              </a:rPr>
              <a:t>DRAFT / 14 OF 15 ARTWORKS / 8 OF 30</a:t>
            </a:r>
            <a:endParaRPr lang="en-US" sz="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253B"/>
        </a:solidFill>
      </p:bgPr>
    </p:bg>
    <p:spTree>
      <p:nvGrpSpPr>
        <p:cNvPr id="1" name=""/>
        <p:cNvGrpSpPr/>
        <p:nvPr/>
      </p:nvGrpSpPr>
      <p:grpSpPr>
        <a:xfrm>
          <a:off x="0" y="0"/>
          <a:ext cx="0" cy="0"/>
          <a:chOff x="0" y="0"/>
          <a:chExt cx="0" cy="0"/>
        </a:xfrm>
      </p:grpSpPr>
      <p:sp>
        <p:nvSpPr>
          <p:cNvPr id="2" name="Shape 0"/>
          <p:cNvSpPr/>
          <p:nvPr/>
        </p:nvSpPr>
        <p:spPr>
          <a:xfrm>
            <a:off x="1243584" y="329184"/>
            <a:ext cx="0" cy="8119872"/>
          </a:xfrm>
          <a:prstGeom prst="line">
            <a:avLst/>
          </a:prstGeom>
          <a:noFill/>
          <a:ln w="10160">
            <a:solidFill>
              <a:srgbClr val="776072"/>
            </a:solidFill>
            <a:prstDash val="solid"/>
          </a:ln>
        </p:spPr>
      </p:sp>
      <p:sp>
        <p:nvSpPr>
          <p:cNvPr id="3" name="Text 1"/>
          <p:cNvSpPr/>
          <p:nvPr/>
        </p:nvSpPr>
        <p:spPr>
          <a:xfrm>
            <a:off x="393192" y="457200"/>
            <a:ext cx="685800" cy="457200"/>
          </a:xfrm>
          <a:prstGeom prst="rect">
            <a:avLst/>
          </a:prstGeom>
          <a:noFill/>
          <a:ln/>
        </p:spPr>
        <p:txBody>
          <a:bodyPr wrap="square" lIns="0" tIns="0" rIns="0" bIns="0" rtlCol="0" anchor="t">
            <a:normAutofit/>
          </a:bodyPr>
          <a:lstStyle/>
          <a:p>
            <a:pPr indent="0" marL="0">
              <a:buNone/>
            </a:pPr>
            <a:r>
              <a:rPr lang="en-US" sz="600" dirty="0">
                <a:solidFill>
                  <a:srgbClr val="C0AAB9"/>
                </a:solidFill>
                <a:latin typeface="Arial" pitchFamily="34" charset="0"/>
                <a:ea typeface="Arial" pitchFamily="34" charset="-122"/>
                <a:cs typeface="Arial" pitchFamily="34" charset="-120"/>
              </a:rPr>
              <a:t>DESIGN BUDDY</a:t>
            </a:r>
            <a:endParaRPr lang="en-US" sz="600" dirty="0"/>
          </a:p>
          <a:p>
            <a:pPr indent="0" marL="0">
              <a:buNone/>
            </a:pPr>
            <a:r>
              <a:rPr lang="en-US" sz="600" dirty="0">
                <a:solidFill>
                  <a:srgbClr val="C0AAB9"/>
                </a:solidFill>
                <a:latin typeface="Arial" pitchFamily="34" charset="0"/>
                <a:ea typeface="Arial" pitchFamily="34" charset="-122"/>
                <a:cs typeface="Arial" pitchFamily="34" charset="-120"/>
              </a:rPr>
              <a:t>CREATIVE EXERCISE</a:t>
            </a:r>
            <a:endParaRPr lang="en-US" sz="600" dirty="0"/>
          </a:p>
        </p:txBody>
      </p:sp>
      <p:sp>
        <p:nvSpPr>
          <p:cNvPr id="4" name="Text 2"/>
          <p:cNvSpPr/>
          <p:nvPr/>
        </p:nvSpPr>
        <p:spPr>
          <a:xfrm>
            <a:off x="502920" y="1920240"/>
            <a:ext cx="502920" cy="4480560"/>
          </a:xfrm>
          <a:prstGeom prst="rect">
            <a:avLst/>
          </a:prstGeom>
          <a:noFill/>
          <a:ln/>
        </p:spPr>
        <p:txBody>
          <a:bodyPr wrap="square" lIns="0" tIns="0" rIns="0" bIns="0" rtlCol="0" anchor="t">
            <a:normAutofit/>
          </a:bodyPr>
          <a:lstStyle/>
          <a:p>
            <a:pPr algn="ctr" indent="0" marL="0">
              <a:buNone/>
            </a:pPr>
            <a:r>
              <a:rPr lang="en-US" sz="2500" dirty="0">
                <a:solidFill>
                  <a:srgbClr val="83BADF"/>
                </a:solidFill>
                <a:latin typeface="Georgia" pitchFamily="34" charset="0"/>
                <a:ea typeface="Georgia" pitchFamily="34" charset="-122"/>
                <a:cs typeface="Georgia" pitchFamily="34" charset="-120"/>
              </a:rPr>
              <a:t>A</a:t>
            </a:r>
            <a:endParaRPr lang="en-US" sz="2500" dirty="0"/>
          </a:p>
          <a:p>
            <a:pPr algn="ctr" indent="0" marL="0">
              <a:buNone/>
            </a:pPr>
            <a:r>
              <a:rPr lang="en-US" sz="2500" dirty="0">
                <a:solidFill>
                  <a:srgbClr val="83BADF"/>
                </a:solidFill>
                <a:latin typeface="Georgia" pitchFamily="34" charset="0"/>
                <a:ea typeface="Georgia" pitchFamily="34" charset="-122"/>
                <a:cs typeface="Georgia" pitchFamily="34" charset="-120"/>
              </a:rPr>
              <a:t>F</a:t>
            </a:r>
            <a:endParaRPr lang="en-US" sz="2500" dirty="0"/>
          </a:p>
          <a:p>
            <a:pPr algn="ctr" indent="0" marL="0">
              <a:buNone/>
            </a:pPr>
            <a:r>
              <a:rPr lang="en-US" sz="2500" dirty="0">
                <a:solidFill>
                  <a:srgbClr val="83BADF"/>
                </a:solidFill>
                <a:latin typeface="Georgia" pitchFamily="34" charset="0"/>
                <a:ea typeface="Georgia" pitchFamily="34" charset="-122"/>
                <a:cs typeface="Georgia" pitchFamily="34" charset="-120"/>
              </a:rPr>
              <a:t>T</a:t>
            </a:r>
            <a:endParaRPr lang="en-US" sz="2500" dirty="0"/>
          </a:p>
          <a:p>
            <a:pPr algn="ctr" indent="0" marL="0">
              <a:buNone/>
            </a:pPr>
            <a:r>
              <a:rPr lang="en-US" sz="2500" dirty="0">
                <a:solidFill>
                  <a:srgbClr val="83BADF"/>
                </a:solidFill>
                <a:latin typeface="Georgia" pitchFamily="34" charset="0"/>
                <a:ea typeface="Georgia" pitchFamily="34" charset="-122"/>
                <a:cs typeface="Georgia" pitchFamily="34" charset="-120"/>
              </a:rPr>
              <a:t>E</a:t>
            </a:r>
            <a:endParaRPr lang="en-US" sz="2500" dirty="0"/>
          </a:p>
          <a:p>
            <a:pPr algn="ctr" indent="0" marL="0">
              <a:buNone/>
            </a:pPr>
            <a:r>
              <a:rPr lang="en-US" sz="2500" dirty="0">
                <a:solidFill>
                  <a:srgbClr val="83BADF"/>
                </a:solidFill>
                <a:latin typeface="Georgia" pitchFamily="34" charset="0"/>
                <a:ea typeface="Georgia" pitchFamily="34" charset="-122"/>
                <a:cs typeface="Georgia" pitchFamily="34" charset="-120"/>
              </a:rPr>
              <a:t>R</a:t>
            </a:r>
            <a:endParaRPr lang="en-US" sz="2500" dirty="0"/>
          </a:p>
          <a:p>
            <a:pPr algn="ctr" indent="0" marL="0">
              <a:buNone/>
            </a:pPr>
            <a:r>
              <a:rPr lang="en-US" sz="2500" dirty="0">
                <a:solidFill>
                  <a:srgbClr val="83BADF"/>
                </a:solidFill>
                <a:latin typeface="Georgia" pitchFamily="34" charset="0"/>
                <a:ea typeface="Georgia" pitchFamily="34" charset="-122"/>
                <a:cs typeface="Georgia" pitchFamily="34" charset="-120"/>
              </a:rPr>
              <a:t>G</a:t>
            </a:r>
            <a:endParaRPr lang="en-US" sz="2500" dirty="0"/>
          </a:p>
          <a:p>
            <a:pPr algn="ctr" indent="0" marL="0">
              <a:buNone/>
            </a:pPr>
            <a:r>
              <a:rPr lang="en-US" sz="2500" dirty="0">
                <a:solidFill>
                  <a:srgbClr val="83BADF"/>
                </a:solidFill>
                <a:latin typeface="Georgia" pitchFamily="34" charset="0"/>
                <a:ea typeface="Georgia" pitchFamily="34" charset="-122"/>
                <a:cs typeface="Georgia" pitchFamily="34" charset="-120"/>
              </a:rPr>
              <a:t>L</a:t>
            </a:r>
            <a:endParaRPr lang="en-US" sz="2500" dirty="0"/>
          </a:p>
          <a:p>
            <a:pPr algn="ctr" indent="0" marL="0">
              <a:buNone/>
            </a:pPr>
            <a:r>
              <a:rPr lang="en-US" sz="2500" dirty="0">
                <a:solidFill>
                  <a:srgbClr val="83BADF"/>
                </a:solidFill>
                <a:latin typeface="Georgia" pitchFamily="34" charset="0"/>
                <a:ea typeface="Georgia" pitchFamily="34" charset="-122"/>
                <a:cs typeface="Georgia" pitchFamily="34" charset="-120"/>
              </a:rPr>
              <a:t>O</a:t>
            </a:r>
            <a:endParaRPr lang="en-US" sz="2500" dirty="0"/>
          </a:p>
          <a:p>
            <a:pPr algn="ctr" indent="0" marL="0">
              <a:buNone/>
            </a:pPr>
            <a:r>
              <a:rPr lang="en-US" sz="2500" dirty="0">
                <a:solidFill>
                  <a:srgbClr val="83BADF"/>
                </a:solidFill>
                <a:latin typeface="Georgia" pitchFamily="34" charset="0"/>
                <a:ea typeface="Georgia" pitchFamily="34" charset="-122"/>
                <a:cs typeface="Georgia" pitchFamily="34" charset="-120"/>
              </a:rPr>
              <a:t>W</a:t>
            </a:r>
            <a:endParaRPr lang="en-US" sz="2500" dirty="0"/>
          </a:p>
        </p:txBody>
      </p:sp>
      <p:sp>
        <p:nvSpPr>
          <p:cNvPr id="5" name="Text 3"/>
          <p:cNvSpPr/>
          <p:nvPr/>
        </p:nvSpPr>
        <p:spPr>
          <a:xfrm>
            <a:off x="402336" y="7022592"/>
            <a:ext cx="731520" cy="594360"/>
          </a:xfrm>
          <a:prstGeom prst="rect">
            <a:avLst/>
          </a:prstGeom>
          <a:noFill/>
          <a:ln/>
        </p:spPr>
        <p:txBody>
          <a:bodyPr wrap="square" lIns="0" tIns="0" rIns="0" bIns="0" rtlCol="0" anchor="t">
            <a:normAutofit/>
          </a:bodyPr>
          <a:lstStyle/>
          <a:p>
            <a:pPr indent="0" marL="0">
              <a:buNone/>
            </a:pPr>
            <a:r>
              <a:rPr lang="en-US" sz="4200" dirty="0">
                <a:solidFill>
                  <a:srgbClr val="83BADF"/>
                </a:solidFill>
                <a:latin typeface="Georgia" pitchFamily="34" charset="0"/>
                <a:ea typeface="Georgia" pitchFamily="34" charset="-122"/>
                <a:cs typeface="Georgia" pitchFamily="34" charset="-120"/>
              </a:rPr>
              <a:t>09</a:t>
            </a:r>
            <a:endParaRPr lang="en-US" sz="4200" dirty="0"/>
          </a:p>
        </p:txBody>
      </p:sp>
      <p:sp>
        <p:nvSpPr>
          <p:cNvPr id="6" name="Text 4"/>
          <p:cNvSpPr/>
          <p:nvPr/>
        </p:nvSpPr>
        <p:spPr>
          <a:xfrm>
            <a:off x="402336" y="7818120"/>
            <a:ext cx="731520" cy="411480"/>
          </a:xfrm>
          <a:prstGeom prst="rect">
            <a:avLst/>
          </a:prstGeom>
          <a:noFill/>
          <a:ln/>
        </p:spPr>
        <p:txBody>
          <a:bodyPr wrap="square" lIns="0" tIns="0" rIns="0" bIns="0" rtlCol="0" anchor="t">
            <a:normAutofit/>
          </a:bodyPr>
          <a:lstStyle/>
          <a:p>
            <a:pPr indent="0" marL="0">
              <a:buNone/>
            </a:pPr>
            <a:r>
              <a:rPr lang="en-US" sz="700" dirty="0">
                <a:solidFill>
                  <a:srgbClr val="C0AAB9"/>
                </a:solidFill>
                <a:latin typeface="Arial" pitchFamily="34" charset="0"/>
                <a:ea typeface="Arial" pitchFamily="34" charset="-122"/>
                <a:cs typeface="Arial" pitchFamily="34" charset="-120"/>
              </a:rPr>
              <a:t>ACT 2 / 5</a:t>
            </a:r>
            <a:endParaRPr lang="en-US" sz="700" dirty="0"/>
          </a:p>
          <a:p>
            <a:pPr indent="0" marL="0">
              <a:buNone/>
            </a:pPr>
            <a:r>
              <a:rPr lang="en-US" sz="700" dirty="0">
                <a:solidFill>
                  <a:srgbClr val="C0AAB9"/>
                </a:solidFill>
                <a:latin typeface="Arial" pitchFamily="34" charset="0"/>
                <a:ea typeface="Arial" pitchFamily="34" charset="-122"/>
                <a:cs typeface="Arial" pitchFamily="34" charset="-120"/>
              </a:rPr>
              <a:t>BEAT 3 / 6</a:t>
            </a:r>
            <a:endParaRPr lang="en-US" sz="700" dirty="0"/>
          </a:p>
        </p:txBody>
      </p:sp>
      <p:sp>
        <p:nvSpPr>
          <p:cNvPr id="7" name="Text 5"/>
          <p:cNvSpPr/>
          <p:nvPr/>
        </p:nvSpPr>
        <p:spPr>
          <a:xfrm>
            <a:off x="1499616" y="347472"/>
            <a:ext cx="9144000" cy="164592"/>
          </a:xfrm>
          <a:prstGeom prst="rect">
            <a:avLst/>
          </a:prstGeom>
          <a:noFill/>
          <a:ln/>
        </p:spPr>
        <p:txBody>
          <a:bodyPr wrap="square" lIns="0" tIns="0" rIns="0" bIns="0" rtlCol="0" anchor="t">
            <a:normAutofit/>
          </a:bodyPr>
          <a:lstStyle/>
          <a:p>
            <a:pPr indent="0" marL="0">
              <a:buNone/>
            </a:pPr>
            <a:r>
              <a:rPr lang="en-US" sz="700" spc="120" kern="0" dirty="0">
                <a:solidFill>
                  <a:srgbClr val="83BADF"/>
                </a:solidFill>
                <a:latin typeface="Arial" pitchFamily="34" charset="0"/>
                <a:ea typeface="Arial" pitchFamily="34" charset="-122"/>
                <a:cs typeface="Arial" pitchFamily="34" charset="-120"/>
              </a:rPr>
              <a:t>ACT 2 / CONTRAST</a:t>
            </a:r>
            <a:endParaRPr lang="en-US" sz="700" dirty="0"/>
          </a:p>
        </p:txBody>
      </p:sp>
      <p:sp>
        <p:nvSpPr>
          <p:cNvPr id="8" name="Text 6"/>
          <p:cNvSpPr/>
          <p:nvPr/>
        </p:nvSpPr>
        <p:spPr>
          <a:xfrm>
            <a:off x="1499616" y="612648"/>
            <a:ext cx="9692640" cy="594360"/>
          </a:xfrm>
          <a:prstGeom prst="rect">
            <a:avLst/>
          </a:prstGeom>
          <a:noFill/>
          <a:ln/>
        </p:spPr>
        <p:txBody>
          <a:bodyPr wrap="square" lIns="0" tIns="0" rIns="0" bIns="0" rtlCol="0" anchor="t">
            <a:normAutofit/>
          </a:bodyPr>
          <a:lstStyle/>
          <a:p>
            <a:pPr indent="0" marL="0">
              <a:buNone/>
            </a:pPr>
            <a:r>
              <a:rPr lang="en-US" sz="2800" dirty="0">
                <a:solidFill>
                  <a:srgbClr val="ECDED6"/>
                </a:solidFill>
                <a:latin typeface="Georgia" pitchFamily="34" charset="0"/>
                <a:ea typeface="Georgia" pitchFamily="34" charset="-122"/>
                <a:cs typeface="Georgia" pitchFamily="34" charset="-120"/>
              </a:rPr>
              <a:t>Let silence have alternatives.</a:t>
            </a:r>
            <a:endParaRPr lang="en-US" sz="2800" dirty="0"/>
          </a:p>
        </p:txBody>
      </p:sp>
      <p:sp>
        <p:nvSpPr>
          <p:cNvPr id="9" name="Text 7"/>
          <p:cNvSpPr/>
          <p:nvPr/>
        </p:nvSpPr>
        <p:spPr>
          <a:xfrm>
            <a:off x="11475720" y="438912"/>
            <a:ext cx="1325880" cy="182880"/>
          </a:xfrm>
          <a:prstGeom prst="rect">
            <a:avLst/>
          </a:prstGeom>
          <a:noFill/>
          <a:ln/>
        </p:spPr>
        <p:txBody>
          <a:bodyPr wrap="square" lIns="0" tIns="0" rIns="0" bIns="0" rtlCol="0" anchor="t">
            <a:normAutofit/>
          </a:bodyPr>
          <a:lstStyle/>
          <a:p>
            <a:pPr algn="r" indent="0" marL="0">
              <a:buNone/>
            </a:pPr>
            <a:r>
              <a:rPr lang="en-US" sz="700" dirty="0">
                <a:solidFill>
                  <a:srgbClr val="83BADF"/>
                </a:solidFill>
                <a:latin typeface="Arial" pitchFamily="34" charset="0"/>
                <a:ea typeface="Arial" pitchFamily="34" charset="-122"/>
                <a:cs typeface="Arial" pitchFamily="34" charset="-120"/>
              </a:rPr>
              <a:t>LOCAL / UNMARKED</a:t>
            </a:r>
            <a:endParaRPr lang="en-US" sz="700" dirty="0"/>
          </a:p>
        </p:txBody>
      </p:sp>
      <p:sp>
        <p:nvSpPr>
          <p:cNvPr id="10" name="Shape 8"/>
          <p:cNvSpPr/>
          <p:nvPr/>
        </p:nvSpPr>
        <p:spPr>
          <a:xfrm>
            <a:off x="1499616" y="1307592"/>
            <a:ext cx="1819656" cy="448056"/>
          </a:xfrm>
          <a:prstGeom prst="rect">
            <a:avLst/>
          </a:prstGeom>
          <a:solidFill>
            <a:srgbClr val="12253B"/>
          </a:solidFill>
          <a:ln w="8890">
            <a:solidFill>
              <a:srgbClr val="6D5768"/>
            </a:solidFill>
            <a:prstDash val="solid"/>
          </a:ln>
        </p:spPr>
      </p:sp>
      <p:sp>
        <p:nvSpPr>
          <p:cNvPr id="11" name="Text 9"/>
          <p:cNvSpPr/>
          <p:nvPr/>
        </p:nvSpPr>
        <p:spPr>
          <a:xfrm>
            <a:off x="1572768"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83BADF"/>
                </a:solidFill>
                <a:latin typeface="Georgia" pitchFamily="34" charset="0"/>
                <a:ea typeface="Georgia" pitchFamily="34" charset="-122"/>
                <a:cs typeface="Georgia" pitchFamily="34" charset="-120"/>
              </a:rPr>
              <a:t>1</a:t>
            </a:r>
            <a:endParaRPr lang="en-US" sz="1700" dirty="0"/>
          </a:p>
        </p:txBody>
      </p:sp>
      <p:sp>
        <p:nvSpPr>
          <p:cNvPr id="12" name="Text 10"/>
          <p:cNvSpPr/>
          <p:nvPr/>
        </p:nvSpPr>
        <p:spPr>
          <a:xfrm>
            <a:off x="1865376"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Set two versions side by side.</a:t>
            </a:r>
            <a:endParaRPr lang="en-US" sz="700" dirty="0"/>
          </a:p>
        </p:txBody>
      </p:sp>
      <p:sp>
        <p:nvSpPr>
          <p:cNvPr id="13" name="Shape 11"/>
          <p:cNvSpPr/>
          <p:nvPr/>
        </p:nvSpPr>
        <p:spPr>
          <a:xfrm>
            <a:off x="3392424" y="1307592"/>
            <a:ext cx="1819656" cy="448056"/>
          </a:xfrm>
          <a:prstGeom prst="rect">
            <a:avLst/>
          </a:prstGeom>
          <a:solidFill>
            <a:srgbClr val="12253B"/>
          </a:solidFill>
          <a:ln w="8890">
            <a:solidFill>
              <a:srgbClr val="6D5768"/>
            </a:solidFill>
            <a:prstDash val="solid"/>
          </a:ln>
        </p:spPr>
      </p:sp>
      <p:sp>
        <p:nvSpPr>
          <p:cNvPr id="14" name="Text 12"/>
          <p:cNvSpPr/>
          <p:nvPr/>
        </p:nvSpPr>
        <p:spPr>
          <a:xfrm>
            <a:off x="3465576"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83BADF"/>
                </a:solidFill>
                <a:latin typeface="Georgia" pitchFamily="34" charset="0"/>
                <a:ea typeface="Georgia" pitchFamily="34" charset="-122"/>
                <a:cs typeface="Georgia" pitchFamily="34" charset="-120"/>
              </a:rPr>
              <a:t>2</a:t>
            </a:r>
            <a:endParaRPr lang="en-US" sz="1700" dirty="0"/>
          </a:p>
        </p:txBody>
      </p:sp>
      <p:sp>
        <p:nvSpPr>
          <p:cNvPr id="15" name="Text 13"/>
          <p:cNvSpPr/>
          <p:nvPr/>
        </p:nvSpPr>
        <p:spPr>
          <a:xfrm>
            <a:off x="3758184"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Change the light in the sentence.</a:t>
            </a:r>
            <a:endParaRPr lang="en-US" sz="700" dirty="0"/>
          </a:p>
        </p:txBody>
      </p:sp>
      <p:sp>
        <p:nvSpPr>
          <p:cNvPr id="16" name="Shape 14"/>
          <p:cNvSpPr/>
          <p:nvPr/>
        </p:nvSpPr>
        <p:spPr>
          <a:xfrm>
            <a:off x="5285232" y="1307592"/>
            <a:ext cx="1819656" cy="448056"/>
          </a:xfrm>
          <a:prstGeom prst="rect">
            <a:avLst/>
          </a:prstGeom>
          <a:solidFill>
            <a:srgbClr val="12253B"/>
          </a:solidFill>
          <a:ln w="8890">
            <a:solidFill>
              <a:srgbClr val="83BADF"/>
            </a:solidFill>
            <a:prstDash val="solid"/>
          </a:ln>
        </p:spPr>
      </p:sp>
      <p:sp>
        <p:nvSpPr>
          <p:cNvPr id="17" name="Text 15"/>
          <p:cNvSpPr/>
          <p:nvPr/>
        </p:nvSpPr>
        <p:spPr>
          <a:xfrm>
            <a:off x="5358384"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83BADF"/>
                </a:solidFill>
                <a:latin typeface="Georgia" pitchFamily="34" charset="0"/>
                <a:ea typeface="Georgia" pitchFamily="34" charset="-122"/>
                <a:cs typeface="Georgia" pitchFamily="34" charset="-120"/>
              </a:rPr>
              <a:t>3</a:t>
            </a:r>
            <a:endParaRPr lang="en-US" sz="1700" dirty="0"/>
          </a:p>
        </p:txBody>
      </p:sp>
      <p:sp>
        <p:nvSpPr>
          <p:cNvPr id="18" name="Text 16"/>
          <p:cNvSpPr/>
          <p:nvPr/>
        </p:nvSpPr>
        <p:spPr>
          <a:xfrm>
            <a:off x="5650992"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Let silence have alternatives.</a:t>
            </a:r>
            <a:endParaRPr lang="en-US" sz="700" dirty="0"/>
          </a:p>
        </p:txBody>
      </p:sp>
      <p:sp>
        <p:nvSpPr>
          <p:cNvPr id="19" name="Shape 17"/>
          <p:cNvSpPr/>
          <p:nvPr/>
        </p:nvSpPr>
        <p:spPr>
          <a:xfrm>
            <a:off x="7178040" y="1307592"/>
            <a:ext cx="1819656" cy="448056"/>
          </a:xfrm>
          <a:prstGeom prst="rect">
            <a:avLst/>
          </a:prstGeom>
          <a:solidFill>
            <a:srgbClr val="12253B"/>
          </a:solidFill>
          <a:ln w="8890">
            <a:solidFill>
              <a:srgbClr val="6D5768"/>
            </a:solidFill>
            <a:prstDash val="solid"/>
          </a:ln>
        </p:spPr>
      </p:sp>
      <p:sp>
        <p:nvSpPr>
          <p:cNvPr id="20" name="Text 18"/>
          <p:cNvSpPr/>
          <p:nvPr/>
        </p:nvSpPr>
        <p:spPr>
          <a:xfrm>
            <a:off x="7251192"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83BADF"/>
                </a:solidFill>
                <a:latin typeface="Georgia" pitchFamily="34" charset="0"/>
                <a:ea typeface="Georgia" pitchFamily="34" charset="-122"/>
                <a:cs typeface="Georgia" pitchFamily="34" charset="-120"/>
              </a:rPr>
              <a:t>4</a:t>
            </a:r>
            <a:endParaRPr lang="en-US" sz="1700" dirty="0"/>
          </a:p>
        </p:txBody>
      </p:sp>
      <p:sp>
        <p:nvSpPr>
          <p:cNvPr id="21" name="Text 19"/>
          <p:cNvSpPr/>
          <p:nvPr/>
        </p:nvSpPr>
        <p:spPr>
          <a:xfrm>
            <a:off x="7543800"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Offer a generous disagreement.</a:t>
            </a:r>
            <a:endParaRPr lang="en-US" sz="700" dirty="0"/>
          </a:p>
        </p:txBody>
      </p:sp>
      <p:sp>
        <p:nvSpPr>
          <p:cNvPr id="22" name="Shape 20"/>
          <p:cNvSpPr/>
          <p:nvPr/>
        </p:nvSpPr>
        <p:spPr>
          <a:xfrm>
            <a:off x="9070848" y="1307592"/>
            <a:ext cx="1819656" cy="448056"/>
          </a:xfrm>
          <a:prstGeom prst="rect">
            <a:avLst/>
          </a:prstGeom>
          <a:solidFill>
            <a:srgbClr val="12253B"/>
          </a:solidFill>
          <a:ln w="8890">
            <a:solidFill>
              <a:srgbClr val="6D5768"/>
            </a:solidFill>
            <a:prstDash val="solid"/>
          </a:ln>
        </p:spPr>
      </p:sp>
      <p:sp>
        <p:nvSpPr>
          <p:cNvPr id="23" name="Text 21"/>
          <p:cNvSpPr/>
          <p:nvPr/>
        </p:nvSpPr>
        <p:spPr>
          <a:xfrm>
            <a:off x="9144000"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83BADF"/>
                </a:solidFill>
                <a:latin typeface="Georgia" pitchFamily="34" charset="0"/>
                <a:ea typeface="Georgia" pitchFamily="34" charset="-122"/>
                <a:cs typeface="Georgia" pitchFamily="34" charset="-120"/>
              </a:rPr>
              <a:t>5</a:t>
            </a:r>
            <a:endParaRPr lang="en-US" sz="1700" dirty="0"/>
          </a:p>
        </p:txBody>
      </p:sp>
      <p:sp>
        <p:nvSpPr>
          <p:cNvPr id="24" name="Text 22"/>
          <p:cNvSpPr/>
          <p:nvPr/>
        </p:nvSpPr>
        <p:spPr>
          <a:xfrm>
            <a:off x="9436608"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Test a reversal of expectation.</a:t>
            </a:r>
            <a:endParaRPr lang="en-US" sz="700" dirty="0"/>
          </a:p>
        </p:txBody>
      </p:sp>
      <p:sp>
        <p:nvSpPr>
          <p:cNvPr id="25" name="Shape 23"/>
          <p:cNvSpPr/>
          <p:nvPr/>
        </p:nvSpPr>
        <p:spPr>
          <a:xfrm>
            <a:off x="10963656" y="1307592"/>
            <a:ext cx="1819656" cy="448056"/>
          </a:xfrm>
          <a:prstGeom prst="rect">
            <a:avLst/>
          </a:prstGeom>
          <a:solidFill>
            <a:srgbClr val="12253B"/>
          </a:solidFill>
          <a:ln w="8890">
            <a:solidFill>
              <a:srgbClr val="6D5768"/>
            </a:solidFill>
            <a:prstDash val="solid"/>
          </a:ln>
        </p:spPr>
      </p:sp>
      <p:sp>
        <p:nvSpPr>
          <p:cNvPr id="26" name="Text 24"/>
          <p:cNvSpPr/>
          <p:nvPr/>
        </p:nvSpPr>
        <p:spPr>
          <a:xfrm>
            <a:off x="11036808"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83BADF"/>
                </a:solidFill>
                <a:latin typeface="Georgia" pitchFamily="34" charset="0"/>
                <a:ea typeface="Georgia" pitchFamily="34" charset="-122"/>
                <a:cs typeface="Georgia" pitchFamily="34" charset="-120"/>
              </a:rPr>
              <a:t>6</a:t>
            </a:r>
            <a:endParaRPr lang="en-US" sz="1700" dirty="0"/>
          </a:p>
        </p:txBody>
      </p:sp>
      <p:sp>
        <p:nvSpPr>
          <p:cNvPr id="27" name="Text 25"/>
          <p:cNvSpPr/>
          <p:nvPr/>
        </p:nvSpPr>
        <p:spPr>
          <a:xfrm>
            <a:off x="11329416"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Name what contrast reveals.</a:t>
            </a:r>
            <a:endParaRPr lang="en-US" sz="700" dirty="0"/>
          </a:p>
        </p:txBody>
      </p:sp>
      <p:pic>
        <p:nvPicPr>
          <p:cNvPr id="28" name="Image 0" descr="/home/user/design-buddy/design-buddy-home/public/atelier/afterglow/images/05.jpg">    </p:cNvPr>
          <p:cNvPicPr>
            <a:picLocks noChangeAspect="1"/>
          </p:cNvPicPr>
          <p:nvPr/>
        </p:nvPicPr>
        <p:blipFill>
          <a:blip r:embed="rId1"/>
          <a:srcRect l="0" r="0" t="0" b="0"/>
          <a:stretch/>
        </p:blipFill>
        <p:spPr>
          <a:xfrm>
            <a:off x="1499616" y="2066544"/>
            <a:ext cx="6949440" cy="3840480"/>
          </a:xfrm>
          <a:prstGeom prst="rect">
            <a:avLst/>
          </a:prstGeom>
        </p:spPr>
      </p:pic>
      <p:sp>
        <p:nvSpPr>
          <p:cNvPr id="29" name="Text 26"/>
          <p:cNvSpPr/>
          <p:nvPr/>
        </p:nvSpPr>
        <p:spPr>
          <a:xfrm>
            <a:off x="1499616" y="6007608"/>
            <a:ext cx="6949440" cy="164592"/>
          </a:xfrm>
          <a:prstGeom prst="rect">
            <a:avLst/>
          </a:prstGeom>
          <a:noFill/>
          <a:ln/>
        </p:spPr>
        <p:txBody>
          <a:bodyPr wrap="square" lIns="0" tIns="0" rIns="0" bIns="0" rtlCol="0" anchor="t">
            <a:normAutofit/>
          </a:bodyPr>
          <a:lstStyle/>
          <a:p>
            <a:pPr indent="0" marL="0">
              <a:buNone/>
            </a:pPr>
            <a:r>
              <a:rPr lang="en-US" sz="650" dirty="0">
                <a:solidFill>
                  <a:srgbClr val="C0AAB9"/>
                </a:solidFill>
                <a:latin typeface="Arial" pitchFamily="34" charset="0"/>
                <a:ea typeface="Arial" pitchFamily="34" charset="-122"/>
                <a:cs typeface="Arial" pitchFamily="34" charset="-120"/>
              </a:rPr>
              <a:t>Watercolour 5 / invented setting and adults / not production evidence</a:t>
            </a:r>
            <a:endParaRPr lang="en-US" sz="650" dirty="0"/>
          </a:p>
        </p:txBody>
      </p:sp>
      <p:sp>
        <p:nvSpPr>
          <p:cNvPr id="30" name="Text 27"/>
          <p:cNvSpPr/>
          <p:nvPr/>
        </p:nvSpPr>
        <p:spPr>
          <a:xfrm>
            <a:off x="8705088" y="2139696"/>
            <a:ext cx="4133088" cy="164592"/>
          </a:xfrm>
          <a:prstGeom prst="rect">
            <a:avLst/>
          </a:prstGeom>
          <a:noFill/>
          <a:ln/>
        </p:spPr>
        <p:txBody>
          <a:bodyPr wrap="square" lIns="0" tIns="0" rIns="0" bIns="0" rtlCol="0" anchor="t">
            <a:normAutofit/>
          </a:bodyPr>
          <a:lstStyle/>
          <a:p>
            <a:pPr indent="0" marL="0">
              <a:buNone/>
            </a:pPr>
            <a:r>
              <a:rPr lang="en-US" sz="700" spc="110" kern="0" dirty="0">
                <a:solidFill>
                  <a:srgbClr val="83BADF"/>
                </a:solidFill>
                <a:latin typeface="Arial" pitchFamily="34" charset="0"/>
                <a:ea typeface="Arial" pitchFamily="34" charset="-122"/>
                <a:cs typeface="Arial" pitchFamily="34" charset="-120"/>
              </a:rPr>
              <a:t>STORY INTENTION</a:t>
            </a:r>
            <a:endParaRPr lang="en-US" sz="700" dirty="0"/>
          </a:p>
        </p:txBody>
      </p:sp>
      <p:sp>
        <p:nvSpPr>
          <p:cNvPr id="31" name="Text 28"/>
          <p:cNvSpPr/>
          <p:nvPr/>
        </p:nvSpPr>
        <p:spPr>
          <a:xfrm>
            <a:off x="8705088" y="2514600"/>
            <a:ext cx="4133088" cy="1828800"/>
          </a:xfrm>
          <a:prstGeom prst="rect">
            <a:avLst/>
          </a:prstGeom>
          <a:noFill/>
          <a:ln/>
        </p:spPr>
        <p:txBody>
          <a:bodyPr wrap="square" lIns="0" tIns="0" rIns="0" bIns="0" rtlCol="0" anchor="t">
            <a:normAutofit/>
          </a:bodyPr>
          <a:lstStyle/>
          <a:p>
            <a:pPr indent="0" marL="0">
              <a:buNone/>
            </a:pPr>
            <a:r>
              <a:rPr lang="en-US" sz="1575" dirty="0">
                <a:solidFill>
                  <a:srgbClr val="ECDED6"/>
                </a:solidFill>
                <a:latin typeface="Georgia" pitchFamily="34" charset="0"/>
                <a:ea typeface="Georgia" pitchFamily="34" charset="-122"/>
                <a:cs typeface="Georgia" pitchFamily="34" charset="-120"/>
              </a:rPr>
              <a:t>A pause may suggest care, doubt, distraction or refusal within fiction. Write more than one reading before choosing one. No pause in this exercise measures an actual person’s intention.</a:t>
            </a:r>
            <a:endParaRPr lang="en-US" sz="1575" dirty="0"/>
          </a:p>
        </p:txBody>
      </p:sp>
      <p:sp>
        <p:nvSpPr>
          <p:cNvPr id="32" name="Text 29"/>
          <p:cNvSpPr/>
          <p:nvPr/>
        </p:nvSpPr>
        <p:spPr>
          <a:xfrm>
            <a:off x="8705088" y="4572000"/>
            <a:ext cx="4133088" cy="164592"/>
          </a:xfrm>
          <a:prstGeom prst="rect">
            <a:avLst/>
          </a:prstGeom>
          <a:noFill/>
          <a:ln/>
        </p:spPr>
        <p:txBody>
          <a:bodyPr wrap="square" lIns="0" tIns="0" rIns="0" bIns="0" rtlCol="0" anchor="t">
            <a:normAutofit/>
          </a:bodyPr>
          <a:lstStyle/>
          <a:p>
            <a:pPr indent="0" marL="0">
              <a:buNone/>
            </a:pPr>
            <a:r>
              <a:rPr lang="en-US" sz="700" spc="110" kern="0" dirty="0">
                <a:solidFill>
                  <a:srgbClr val="83BADF"/>
                </a:solidFill>
                <a:latin typeface="Arial" pitchFamily="34" charset="0"/>
                <a:ea typeface="Arial" pitchFamily="34" charset="-122"/>
                <a:cs typeface="Arial" pitchFamily="34" charset="-120"/>
              </a:rPr>
              <a:t>LEAVE A QUESTION</a:t>
            </a:r>
            <a:endParaRPr lang="en-US" sz="700" dirty="0"/>
          </a:p>
        </p:txBody>
      </p:sp>
      <p:sp>
        <p:nvSpPr>
          <p:cNvPr id="33" name="Text 30"/>
          <p:cNvSpPr/>
          <p:nvPr/>
        </p:nvSpPr>
        <p:spPr>
          <a:xfrm>
            <a:off x="8705088" y="4910328"/>
            <a:ext cx="4133088" cy="822960"/>
          </a:xfrm>
          <a:prstGeom prst="rect">
            <a:avLst/>
          </a:prstGeom>
          <a:noFill/>
          <a:ln/>
        </p:spPr>
        <p:txBody>
          <a:bodyPr wrap="square" lIns="0" tIns="0" rIns="0" bIns="0" rtlCol="0" anchor="t">
            <a:normAutofit/>
          </a:bodyPr>
          <a:lstStyle/>
          <a:p>
            <a:pPr indent="0" marL="0">
              <a:buNone/>
            </a:pPr>
            <a:r>
              <a:rPr lang="en-US" sz="1875" i="1" dirty="0">
                <a:solidFill>
                  <a:srgbClr val="83BADF"/>
                </a:solidFill>
                <a:latin typeface="Georgia" pitchFamily="34" charset="0"/>
                <a:ea typeface="Georgia" pitchFamily="34" charset="-122"/>
                <a:cs typeface="Georgia" pitchFamily="34" charset="-120"/>
              </a:rPr>
              <a:t>What else could this fictional silence mean?</a:t>
            </a:r>
            <a:endParaRPr lang="en-US" sz="1875" dirty="0"/>
          </a:p>
        </p:txBody>
      </p:sp>
      <p:sp>
        <p:nvSpPr>
          <p:cNvPr id="34" name="Text 31"/>
          <p:cNvSpPr/>
          <p:nvPr/>
        </p:nvSpPr>
        <p:spPr>
          <a:xfrm>
            <a:off x="8705088" y="5806440"/>
            <a:ext cx="4133088" cy="292608"/>
          </a:xfrm>
          <a:prstGeom prst="rect">
            <a:avLst/>
          </a:prstGeom>
          <a:noFill/>
          <a:ln/>
        </p:spPr>
        <p:txBody>
          <a:bodyPr wrap="square" lIns="0" tIns="0" rIns="0" bIns="0" rtlCol="0" anchor="t">
            <a:normAutofit/>
          </a:bodyPr>
          <a:lstStyle/>
          <a:p>
            <a:pPr indent="0" marL="0">
              <a:buNone/>
            </a:pPr>
            <a:r>
              <a:rPr lang="en-US" sz="700" dirty="0">
                <a:solidFill>
                  <a:srgbClr val="C0AAB9"/>
                </a:solidFill>
                <a:latin typeface="Arial" pitchFamily="34" charset="0"/>
                <a:ea typeface="Arial" pitchFamily="34" charset="-122"/>
                <a:cs typeface="Arial" pitchFamily="34" charset="-120"/>
              </a:rPr>
              <a:t>Beat order is not timing, a technical call or a show schedule.</a:t>
            </a:r>
            <a:endParaRPr lang="en-US" sz="700" dirty="0"/>
          </a:p>
        </p:txBody>
      </p:sp>
      <p:sp>
        <p:nvSpPr>
          <p:cNvPr id="35" name="Shape 32"/>
          <p:cNvSpPr/>
          <p:nvPr/>
        </p:nvSpPr>
        <p:spPr>
          <a:xfrm>
            <a:off x="1499616" y="6583680"/>
            <a:ext cx="3675888" cy="1481328"/>
          </a:xfrm>
          <a:prstGeom prst="rect">
            <a:avLst/>
          </a:prstGeom>
          <a:solidFill>
            <a:srgbClr val="12253B"/>
          </a:solidFill>
          <a:ln w="8890">
            <a:solidFill>
              <a:srgbClr val="735D6D"/>
            </a:solidFill>
            <a:prstDash val="solid"/>
          </a:ln>
        </p:spPr>
      </p:sp>
      <p:sp>
        <p:nvSpPr>
          <p:cNvPr id="36" name="Text 33"/>
          <p:cNvSpPr/>
          <p:nvPr/>
        </p:nvSpPr>
        <p:spPr>
          <a:xfrm>
            <a:off x="1682496"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83BADF"/>
                </a:solidFill>
                <a:latin typeface="Arial" pitchFamily="34" charset="0"/>
                <a:ea typeface="Arial" pitchFamily="34" charset="-122"/>
                <a:cs typeface="Arial" pitchFamily="34" charset="-120"/>
              </a:rPr>
              <a:t>01 / NOTICE</a:t>
            </a:r>
            <a:endParaRPr lang="en-US" sz="700" dirty="0"/>
          </a:p>
        </p:txBody>
      </p:sp>
      <p:sp>
        <p:nvSpPr>
          <p:cNvPr id="37" name="Text 34"/>
          <p:cNvSpPr/>
          <p:nvPr/>
        </p:nvSpPr>
        <p:spPr>
          <a:xfrm>
            <a:off x="1682496"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Silence does not have one dependable interpretation.</a:t>
            </a:r>
            <a:endParaRPr lang="en-US" sz="1500" dirty="0"/>
          </a:p>
        </p:txBody>
      </p:sp>
      <p:sp>
        <p:nvSpPr>
          <p:cNvPr id="38" name="Shape 35"/>
          <p:cNvSpPr/>
          <p:nvPr/>
        </p:nvSpPr>
        <p:spPr>
          <a:xfrm>
            <a:off x="5321808" y="6583680"/>
            <a:ext cx="3675888" cy="1481328"/>
          </a:xfrm>
          <a:prstGeom prst="rect">
            <a:avLst/>
          </a:prstGeom>
          <a:solidFill>
            <a:srgbClr val="12253B"/>
          </a:solidFill>
          <a:ln w="8890">
            <a:solidFill>
              <a:srgbClr val="735D6D"/>
            </a:solidFill>
            <a:prstDash val="solid"/>
          </a:ln>
        </p:spPr>
      </p:sp>
      <p:sp>
        <p:nvSpPr>
          <p:cNvPr id="39" name="Text 36"/>
          <p:cNvSpPr/>
          <p:nvPr/>
        </p:nvSpPr>
        <p:spPr>
          <a:xfrm>
            <a:off x="5504688"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83BADF"/>
                </a:solidFill>
                <a:latin typeface="Arial" pitchFamily="34" charset="0"/>
                <a:ea typeface="Arial" pitchFamily="34" charset="-122"/>
                <a:cs typeface="Arial" pitchFamily="34" charset="-120"/>
              </a:rPr>
              <a:t>02 / TRY IN WORDS</a:t>
            </a:r>
            <a:endParaRPr lang="en-US" sz="700" dirty="0"/>
          </a:p>
        </p:txBody>
      </p:sp>
      <p:sp>
        <p:nvSpPr>
          <p:cNvPr id="40" name="Text 37"/>
          <p:cNvSpPr/>
          <p:nvPr/>
        </p:nvSpPr>
        <p:spPr>
          <a:xfrm>
            <a:off x="5504688"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Draft three different thoughts beneath the same unsaid line.</a:t>
            </a:r>
            <a:endParaRPr lang="en-US" sz="1500" dirty="0"/>
          </a:p>
        </p:txBody>
      </p:sp>
      <p:sp>
        <p:nvSpPr>
          <p:cNvPr id="41" name="Shape 38"/>
          <p:cNvSpPr/>
          <p:nvPr/>
        </p:nvSpPr>
        <p:spPr>
          <a:xfrm>
            <a:off x="9144000" y="6583680"/>
            <a:ext cx="3675888" cy="1481328"/>
          </a:xfrm>
          <a:prstGeom prst="rect">
            <a:avLst/>
          </a:prstGeom>
          <a:solidFill>
            <a:srgbClr val="12253B"/>
          </a:solidFill>
          <a:ln w="8890">
            <a:solidFill>
              <a:srgbClr val="735D6D"/>
            </a:solidFill>
            <a:prstDash val="solid"/>
          </a:ln>
        </p:spPr>
      </p:sp>
      <p:sp>
        <p:nvSpPr>
          <p:cNvPr id="42" name="Text 39"/>
          <p:cNvSpPr/>
          <p:nvPr/>
        </p:nvSpPr>
        <p:spPr>
          <a:xfrm>
            <a:off x="9326880"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83BADF"/>
                </a:solidFill>
                <a:latin typeface="Arial" pitchFamily="34" charset="0"/>
                <a:ea typeface="Arial" pitchFamily="34" charset="-122"/>
                <a:cs typeface="Arial" pitchFamily="34" charset="-120"/>
              </a:rPr>
              <a:t>03 / KEEP VISIBLE</a:t>
            </a:r>
            <a:endParaRPr lang="en-US" sz="700" dirty="0"/>
          </a:p>
        </p:txBody>
      </p:sp>
      <p:sp>
        <p:nvSpPr>
          <p:cNvPr id="43" name="Text 40"/>
          <p:cNvSpPr/>
          <p:nvPr/>
        </p:nvSpPr>
        <p:spPr>
          <a:xfrm>
            <a:off x="9326880"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Keep at least two interpretations available.</a:t>
            </a:r>
            <a:endParaRPr lang="en-US" sz="1500" dirty="0"/>
          </a:p>
        </p:txBody>
      </p:sp>
      <p:sp>
        <p:nvSpPr>
          <p:cNvPr id="44" name="Shape 41"/>
          <p:cNvSpPr/>
          <p:nvPr/>
        </p:nvSpPr>
        <p:spPr>
          <a:xfrm>
            <a:off x="1499616" y="8211312"/>
            <a:ext cx="11338560" cy="0"/>
          </a:xfrm>
          <a:prstGeom prst="line">
            <a:avLst/>
          </a:prstGeom>
          <a:noFill/>
          <a:ln w="8890">
            <a:solidFill>
              <a:srgbClr val="796170"/>
            </a:solidFill>
            <a:prstDash val="solid"/>
          </a:ln>
        </p:spPr>
      </p:sp>
      <p:sp>
        <p:nvSpPr>
          <p:cNvPr id="45" name="Text 42"/>
          <p:cNvSpPr/>
          <p:nvPr/>
        </p:nvSpPr>
        <p:spPr>
          <a:xfrm>
            <a:off x="1499616" y="8339328"/>
            <a:ext cx="8229600" cy="118872"/>
          </a:xfrm>
          <a:prstGeom prst="rect">
            <a:avLst/>
          </a:prstGeom>
          <a:noFill/>
          <a:ln/>
        </p:spPr>
        <p:txBody>
          <a:bodyPr wrap="square" lIns="0" tIns="0" rIns="0" bIns="0" rtlCol="0" anchor="t">
            <a:normAutofit/>
          </a:bodyPr>
          <a:lstStyle/>
          <a:p>
            <a:pPr indent="0" marL="0">
              <a:buNone/>
            </a:pPr>
            <a:r>
              <a:rPr lang="en-US" sz="650" dirty="0">
                <a:solidFill>
                  <a:srgbClr val="C0AAB9"/>
                </a:solidFill>
                <a:latin typeface="Arial" pitchFamily="34" charset="0"/>
                <a:ea typeface="Arial" pitchFamily="34" charset="-122"/>
                <a:cs typeface="Arial" pitchFamily="34" charset="-120"/>
              </a:rPr>
              <a:t>FICTIONAL WRITING WORKSHOP / NOT A STAGING OR APPROVAL PLAN</a:t>
            </a:r>
            <a:endParaRPr lang="en-US" sz="650" dirty="0"/>
          </a:p>
        </p:txBody>
      </p:sp>
      <p:sp>
        <p:nvSpPr>
          <p:cNvPr id="46" name="Text 43"/>
          <p:cNvSpPr/>
          <p:nvPr/>
        </p:nvSpPr>
        <p:spPr>
          <a:xfrm>
            <a:off x="9729216" y="8339328"/>
            <a:ext cx="3108960" cy="118872"/>
          </a:xfrm>
          <a:prstGeom prst="rect">
            <a:avLst/>
          </a:prstGeom>
          <a:noFill/>
          <a:ln/>
        </p:spPr>
        <p:txBody>
          <a:bodyPr wrap="square" lIns="0" tIns="0" rIns="0" bIns="0" rtlCol="0" anchor="t">
            <a:normAutofit/>
          </a:bodyPr>
          <a:lstStyle/>
          <a:p>
            <a:pPr algn="r" indent="0" marL="0">
              <a:buNone/>
            </a:pPr>
            <a:r>
              <a:rPr lang="en-US" sz="650" dirty="0">
                <a:solidFill>
                  <a:srgbClr val="C0AAB9"/>
                </a:solidFill>
                <a:latin typeface="Arial" pitchFamily="34" charset="0"/>
                <a:ea typeface="Arial" pitchFamily="34" charset="-122"/>
                <a:cs typeface="Arial" pitchFamily="34" charset="-120"/>
              </a:rPr>
              <a:t>DRAFT / 14 OF 15 ARTWORKS / 9 OF 30</a:t>
            </a:r>
            <a:endParaRPr lang="en-US" sz="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253B"/>
        </a:solidFill>
      </p:bgPr>
    </p:bg>
    <p:spTree>
      <p:nvGrpSpPr>
        <p:cNvPr id="1" name=""/>
        <p:cNvGrpSpPr/>
        <p:nvPr/>
      </p:nvGrpSpPr>
      <p:grpSpPr>
        <a:xfrm>
          <a:off x="0" y="0"/>
          <a:ext cx="0" cy="0"/>
          <a:chOff x="0" y="0"/>
          <a:chExt cx="0" cy="0"/>
        </a:xfrm>
      </p:grpSpPr>
      <p:sp>
        <p:nvSpPr>
          <p:cNvPr id="2" name="Shape 0"/>
          <p:cNvSpPr/>
          <p:nvPr/>
        </p:nvSpPr>
        <p:spPr>
          <a:xfrm>
            <a:off x="1243584" y="329184"/>
            <a:ext cx="0" cy="8119872"/>
          </a:xfrm>
          <a:prstGeom prst="line">
            <a:avLst/>
          </a:prstGeom>
          <a:noFill/>
          <a:ln w="10160">
            <a:solidFill>
              <a:srgbClr val="776072"/>
            </a:solidFill>
            <a:prstDash val="solid"/>
          </a:ln>
        </p:spPr>
      </p:sp>
      <p:sp>
        <p:nvSpPr>
          <p:cNvPr id="3" name="Text 1"/>
          <p:cNvSpPr/>
          <p:nvPr/>
        </p:nvSpPr>
        <p:spPr>
          <a:xfrm>
            <a:off x="393192" y="457200"/>
            <a:ext cx="685800" cy="457200"/>
          </a:xfrm>
          <a:prstGeom prst="rect">
            <a:avLst/>
          </a:prstGeom>
          <a:noFill/>
          <a:ln/>
        </p:spPr>
        <p:txBody>
          <a:bodyPr wrap="square" lIns="0" tIns="0" rIns="0" bIns="0" rtlCol="0" anchor="t">
            <a:normAutofit/>
          </a:bodyPr>
          <a:lstStyle/>
          <a:p>
            <a:pPr indent="0" marL="0">
              <a:buNone/>
            </a:pPr>
            <a:r>
              <a:rPr lang="en-US" sz="600" dirty="0">
                <a:solidFill>
                  <a:srgbClr val="C0AAB9"/>
                </a:solidFill>
                <a:latin typeface="Arial" pitchFamily="34" charset="0"/>
                <a:ea typeface="Arial" pitchFamily="34" charset="-122"/>
                <a:cs typeface="Arial" pitchFamily="34" charset="-120"/>
              </a:rPr>
              <a:t>DESIGN BUDDY</a:t>
            </a:r>
            <a:endParaRPr lang="en-US" sz="600" dirty="0"/>
          </a:p>
          <a:p>
            <a:pPr indent="0" marL="0">
              <a:buNone/>
            </a:pPr>
            <a:r>
              <a:rPr lang="en-US" sz="600" dirty="0">
                <a:solidFill>
                  <a:srgbClr val="C0AAB9"/>
                </a:solidFill>
                <a:latin typeface="Arial" pitchFamily="34" charset="0"/>
                <a:ea typeface="Arial" pitchFamily="34" charset="-122"/>
                <a:cs typeface="Arial" pitchFamily="34" charset="-120"/>
              </a:rPr>
              <a:t>CREATIVE EXERCISE</a:t>
            </a:r>
            <a:endParaRPr lang="en-US" sz="600" dirty="0"/>
          </a:p>
        </p:txBody>
      </p:sp>
      <p:sp>
        <p:nvSpPr>
          <p:cNvPr id="4" name="Text 2"/>
          <p:cNvSpPr/>
          <p:nvPr/>
        </p:nvSpPr>
        <p:spPr>
          <a:xfrm>
            <a:off x="502920" y="1920240"/>
            <a:ext cx="502920" cy="4480560"/>
          </a:xfrm>
          <a:prstGeom prst="rect">
            <a:avLst/>
          </a:prstGeom>
          <a:noFill/>
          <a:ln/>
        </p:spPr>
        <p:txBody>
          <a:bodyPr wrap="square" lIns="0" tIns="0" rIns="0" bIns="0" rtlCol="0" anchor="t">
            <a:normAutofit/>
          </a:bodyPr>
          <a:lstStyle/>
          <a:p>
            <a:pPr algn="ctr" indent="0" marL="0">
              <a:buNone/>
            </a:pPr>
            <a:r>
              <a:rPr lang="en-US" sz="2500" dirty="0">
                <a:solidFill>
                  <a:srgbClr val="83BADF"/>
                </a:solidFill>
                <a:latin typeface="Georgia" pitchFamily="34" charset="0"/>
                <a:ea typeface="Georgia" pitchFamily="34" charset="-122"/>
                <a:cs typeface="Georgia" pitchFamily="34" charset="-120"/>
              </a:rPr>
              <a:t>A</a:t>
            </a:r>
            <a:endParaRPr lang="en-US" sz="2500" dirty="0"/>
          </a:p>
          <a:p>
            <a:pPr algn="ctr" indent="0" marL="0">
              <a:buNone/>
            </a:pPr>
            <a:r>
              <a:rPr lang="en-US" sz="2500" dirty="0">
                <a:solidFill>
                  <a:srgbClr val="83BADF"/>
                </a:solidFill>
                <a:latin typeface="Georgia" pitchFamily="34" charset="0"/>
                <a:ea typeface="Georgia" pitchFamily="34" charset="-122"/>
                <a:cs typeface="Georgia" pitchFamily="34" charset="-120"/>
              </a:rPr>
              <a:t>F</a:t>
            </a:r>
            <a:endParaRPr lang="en-US" sz="2500" dirty="0"/>
          </a:p>
          <a:p>
            <a:pPr algn="ctr" indent="0" marL="0">
              <a:buNone/>
            </a:pPr>
            <a:r>
              <a:rPr lang="en-US" sz="2500" dirty="0">
                <a:solidFill>
                  <a:srgbClr val="83BADF"/>
                </a:solidFill>
                <a:latin typeface="Georgia" pitchFamily="34" charset="0"/>
                <a:ea typeface="Georgia" pitchFamily="34" charset="-122"/>
                <a:cs typeface="Georgia" pitchFamily="34" charset="-120"/>
              </a:rPr>
              <a:t>T</a:t>
            </a:r>
            <a:endParaRPr lang="en-US" sz="2500" dirty="0"/>
          </a:p>
          <a:p>
            <a:pPr algn="ctr" indent="0" marL="0">
              <a:buNone/>
            </a:pPr>
            <a:r>
              <a:rPr lang="en-US" sz="2500" dirty="0">
                <a:solidFill>
                  <a:srgbClr val="83BADF"/>
                </a:solidFill>
                <a:latin typeface="Georgia" pitchFamily="34" charset="0"/>
                <a:ea typeface="Georgia" pitchFamily="34" charset="-122"/>
                <a:cs typeface="Georgia" pitchFamily="34" charset="-120"/>
              </a:rPr>
              <a:t>E</a:t>
            </a:r>
            <a:endParaRPr lang="en-US" sz="2500" dirty="0"/>
          </a:p>
          <a:p>
            <a:pPr algn="ctr" indent="0" marL="0">
              <a:buNone/>
            </a:pPr>
            <a:r>
              <a:rPr lang="en-US" sz="2500" dirty="0">
                <a:solidFill>
                  <a:srgbClr val="83BADF"/>
                </a:solidFill>
                <a:latin typeface="Georgia" pitchFamily="34" charset="0"/>
                <a:ea typeface="Georgia" pitchFamily="34" charset="-122"/>
                <a:cs typeface="Georgia" pitchFamily="34" charset="-120"/>
              </a:rPr>
              <a:t>R</a:t>
            </a:r>
            <a:endParaRPr lang="en-US" sz="2500" dirty="0"/>
          </a:p>
          <a:p>
            <a:pPr algn="ctr" indent="0" marL="0">
              <a:buNone/>
            </a:pPr>
            <a:r>
              <a:rPr lang="en-US" sz="2500" dirty="0">
                <a:solidFill>
                  <a:srgbClr val="83BADF"/>
                </a:solidFill>
                <a:latin typeface="Georgia" pitchFamily="34" charset="0"/>
                <a:ea typeface="Georgia" pitchFamily="34" charset="-122"/>
                <a:cs typeface="Georgia" pitchFamily="34" charset="-120"/>
              </a:rPr>
              <a:t>G</a:t>
            </a:r>
            <a:endParaRPr lang="en-US" sz="2500" dirty="0"/>
          </a:p>
          <a:p>
            <a:pPr algn="ctr" indent="0" marL="0">
              <a:buNone/>
            </a:pPr>
            <a:r>
              <a:rPr lang="en-US" sz="2500" dirty="0">
                <a:solidFill>
                  <a:srgbClr val="83BADF"/>
                </a:solidFill>
                <a:latin typeface="Georgia" pitchFamily="34" charset="0"/>
                <a:ea typeface="Georgia" pitchFamily="34" charset="-122"/>
                <a:cs typeface="Georgia" pitchFamily="34" charset="-120"/>
              </a:rPr>
              <a:t>L</a:t>
            </a:r>
            <a:endParaRPr lang="en-US" sz="2500" dirty="0"/>
          </a:p>
          <a:p>
            <a:pPr algn="ctr" indent="0" marL="0">
              <a:buNone/>
            </a:pPr>
            <a:r>
              <a:rPr lang="en-US" sz="2500" dirty="0">
                <a:solidFill>
                  <a:srgbClr val="83BADF"/>
                </a:solidFill>
                <a:latin typeface="Georgia" pitchFamily="34" charset="0"/>
                <a:ea typeface="Georgia" pitchFamily="34" charset="-122"/>
                <a:cs typeface="Georgia" pitchFamily="34" charset="-120"/>
              </a:rPr>
              <a:t>O</a:t>
            </a:r>
            <a:endParaRPr lang="en-US" sz="2500" dirty="0"/>
          </a:p>
          <a:p>
            <a:pPr algn="ctr" indent="0" marL="0">
              <a:buNone/>
            </a:pPr>
            <a:r>
              <a:rPr lang="en-US" sz="2500" dirty="0">
                <a:solidFill>
                  <a:srgbClr val="83BADF"/>
                </a:solidFill>
                <a:latin typeface="Georgia" pitchFamily="34" charset="0"/>
                <a:ea typeface="Georgia" pitchFamily="34" charset="-122"/>
                <a:cs typeface="Georgia" pitchFamily="34" charset="-120"/>
              </a:rPr>
              <a:t>W</a:t>
            </a:r>
            <a:endParaRPr lang="en-US" sz="2500" dirty="0"/>
          </a:p>
        </p:txBody>
      </p:sp>
      <p:sp>
        <p:nvSpPr>
          <p:cNvPr id="5" name="Text 3"/>
          <p:cNvSpPr/>
          <p:nvPr/>
        </p:nvSpPr>
        <p:spPr>
          <a:xfrm>
            <a:off x="402336" y="7022592"/>
            <a:ext cx="731520" cy="594360"/>
          </a:xfrm>
          <a:prstGeom prst="rect">
            <a:avLst/>
          </a:prstGeom>
          <a:noFill/>
          <a:ln/>
        </p:spPr>
        <p:txBody>
          <a:bodyPr wrap="square" lIns="0" tIns="0" rIns="0" bIns="0" rtlCol="0" anchor="t">
            <a:normAutofit/>
          </a:bodyPr>
          <a:lstStyle/>
          <a:p>
            <a:pPr indent="0" marL="0">
              <a:buNone/>
            </a:pPr>
            <a:r>
              <a:rPr lang="en-US" sz="4200" dirty="0">
                <a:solidFill>
                  <a:srgbClr val="83BADF"/>
                </a:solidFill>
                <a:latin typeface="Georgia" pitchFamily="34" charset="0"/>
                <a:ea typeface="Georgia" pitchFamily="34" charset="-122"/>
                <a:cs typeface="Georgia" pitchFamily="34" charset="-120"/>
              </a:rPr>
              <a:t>10</a:t>
            </a:r>
            <a:endParaRPr lang="en-US" sz="4200" dirty="0"/>
          </a:p>
        </p:txBody>
      </p:sp>
      <p:sp>
        <p:nvSpPr>
          <p:cNvPr id="6" name="Text 4"/>
          <p:cNvSpPr/>
          <p:nvPr/>
        </p:nvSpPr>
        <p:spPr>
          <a:xfrm>
            <a:off x="402336" y="7818120"/>
            <a:ext cx="731520" cy="411480"/>
          </a:xfrm>
          <a:prstGeom prst="rect">
            <a:avLst/>
          </a:prstGeom>
          <a:noFill/>
          <a:ln/>
        </p:spPr>
        <p:txBody>
          <a:bodyPr wrap="square" lIns="0" tIns="0" rIns="0" bIns="0" rtlCol="0" anchor="t">
            <a:normAutofit/>
          </a:bodyPr>
          <a:lstStyle/>
          <a:p>
            <a:pPr indent="0" marL="0">
              <a:buNone/>
            </a:pPr>
            <a:r>
              <a:rPr lang="en-US" sz="700" dirty="0">
                <a:solidFill>
                  <a:srgbClr val="C0AAB9"/>
                </a:solidFill>
                <a:latin typeface="Arial" pitchFamily="34" charset="0"/>
                <a:ea typeface="Arial" pitchFamily="34" charset="-122"/>
                <a:cs typeface="Arial" pitchFamily="34" charset="-120"/>
              </a:rPr>
              <a:t>ACT 2 / 5</a:t>
            </a:r>
            <a:endParaRPr lang="en-US" sz="700" dirty="0"/>
          </a:p>
          <a:p>
            <a:pPr indent="0" marL="0">
              <a:buNone/>
            </a:pPr>
            <a:r>
              <a:rPr lang="en-US" sz="700" dirty="0">
                <a:solidFill>
                  <a:srgbClr val="C0AAB9"/>
                </a:solidFill>
                <a:latin typeface="Arial" pitchFamily="34" charset="0"/>
                <a:ea typeface="Arial" pitchFamily="34" charset="-122"/>
                <a:cs typeface="Arial" pitchFamily="34" charset="-120"/>
              </a:rPr>
              <a:t>BEAT 4 / 6</a:t>
            </a:r>
            <a:endParaRPr lang="en-US" sz="700" dirty="0"/>
          </a:p>
        </p:txBody>
      </p:sp>
      <p:sp>
        <p:nvSpPr>
          <p:cNvPr id="7" name="Text 5"/>
          <p:cNvSpPr/>
          <p:nvPr/>
        </p:nvSpPr>
        <p:spPr>
          <a:xfrm>
            <a:off x="1499616" y="347472"/>
            <a:ext cx="9144000" cy="164592"/>
          </a:xfrm>
          <a:prstGeom prst="rect">
            <a:avLst/>
          </a:prstGeom>
          <a:noFill/>
          <a:ln/>
        </p:spPr>
        <p:txBody>
          <a:bodyPr wrap="square" lIns="0" tIns="0" rIns="0" bIns="0" rtlCol="0" anchor="t">
            <a:normAutofit/>
          </a:bodyPr>
          <a:lstStyle/>
          <a:p>
            <a:pPr indent="0" marL="0">
              <a:buNone/>
            </a:pPr>
            <a:r>
              <a:rPr lang="en-US" sz="700" spc="120" kern="0" dirty="0">
                <a:solidFill>
                  <a:srgbClr val="83BADF"/>
                </a:solidFill>
                <a:latin typeface="Arial" pitchFamily="34" charset="0"/>
                <a:ea typeface="Arial" pitchFamily="34" charset="-122"/>
                <a:cs typeface="Arial" pitchFamily="34" charset="-120"/>
              </a:rPr>
              <a:t>ACT 2 / CONTRAST</a:t>
            </a:r>
            <a:endParaRPr lang="en-US" sz="700" dirty="0"/>
          </a:p>
        </p:txBody>
      </p:sp>
      <p:sp>
        <p:nvSpPr>
          <p:cNvPr id="8" name="Text 6"/>
          <p:cNvSpPr/>
          <p:nvPr/>
        </p:nvSpPr>
        <p:spPr>
          <a:xfrm>
            <a:off x="1499616" y="612648"/>
            <a:ext cx="9692640" cy="594360"/>
          </a:xfrm>
          <a:prstGeom prst="rect">
            <a:avLst/>
          </a:prstGeom>
          <a:noFill/>
          <a:ln/>
        </p:spPr>
        <p:txBody>
          <a:bodyPr wrap="square" lIns="0" tIns="0" rIns="0" bIns="0" rtlCol="0" anchor="t">
            <a:normAutofit/>
          </a:bodyPr>
          <a:lstStyle/>
          <a:p>
            <a:pPr indent="0" marL="0">
              <a:buNone/>
            </a:pPr>
            <a:r>
              <a:rPr lang="en-US" sz="2800" dirty="0">
                <a:solidFill>
                  <a:srgbClr val="ECDED6"/>
                </a:solidFill>
                <a:latin typeface="Georgia" pitchFamily="34" charset="0"/>
                <a:ea typeface="Georgia" pitchFamily="34" charset="-122"/>
                <a:cs typeface="Georgia" pitchFamily="34" charset="-120"/>
              </a:rPr>
              <a:t>Offer a generous disagreement.</a:t>
            </a:r>
            <a:endParaRPr lang="en-US" sz="2800" dirty="0"/>
          </a:p>
        </p:txBody>
      </p:sp>
      <p:sp>
        <p:nvSpPr>
          <p:cNvPr id="9" name="Text 7"/>
          <p:cNvSpPr/>
          <p:nvPr/>
        </p:nvSpPr>
        <p:spPr>
          <a:xfrm>
            <a:off x="11475720" y="438912"/>
            <a:ext cx="1325880" cy="182880"/>
          </a:xfrm>
          <a:prstGeom prst="rect">
            <a:avLst/>
          </a:prstGeom>
          <a:noFill/>
          <a:ln/>
        </p:spPr>
        <p:txBody>
          <a:bodyPr wrap="square" lIns="0" tIns="0" rIns="0" bIns="0" rtlCol="0" anchor="t">
            <a:normAutofit/>
          </a:bodyPr>
          <a:lstStyle/>
          <a:p>
            <a:pPr algn="r" indent="0" marL="0">
              <a:buNone/>
            </a:pPr>
            <a:r>
              <a:rPr lang="en-US" sz="700" dirty="0">
                <a:solidFill>
                  <a:srgbClr val="83BADF"/>
                </a:solidFill>
                <a:latin typeface="Arial" pitchFamily="34" charset="0"/>
                <a:ea typeface="Arial" pitchFamily="34" charset="-122"/>
                <a:cs typeface="Arial" pitchFamily="34" charset="-120"/>
              </a:rPr>
              <a:t>LOCAL / UNMARKED</a:t>
            </a:r>
            <a:endParaRPr lang="en-US" sz="700" dirty="0"/>
          </a:p>
        </p:txBody>
      </p:sp>
      <p:sp>
        <p:nvSpPr>
          <p:cNvPr id="10" name="Shape 8"/>
          <p:cNvSpPr/>
          <p:nvPr/>
        </p:nvSpPr>
        <p:spPr>
          <a:xfrm>
            <a:off x="1499616" y="1307592"/>
            <a:ext cx="1819656" cy="448056"/>
          </a:xfrm>
          <a:prstGeom prst="rect">
            <a:avLst/>
          </a:prstGeom>
          <a:solidFill>
            <a:srgbClr val="12253B"/>
          </a:solidFill>
          <a:ln w="8890">
            <a:solidFill>
              <a:srgbClr val="6D5768"/>
            </a:solidFill>
            <a:prstDash val="solid"/>
          </a:ln>
        </p:spPr>
      </p:sp>
      <p:sp>
        <p:nvSpPr>
          <p:cNvPr id="11" name="Text 9"/>
          <p:cNvSpPr/>
          <p:nvPr/>
        </p:nvSpPr>
        <p:spPr>
          <a:xfrm>
            <a:off x="1572768"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83BADF"/>
                </a:solidFill>
                <a:latin typeface="Georgia" pitchFamily="34" charset="0"/>
                <a:ea typeface="Georgia" pitchFamily="34" charset="-122"/>
                <a:cs typeface="Georgia" pitchFamily="34" charset="-120"/>
              </a:rPr>
              <a:t>1</a:t>
            </a:r>
            <a:endParaRPr lang="en-US" sz="1700" dirty="0"/>
          </a:p>
        </p:txBody>
      </p:sp>
      <p:sp>
        <p:nvSpPr>
          <p:cNvPr id="12" name="Text 10"/>
          <p:cNvSpPr/>
          <p:nvPr/>
        </p:nvSpPr>
        <p:spPr>
          <a:xfrm>
            <a:off x="1865376"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Set two versions side by side.</a:t>
            </a:r>
            <a:endParaRPr lang="en-US" sz="700" dirty="0"/>
          </a:p>
        </p:txBody>
      </p:sp>
      <p:sp>
        <p:nvSpPr>
          <p:cNvPr id="13" name="Shape 11"/>
          <p:cNvSpPr/>
          <p:nvPr/>
        </p:nvSpPr>
        <p:spPr>
          <a:xfrm>
            <a:off x="3392424" y="1307592"/>
            <a:ext cx="1819656" cy="448056"/>
          </a:xfrm>
          <a:prstGeom prst="rect">
            <a:avLst/>
          </a:prstGeom>
          <a:solidFill>
            <a:srgbClr val="12253B"/>
          </a:solidFill>
          <a:ln w="8890">
            <a:solidFill>
              <a:srgbClr val="6D5768"/>
            </a:solidFill>
            <a:prstDash val="solid"/>
          </a:ln>
        </p:spPr>
      </p:sp>
      <p:sp>
        <p:nvSpPr>
          <p:cNvPr id="14" name="Text 12"/>
          <p:cNvSpPr/>
          <p:nvPr/>
        </p:nvSpPr>
        <p:spPr>
          <a:xfrm>
            <a:off x="3465576"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83BADF"/>
                </a:solidFill>
                <a:latin typeface="Georgia" pitchFamily="34" charset="0"/>
                <a:ea typeface="Georgia" pitchFamily="34" charset="-122"/>
                <a:cs typeface="Georgia" pitchFamily="34" charset="-120"/>
              </a:rPr>
              <a:t>2</a:t>
            </a:r>
            <a:endParaRPr lang="en-US" sz="1700" dirty="0"/>
          </a:p>
        </p:txBody>
      </p:sp>
      <p:sp>
        <p:nvSpPr>
          <p:cNvPr id="15" name="Text 13"/>
          <p:cNvSpPr/>
          <p:nvPr/>
        </p:nvSpPr>
        <p:spPr>
          <a:xfrm>
            <a:off x="3758184"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Change the light in the sentence.</a:t>
            </a:r>
            <a:endParaRPr lang="en-US" sz="700" dirty="0"/>
          </a:p>
        </p:txBody>
      </p:sp>
      <p:sp>
        <p:nvSpPr>
          <p:cNvPr id="16" name="Shape 14"/>
          <p:cNvSpPr/>
          <p:nvPr/>
        </p:nvSpPr>
        <p:spPr>
          <a:xfrm>
            <a:off x="5285232" y="1307592"/>
            <a:ext cx="1819656" cy="448056"/>
          </a:xfrm>
          <a:prstGeom prst="rect">
            <a:avLst/>
          </a:prstGeom>
          <a:solidFill>
            <a:srgbClr val="12253B"/>
          </a:solidFill>
          <a:ln w="8890">
            <a:solidFill>
              <a:srgbClr val="6D5768"/>
            </a:solidFill>
            <a:prstDash val="solid"/>
          </a:ln>
        </p:spPr>
      </p:sp>
      <p:sp>
        <p:nvSpPr>
          <p:cNvPr id="17" name="Text 15"/>
          <p:cNvSpPr/>
          <p:nvPr/>
        </p:nvSpPr>
        <p:spPr>
          <a:xfrm>
            <a:off x="5358384"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83BADF"/>
                </a:solidFill>
                <a:latin typeface="Georgia" pitchFamily="34" charset="0"/>
                <a:ea typeface="Georgia" pitchFamily="34" charset="-122"/>
                <a:cs typeface="Georgia" pitchFamily="34" charset="-120"/>
              </a:rPr>
              <a:t>3</a:t>
            </a:r>
            <a:endParaRPr lang="en-US" sz="1700" dirty="0"/>
          </a:p>
        </p:txBody>
      </p:sp>
      <p:sp>
        <p:nvSpPr>
          <p:cNvPr id="18" name="Text 16"/>
          <p:cNvSpPr/>
          <p:nvPr/>
        </p:nvSpPr>
        <p:spPr>
          <a:xfrm>
            <a:off x="5650992"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Let silence have alternatives.</a:t>
            </a:r>
            <a:endParaRPr lang="en-US" sz="700" dirty="0"/>
          </a:p>
        </p:txBody>
      </p:sp>
      <p:sp>
        <p:nvSpPr>
          <p:cNvPr id="19" name="Shape 17"/>
          <p:cNvSpPr/>
          <p:nvPr/>
        </p:nvSpPr>
        <p:spPr>
          <a:xfrm>
            <a:off x="7178040" y="1307592"/>
            <a:ext cx="1819656" cy="448056"/>
          </a:xfrm>
          <a:prstGeom prst="rect">
            <a:avLst/>
          </a:prstGeom>
          <a:solidFill>
            <a:srgbClr val="12253B"/>
          </a:solidFill>
          <a:ln w="8890">
            <a:solidFill>
              <a:srgbClr val="83BADF"/>
            </a:solidFill>
            <a:prstDash val="solid"/>
          </a:ln>
        </p:spPr>
      </p:sp>
      <p:sp>
        <p:nvSpPr>
          <p:cNvPr id="20" name="Text 18"/>
          <p:cNvSpPr/>
          <p:nvPr/>
        </p:nvSpPr>
        <p:spPr>
          <a:xfrm>
            <a:off x="7251192"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83BADF"/>
                </a:solidFill>
                <a:latin typeface="Georgia" pitchFamily="34" charset="0"/>
                <a:ea typeface="Georgia" pitchFamily="34" charset="-122"/>
                <a:cs typeface="Georgia" pitchFamily="34" charset="-120"/>
              </a:rPr>
              <a:t>4</a:t>
            </a:r>
            <a:endParaRPr lang="en-US" sz="1700" dirty="0"/>
          </a:p>
        </p:txBody>
      </p:sp>
      <p:sp>
        <p:nvSpPr>
          <p:cNvPr id="21" name="Text 19"/>
          <p:cNvSpPr/>
          <p:nvPr/>
        </p:nvSpPr>
        <p:spPr>
          <a:xfrm>
            <a:off x="7543800"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Offer a generous disagreement.</a:t>
            </a:r>
            <a:endParaRPr lang="en-US" sz="700" dirty="0"/>
          </a:p>
        </p:txBody>
      </p:sp>
      <p:sp>
        <p:nvSpPr>
          <p:cNvPr id="22" name="Shape 20"/>
          <p:cNvSpPr/>
          <p:nvPr/>
        </p:nvSpPr>
        <p:spPr>
          <a:xfrm>
            <a:off x="9070848" y="1307592"/>
            <a:ext cx="1819656" cy="448056"/>
          </a:xfrm>
          <a:prstGeom prst="rect">
            <a:avLst/>
          </a:prstGeom>
          <a:solidFill>
            <a:srgbClr val="12253B"/>
          </a:solidFill>
          <a:ln w="8890">
            <a:solidFill>
              <a:srgbClr val="6D5768"/>
            </a:solidFill>
            <a:prstDash val="solid"/>
          </a:ln>
        </p:spPr>
      </p:sp>
      <p:sp>
        <p:nvSpPr>
          <p:cNvPr id="23" name="Text 21"/>
          <p:cNvSpPr/>
          <p:nvPr/>
        </p:nvSpPr>
        <p:spPr>
          <a:xfrm>
            <a:off x="9144000"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83BADF"/>
                </a:solidFill>
                <a:latin typeface="Georgia" pitchFamily="34" charset="0"/>
                <a:ea typeface="Georgia" pitchFamily="34" charset="-122"/>
                <a:cs typeface="Georgia" pitchFamily="34" charset="-120"/>
              </a:rPr>
              <a:t>5</a:t>
            </a:r>
            <a:endParaRPr lang="en-US" sz="1700" dirty="0"/>
          </a:p>
        </p:txBody>
      </p:sp>
      <p:sp>
        <p:nvSpPr>
          <p:cNvPr id="24" name="Text 22"/>
          <p:cNvSpPr/>
          <p:nvPr/>
        </p:nvSpPr>
        <p:spPr>
          <a:xfrm>
            <a:off x="9436608"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Test a reversal of expectation.</a:t>
            </a:r>
            <a:endParaRPr lang="en-US" sz="700" dirty="0"/>
          </a:p>
        </p:txBody>
      </p:sp>
      <p:sp>
        <p:nvSpPr>
          <p:cNvPr id="25" name="Shape 23"/>
          <p:cNvSpPr/>
          <p:nvPr/>
        </p:nvSpPr>
        <p:spPr>
          <a:xfrm>
            <a:off x="10963656" y="1307592"/>
            <a:ext cx="1819656" cy="448056"/>
          </a:xfrm>
          <a:prstGeom prst="rect">
            <a:avLst/>
          </a:prstGeom>
          <a:solidFill>
            <a:srgbClr val="12253B"/>
          </a:solidFill>
          <a:ln w="8890">
            <a:solidFill>
              <a:srgbClr val="6D5768"/>
            </a:solidFill>
            <a:prstDash val="solid"/>
          </a:ln>
        </p:spPr>
      </p:sp>
      <p:sp>
        <p:nvSpPr>
          <p:cNvPr id="26" name="Text 24"/>
          <p:cNvSpPr/>
          <p:nvPr/>
        </p:nvSpPr>
        <p:spPr>
          <a:xfrm>
            <a:off x="11036808"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83BADF"/>
                </a:solidFill>
                <a:latin typeface="Georgia" pitchFamily="34" charset="0"/>
                <a:ea typeface="Georgia" pitchFamily="34" charset="-122"/>
                <a:cs typeface="Georgia" pitchFamily="34" charset="-120"/>
              </a:rPr>
              <a:t>6</a:t>
            </a:r>
            <a:endParaRPr lang="en-US" sz="1700" dirty="0"/>
          </a:p>
        </p:txBody>
      </p:sp>
      <p:sp>
        <p:nvSpPr>
          <p:cNvPr id="27" name="Text 25"/>
          <p:cNvSpPr/>
          <p:nvPr/>
        </p:nvSpPr>
        <p:spPr>
          <a:xfrm>
            <a:off x="11329416"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Name what contrast reveals.</a:t>
            </a:r>
            <a:endParaRPr lang="en-US" sz="700" dirty="0"/>
          </a:p>
        </p:txBody>
      </p:sp>
      <p:pic>
        <p:nvPicPr>
          <p:cNvPr id="28" name="Image 0" descr="/home/user/design-buddy/design-buddy-home/public/atelier/afterglow/images/05.jpg">    </p:cNvPr>
          <p:cNvPicPr>
            <a:picLocks noChangeAspect="1"/>
          </p:cNvPicPr>
          <p:nvPr/>
        </p:nvPicPr>
        <p:blipFill>
          <a:blip r:embed="rId1"/>
          <a:srcRect l="0" r="0" t="0" b="0"/>
          <a:stretch/>
        </p:blipFill>
        <p:spPr>
          <a:xfrm>
            <a:off x="1499616" y="2066544"/>
            <a:ext cx="6949440" cy="3840480"/>
          </a:xfrm>
          <a:prstGeom prst="rect">
            <a:avLst/>
          </a:prstGeom>
        </p:spPr>
      </p:pic>
      <p:sp>
        <p:nvSpPr>
          <p:cNvPr id="29" name="Text 26"/>
          <p:cNvSpPr/>
          <p:nvPr/>
        </p:nvSpPr>
        <p:spPr>
          <a:xfrm>
            <a:off x="1499616" y="6007608"/>
            <a:ext cx="6949440" cy="164592"/>
          </a:xfrm>
          <a:prstGeom prst="rect">
            <a:avLst/>
          </a:prstGeom>
          <a:noFill/>
          <a:ln/>
        </p:spPr>
        <p:txBody>
          <a:bodyPr wrap="square" lIns="0" tIns="0" rIns="0" bIns="0" rtlCol="0" anchor="t">
            <a:normAutofit/>
          </a:bodyPr>
          <a:lstStyle/>
          <a:p>
            <a:pPr indent="0" marL="0">
              <a:buNone/>
            </a:pPr>
            <a:r>
              <a:rPr lang="en-US" sz="650" dirty="0">
                <a:solidFill>
                  <a:srgbClr val="C0AAB9"/>
                </a:solidFill>
                <a:latin typeface="Arial" pitchFamily="34" charset="0"/>
                <a:ea typeface="Arial" pitchFamily="34" charset="-122"/>
                <a:cs typeface="Arial" pitchFamily="34" charset="-120"/>
              </a:rPr>
              <a:t>Watercolour 5 / invented setting and adults / not production evidence</a:t>
            </a:r>
            <a:endParaRPr lang="en-US" sz="650" dirty="0"/>
          </a:p>
        </p:txBody>
      </p:sp>
      <p:sp>
        <p:nvSpPr>
          <p:cNvPr id="30" name="Text 27"/>
          <p:cNvSpPr/>
          <p:nvPr/>
        </p:nvSpPr>
        <p:spPr>
          <a:xfrm>
            <a:off x="8705088" y="2139696"/>
            <a:ext cx="4133088" cy="164592"/>
          </a:xfrm>
          <a:prstGeom prst="rect">
            <a:avLst/>
          </a:prstGeom>
          <a:noFill/>
          <a:ln/>
        </p:spPr>
        <p:txBody>
          <a:bodyPr wrap="square" lIns="0" tIns="0" rIns="0" bIns="0" rtlCol="0" anchor="t">
            <a:normAutofit/>
          </a:bodyPr>
          <a:lstStyle/>
          <a:p>
            <a:pPr indent="0" marL="0">
              <a:buNone/>
            </a:pPr>
            <a:r>
              <a:rPr lang="en-US" sz="700" spc="110" kern="0" dirty="0">
                <a:solidFill>
                  <a:srgbClr val="83BADF"/>
                </a:solidFill>
                <a:latin typeface="Arial" pitchFamily="34" charset="0"/>
                <a:ea typeface="Arial" pitchFamily="34" charset="-122"/>
                <a:cs typeface="Arial" pitchFamily="34" charset="-120"/>
              </a:rPr>
              <a:t>STORY INTENTION</a:t>
            </a:r>
            <a:endParaRPr lang="en-US" sz="700" dirty="0"/>
          </a:p>
        </p:txBody>
      </p:sp>
      <p:sp>
        <p:nvSpPr>
          <p:cNvPr id="31" name="Text 28"/>
          <p:cNvSpPr/>
          <p:nvPr/>
        </p:nvSpPr>
        <p:spPr>
          <a:xfrm>
            <a:off x="8705088" y="2514600"/>
            <a:ext cx="4133088" cy="1828800"/>
          </a:xfrm>
          <a:prstGeom prst="rect">
            <a:avLst/>
          </a:prstGeom>
          <a:noFill/>
          <a:ln/>
        </p:spPr>
        <p:txBody>
          <a:bodyPr wrap="square" lIns="0" tIns="0" rIns="0" bIns="0" rtlCol="0" anchor="t">
            <a:normAutofit/>
          </a:bodyPr>
          <a:lstStyle/>
          <a:p>
            <a:pPr indent="0" marL="0">
              <a:buNone/>
            </a:pPr>
            <a:r>
              <a:rPr lang="en-US" sz="1575" dirty="0">
                <a:solidFill>
                  <a:srgbClr val="ECDED6"/>
                </a:solidFill>
                <a:latin typeface="Georgia" pitchFamily="34" charset="0"/>
                <a:ea typeface="Georgia" pitchFamily="34" charset="-122"/>
                <a:cs typeface="Georgia" pitchFamily="34" charset="-120"/>
              </a:rPr>
              <a:t>Give two invented collaborators different priorities for a story ending. Let each acknowledge a useful part of the other’s idea. This explores dialogue rather than a procedure for resolving real workplace disputes.</a:t>
            </a:r>
            <a:endParaRPr lang="en-US" sz="1575" dirty="0"/>
          </a:p>
        </p:txBody>
      </p:sp>
      <p:sp>
        <p:nvSpPr>
          <p:cNvPr id="32" name="Text 29"/>
          <p:cNvSpPr/>
          <p:nvPr/>
        </p:nvSpPr>
        <p:spPr>
          <a:xfrm>
            <a:off x="8705088" y="4572000"/>
            <a:ext cx="4133088" cy="164592"/>
          </a:xfrm>
          <a:prstGeom prst="rect">
            <a:avLst/>
          </a:prstGeom>
          <a:noFill/>
          <a:ln/>
        </p:spPr>
        <p:txBody>
          <a:bodyPr wrap="square" lIns="0" tIns="0" rIns="0" bIns="0" rtlCol="0" anchor="t">
            <a:normAutofit/>
          </a:bodyPr>
          <a:lstStyle/>
          <a:p>
            <a:pPr indent="0" marL="0">
              <a:buNone/>
            </a:pPr>
            <a:r>
              <a:rPr lang="en-US" sz="700" spc="110" kern="0" dirty="0">
                <a:solidFill>
                  <a:srgbClr val="83BADF"/>
                </a:solidFill>
                <a:latin typeface="Arial" pitchFamily="34" charset="0"/>
                <a:ea typeface="Arial" pitchFamily="34" charset="-122"/>
                <a:cs typeface="Arial" pitchFamily="34" charset="-120"/>
              </a:rPr>
              <a:t>LEAVE A QUESTION</a:t>
            </a:r>
            <a:endParaRPr lang="en-US" sz="700" dirty="0"/>
          </a:p>
        </p:txBody>
      </p:sp>
      <p:sp>
        <p:nvSpPr>
          <p:cNvPr id="33" name="Text 30"/>
          <p:cNvSpPr/>
          <p:nvPr/>
        </p:nvSpPr>
        <p:spPr>
          <a:xfrm>
            <a:off x="8705088" y="4910328"/>
            <a:ext cx="4133088" cy="822960"/>
          </a:xfrm>
          <a:prstGeom prst="rect">
            <a:avLst/>
          </a:prstGeom>
          <a:noFill/>
          <a:ln/>
        </p:spPr>
        <p:txBody>
          <a:bodyPr wrap="square" lIns="0" tIns="0" rIns="0" bIns="0" rtlCol="0" anchor="t">
            <a:normAutofit/>
          </a:bodyPr>
          <a:lstStyle/>
          <a:p>
            <a:pPr indent="0" marL="0">
              <a:buNone/>
            </a:pPr>
            <a:r>
              <a:rPr lang="en-US" sz="1875" i="1" dirty="0">
                <a:solidFill>
                  <a:srgbClr val="83BADF"/>
                </a:solidFill>
                <a:latin typeface="Georgia" pitchFamily="34" charset="0"/>
                <a:ea typeface="Georgia" pitchFamily="34" charset="-122"/>
                <a:cs typeface="Georgia" pitchFamily="34" charset="-120"/>
              </a:rPr>
              <a:t>Which acknowledgement makes the disagreement more interesting?</a:t>
            </a:r>
            <a:endParaRPr lang="en-US" sz="1875" dirty="0"/>
          </a:p>
        </p:txBody>
      </p:sp>
      <p:sp>
        <p:nvSpPr>
          <p:cNvPr id="34" name="Text 31"/>
          <p:cNvSpPr/>
          <p:nvPr/>
        </p:nvSpPr>
        <p:spPr>
          <a:xfrm>
            <a:off x="8705088" y="5806440"/>
            <a:ext cx="4133088" cy="292608"/>
          </a:xfrm>
          <a:prstGeom prst="rect">
            <a:avLst/>
          </a:prstGeom>
          <a:noFill/>
          <a:ln/>
        </p:spPr>
        <p:txBody>
          <a:bodyPr wrap="square" lIns="0" tIns="0" rIns="0" bIns="0" rtlCol="0" anchor="t">
            <a:normAutofit/>
          </a:bodyPr>
          <a:lstStyle/>
          <a:p>
            <a:pPr indent="0" marL="0">
              <a:buNone/>
            </a:pPr>
            <a:r>
              <a:rPr lang="en-US" sz="700" dirty="0">
                <a:solidFill>
                  <a:srgbClr val="C0AAB9"/>
                </a:solidFill>
                <a:latin typeface="Arial" pitchFamily="34" charset="0"/>
                <a:ea typeface="Arial" pitchFamily="34" charset="-122"/>
                <a:cs typeface="Arial" pitchFamily="34" charset="-120"/>
              </a:rPr>
              <a:t>Beat order is not timing, a technical call or a show schedule.</a:t>
            </a:r>
            <a:endParaRPr lang="en-US" sz="700" dirty="0"/>
          </a:p>
        </p:txBody>
      </p:sp>
      <p:sp>
        <p:nvSpPr>
          <p:cNvPr id="35" name="Shape 32"/>
          <p:cNvSpPr/>
          <p:nvPr/>
        </p:nvSpPr>
        <p:spPr>
          <a:xfrm>
            <a:off x="1499616" y="6583680"/>
            <a:ext cx="3675888" cy="1481328"/>
          </a:xfrm>
          <a:prstGeom prst="rect">
            <a:avLst/>
          </a:prstGeom>
          <a:solidFill>
            <a:srgbClr val="12253B"/>
          </a:solidFill>
          <a:ln w="8890">
            <a:solidFill>
              <a:srgbClr val="735D6D"/>
            </a:solidFill>
            <a:prstDash val="solid"/>
          </a:ln>
        </p:spPr>
      </p:sp>
      <p:sp>
        <p:nvSpPr>
          <p:cNvPr id="36" name="Text 33"/>
          <p:cNvSpPr/>
          <p:nvPr/>
        </p:nvSpPr>
        <p:spPr>
          <a:xfrm>
            <a:off x="1682496"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83BADF"/>
                </a:solidFill>
                <a:latin typeface="Arial" pitchFamily="34" charset="0"/>
                <a:ea typeface="Arial" pitchFamily="34" charset="-122"/>
                <a:cs typeface="Arial" pitchFamily="34" charset="-120"/>
              </a:rPr>
              <a:t>01 / NOTICE</a:t>
            </a:r>
            <a:endParaRPr lang="en-US" sz="700" dirty="0"/>
          </a:p>
        </p:txBody>
      </p:sp>
      <p:sp>
        <p:nvSpPr>
          <p:cNvPr id="37" name="Text 34"/>
          <p:cNvSpPr/>
          <p:nvPr/>
        </p:nvSpPr>
        <p:spPr>
          <a:xfrm>
            <a:off x="1682496"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A response can recognise value without agreeing.</a:t>
            </a:r>
            <a:endParaRPr lang="en-US" sz="1500" dirty="0"/>
          </a:p>
        </p:txBody>
      </p:sp>
      <p:sp>
        <p:nvSpPr>
          <p:cNvPr id="38" name="Shape 35"/>
          <p:cNvSpPr/>
          <p:nvPr/>
        </p:nvSpPr>
        <p:spPr>
          <a:xfrm>
            <a:off x="5321808" y="6583680"/>
            <a:ext cx="3675888" cy="1481328"/>
          </a:xfrm>
          <a:prstGeom prst="rect">
            <a:avLst/>
          </a:prstGeom>
          <a:solidFill>
            <a:srgbClr val="12253B"/>
          </a:solidFill>
          <a:ln w="8890">
            <a:solidFill>
              <a:srgbClr val="735D6D"/>
            </a:solidFill>
            <a:prstDash val="solid"/>
          </a:ln>
        </p:spPr>
      </p:sp>
      <p:sp>
        <p:nvSpPr>
          <p:cNvPr id="39" name="Text 36"/>
          <p:cNvSpPr/>
          <p:nvPr/>
        </p:nvSpPr>
        <p:spPr>
          <a:xfrm>
            <a:off x="5504688"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83BADF"/>
                </a:solidFill>
                <a:latin typeface="Arial" pitchFamily="34" charset="0"/>
                <a:ea typeface="Arial" pitchFamily="34" charset="-122"/>
                <a:cs typeface="Arial" pitchFamily="34" charset="-120"/>
              </a:rPr>
              <a:t>02 / TRY IN WORDS</a:t>
            </a:r>
            <a:endParaRPr lang="en-US" sz="700" dirty="0"/>
          </a:p>
        </p:txBody>
      </p:sp>
      <p:sp>
        <p:nvSpPr>
          <p:cNvPr id="40" name="Text 37"/>
          <p:cNvSpPr/>
          <p:nvPr/>
        </p:nvSpPr>
        <p:spPr>
          <a:xfrm>
            <a:off x="5504688"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Write a disagreement without using always or never.</a:t>
            </a:r>
            <a:endParaRPr lang="en-US" sz="1500" dirty="0"/>
          </a:p>
        </p:txBody>
      </p:sp>
      <p:sp>
        <p:nvSpPr>
          <p:cNvPr id="41" name="Shape 38"/>
          <p:cNvSpPr/>
          <p:nvPr/>
        </p:nvSpPr>
        <p:spPr>
          <a:xfrm>
            <a:off x="9144000" y="6583680"/>
            <a:ext cx="3675888" cy="1481328"/>
          </a:xfrm>
          <a:prstGeom prst="rect">
            <a:avLst/>
          </a:prstGeom>
          <a:solidFill>
            <a:srgbClr val="12253B"/>
          </a:solidFill>
          <a:ln w="8890">
            <a:solidFill>
              <a:srgbClr val="735D6D"/>
            </a:solidFill>
            <a:prstDash val="solid"/>
          </a:ln>
        </p:spPr>
      </p:sp>
      <p:sp>
        <p:nvSpPr>
          <p:cNvPr id="42" name="Text 39"/>
          <p:cNvSpPr/>
          <p:nvPr/>
        </p:nvSpPr>
        <p:spPr>
          <a:xfrm>
            <a:off x="9326880"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83BADF"/>
                </a:solidFill>
                <a:latin typeface="Arial" pitchFamily="34" charset="0"/>
                <a:ea typeface="Arial" pitchFamily="34" charset="-122"/>
                <a:cs typeface="Arial" pitchFamily="34" charset="-120"/>
              </a:rPr>
              <a:t>03 / KEEP VISIBLE</a:t>
            </a:r>
            <a:endParaRPr lang="en-US" sz="700" dirty="0"/>
          </a:p>
        </p:txBody>
      </p:sp>
      <p:sp>
        <p:nvSpPr>
          <p:cNvPr id="43" name="Text 40"/>
          <p:cNvSpPr/>
          <p:nvPr/>
        </p:nvSpPr>
        <p:spPr>
          <a:xfrm>
            <a:off x="9326880"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Keep the disagreement about the imagined story.</a:t>
            </a:r>
            <a:endParaRPr lang="en-US" sz="1500" dirty="0"/>
          </a:p>
        </p:txBody>
      </p:sp>
      <p:sp>
        <p:nvSpPr>
          <p:cNvPr id="44" name="Shape 41"/>
          <p:cNvSpPr/>
          <p:nvPr/>
        </p:nvSpPr>
        <p:spPr>
          <a:xfrm>
            <a:off x="1499616" y="8211312"/>
            <a:ext cx="11338560" cy="0"/>
          </a:xfrm>
          <a:prstGeom prst="line">
            <a:avLst/>
          </a:prstGeom>
          <a:noFill/>
          <a:ln w="8890">
            <a:solidFill>
              <a:srgbClr val="796170"/>
            </a:solidFill>
            <a:prstDash val="solid"/>
          </a:ln>
        </p:spPr>
      </p:sp>
      <p:sp>
        <p:nvSpPr>
          <p:cNvPr id="45" name="Text 42"/>
          <p:cNvSpPr/>
          <p:nvPr/>
        </p:nvSpPr>
        <p:spPr>
          <a:xfrm>
            <a:off x="1499616" y="8339328"/>
            <a:ext cx="8229600" cy="118872"/>
          </a:xfrm>
          <a:prstGeom prst="rect">
            <a:avLst/>
          </a:prstGeom>
          <a:noFill/>
          <a:ln/>
        </p:spPr>
        <p:txBody>
          <a:bodyPr wrap="square" lIns="0" tIns="0" rIns="0" bIns="0" rtlCol="0" anchor="t">
            <a:normAutofit/>
          </a:bodyPr>
          <a:lstStyle/>
          <a:p>
            <a:pPr indent="0" marL="0">
              <a:buNone/>
            </a:pPr>
            <a:r>
              <a:rPr lang="en-US" sz="650" dirty="0">
                <a:solidFill>
                  <a:srgbClr val="C0AAB9"/>
                </a:solidFill>
                <a:latin typeface="Arial" pitchFamily="34" charset="0"/>
                <a:ea typeface="Arial" pitchFamily="34" charset="-122"/>
                <a:cs typeface="Arial" pitchFamily="34" charset="-120"/>
              </a:rPr>
              <a:t>FICTIONAL WRITING WORKSHOP / NOT A STAGING OR APPROVAL PLAN</a:t>
            </a:r>
            <a:endParaRPr lang="en-US" sz="650" dirty="0"/>
          </a:p>
        </p:txBody>
      </p:sp>
      <p:sp>
        <p:nvSpPr>
          <p:cNvPr id="46" name="Text 43"/>
          <p:cNvSpPr/>
          <p:nvPr/>
        </p:nvSpPr>
        <p:spPr>
          <a:xfrm>
            <a:off x="9729216" y="8339328"/>
            <a:ext cx="3108960" cy="118872"/>
          </a:xfrm>
          <a:prstGeom prst="rect">
            <a:avLst/>
          </a:prstGeom>
          <a:noFill/>
          <a:ln/>
        </p:spPr>
        <p:txBody>
          <a:bodyPr wrap="square" lIns="0" tIns="0" rIns="0" bIns="0" rtlCol="0" anchor="t">
            <a:normAutofit/>
          </a:bodyPr>
          <a:lstStyle/>
          <a:p>
            <a:pPr algn="r" indent="0" marL="0">
              <a:buNone/>
            </a:pPr>
            <a:r>
              <a:rPr lang="en-US" sz="650" dirty="0">
                <a:solidFill>
                  <a:srgbClr val="C0AAB9"/>
                </a:solidFill>
                <a:latin typeface="Arial" pitchFamily="34" charset="0"/>
                <a:ea typeface="Arial" pitchFamily="34" charset="-122"/>
                <a:cs typeface="Arial" pitchFamily="34" charset="-120"/>
              </a:rPr>
              <a:t>DRAFT / 14 OF 15 ARTWORKS / 10 OF 30</a:t>
            </a:r>
            <a:endParaRPr lang="en-US" sz="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253B"/>
        </a:solidFill>
      </p:bgPr>
    </p:bg>
    <p:spTree>
      <p:nvGrpSpPr>
        <p:cNvPr id="1" name=""/>
        <p:cNvGrpSpPr/>
        <p:nvPr/>
      </p:nvGrpSpPr>
      <p:grpSpPr>
        <a:xfrm>
          <a:off x="0" y="0"/>
          <a:ext cx="0" cy="0"/>
          <a:chOff x="0" y="0"/>
          <a:chExt cx="0" cy="0"/>
        </a:xfrm>
      </p:grpSpPr>
      <p:sp>
        <p:nvSpPr>
          <p:cNvPr id="2" name="Shape 0"/>
          <p:cNvSpPr/>
          <p:nvPr/>
        </p:nvSpPr>
        <p:spPr>
          <a:xfrm>
            <a:off x="1243584" y="329184"/>
            <a:ext cx="0" cy="8119872"/>
          </a:xfrm>
          <a:prstGeom prst="line">
            <a:avLst/>
          </a:prstGeom>
          <a:noFill/>
          <a:ln w="10160">
            <a:solidFill>
              <a:srgbClr val="776072"/>
            </a:solidFill>
            <a:prstDash val="solid"/>
          </a:ln>
        </p:spPr>
      </p:sp>
      <p:sp>
        <p:nvSpPr>
          <p:cNvPr id="3" name="Text 1"/>
          <p:cNvSpPr/>
          <p:nvPr/>
        </p:nvSpPr>
        <p:spPr>
          <a:xfrm>
            <a:off x="393192" y="457200"/>
            <a:ext cx="685800" cy="457200"/>
          </a:xfrm>
          <a:prstGeom prst="rect">
            <a:avLst/>
          </a:prstGeom>
          <a:noFill/>
          <a:ln/>
        </p:spPr>
        <p:txBody>
          <a:bodyPr wrap="square" lIns="0" tIns="0" rIns="0" bIns="0" rtlCol="0" anchor="t">
            <a:normAutofit/>
          </a:bodyPr>
          <a:lstStyle/>
          <a:p>
            <a:pPr indent="0" marL="0">
              <a:buNone/>
            </a:pPr>
            <a:r>
              <a:rPr lang="en-US" sz="600" dirty="0">
                <a:solidFill>
                  <a:srgbClr val="C0AAB9"/>
                </a:solidFill>
                <a:latin typeface="Arial" pitchFamily="34" charset="0"/>
                <a:ea typeface="Arial" pitchFamily="34" charset="-122"/>
                <a:cs typeface="Arial" pitchFamily="34" charset="-120"/>
              </a:rPr>
              <a:t>DESIGN BUDDY</a:t>
            </a:r>
            <a:endParaRPr lang="en-US" sz="600" dirty="0"/>
          </a:p>
          <a:p>
            <a:pPr indent="0" marL="0">
              <a:buNone/>
            </a:pPr>
            <a:r>
              <a:rPr lang="en-US" sz="600" dirty="0">
                <a:solidFill>
                  <a:srgbClr val="C0AAB9"/>
                </a:solidFill>
                <a:latin typeface="Arial" pitchFamily="34" charset="0"/>
                <a:ea typeface="Arial" pitchFamily="34" charset="-122"/>
                <a:cs typeface="Arial" pitchFamily="34" charset="-120"/>
              </a:rPr>
              <a:t>CREATIVE EXERCISE</a:t>
            </a:r>
            <a:endParaRPr lang="en-US" sz="600" dirty="0"/>
          </a:p>
        </p:txBody>
      </p:sp>
      <p:sp>
        <p:nvSpPr>
          <p:cNvPr id="4" name="Text 2"/>
          <p:cNvSpPr/>
          <p:nvPr/>
        </p:nvSpPr>
        <p:spPr>
          <a:xfrm>
            <a:off x="502920" y="1920240"/>
            <a:ext cx="502920" cy="4480560"/>
          </a:xfrm>
          <a:prstGeom prst="rect">
            <a:avLst/>
          </a:prstGeom>
          <a:noFill/>
          <a:ln/>
        </p:spPr>
        <p:txBody>
          <a:bodyPr wrap="square" lIns="0" tIns="0" rIns="0" bIns="0" rtlCol="0" anchor="t">
            <a:normAutofit/>
          </a:bodyPr>
          <a:lstStyle/>
          <a:p>
            <a:pPr algn="ctr" indent="0" marL="0">
              <a:buNone/>
            </a:pPr>
            <a:r>
              <a:rPr lang="en-US" sz="2500" dirty="0">
                <a:solidFill>
                  <a:srgbClr val="83BADF"/>
                </a:solidFill>
                <a:latin typeface="Georgia" pitchFamily="34" charset="0"/>
                <a:ea typeface="Georgia" pitchFamily="34" charset="-122"/>
                <a:cs typeface="Georgia" pitchFamily="34" charset="-120"/>
              </a:rPr>
              <a:t>A</a:t>
            </a:r>
            <a:endParaRPr lang="en-US" sz="2500" dirty="0"/>
          </a:p>
          <a:p>
            <a:pPr algn="ctr" indent="0" marL="0">
              <a:buNone/>
            </a:pPr>
            <a:r>
              <a:rPr lang="en-US" sz="2500" dirty="0">
                <a:solidFill>
                  <a:srgbClr val="83BADF"/>
                </a:solidFill>
                <a:latin typeface="Georgia" pitchFamily="34" charset="0"/>
                <a:ea typeface="Georgia" pitchFamily="34" charset="-122"/>
                <a:cs typeface="Georgia" pitchFamily="34" charset="-120"/>
              </a:rPr>
              <a:t>F</a:t>
            </a:r>
            <a:endParaRPr lang="en-US" sz="2500" dirty="0"/>
          </a:p>
          <a:p>
            <a:pPr algn="ctr" indent="0" marL="0">
              <a:buNone/>
            </a:pPr>
            <a:r>
              <a:rPr lang="en-US" sz="2500" dirty="0">
                <a:solidFill>
                  <a:srgbClr val="83BADF"/>
                </a:solidFill>
                <a:latin typeface="Georgia" pitchFamily="34" charset="0"/>
                <a:ea typeface="Georgia" pitchFamily="34" charset="-122"/>
                <a:cs typeface="Georgia" pitchFamily="34" charset="-120"/>
              </a:rPr>
              <a:t>T</a:t>
            </a:r>
            <a:endParaRPr lang="en-US" sz="2500" dirty="0"/>
          </a:p>
          <a:p>
            <a:pPr algn="ctr" indent="0" marL="0">
              <a:buNone/>
            </a:pPr>
            <a:r>
              <a:rPr lang="en-US" sz="2500" dirty="0">
                <a:solidFill>
                  <a:srgbClr val="83BADF"/>
                </a:solidFill>
                <a:latin typeface="Georgia" pitchFamily="34" charset="0"/>
                <a:ea typeface="Georgia" pitchFamily="34" charset="-122"/>
                <a:cs typeface="Georgia" pitchFamily="34" charset="-120"/>
              </a:rPr>
              <a:t>E</a:t>
            </a:r>
            <a:endParaRPr lang="en-US" sz="2500" dirty="0"/>
          </a:p>
          <a:p>
            <a:pPr algn="ctr" indent="0" marL="0">
              <a:buNone/>
            </a:pPr>
            <a:r>
              <a:rPr lang="en-US" sz="2500" dirty="0">
                <a:solidFill>
                  <a:srgbClr val="83BADF"/>
                </a:solidFill>
                <a:latin typeface="Georgia" pitchFamily="34" charset="0"/>
                <a:ea typeface="Georgia" pitchFamily="34" charset="-122"/>
                <a:cs typeface="Georgia" pitchFamily="34" charset="-120"/>
              </a:rPr>
              <a:t>R</a:t>
            </a:r>
            <a:endParaRPr lang="en-US" sz="2500" dirty="0"/>
          </a:p>
          <a:p>
            <a:pPr algn="ctr" indent="0" marL="0">
              <a:buNone/>
            </a:pPr>
            <a:r>
              <a:rPr lang="en-US" sz="2500" dirty="0">
                <a:solidFill>
                  <a:srgbClr val="83BADF"/>
                </a:solidFill>
                <a:latin typeface="Georgia" pitchFamily="34" charset="0"/>
                <a:ea typeface="Georgia" pitchFamily="34" charset="-122"/>
                <a:cs typeface="Georgia" pitchFamily="34" charset="-120"/>
              </a:rPr>
              <a:t>G</a:t>
            </a:r>
            <a:endParaRPr lang="en-US" sz="2500" dirty="0"/>
          </a:p>
          <a:p>
            <a:pPr algn="ctr" indent="0" marL="0">
              <a:buNone/>
            </a:pPr>
            <a:r>
              <a:rPr lang="en-US" sz="2500" dirty="0">
                <a:solidFill>
                  <a:srgbClr val="83BADF"/>
                </a:solidFill>
                <a:latin typeface="Georgia" pitchFamily="34" charset="0"/>
                <a:ea typeface="Georgia" pitchFamily="34" charset="-122"/>
                <a:cs typeface="Georgia" pitchFamily="34" charset="-120"/>
              </a:rPr>
              <a:t>L</a:t>
            </a:r>
            <a:endParaRPr lang="en-US" sz="2500" dirty="0"/>
          </a:p>
          <a:p>
            <a:pPr algn="ctr" indent="0" marL="0">
              <a:buNone/>
            </a:pPr>
            <a:r>
              <a:rPr lang="en-US" sz="2500" dirty="0">
                <a:solidFill>
                  <a:srgbClr val="83BADF"/>
                </a:solidFill>
                <a:latin typeface="Georgia" pitchFamily="34" charset="0"/>
                <a:ea typeface="Georgia" pitchFamily="34" charset="-122"/>
                <a:cs typeface="Georgia" pitchFamily="34" charset="-120"/>
              </a:rPr>
              <a:t>O</a:t>
            </a:r>
            <a:endParaRPr lang="en-US" sz="2500" dirty="0"/>
          </a:p>
          <a:p>
            <a:pPr algn="ctr" indent="0" marL="0">
              <a:buNone/>
            </a:pPr>
            <a:r>
              <a:rPr lang="en-US" sz="2500" dirty="0">
                <a:solidFill>
                  <a:srgbClr val="83BADF"/>
                </a:solidFill>
                <a:latin typeface="Georgia" pitchFamily="34" charset="0"/>
                <a:ea typeface="Georgia" pitchFamily="34" charset="-122"/>
                <a:cs typeface="Georgia" pitchFamily="34" charset="-120"/>
              </a:rPr>
              <a:t>W</a:t>
            </a:r>
            <a:endParaRPr lang="en-US" sz="2500" dirty="0"/>
          </a:p>
        </p:txBody>
      </p:sp>
      <p:sp>
        <p:nvSpPr>
          <p:cNvPr id="5" name="Text 3"/>
          <p:cNvSpPr/>
          <p:nvPr/>
        </p:nvSpPr>
        <p:spPr>
          <a:xfrm>
            <a:off x="402336" y="7022592"/>
            <a:ext cx="731520" cy="594360"/>
          </a:xfrm>
          <a:prstGeom prst="rect">
            <a:avLst/>
          </a:prstGeom>
          <a:noFill/>
          <a:ln/>
        </p:spPr>
        <p:txBody>
          <a:bodyPr wrap="square" lIns="0" tIns="0" rIns="0" bIns="0" rtlCol="0" anchor="t">
            <a:normAutofit/>
          </a:bodyPr>
          <a:lstStyle/>
          <a:p>
            <a:pPr indent="0" marL="0">
              <a:buNone/>
            </a:pPr>
            <a:r>
              <a:rPr lang="en-US" sz="4200" dirty="0">
                <a:solidFill>
                  <a:srgbClr val="83BADF"/>
                </a:solidFill>
                <a:latin typeface="Georgia" pitchFamily="34" charset="0"/>
                <a:ea typeface="Georgia" pitchFamily="34" charset="-122"/>
                <a:cs typeface="Georgia" pitchFamily="34" charset="-120"/>
              </a:rPr>
              <a:t>11</a:t>
            </a:r>
            <a:endParaRPr lang="en-US" sz="4200" dirty="0"/>
          </a:p>
        </p:txBody>
      </p:sp>
      <p:sp>
        <p:nvSpPr>
          <p:cNvPr id="6" name="Text 4"/>
          <p:cNvSpPr/>
          <p:nvPr/>
        </p:nvSpPr>
        <p:spPr>
          <a:xfrm>
            <a:off x="402336" y="7818120"/>
            <a:ext cx="731520" cy="411480"/>
          </a:xfrm>
          <a:prstGeom prst="rect">
            <a:avLst/>
          </a:prstGeom>
          <a:noFill/>
          <a:ln/>
        </p:spPr>
        <p:txBody>
          <a:bodyPr wrap="square" lIns="0" tIns="0" rIns="0" bIns="0" rtlCol="0" anchor="t">
            <a:normAutofit/>
          </a:bodyPr>
          <a:lstStyle/>
          <a:p>
            <a:pPr indent="0" marL="0">
              <a:buNone/>
            </a:pPr>
            <a:r>
              <a:rPr lang="en-US" sz="700" dirty="0">
                <a:solidFill>
                  <a:srgbClr val="C0AAB9"/>
                </a:solidFill>
                <a:latin typeface="Arial" pitchFamily="34" charset="0"/>
                <a:ea typeface="Arial" pitchFamily="34" charset="-122"/>
                <a:cs typeface="Arial" pitchFamily="34" charset="-120"/>
              </a:rPr>
              <a:t>ACT 2 / 5</a:t>
            </a:r>
            <a:endParaRPr lang="en-US" sz="700" dirty="0"/>
          </a:p>
          <a:p>
            <a:pPr indent="0" marL="0">
              <a:buNone/>
            </a:pPr>
            <a:r>
              <a:rPr lang="en-US" sz="700" dirty="0">
                <a:solidFill>
                  <a:srgbClr val="C0AAB9"/>
                </a:solidFill>
                <a:latin typeface="Arial" pitchFamily="34" charset="0"/>
                <a:ea typeface="Arial" pitchFamily="34" charset="-122"/>
                <a:cs typeface="Arial" pitchFamily="34" charset="-120"/>
              </a:rPr>
              <a:t>BEAT 5 / 6</a:t>
            </a:r>
            <a:endParaRPr lang="en-US" sz="700" dirty="0"/>
          </a:p>
        </p:txBody>
      </p:sp>
      <p:sp>
        <p:nvSpPr>
          <p:cNvPr id="7" name="Text 5"/>
          <p:cNvSpPr/>
          <p:nvPr/>
        </p:nvSpPr>
        <p:spPr>
          <a:xfrm>
            <a:off x="1499616" y="347472"/>
            <a:ext cx="9144000" cy="164592"/>
          </a:xfrm>
          <a:prstGeom prst="rect">
            <a:avLst/>
          </a:prstGeom>
          <a:noFill/>
          <a:ln/>
        </p:spPr>
        <p:txBody>
          <a:bodyPr wrap="square" lIns="0" tIns="0" rIns="0" bIns="0" rtlCol="0" anchor="t">
            <a:normAutofit/>
          </a:bodyPr>
          <a:lstStyle/>
          <a:p>
            <a:pPr indent="0" marL="0">
              <a:buNone/>
            </a:pPr>
            <a:r>
              <a:rPr lang="en-US" sz="700" spc="120" kern="0" dirty="0">
                <a:solidFill>
                  <a:srgbClr val="83BADF"/>
                </a:solidFill>
                <a:latin typeface="Arial" pitchFamily="34" charset="0"/>
                <a:ea typeface="Arial" pitchFamily="34" charset="-122"/>
                <a:cs typeface="Arial" pitchFamily="34" charset="-120"/>
              </a:rPr>
              <a:t>ACT 2 / CONTRAST</a:t>
            </a:r>
            <a:endParaRPr lang="en-US" sz="700" dirty="0"/>
          </a:p>
        </p:txBody>
      </p:sp>
      <p:sp>
        <p:nvSpPr>
          <p:cNvPr id="8" name="Text 6"/>
          <p:cNvSpPr/>
          <p:nvPr/>
        </p:nvSpPr>
        <p:spPr>
          <a:xfrm>
            <a:off x="1499616" y="612648"/>
            <a:ext cx="9692640" cy="594360"/>
          </a:xfrm>
          <a:prstGeom prst="rect">
            <a:avLst/>
          </a:prstGeom>
          <a:noFill/>
          <a:ln/>
        </p:spPr>
        <p:txBody>
          <a:bodyPr wrap="square" lIns="0" tIns="0" rIns="0" bIns="0" rtlCol="0" anchor="t">
            <a:normAutofit/>
          </a:bodyPr>
          <a:lstStyle/>
          <a:p>
            <a:pPr indent="0" marL="0">
              <a:buNone/>
            </a:pPr>
            <a:r>
              <a:rPr lang="en-US" sz="2800" dirty="0">
                <a:solidFill>
                  <a:srgbClr val="ECDED6"/>
                </a:solidFill>
                <a:latin typeface="Georgia" pitchFamily="34" charset="0"/>
                <a:ea typeface="Georgia" pitchFamily="34" charset="-122"/>
                <a:cs typeface="Georgia" pitchFamily="34" charset="-120"/>
              </a:rPr>
              <a:t>Test a reversal of expectation.</a:t>
            </a:r>
            <a:endParaRPr lang="en-US" sz="2800" dirty="0"/>
          </a:p>
        </p:txBody>
      </p:sp>
      <p:sp>
        <p:nvSpPr>
          <p:cNvPr id="9" name="Text 7"/>
          <p:cNvSpPr/>
          <p:nvPr/>
        </p:nvSpPr>
        <p:spPr>
          <a:xfrm>
            <a:off x="11475720" y="438912"/>
            <a:ext cx="1325880" cy="182880"/>
          </a:xfrm>
          <a:prstGeom prst="rect">
            <a:avLst/>
          </a:prstGeom>
          <a:noFill/>
          <a:ln/>
        </p:spPr>
        <p:txBody>
          <a:bodyPr wrap="square" lIns="0" tIns="0" rIns="0" bIns="0" rtlCol="0" anchor="t">
            <a:normAutofit/>
          </a:bodyPr>
          <a:lstStyle/>
          <a:p>
            <a:pPr algn="r" indent="0" marL="0">
              <a:buNone/>
            </a:pPr>
            <a:r>
              <a:rPr lang="en-US" sz="700" dirty="0">
                <a:solidFill>
                  <a:srgbClr val="83BADF"/>
                </a:solidFill>
                <a:latin typeface="Arial" pitchFamily="34" charset="0"/>
                <a:ea typeface="Arial" pitchFamily="34" charset="-122"/>
                <a:cs typeface="Arial" pitchFamily="34" charset="-120"/>
              </a:rPr>
              <a:t>LOCAL / UNMARKED</a:t>
            </a:r>
            <a:endParaRPr lang="en-US" sz="700" dirty="0"/>
          </a:p>
        </p:txBody>
      </p:sp>
      <p:sp>
        <p:nvSpPr>
          <p:cNvPr id="10" name="Shape 8"/>
          <p:cNvSpPr/>
          <p:nvPr/>
        </p:nvSpPr>
        <p:spPr>
          <a:xfrm>
            <a:off x="1499616" y="1307592"/>
            <a:ext cx="1819656" cy="448056"/>
          </a:xfrm>
          <a:prstGeom prst="rect">
            <a:avLst/>
          </a:prstGeom>
          <a:solidFill>
            <a:srgbClr val="12253B"/>
          </a:solidFill>
          <a:ln w="8890">
            <a:solidFill>
              <a:srgbClr val="6D5768"/>
            </a:solidFill>
            <a:prstDash val="solid"/>
          </a:ln>
        </p:spPr>
      </p:sp>
      <p:sp>
        <p:nvSpPr>
          <p:cNvPr id="11" name="Text 9"/>
          <p:cNvSpPr/>
          <p:nvPr/>
        </p:nvSpPr>
        <p:spPr>
          <a:xfrm>
            <a:off x="1572768"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83BADF"/>
                </a:solidFill>
                <a:latin typeface="Georgia" pitchFamily="34" charset="0"/>
                <a:ea typeface="Georgia" pitchFamily="34" charset="-122"/>
                <a:cs typeface="Georgia" pitchFamily="34" charset="-120"/>
              </a:rPr>
              <a:t>1</a:t>
            </a:r>
            <a:endParaRPr lang="en-US" sz="1700" dirty="0"/>
          </a:p>
        </p:txBody>
      </p:sp>
      <p:sp>
        <p:nvSpPr>
          <p:cNvPr id="12" name="Text 10"/>
          <p:cNvSpPr/>
          <p:nvPr/>
        </p:nvSpPr>
        <p:spPr>
          <a:xfrm>
            <a:off x="1865376"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Set two versions side by side.</a:t>
            </a:r>
            <a:endParaRPr lang="en-US" sz="700" dirty="0"/>
          </a:p>
        </p:txBody>
      </p:sp>
      <p:sp>
        <p:nvSpPr>
          <p:cNvPr id="13" name="Shape 11"/>
          <p:cNvSpPr/>
          <p:nvPr/>
        </p:nvSpPr>
        <p:spPr>
          <a:xfrm>
            <a:off x="3392424" y="1307592"/>
            <a:ext cx="1819656" cy="448056"/>
          </a:xfrm>
          <a:prstGeom prst="rect">
            <a:avLst/>
          </a:prstGeom>
          <a:solidFill>
            <a:srgbClr val="12253B"/>
          </a:solidFill>
          <a:ln w="8890">
            <a:solidFill>
              <a:srgbClr val="6D5768"/>
            </a:solidFill>
            <a:prstDash val="solid"/>
          </a:ln>
        </p:spPr>
      </p:sp>
      <p:sp>
        <p:nvSpPr>
          <p:cNvPr id="14" name="Text 12"/>
          <p:cNvSpPr/>
          <p:nvPr/>
        </p:nvSpPr>
        <p:spPr>
          <a:xfrm>
            <a:off x="3465576"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83BADF"/>
                </a:solidFill>
                <a:latin typeface="Georgia" pitchFamily="34" charset="0"/>
                <a:ea typeface="Georgia" pitchFamily="34" charset="-122"/>
                <a:cs typeface="Georgia" pitchFamily="34" charset="-120"/>
              </a:rPr>
              <a:t>2</a:t>
            </a:r>
            <a:endParaRPr lang="en-US" sz="1700" dirty="0"/>
          </a:p>
        </p:txBody>
      </p:sp>
      <p:sp>
        <p:nvSpPr>
          <p:cNvPr id="15" name="Text 13"/>
          <p:cNvSpPr/>
          <p:nvPr/>
        </p:nvSpPr>
        <p:spPr>
          <a:xfrm>
            <a:off x="3758184"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Change the light in the sentence.</a:t>
            </a:r>
            <a:endParaRPr lang="en-US" sz="700" dirty="0"/>
          </a:p>
        </p:txBody>
      </p:sp>
      <p:sp>
        <p:nvSpPr>
          <p:cNvPr id="16" name="Shape 14"/>
          <p:cNvSpPr/>
          <p:nvPr/>
        </p:nvSpPr>
        <p:spPr>
          <a:xfrm>
            <a:off x="5285232" y="1307592"/>
            <a:ext cx="1819656" cy="448056"/>
          </a:xfrm>
          <a:prstGeom prst="rect">
            <a:avLst/>
          </a:prstGeom>
          <a:solidFill>
            <a:srgbClr val="12253B"/>
          </a:solidFill>
          <a:ln w="8890">
            <a:solidFill>
              <a:srgbClr val="6D5768"/>
            </a:solidFill>
            <a:prstDash val="solid"/>
          </a:ln>
        </p:spPr>
      </p:sp>
      <p:sp>
        <p:nvSpPr>
          <p:cNvPr id="17" name="Text 15"/>
          <p:cNvSpPr/>
          <p:nvPr/>
        </p:nvSpPr>
        <p:spPr>
          <a:xfrm>
            <a:off x="5358384"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83BADF"/>
                </a:solidFill>
                <a:latin typeface="Georgia" pitchFamily="34" charset="0"/>
                <a:ea typeface="Georgia" pitchFamily="34" charset="-122"/>
                <a:cs typeface="Georgia" pitchFamily="34" charset="-120"/>
              </a:rPr>
              <a:t>3</a:t>
            </a:r>
            <a:endParaRPr lang="en-US" sz="1700" dirty="0"/>
          </a:p>
        </p:txBody>
      </p:sp>
      <p:sp>
        <p:nvSpPr>
          <p:cNvPr id="18" name="Text 16"/>
          <p:cNvSpPr/>
          <p:nvPr/>
        </p:nvSpPr>
        <p:spPr>
          <a:xfrm>
            <a:off x="5650992"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Let silence have alternatives.</a:t>
            </a:r>
            <a:endParaRPr lang="en-US" sz="700" dirty="0"/>
          </a:p>
        </p:txBody>
      </p:sp>
      <p:sp>
        <p:nvSpPr>
          <p:cNvPr id="19" name="Shape 17"/>
          <p:cNvSpPr/>
          <p:nvPr/>
        </p:nvSpPr>
        <p:spPr>
          <a:xfrm>
            <a:off x="7178040" y="1307592"/>
            <a:ext cx="1819656" cy="448056"/>
          </a:xfrm>
          <a:prstGeom prst="rect">
            <a:avLst/>
          </a:prstGeom>
          <a:solidFill>
            <a:srgbClr val="12253B"/>
          </a:solidFill>
          <a:ln w="8890">
            <a:solidFill>
              <a:srgbClr val="6D5768"/>
            </a:solidFill>
            <a:prstDash val="solid"/>
          </a:ln>
        </p:spPr>
      </p:sp>
      <p:sp>
        <p:nvSpPr>
          <p:cNvPr id="20" name="Text 18"/>
          <p:cNvSpPr/>
          <p:nvPr/>
        </p:nvSpPr>
        <p:spPr>
          <a:xfrm>
            <a:off x="7251192"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83BADF"/>
                </a:solidFill>
                <a:latin typeface="Georgia" pitchFamily="34" charset="0"/>
                <a:ea typeface="Georgia" pitchFamily="34" charset="-122"/>
                <a:cs typeface="Georgia" pitchFamily="34" charset="-120"/>
              </a:rPr>
              <a:t>4</a:t>
            </a:r>
            <a:endParaRPr lang="en-US" sz="1700" dirty="0"/>
          </a:p>
        </p:txBody>
      </p:sp>
      <p:sp>
        <p:nvSpPr>
          <p:cNvPr id="21" name="Text 19"/>
          <p:cNvSpPr/>
          <p:nvPr/>
        </p:nvSpPr>
        <p:spPr>
          <a:xfrm>
            <a:off x="7543800"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Offer a generous disagreement.</a:t>
            </a:r>
            <a:endParaRPr lang="en-US" sz="700" dirty="0"/>
          </a:p>
        </p:txBody>
      </p:sp>
      <p:sp>
        <p:nvSpPr>
          <p:cNvPr id="22" name="Shape 20"/>
          <p:cNvSpPr/>
          <p:nvPr/>
        </p:nvSpPr>
        <p:spPr>
          <a:xfrm>
            <a:off x="9070848" y="1307592"/>
            <a:ext cx="1819656" cy="448056"/>
          </a:xfrm>
          <a:prstGeom prst="rect">
            <a:avLst/>
          </a:prstGeom>
          <a:solidFill>
            <a:srgbClr val="12253B"/>
          </a:solidFill>
          <a:ln w="8890">
            <a:solidFill>
              <a:srgbClr val="83BADF"/>
            </a:solidFill>
            <a:prstDash val="solid"/>
          </a:ln>
        </p:spPr>
      </p:sp>
      <p:sp>
        <p:nvSpPr>
          <p:cNvPr id="23" name="Text 21"/>
          <p:cNvSpPr/>
          <p:nvPr/>
        </p:nvSpPr>
        <p:spPr>
          <a:xfrm>
            <a:off x="9144000"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83BADF"/>
                </a:solidFill>
                <a:latin typeface="Georgia" pitchFamily="34" charset="0"/>
                <a:ea typeface="Georgia" pitchFamily="34" charset="-122"/>
                <a:cs typeface="Georgia" pitchFamily="34" charset="-120"/>
              </a:rPr>
              <a:t>5</a:t>
            </a:r>
            <a:endParaRPr lang="en-US" sz="1700" dirty="0"/>
          </a:p>
        </p:txBody>
      </p:sp>
      <p:sp>
        <p:nvSpPr>
          <p:cNvPr id="24" name="Text 22"/>
          <p:cNvSpPr/>
          <p:nvPr/>
        </p:nvSpPr>
        <p:spPr>
          <a:xfrm>
            <a:off x="9436608"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Test a reversal of expectation.</a:t>
            </a:r>
            <a:endParaRPr lang="en-US" sz="700" dirty="0"/>
          </a:p>
        </p:txBody>
      </p:sp>
      <p:sp>
        <p:nvSpPr>
          <p:cNvPr id="25" name="Shape 23"/>
          <p:cNvSpPr/>
          <p:nvPr/>
        </p:nvSpPr>
        <p:spPr>
          <a:xfrm>
            <a:off x="10963656" y="1307592"/>
            <a:ext cx="1819656" cy="448056"/>
          </a:xfrm>
          <a:prstGeom prst="rect">
            <a:avLst/>
          </a:prstGeom>
          <a:solidFill>
            <a:srgbClr val="12253B"/>
          </a:solidFill>
          <a:ln w="8890">
            <a:solidFill>
              <a:srgbClr val="6D5768"/>
            </a:solidFill>
            <a:prstDash val="solid"/>
          </a:ln>
        </p:spPr>
      </p:sp>
      <p:sp>
        <p:nvSpPr>
          <p:cNvPr id="26" name="Text 24"/>
          <p:cNvSpPr/>
          <p:nvPr/>
        </p:nvSpPr>
        <p:spPr>
          <a:xfrm>
            <a:off x="11036808"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83BADF"/>
                </a:solidFill>
                <a:latin typeface="Georgia" pitchFamily="34" charset="0"/>
                <a:ea typeface="Georgia" pitchFamily="34" charset="-122"/>
                <a:cs typeface="Georgia" pitchFamily="34" charset="-120"/>
              </a:rPr>
              <a:t>6</a:t>
            </a:r>
            <a:endParaRPr lang="en-US" sz="1700" dirty="0"/>
          </a:p>
        </p:txBody>
      </p:sp>
      <p:sp>
        <p:nvSpPr>
          <p:cNvPr id="27" name="Text 25"/>
          <p:cNvSpPr/>
          <p:nvPr/>
        </p:nvSpPr>
        <p:spPr>
          <a:xfrm>
            <a:off x="11329416"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Name what contrast reveals.</a:t>
            </a:r>
            <a:endParaRPr lang="en-US" sz="700" dirty="0"/>
          </a:p>
        </p:txBody>
      </p:sp>
      <p:pic>
        <p:nvPicPr>
          <p:cNvPr id="28" name="Image 0" descr="/home/user/design-buddy/design-buddy-home/public/atelier/afterglow/images/06.jpg">    </p:cNvPr>
          <p:cNvPicPr>
            <a:picLocks noChangeAspect="1"/>
          </p:cNvPicPr>
          <p:nvPr/>
        </p:nvPicPr>
        <p:blipFill>
          <a:blip r:embed="rId1"/>
          <a:srcRect l="0" r="0" t="0" b="0"/>
          <a:stretch/>
        </p:blipFill>
        <p:spPr>
          <a:xfrm>
            <a:off x="1499616" y="2066544"/>
            <a:ext cx="6949440" cy="3840480"/>
          </a:xfrm>
          <a:prstGeom prst="rect">
            <a:avLst/>
          </a:prstGeom>
        </p:spPr>
      </p:pic>
      <p:sp>
        <p:nvSpPr>
          <p:cNvPr id="29" name="Text 26"/>
          <p:cNvSpPr/>
          <p:nvPr/>
        </p:nvSpPr>
        <p:spPr>
          <a:xfrm>
            <a:off x="1499616" y="6007608"/>
            <a:ext cx="6949440" cy="164592"/>
          </a:xfrm>
          <a:prstGeom prst="rect">
            <a:avLst/>
          </a:prstGeom>
          <a:noFill/>
          <a:ln/>
        </p:spPr>
        <p:txBody>
          <a:bodyPr wrap="square" lIns="0" tIns="0" rIns="0" bIns="0" rtlCol="0" anchor="t">
            <a:normAutofit/>
          </a:bodyPr>
          <a:lstStyle/>
          <a:p>
            <a:pPr indent="0" marL="0">
              <a:buNone/>
            </a:pPr>
            <a:r>
              <a:rPr lang="en-US" sz="650" dirty="0">
                <a:solidFill>
                  <a:srgbClr val="C0AAB9"/>
                </a:solidFill>
                <a:latin typeface="Arial" pitchFamily="34" charset="0"/>
                <a:ea typeface="Arial" pitchFamily="34" charset="-122"/>
                <a:cs typeface="Arial" pitchFamily="34" charset="-120"/>
              </a:rPr>
              <a:t>Watercolour 6 / invented setting and adults / not production evidence</a:t>
            </a:r>
            <a:endParaRPr lang="en-US" sz="650" dirty="0"/>
          </a:p>
        </p:txBody>
      </p:sp>
      <p:sp>
        <p:nvSpPr>
          <p:cNvPr id="30" name="Text 27"/>
          <p:cNvSpPr/>
          <p:nvPr/>
        </p:nvSpPr>
        <p:spPr>
          <a:xfrm>
            <a:off x="8705088" y="2139696"/>
            <a:ext cx="4133088" cy="164592"/>
          </a:xfrm>
          <a:prstGeom prst="rect">
            <a:avLst/>
          </a:prstGeom>
          <a:noFill/>
          <a:ln/>
        </p:spPr>
        <p:txBody>
          <a:bodyPr wrap="square" lIns="0" tIns="0" rIns="0" bIns="0" rtlCol="0" anchor="t">
            <a:normAutofit/>
          </a:bodyPr>
          <a:lstStyle/>
          <a:p>
            <a:pPr indent="0" marL="0">
              <a:buNone/>
            </a:pPr>
            <a:r>
              <a:rPr lang="en-US" sz="700" spc="110" kern="0" dirty="0">
                <a:solidFill>
                  <a:srgbClr val="83BADF"/>
                </a:solidFill>
                <a:latin typeface="Arial" pitchFamily="34" charset="0"/>
                <a:ea typeface="Arial" pitchFamily="34" charset="-122"/>
                <a:cs typeface="Arial" pitchFamily="34" charset="-120"/>
              </a:rPr>
              <a:t>STORY INTENTION</a:t>
            </a:r>
            <a:endParaRPr lang="en-US" sz="700" dirty="0"/>
          </a:p>
        </p:txBody>
      </p:sp>
      <p:sp>
        <p:nvSpPr>
          <p:cNvPr id="31" name="Text 28"/>
          <p:cNvSpPr/>
          <p:nvPr/>
        </p:nvSpPr>
        <p:spPr>
          <a:xfrm>
            <a:off x="8705088" y="2514600"/>
            <a:ext cx="4133088" cy="1828800"/>
          </a:xfrm>
          <a:prstGeom prst="rect">
            <a:avLst/>
          </a:prstGeom>
          <a:noFill/>
          <a:ln/>
        </p:spPr>
        <p:txBody>
          <a:bodyPr wrap="square" lIns="0" tIns="0" rIns="0" bIns="0" rtlCol="0" anchor="t">
            <a:normAutofit/>
          </a:bodyPr>
          <a:lstStyle/>
          <a:p>
            <a:pPr indent="0" marL="0">
              <a:buNone/>
            </a:pPr>
            <a:r>
              <a:rPr lang="en-US" sz="1575" dirty="0">
                <a:solidFill>
                  <a:srgbClr val="ECDED6"/>
                </a:solidFill>
                <a:latin typeface="Georgia" pitchFamily="34" charset="0"/>
                <a:ea typeface="Georgia" pitchFamily="34" charset="-122"/>
                <a:cs typeface="Georgia" pitchFamily="34" charset="-120"/>
              </a:rPr>
              <a:t>A character who expected to speak finds a reason to listen. Describe a small fictional event that changes the expectation. Avoid treating surprise as a requirement for every narrative.</a:t>
            </a:r>
            <a:endParaRPr lang="en-US" sz="1575" dirty="0"/>
          </a:p>
        </p:txBody>
      </p:sp>
      <p:sp>
        <p:nvSpPr>
          <p:cNvPr id="32" name="Text 29"/>
          <p:cNvSpPr/>
          <p:nvPr/>
        </p:nvSpPr>
        <p:spPr>
          <a:xfrm>
            <a:off x="8705088" y="4572000"/>
            <a:ext cx="4133088" cy="164592"/>
          </a:xfrm>
          <a:prstGeom prst="rect">
            <a:avLst/>
          </a:prstGeom>
          <a:noFill/>
          <a:ln/>
        </p:spPr>
        <p:txBody>
          <a:bodyPr wrap="square" lIns="0" tIns="0" rIns="0" bIns="0" rtlCol="0" anchor="t">
            <a:normAutofit/>
          </a:bodyPr>
          <a:lstStyle/>
          <a:p>
            <a:pPr indent="0" marL="0">
              <a:buNone/>
            </a:pPr>
            <a:r>
              <a:rPr lang="en-US" sz="700" spc="110" kern="0" dirty="0">
                <a:solidFill>
                  <a:srgbClr val="83BADF"/>
                </a:solidFill>
                <a:latin typeface="Arial" pitchFamily="34" charset="0"/>
                <a:ea typeface="Arial" pitchFamily="34" charset="-122"/>
                <a:cs typeface="Arial" pitchFamily="34" charset="-120"/>
              </a:rPr>
              <a:t>LEAVE A QUESTION</a:t>
            </a:r>
            <a:endParaRPr lang="en-US" sz="700" dirty="0"/>
          </a:p>
        </p:txBody>
      </p:sp>
      <p:sp>
        <p:nvSpPr>
          <p:cNvPr id="33" name="Text 30"/>
          <p:cNvSpPr/>
          <p:nvPr/>
        </p:nvSpPr>
        <p:spPr>
          <a:xfrm>
            <a:off x="8705088" y="4910328"/>
            <a:ext cx="4133088" cy="822960"/>
          </a:xfrm>
          <a:prstGeom prst="rect">
            <a:avLst/>
          </a:prstGeom>
          <a:noFill/>
          <a:ln/>
        </p:spPr>
        <p:txBody>
          <a:bodyPr wrap="square" lIns="0" tIns="0" rIns="0" bIns="0" rtlCol="0" anchor="t">
            <a:normAutofit/>
          </a:bodyPr>
          <a:lstStyle/>
          <a:p>
            <a:pPr indent="0" marL="0">
              <a:buNone/>
            </a:pPr>
            <a:r>
              <a:rPr lang="en-US" sz="1875" i="1" dirty="0">
                <a:solidFill>
                  <a:srgbClr val="83BADF"/>
                </a:solidFill>
                <a:latin typeface="Georgia" pitchFamily="34" charset="0"/>
                <a:ea typeface="Georgia" pitchFamily="34" charset="-122"/>
                <a:cs typeface="Georgia" pitchFamily="34" charset="-120"/>
              </a:rPr>
              <a:t>What new detail makes the change understandable?</a:t>
            </a:r>
            <a:endParaRPr lang="en-US" sz="1875" dirty="0"/>
          </a:p>
        </p:txBody>
      </p:sp>
      <p:sp>
        <p:nvSpPr>
          <p:cNvPr id="34" name="Text 31"/>
          <p:cNvSpPr/>
          <p:nvPr/>
        </p:nvSpPr>
        <p:spPr>
          <a:xfrm>
            <a:off x="8705088" y="5806440"/>
            <a:ext cx="4133088" cy="292608"/>
          </a:xfrm>
          <a:prstGeom prst="rect">
            <a:avLst/>
          </a:prstGeom>
          <a:noFill/>
          <a:ln/>
        </p:spPr>
        <p:txBody>
          <a:bodyPr wrap="square" lIns="0" tIns="0" rIns="0" bIns="0" rtlCol="0" anchor="t">
            <a:normAutofit/>
          </a:bodyPr>
          <a:lstStyle/>
          <a:p>
            <a:pPr indent="0" marL="0">
              <a:buNone/>
            </a:pPr>
            <a:r>
              <a:rPr lang="en-US" sz="700" dirty="0">
                <a:solidFill>
                  <a:srgbClr val="C0AAB9"/>
                </a:solidFill>
                <a:latin typeface="Arial" pitchFamily="34" charset="0"/>
                <a:ea typeface="Arial" pitchFamily="34" charset="-122"/>
                <a:cs typeface="Arial" pitchFamily="34" charset="-120"/>
              </a:rPr>
              <a:t>Beat order is not timing, a technical call or a show schedule.</a:t>
            </a:r>
            <a:endParaRPr lang="en-US" sz="700" dirty="0"/>
          </a:p>
        </p:txBody>
      </p:sp>
      <p:sp>
        <p:nvSpPr>
          <p:cNvPr id="35" name="Shape 32"/>
          <p:cNvSpPr/>
          <p:nvPr/>
        </p:nvSpPr>
        <p:spPr>
          <a:xfrm>
            <a:off x="1499616" y="6583680"/>
            <a:ext cx="3675888" cy="1481328"/>
          </a:xfrm>
          <a:prstGeom prst="rect">
            <a:avLst/>
          </a:prstGeom>
          <a:solidFill>
            <a:srgbClr val="12253B"/>
          </a:solidFill>
          <a:ln w="8890">
            <a:solidFill>
              <a:srgbClr val="735D6D"/>
            </a:solidFill>
            <a:prstDash val="solid"/>
          </a:ln>
        </p:spPr>
      </p:sp>
      <p:sp>
        <p:nvSpPr>
          <p:cNvPr id="36" name="Text 33"/>
          <p:cNvSpPr/>
          <p:nvPr/>
        </p:nvSpPr>
        <p:spPr>
          <a:xfrm>
            <a:off x="1682496"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83BADF"/>
                </a:solidFill>
                <a:latin typeface="Arial" pitchFamily="34" charset="0"/>
                <a:ea typeface="Arial" pitchFamily="34" charset="-122"/>
                <a:cs typeface="Arial" pitchFamily="34" charset="-120"/>
              </a:rPr>
              <a:t>01 / NOTICE</a:t>
            </a:r>
            <a:endParaRPr lang="en-US" sz="700" dirty="0"/>
          </a:p>
        </p:txBody>
      </p:sp>
      <p:sp>
        <p:nvSpPr>
          <p:cNvPr id="37" name="Text 34"/>
          <p:cNvSpPr/>
          <p:nvPr/>
        </p:nvSpPr>
        <p:spPr>
          <a:xfrm>
            <a:off x="1682496"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A reversal needs context to feel earned.</a:t>
            </a:r>
            <a:endParaRPr lang="en-US" sz="1500" dirty="0"/>
          </a:p>
        </p:txBody>
      </p:sp>
      <p:sp>
        <p:nvSpPr>
          <p:cNvPr id="38" name="Shape 35"/>
          <p:cNvSpPr/>
          <p:nvPr/>
        </p:nvSpPr>
        <p:spPr>
          <a:xfrm>
            <a:off x="5321808" y="6583680"/>
            <a:ext cx="3675888" cy="1481328"/>
          </a:xfrm>
          <a:prstGeom prst="rect">
            <a:avLst/>
          </a:prstGeom>
          <a:solidFill>
            <a:srgbClr val="12253B"/>
          </a:solidFill>
          <a:ln w="8890">
            <a:solidFill>
              <a:srgbClr val="735D6D"/>
            </a:solidFill>
            <a:prstDash val="solid"/>
          </a:ln>
        </p:spPr>
      </p:sp>
      <p:sp>
        <p:nvSpPr>
          <p:cNvPr id="39" name="Text 36"/>
          <p:cNvSpPr/>
          <p:nvPr/>
        </p:nvSpPr>
        <p:spPr>
          <a:xfrm>
            <a:off x="5504688"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83BADF"/>
                </a:solidFill>
                <a:latin typeface="Arial" pitchFamily="34" charset="0"/>
                <a:ea typeface="Arial" pitchFamily="34" charset="-122"/>
                <a:cs typeface="Arial" pitchFamily="34" charset="-120"/>
              </a:rPr>
              <a:t>02 / TRY IN WORDS</a:t>
            </a:r>
            <a:endParaRPr lang="en-US" sz="700" dirty="0"/>
          </a:p>
        </p:txBody>
      </p:sp>
      <p:sp>
        <p:nvSpPr>
          <p:cNvPr id="40" name="Text 37"/>
          <p:cNvSpPr/>
          <p:nvPr/>
        </p:nvSpPr>
        <p:spPr>
          <a:xfrm>
            <a:off x="5504688"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Write the expected response and one plausible alternative.</a:t>
            </a:r>
            <a:endParaRPr lang="en-US" sz="1500" dirty="0"/>
          </a:p>
        </p:txBody>
      </p:sp>
      <p:sp>
        <p:nvSpPr>
          <p:cNvPr id="41" name="Shape 38"/>
          <p:cNvSpPr/>
          <p:nvPr/>
        </p:nvSpPr>
        <p:spPr>
          <a:xfrm>
            <a:off x="9144000" y="6583680"/>
            <a:ext cx="3675888" cy="1481328"/>
          </a:xfrm>
          <a:prstGeom prst="rect">
            <a:avLst/>
          </a:prstGeom>
          <a:solidFill>
            <a:srgbClr val="12253B"/>
          </a:solidFill>
          <a:ln w="8890">
            <a:solidFill>
              <a:srgbClr val="735D6D"/>
            </a:solidFill>
            <a:prstDash val="solid"/>
          </a:ln>
        </p:spPr>
      </p:sp>
      <p:sp>
        <p:nvSpPr>
          <p:cNvPr id="42" name="Text 39"/>
          <p:cNvSpPr/>
          <p:nvPr/>
        </p:nvSpPr>
        <p:spPr>
          <a:xfrm>
            <a:off x="9326880"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83BADF"/>
                </a:solidFill>
                <a:latin typeface="Arial" pitchFamily="34" charset="0"/>
                <a:ea typeface="Arial" pitchFamily="34" charset="-122"/>
                <a:cs typeface="Arial" pitchFamily="34" charset="-120"/>
              </a:rPr>
              <a:t>03 / KEEP VISIBLE</a:t>
            </a:r>
            <a:endParaRPr lang="en-US" sz="700" dirty="0"/>
          </a:p>
        </p:txBody>
      </p:sp>
      <p:sp>
        <p:nvSpPr>
          <p:cNvPr id="43" name="Text 40"/>
          <p:cNvSpPr/>
          <p:nvPr/>
        </p:nvSpPr>
        <p:spPr>
          <a:xfrm>
            <a:off x="9326880"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Retain the detail connecting both versions.</a:t>
            </a:r>
            <a:endParaRPr lang="en-US" sz="1500" dirty="0"/>
          </a:p>
        </p:txBody>
      </p:sp>
      <p:sp>
        <p:nvSpPr>
          <p:cNvPr id="44" name="Shape 41"/>
          <p:cNvSpPr/>
          <p:nvPr/>
        </p:nvSpPr>
        <p:spPr>
          <a:xfrm>
            <a:off x="1499616" y="8211312"/>
            <a:ext cx="11338560" cy="0"/>
          </a:xfrm>
          <a:prstGeom prst="line">
            <a:avLst/>
          </a:prstGeom>
          <a:noFill/>
          <a:ln w="8890">
            <a:solidFill>
              <a:srgbClr val="796170"/>
            </a:solidFill>
            <a:prstDash val="solid"/>
          </a:ln>
        </p:spPr>
      </p:sp>
      <p:sp>
        <p:nvSpPr>
          <p:cNvPr id="45" name="Text 42"/>
          <p:cNvSpPr/>
          <p:nvPr/>
        </p:nvSpPr>
        <p:spPr>
          <a:xfrm>
            <a:off x="1499616" y="8339328"/>
            <a:ext cx="8229600" cy="118872"/>
          </a:xfrm>
          <a:prstGeom prst="rect">
            <a:avLst/>
          </a:prstGeom>
          <a:noFill/>
          <a:ln/>
        </p:spPr>
        <p:txBody>
          <a:bodyPr wrap="square" lIns="0" tIns="0" rIns="0" bIns="0" rtlCol="0" anchor="t">
            <a:normAutofit/>
          </a:bodyPr>
          <a:lstStyle/>
          <a:p>
            <a:pPr indent="0" marL="0">
              <a:buNone/>
            </a:pPr>
            <a:r>
              <a:rPr lang="en-US" sz="650" dirty="0">
                <a:solidFill>
                  <a:srgbClr val="C0AAB9"/>
                </a:solidFill>
                <a:latin typeface="Arial" pitchFamily="34" charset="0"/>
                <a:ea typeface="Arial" pitchFamily="34" charset="-122"/>
                <a:cs typeface="Arial" pitchFamily="34" charset="-120"/>
              </a:rPr>
              <a:t>FICTIONAL WRITING WORKSHOP / NOT A STAGING OR APPROVAL PLAN</a:t>
            </a:r>
            <a:endParaRPr lang="en-US" sz="650" dirty="0"/>
          </a:p>
        </p:txBody>
      </p:sp>
      <p:sp>
        <p:nvSpPr>
          <p:cNvPr id="46" name="Text 43"/>
          <p:cNvSpPr/>
          <p:nvPr/>
        </p:nvSpPr>
        <p:spPr>
          <a:xfrm>
            <a:off x="9729216" y="8339328"/>
            <a:ext cx="3108960" cy="118872"/>
          </a:xfrm>
          <a:prstGeom prst="rect">
            <a:avLst/>
          </a:prstGeom>
          <a:noFill/>
          <a:ln/>
        </p:spPr>
        <p:txBody>
          <a:bodyPr wrap="square" lIns="0" tIns="0" rIns="0" bIns="0" rtlCol="0" anchor="t">
            <a:normAutofit/>
          </a:bodyPr>
          <a:lstStyle/>
          <a:p>
            <a:pPr algn="r" indent="0" marL="0">
              <a:buNone/>
            </a:pPr>
            <a:r>
              <a:rPr lang="en-US" sz="650" dirty="0">
                <a:solidFill>
                  <a:srgbClr val="C0AAB9"/>
                </a:solidFill>
                <a:latin typeface="Arial" pitchFamily="34" charset="0"/>
                <a:ea typeface="Arial" pitchFamily="34" charset="-122"/>
                <a:cs typeface="Arial" pitchFamily="34" charset="-120"/>
              </a:rPr>
              <a:t>DRAFT / 14 OF 15 ARTWORKS / 11 OF 30</a:t>
            </a:r>
            <a:endParaRPr lang="en-US" sz="6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253B"/>
        </a:solidFill>
      </p:bgPr>
    </p:bg>
    <p:spTree>
      <p:nvGrpSpPr>
        <p:cNvPr id="1" name=""/>
        <p:cNvGrpSpPr/>
        <p:nvPr/>
      </p:nvGrpSpPr>
      <p:grpSpPr>
        <a:xfrm>
          <a:off x="0" y="0"/>
          <a:ext cx="0" cy="0"/>
          <a:chOff x="0" y="0"/>
          <a:chExt cx="0" cy="0"/>
        </a:xfrm>
      </p:grpSpPr>
      <p:sp>
        <p:nvSpPr>
          <p:cNvPr id="2" name="Shape 0"/>
          <p:cNvSpPr/>
          <p:nvPr/>
        </p:nvSpPr>
        <p:spPr>
          <a:xfrm>
            <a:off x="1243584" y="329184"/>
            <a:ext cx="0" cy="8119872"/>
          </a:xfrm>
          <a:prstGeom prst="line">
            <a:avLst/>
          </a:prstGeom>
          <a:noFill/>
          <a:ln w="10160">
            <a:solidFill>
              <a:srgbClr val="776072"/>
            </a:solidFill>
            <a:prstDash val="solid"/>
          </a:ln>
        </p:spPr>
      </p:sp>
      <p:sp>
        <p:nvSpPr>
          <p:cNvPr id="3" name="Text 1"/>
          <p:cNvSpPr/>
          <p:nvPr/>
        </p:nvSpPr>
        <p:spPr>
          <a:xfrm>
            <a:off x="393192" y="457200"/>
            <a:ext cx="685800" cy="457200"/>
          </a:xfrm>
          <a:prstGeom prst="rect">
            <a:avLst/>
          </a:prstGeom>
          <a:noFill/>
          <a:ln/>
        </p:spPr>
        <p:txBody>
          <a:bodyPr wrap="square" lIns="0" tIns="0" rIns="0" bIns="0" rtlCol="0" anchor="t">
            <a:normAutofit/>
          </a:bodyPr>
          <a:lstStyle/>
          <a:p>
            <a:pPr indent="0" marL="0">
              <a:buNone/>
            </a:pPr>
            <a:r>
              <a:rPr lang="en-US" sz="600" dirty="0">
                <a:solidFill>
                  <a:srgbClr val="C0AAB9"/>
                </a:solidFill>
                <a:latin typeface="Arial" pitchFamily="34" charset="0"/>
                <a:ea typeface="Arial" pitchFamily="34" charset="-122"/>
                <a:cs typeface="Arial" pitchFamily="34" charset="-120"/>
              </a:rPr>
              <a:t>DESIGN BUDDY</a:t>
            </a:r>
            <a:endParaRPr lang="en-US" sz="600" dirty="0"/>
          </a:p>
          <a:p>
            <a:pPr indent="0" marL="0">
              <a:buNone/>
            </a:pPr>
            <a:r>
              <a:rPr lang="en-US" sz="600" dirty="0">
                <a:solidFill>
                  <a:srgbClr val="C0AAB9"/>
                </a:solidFill>
                <a:latin typeface="Arial" pitchFamily="34" charset="0"/>
                <a:ea typeface="Arial" pitchFamily="34" charset="-122"/>
                <a:cs typeface="Arial" pitchFamily="34" charset="-120"/>
              </a:rPr>
              <a:t>CREATIVE EXERCISE</a:t>
            </a:r>
            <a:endParaRPr lang="en-US" sz="600" dirty="0"/>
          </a:p>
        </p:txBody>
      </p:sp>
      <p:sp>
        <p:nvSpPr>
          <p:cNvPr id="4" name="Text 2"/>
          <p:cNvSpPr/>
          <p:nvPr/>
        </p:nvSpPr>
        <p:spPr>
          <a:xfrm>
            <a:off x="502920" y="1920240"/>
            <a:ext cx="502920" cy="4480560"/>
          </a:xfrm>
          <a:prstGeom prst="rect">
            <a:avLst/>
          </a:prstGeom>
          <a:noFill/>
          <a:ln/>
        </p:spPr>
        <p:txBody>
          <a:bodyPr wrap="square" lIns="0" tIns="0" rIns="0" bIns="0" rtlCol="0" anchor="t">
            <a:normAutofit/>
          </a:bodyPr>
          <a:lstStyle/>
          <a:p>
            <a:pPr algn="ctr" indent="0" marL="0">
              <a:buNone/>
            </a:pPr>
            <a:r>
              <a:rPr lang="en-US" sz="2500" dirty="0">
                <a:solidFill>
                  <a:srgbClr val="83BADF"/>
                </a:solidFill>
                <a:latin typeface="Georgia" pitchFamily="34" charset="0"/>
                <a:ea typeface="Georgia" pitchFamily="34" charset="-122"/>
                <a:cs typeface="Georgia" pitchFamily="34" charset="-120"/>
              </a:rPr>
              <a:t>A</a:t>
            </a:r>
            <a:endParaRPr lang="en-US" sz="2500" dirty="0"/>
          </a:p>
          <a:p>
            <a:pPr algn="ctr" indent="0" marL="0">
              <a:buNone/>
            </a:pPr>
            <a:r>
              <a:rPr lang="en-US" sz="2500" dirty="0">
                <a:solidFill>
                  <a:srgbClr val="83BADF"/>
                </a:solidFill>
                <a:latin typeface="Georgia" pitchFamily="34" charset="0"/>
                <a:ea typeface="Georgia" pitchFamily="34" charset="-122"/>
                <a:cs typeface="Georgia" pitchFamily="34" charset="-120"/>
              </a:rPr>
              <a:t>F</a:t>
            </a:r>
            <a:endParaRPr lang="en-US" sz="2500" dirty="0"/>
          </a:p>
          <a:p>
            <a:pPr algn="ctr" indent="0" marL="0">
              <a:buNone/>
            </a:pPr>
            <a:r>
              <a:rPr lang="en-US" sz="2500" dirty="0">
                <a:solidFill>
                  <a:srgbClr val="83BADF"/>
                </a:solidFill>
                <a:latin typeface="Georgia" pitchFamily="34" charset="0"/>
                <a:ea typeface="Georgia" pitchFamily="34" charset="-122"/>
                <a:cs typeface="Georgia" pitchFamily="34" charset="-120"/>
              </a:rPr>
              <a:t>T</a:t>
            </a:r>
            <a:endParaRPr lang="en-US" sz="2500" dirty="0"/>
          </a:p>
          <a:p>
            <a:pPr algn="ctr" indent="0" marL="0">
              <a:buNone/>
            </a:pPr>
            <a:r>
              <a:rPr lang="en-US" sz="2500" dirty="0">
                <a:solidFill>
                  <a:srgbClr val="83BADF"/>
                </a:solidFill>
                <a:latin typeface="Georgia" pitchFamily="34" charset="0"/>
                <a:ea typeface="Georgia" pitchFamily="34" charset="-122"/>
                <a:cs typeface="Georgia" pitchFamily="34" charset="-120"/>
              </a:rPr>
              <a:t>E</a:t>
            </a:r>
            <a:endParaRPr lang="en-US" sz="2500" dirty="0"/>
          </a:p>
          <a:p>
            <a:pPr algn="ctr" indent="0" marL="0">
              <a:buNone/>
            </a:pPr>
            <a:r>
              <a:rPr lang="en-US" sz="2500" dirty="0">
                <a:solidFill>
                  <a:srgbClr val="83BADF"/>
                </a:solidFill>
                <a:latin typeface="Georgia" pitchFamily="34" charset="0"/>
                <a:ea typeface="Georgia" pitchFamily="34" charset="-122"/>
                <a:cs typeface="Georgia" pitchFamily="34" charset="-120"/>
              </a:rPr>
              <a:t>R</a:t>
            </a:r>
            <a:endParaRPr lang="en-US" sz="2500" dirty="0"/>
          </a:p>
          <a:p>
            <a:pPr algn="ctr" indent="0" marL="0">
              <a:buNone/>
            </a:pPr>
            <a:r>
              <a:rPr lang="en-US" sz="2500" dirty="0">
                <a:solidFill>
                  <a:srgbClr val="83BADF"/>
                </a:solidFill>
                <a:latin typeface="Georgia" pitchFamily="34" charset="0"/>
                <a:ea typeface="Georgia" pitchFamily="34" charset="-122"/>
                <a:cs typeface="Georgia" pitchFamily="34" charset="-120"/>
              </a:rPr>
              <a:t>G</a:t>
            </a:r>
            <a:endParaRPr lang="en-US" sz="2500" dirty="0"/>
          </a:p>
          <a:p>
            <a:pPr algn="ctr" indent="0" marL="0">
              <a:buNone/>
            </a:pPr>
            <a:r>
              <a:rPr lang="en-US" sz="2500" dirty="0">
                <a:solidFill>
                  <a:srgbClr val="83BADF"/>
                </a:solidFill>
                <a:latin typeface="Georgia" pitchFamily="34" charset="0"/>
                <a:ea typeface="Georgia" pitchFamily="34" charset="-122"/>
                <a:cs typeface="Georgia" pitchFamily="34" charset="-120"/>
              </a:rPr>
              <a:t>L</a:t>
            </a:r>
            <a:endParaRPr lang="en-US" sz="2500" dirty="0"/>
          </a:p>
          <a:p>
            <a:pPr algn="ctr" indent="0" marL="0">
              <a:buNone/>
            </a:pPr>
            <a:r>
              <a:rPr lang="en-US" sz="2500" dirty="0">
                <a:solidFill>
                  <a:srgbClr val="83BADF"/>
                </a:solidFill>
                <a:latin typeface="Georgia" pitchFamily="34" charset="0"/>
                <a:ea typeface="Georgia" pitchFamily="34" charset="-122"/>
                <a:cs typeface="Georgia" pitchFamily="34" charset="-120"/>
              </a:rPr>
              <a:t>O</a:t>
            </a:r>
            <a:endParaRPr lang="en-US" sz="2500" dirty="0"/>
          </a:p>
          <a:p>
            <a:pPr algn="ctr" indent="0" marL="0">
              <a:buNone/>
            </a:pPr>
            <a:r>
              <a:rPr lang="en-US" sz="2500" dirty="0">
                <a:solidFill>
                  <a:srgbClr val="83BADF"/>
                </a:solidFill>
                <a:latin typeface="Georgia" pitchFamily="34" charset="0"/>
                <a:ea typeface="Georgia" pitchFamily="34" charset="-122"/>
                <a:cs typeface="Georgia" pitchFamily="34" charset="-120"/>
              </a:rPr>
              <a:t>W</a:t>
            </a:r>
            <a:endParaRPr lang="en-US" sz="2500" dirty="0"/>
          </a:p>
        </p:txBody>
      </p:sp>
      <p:sp>
        <p:nvSpPr>
          <p:cNvPr id="5" name="Text 3"/>
          <p:cNvSpPr/>
          <p:nvPr/>
        </p:nvSpPr>
        <p:spPr>
          <a:xfrm>
            <a:off x="402336" y="7022592"/>
            <a:ext cx="731520" cy="594360"/>
          </a:xfrm>
          <a:prstGeom prst="rect">
            <a:avLst/>
          </a:prstGeom>
          <a:noFill/>
          <a:ln/>
        </p:spPr>
        <p:txBody>
          <a:bodyPr wrap="square" lIns="0" tIns="0" rIns="0" bIns="0" rtlCol="0" anchor="t">
            <a:normAutofit/>
          </a:bodyPr>
          <a:lstStyle/>
          <a:p>
            <a:pPr indent="0" marL="0">
              <a:buNone/>
            </a:pPr>
            <a:r>
              <a:rPr lang="en-US" sz="4200" dirty="0">
                <a:solidFill>
                  <a:srgbClr val="83BADF"/>
                </a:solidFill>
                <a:latin typeface="Georgia" pitchFamily="34" charset="0"/>
                <a:ea typeface="Georgia" pitchFamily="34" charset="-122"/>
                <a:cs typeface="Georgia" pitchFamily="34" charset="-120"/>
              </a:rPr>
              <a:t>12</a:t>
            </a:r>
            <a:endParaRPr lang="en-US" sz="4200" dirty="0"/>
          </a:p>
        </p:txBody>
      </p:sp>
      <p:sp>
        <p:nvSpPr>
          <p:cNvPr id="6" name="Text 4"/>
          <p:cNvSpPr/>
          <p:nvPr/>
        </p:nvSpPr>
        <p:spPr>
          <a:xfrm>
            <a:off x="402336" y="7818120"/>
            <a:ext cx="731520" cy="411480"/>
          </a:xfrm>
          <a:prstGeom prst="rect">
            <a:avLst/>
          </a:prstGeom>
          <a:noFill/>
          <a:ln/>
        </p:spPr>
        <p:txBody>
          <a:bodyPr wrap="square" lIns="0" tIns="0" rIns="0" bIns="0" rtlCol="0" anchor="t">
            <a:normAutofit/>
          </a:bodyPr>
          <a:lstStyle/>
          <a:p>
            <a:pPr indent="0" marL="0">
              <a:buNone/>
            </a:pPr>
            <a:r>
              <a:rPr lang="en-US" sz="700" dirty="0">
                <a:solidFill>
                  <a:srgbClr val="C0AAB9"/>
                </a:solidFill>
                <a:latin typeface="Arial" pitchFamily="34" charset="0"/>
                <a:ea typeface="Arial" pitchFamily="34" charset="-122"/>
                <a:cs typeface="Arial" pitchFamily="34" charset="-120"/>
              </a:rPr>
              <a:t>ACT 2 / 5</a:t>
            </a:r>
            <a:endParaRPr lang="en-US" sz="700" dirty="0"/>
          </a:p>
          <a:p>
            <a:pPr indent="0" marL="0">
              <a:buNone/>
            </a:pPr>
            <a:r>
              <a:rPr lang="en-US" sz="700" dirty="0">
                <a:solidFill>
                  <a:srgbClr val="C0AAB9"/>
                </a:solidFill>
                <a:latin typeface="Arial" pitchFamily="34" charset="0"/>
                <a:ea typeface="Arial" pitchFamily="34" charset="-122"/>
                <a:cs typeface="Arial" pitchFamily="34" charset="-120"/>
              </a:rPr>
              <a:t>BEAT 6 / 6</a:t>
            </a:r>
            <a:endParaRPr lang="en-US" sz="700" dirty="0"/>
          </a:p>
        </p:txBody>
      </p:sp>
      <p:sp>
        <p:nvSpPr>
          <p:cNvPr id="7" name="Text 5"/>
          <p:cNvSpPr/>
          <p:nvPr/>
        </p:nvSpPr>
        <p:spPr>
          <a:xfrm>
            <a:off x="1499616" y="347472"/>
            <a:ext cx="9144000" cy="164592"/>
          </a:xfrm>
          <a:prstGeom prst="rect">
            <a:avLst/>
          </a:prstGeom>
          <a:noFill/>
          <a:ln/>
        </p:spPr>
        <p:txBody>
          <a:bodyPr wrap="square" lIns="0" tIns="0" rIns="0" bIns="0" rtlCol="0" anchor="t">
            <a:normAutofit/>
          </a:bodyPr>
          <a:lstStyle/>
          <a:p>
            <a:pPr indent="0" marL="0">
              <a:buNone/>
            </a:pPr>
            <a:r>
              <a:rPr lang="en-US" sz="700" spc="120" kern="0" dirty="0">
                <a:solidFill>
                  <a:srgbClr val="83BADF"/>
                </a:solidFill>
                <a:latin typeface="Arial" pitchFamily="34" charset="0"/>
                <a:ea typeface="Arial" pitchFamily="34" charset="-122"/>
                <a:cs typeface="Arial" pitchFamily="34" charset="-120"/>
              </a:rPr>
              <a:t>ACT 2 / CONTRAST</a:t>
            </a:r>
            <a:endParaRPr lang="en-US" sz="700" dirty="0"/>
          </a:p>
        </p:txBody>
      </p:sp>
      <p:sp>
        <p:nvSpPr>
          <p:cNvPr id="8" name="Text 6"/>
          <p:cNvSpPr/>
          <p:nvPr/>
        </p:nvSpPr>
        <p:spPr>
          <a:xfrm>
            <a:off x="1499616" y="612648"/>
            <a:ext cx="9692640" cy="594360"/>
          </a:xfrm>
          <a:prstGeom prst="rect">
            <a:avLst/>
          </a:prstGeom>
          <a:noFill/>
          <a:ln/>
        </p:spPr>
        <p:txBody>
          <a:bodyPr wrap="square" lIns="0" tIns="0" rIns="0" bIns="0" rtlCol="0" anchor="t">
            <a:normAutofit/>
          </a:bodyPr>
          <a:lstStyle/>
          <a:p>
            <a:pPr indent="0" marL="0">
              <a:buNone/>
            </a:pPr>
            <a:r>
              <a:rPr lang="en-US" sz="2800" dirty="0">
                <a:solidFill>
                  <a:srgbClr val="ECDED6"/>
                </a:solidFill>
                <a:latin typeface="Georgia" pitchFamily="34" charset="0"/>
                <a:ea typeface="Georgia" pitchFamily="34" charset="-122"/>
                <a:cs typeface="Georgia" pitchFamily="34" charset="-120"/>
              </a:rPr>
              <a:t>Name what contrast reveals.</a:t>
            </a:r>
            <a:endParaRPr lang="en-US" sz="2800" dirty="0"/>
          </a:p>
        </p:txBody>
      </p:sp>
      <p:sp>
        <p:nvSpPr>
          <p:cNvPr id="9" name="Text 7"/>
          <p:cNvSpPr/>
          <p:nvPr/>
        </p:nvSpPr>
        <p:spPr>
          <a:xfrm>
            <a:off x="11475720" y="438912"/>
            <a:ext cx="1325880" cy="182880"/>
          </a:xfrm>
          <a:prstGeom prst="rect">
            <a:avLst/>
          </a:prstGeom>
          <a:noFill/>
          <a:ln/>
        </p:spPr>
        <p:txBody>
          <a:bodyPr wrap="square" lIns="0" tIns="0" rIns="0" bIns="0" rtlCol="0" anchor="t">
            <a:normAutofit/>
          </a:bodyPr>
          <a:lstStyle/>
          <a:p>
            <a:pPr algn="r" indent="0" marL="0">
              <a:buNone/>
            </a:pPr>
            <a:r>
              <a:rPr lang="en-US" sz="700" dirty="0">
                <a:solidFill>
                  <a:srgbClr val="83BADF"/>
                </a:solidFill>
                <a:latin typeface="Arial" pitchFamily="34" charset="0"/>
                <a:ea typeface="Arial" pitchFamily="34" charset="-122"/>
                <a:cs typeface="Arial" pitchFamily="34" charset="-120"/>
              </a:rPr>
              <a:t>LOCAL / UNMARKED</a:t>
            </a:r>
            <a:endParaRPr lang="en-US" sz="700" dirty="0"/>
          </a:p>
        </p:txBody>
      </p:sp>
      <p:sp>
        <p:nvSpPr>
          <p:cNvPr id="10" name="Shape 8"/>
          <p:cNvSpPr/>
          <p:nvPr/>
        </p:nvSpPr>
        <p:spPr>
          <a:xfrm>
            <a:off x="1499616" y="1307592"/>
            <a:ext cx="1819656" cy="448056"/>
          </a:xfrm>
          <a:prstGeom prst="rect">
            <a:avLst/>
          </a:prstGeom>
          <a:solidFill>
            <a:srgbClr val="12253B"/>
          </a:solidFill>
          <a:ln w="8890">
            <a:solidFill>
              <a:srgbClr val="6D5768"/>
            </a:solidFill>
            <a:prstDash val="solid"/>
          </a:ln>
        </p:spPr>
      </p:sp>
      <p:sp>
        <p:nvSpPr>
          <p:cNvPr id="11" name="Text 9"/>
          <p:cNvSpPr/>
          <p:nvPr/>
        </p:nvSpPr>
        <p:spPr>
          <a:xfrm>
            <a:off x="1572768"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83BADF"/>
                </a:solidFill>
                <a:latin typeface="Georgia" pitchFamily="34" charset="0"/>
                <a:ea typeface="Georgia" pitchFamily="34" charset="-122"/>
                <a:cs typeface="Georgia" pitchFamily="34" charset="-120"/>
              </a:rPr>
              <a:t>1</a:t>
            </a:r>
            <a:endParaRPr lang="en-US" sz="1700" dirty="0"/>
          </a:p>
        </p:txBody>
      </p:sp>
      <p:sp>
        <p:nvSpPr>
          <p:cNvPr id="12" name="Text 10"/>
          <p:cNvSpPr/>
          <p:nvPr/>
        </p:nvSpPr>
        <p:spPr>
          <a:xfrm>
            <a:off x="1865376"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Set two versions side by side.</a:t>
            </a:r>
            <a:endParaRPr lang="en-US" sz="700" dirty="0"/>
          </a:p>
        </p:txBody>
      </p:sp>
      <p:sp>
        <p:nvSpPr>
          <p:cNvPr id="13" name="Shape 11"/>
          <p:cNvSpPr/>
          <p:nvPr/>
        </p:nvSpPr>
        <p:spPr>
          <a:xfrm>
            <a:off x="3392424" y="1307592"/>
            <a:ext cx="1819656" cy="448056"/>
          </a:xfrm>
          <a:prstGeom prst="rect">
            <a:avLst/>
          </a:prstGeom>
          <a:solidFill>
            <a:srgbClr val="12253B"/>
          </a:solidFill>
          <a:ln w="8890">
            <a:solidFill>
              <a:srgbClr val="6D5768"/>
            </a:solidFill>
            <a:prstDash val="solid"/>
          </a:ln>
        </p:spPr>
      </p:sp>
      <p:sp>
        <p:nvSpPr>
          <p:cNvPr id="14" name="Text 12"/>
          <p:cNvSpPr/>
          <p:nvPr/>
        </p:nvSpPr>
        <p:spPr>
          <a:xfrm>
            <a:off x="3465576"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83BADF"/>
                </a:solidFill>
                <a:latin typeface="Georgia" pitchFamily="34" charset="0"/>
                <a:ea typeface="Georgia" pitchFamily="34" charset="-122"/>
                <a:cs typeface="Georgia" pitchFamily="34" charset="-120"/>
              </a:rPr>
              <a:t>2</a:t>
            </a:r>
            <a:endParaRPr lang="en-US" sz="1700" dirty="0"/>
          </a:p>
        </p:txBody>
      </p:sp>
      <p:sp>
        <p:nvSpPr>
          <p:cNvPr id="15" name="Text 13"/>
          <p:cNvSpPr/>
          <p:nvPr/>
        </p:nvSpPr>
        <p:spPr>
          <a:xfrm>
            <a:off x="3758184"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Change the light in the sentence.</a:t>
            </a:r>
            <a:endParaRPr lang="en-US" sz="700" dirty="0"/>
          </a:p>
        </p:txBody>
      </p:sp>
      <p:sp>
        <p:nvSpPr>
          <p:cNvPr id="16" name="Shape 14"/>
          <p:cNvSpPr/>
          <p:nvPr/>
        </p:nvSpPr>
        <p:spPr>
          <a:xfrm>
            <a:off x="5285232" y="1307592"/>
            <a:ext cx="1819656" cy="448056"/>
          </a:xfrm>
          <a:prstGeom prst="rect">
            <a:avLst/>
          </a:prstGeom>
          <a:solidFill>
            <a:srgbClr val="12253B"/>
          </a:solidFill>
          <a:ln w="8890">
            <a:solidFill>
              <a:srgbClr val="6D5768"/>
            </a:solidFill>
            <a:prstDash val="solid"/>
          </a:ln>
        </p:spPr>
      </p:sp>
      <p:sp>
        <p:nvSpPr>
          <p:cNvPr id="17" name="Text 15"/>
          <p:cNvSpPr/>
          <p:nvPr/>
        </p:nvSpPr>
        <p:spPr>
          <a:xfrm>
            <a:off x="5358384"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83BADF"/>
                </a:solidFill>
                <a:latin typeface="Georgia" pitchFamily="34" charset="0"/>
                <a:ea typeface="Georgia" pitchFamily="34" charset="-122"/>
                <a:cs typeface="Georgia" pitchFamily="34" charset="-120"/>
              </a:rPr>
              <a:t>3</a:t>
            </a:r>
            <a:endParaRPr lang="en-US" sz="1700" dirty="0"/>
          </a:p>
        </p:txBody>
      </p:sp>
      <p:sp>
        <p:nvSpPr>
          <p:cNvPr id="18" name="Text 16"/>
          <p:cNvSpPr/>
          <p:nvPr/>
        </p:nvSpPr>
        <p:spPr>
          <a:xfrm>
            <a:off x="5650992"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Let silence have alternatives.</a:t>
            </a:r>
            <a:endParaRPr lang="en-US" sz="700" dirty="0"/>
          </a:p>
        </p:txBody>
      </p:sp>
      <p:sp>
        <p:nvSpPr>
          <p:cNvPr id="19" name="Shape 17"/>
          <p:cNvSpPr/>
          <p:nvPr/>
        </p:nvSpPr>
        <p:spPr>
          <a:xfrm>
            <a:off x="7178040" y="1307592"/>
            <a:ext cx="1819656" cy="448056"/>
          </a:xfrm>
          <a:prstGeom prst="rect">
            <a:avLst/>
          </a:prstGeom>
          <a:solidFill>
            <a:srgbClr val="12253B"/>
          </a:solidFill>
          <a:ln w="8890">
            <a:solidFill>
              <a:srgbClr val="6D5768"/>
            </a:solidFill>
            <a:prstDash val="solid"/>
          </a:ln>
        </p:spPr>
      </p:sp>
      <p:sp>
        <p:nvSpPr>
          <p:cNvPr id="20" name="Text 18"/>
          <p:cNvSpPr/>
          <p:nvPr/>
        </p:nvSpPr>
        <p:spPr>
          <a:xfrm>
            <a:off x="7251192"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83BADF"/>
                </a:solidFill>
                <a:latin typeface="Georgia" pitchFamily="34" charset="0"/>
                <a:ea typeface="Georgia" pitchFamily="34" charset="-122"/>
                <a:cs typeface="Georgia" pitchFamily="34" charset="-120"/>
              </a:rPr>
              <a:t>4</a:t>
            </a:r>
            <a:endParaRPr lang="en-US" sz="1700" dirty="0"/>
          </a:p>
        </p:txBody>
      </p:sp>
      <p:sp>
        <p:nvSpPr>
          <p:cNvPr id="21" name="Text 19"/>
          <p:cNvSpPr/>
          <p:nvPr/>
        </p:nvSpPr>
        <p:spPr>
          <a:xfrm>
            <a:off x="7543800"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Offer a generous disagreement.</a:t>
            </a:r>
            <a:endParaRPr lang="en-US" sz="700" dirty="0"/>
          </a:p>
        </p:txBody>
      </p:sp>
      <p:sp>
        <p:nvSpPr>
          <p:cNvPr id="22" name="Shape 20"/>
          <p:cNvSpPr/>
          <p:nvPr/>
        </p:nvSpPr>
        <p:spPr>
          <a:xfrm>
            <a:off x="9070848" y="1307592"/>
            <a:ext cx="1819656" cy="448056"/>
          </a:xfrm>
          <a:prstGeom prst="rect">
            <a:avLst/>
          </a:prstGeom>
          <a:solidFill>
            <a:srgbClr val="12253B"/>
          </a:solidFill>
          <a:ln w="8890">
            <a:solidFill>
              <a:srgbClr val="6D5768"/>
            </a:solidFill>
            <a:prstDash val="solid"/>
          </a:ln>
        </p:spPr>
      </p:sp>
      <p:sp>
        <p:nvSpPr>
          <p:cNvPr id="23" name="Text 21"/>
          <p:cNvSpPr/>
          <p:nvPr/>
        </p:nvSpPr>
        <p:spPr>
          <a:xfrm>
            <a:off x="9144000"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83BADF"/>
                </a:solidFill>
                <a:latin typeface="Georgia" pitchFamily="34" charset="0"/>
                <a:ea typeface="Georgia" pitchFamily="34" charset="-122"/>
                <a:cs typeface="Georgia" pitchFamily="34" charset="-120"/>
              </a:rPr>
              <a:t>5</a:t>
            </a:r>
            <a:endParaRPr lang="en-US" sz="1700" dirty="0"/>
          </a:p>
        </p:txBody>
      </p:sp>
      <p:sp>
        <p:nvSpPr>
          <p:cNvPr id="24" name="Text 22"/>
          <p:cNvSpPr/>
          <p:nvPr/>
        </p:nvSpPr>
        <p:spPr>
          <a:xfrm>
            <a:off x="9436608"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Test a reversal of expectation.</a:t>
            </a:r>
            <a:endParaRPr lang="en-US" sz="700" dirty="0"/>
          </a:p>
        </p:txBody>
      </p:sp>
      <p:sp>
        <p:nvSpPr>
          <p:cNvPr id="25" name="Shape 23"/>
          <p:cNvSpPr/>
          <p:nvPr/>
        </p:nvSpPr>
        <p:spPr>
          <a:xfrm>
            <a:off x="10963656" y="1307592"/>
            <a:ext cx="1819656" cy="448056"/>
          </a:xfrm>
          <a:prstGeom prst="rect">
            <a:avLst/>
          </a:prstGeom>
          <a:solidFill>
            <a:srgbClr val="12253B"/>
          </a:solidFill>
          <a:ln w="8890">
            <a:solidFill>
              <a:srgbClr val="83BADF"/>
            </a:solidFill>
            <a:prstDash val="solid"/>
          </a:ln>
        </p:spPr>
      </p:sp>
      <p:sp>
        <p:nvSpPr>
          <p:cNvPr id="26" name="Text 24"/>
          <p:cNvSpPr/>
          <p:nvPr/>
        </p:nvSpPr>
        <p:spPr>
          <a:xfrm>
            <a:off x="11036808"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83BADF"/>
                </a:solidFill>
                <a:latin typeface="Georgia" pitchFamily="34" charset="0"/>
                <a:ea typeface="Georgia" pitchFamily="34" charset="-122"/>
                <a:cs typeface="Georgia" pitchFamily="34" charset="-120"/>
              </a:rPr>
              <a:t>6</a:t>
            </a:r>
            <a:endParaRPr lang="en-US" sz="1700" dirty="0"/>
          </a:p>
        </p:txBody>
      </p:sp>
      <p:sp>
        <p:nvSpPr>
          <p:cNvPr id="27" name="Text 25"/>
          <p:cNvSpPr/>
          <p:nvPr/>
        </p:nvSpPr>
        <p:spPr>
          <a:xfrm>
            <a:off x="11329416"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Name what contrast reveals.</a:t>
            </a:r>
            <a:endParaRPr lang="en-US" sz="700" dirty="0"/>
          </a:p>
        </p:txBody>
      </p:sp>
      <p:pic>
        <p:nvPicPr>
          <p:cNvPr id="28" name="Image 0" descr="/home/user/design-buddy/design-buddy-home/public/atelier/afterglow/images/06.jpg">    </p:cNvPr>
          <p:cNvPicPr>
            <a:picLocks noChangeAspect="1"/>
          </p:cNvPicPr>
          <p:nvPr/>
        </p:nvPicPr>
        <p:blipFill>
          <a:blip r:embed="rId1"/>
          <a:srcRect l="0" r="0" t="0" b="0"/>
          <a:stretch/>
        </p:blipFill>
        <p:spPr>
          <a:xfrm>
            <a:off x="1499616" y="2066544"/>
            <a:ext cx="6949440" cy="3840480"/>
          </a:xfrm>
          <a:prstGeom prst="rect">
            <a:avLst/>
          </a:prstGeom>
        </p:spPr>
      </p:pic>
      <p:sp>
        <p:nvSpPr>
          <p:cNvPr id="29" name="Text 26"/>
          <p:cNvSpPr/>
          <p:nvPr/>
        </p:nvSpPr>
        <p:spPr>
          <a:xfrm>
            <a:off x="1499616" y="6007608"/>
            <a:ext cx="6949440" cy="164592"/>
          </a:xfrm>
          <a:prstGeom prst="rect">
            <a:avLst/>
          </a:prstGeom>
          <a:noFill/>
          <a:ln/>
        </p:spPr>
        <p:txBody>
          <a:bodyPr wrap="square" lIns="0" tIns="0" rIns="0" bIns="0" rtlCol="0" anchor="t">
            <a:normAutofit/>
          </a:bodyPr>
          <a:lstStyle/>
          <a:p>
            <a:pPr indent="0" marL="0">
              <a:buNone/>
            </a:pPr>
            <a:r>
              <a:rPr lang="en-US" sz="650" dirty="0">
                <a:solidFill>
                  <a:srgbClr val="C0AAB9"/>
                </a:solidFill>
                <a:latin typeface="Arial" pitchFamily="34" charset="0"/>
                <a:ea typeface="Arial" pitchFamily="34" charset="-122"/>
                <a:cs typeface="Arial" pitchFamily="34" charset="-120"/>
              </a:rPr>
              <a:t>Watercolour 6 / invented setting and adults / not production evidence</a:t>
            </a:r>
            <a:endParaRPr lang="en-US" sz="650" dirty="0"/>
          </a:p>
        </p:txBody>
      </p:sp>
      <p:sp>
        <p:nvSpPr>
          <p:cNvPr id="30" name="Text 27"/>
          <p:cNvSpPr/>
          <p:nvPr/>
        </p:nvSpPr>
        <p:spPr>
          <a:xfrm>
            <a:off x="8705088" y="2139696"/>
            <a:ext cx="4133088" cy="164592"/>
          </a:xfrm>
          <a:prstGeom prst="rect">
            <a:avLst/>
          </a:prstGeom>
          <a:noFill/>
          <a:ln/>
        </p:spPr>
        <p:txBody>
          <a:bodyPr wrap="square" lIns="0" tIns="0" rIns="0" bIns="0" rtlCol="0" anchor="t">
            <a:normAutofit/>
          </a:bodyPr>
          <a:lstStyle/>
          <a:p>
            <a:pPr indent="0" marL="0">
              <a:buNone/>
            </a:pPr>
            <a:r>
              <a:rPr lang="en-US" sz="700" spc="110" kern="0" dirty="0">
                <a:solidFill>
                  <a:srgbClr val="83BADF"/>
                </a:solidFill>
                <a:latin typeface="Arial" pitchFamily="34" charset="0"/>
                <a:ea typeface="Arial" pitchFamily="34" charset="-122"/>
                <a:cs typeface="Arial" pitchFamily="34" charset="-120"/>
              </a:rPr>
              <a:t>STORY INTENTION</a:t>
            </a:r>
            <a:endParaRPr lang="en-US" sz="700" dirty="0"/>
          </a:p>
        </p:txBody>
      </p:sp>
      <p:sp>
        <p:nvSpPr>
          <p:cNvPr id="31" name="Text 28"/>
          <p:cNvSpPr/>
          <p:nvPr/>
        </p:nvSpPr>
        <p:spPr>
          <a:xfrm>
            <a:off x="8705088" y="2514600"/>
            <a:ext cx="4133088" cy="1828800"/>
          </a:xfrm>
          <a:prstGeom prst="rect">
            <a:avLst/>
          </a:prstGeom>
          <a:noFill/>
          <a:ln/>
        </p:spPr>
        <p:txBody>
          <a:bodyPr wrap="square" lIns="0" tIns="0" rIns="0" bIns="0" rtlCol="0" anchor="t">
            <a:normAutofit/>
          </a:bodyPr>
          <a:lstStyle/>
          <a:p>
            <a:pPr indent="0" marL="0">
              <a:buNone/>
            </a:pPr>
            <a:r>
              <a:rPr lang="en-US" sz="1575" dirty="0">
                <a:solidFill>
                  <a:srgbClr val="ECDED6"/>
                </a:solidFill>
                <a:latin typeface="Georgia" pitchFamily="34" charset="0"/>
                <a:ea typeface="Georgia" pitchFamily="34" charset="-122"/>
                <a:cs typeface="Georgia" pitchFamily="34" charset="-120"/>
              </a:rPr>
              <a:t>Review this act’s paired descriptions, memories and responses. Name a tension in ordinary language. A useful creative tension opens possibilities; it does not establish a psychological fact about the people using this template.</a:t>
            </a:r>
            <a:endParaRPr lang="en-US" sz="1575" dirty="0"/>
          </a:p>
        </p:txBody>
      </p:sp>
      <p:sp>
        <p:nvSpPr>
          <p:cNvPr id="32" name="Text 29"/>
          <p:cNvSpPr/>
          <p:nvPr/>
        </p:nvSpPr>
        <p:spPr>
          <a:xfrm>
            <a:off x="8705088" y="4572000"/>
            <a:ext cx="4133088" cy="164592"/>
          </a:xfrm>
          <a:prstGeom prst="rect">
            <a:avLst/>
          </a:prstGeom>
          <a:noFill/>
          <a:ln/>
        </p:spPr>
        <p:txBody>
          <a:bodyPr wrap="square" lIns="0" tIns="0" rIns="0" bIns="0" rtlCol="0" anchor="t">
            <a:normAutofit/>
          </a:bodyPr>
          <a:lstStyle/>
          <a:p>
            <a:pPr indent="0" marL="0">
              <a:buNone/>
            </a:pPr>
            <a:r>
              <a:rPr lang="en-US" sz="700" spc="110" kern="0" dirty="0">
                <a:solidFill>
                  <a:srgbClr val="83BADF"/>
                </a:solidFill>
                <a:latin typeface="Arial" pitchFamily="34" charset="0"/>
                <a:ea typeface="Arial" pitchFamily="34" charset="-122"/>
                <a:cs typeface="Arial" pitchFamily="34" charset="-120"/>
              </a:rPr>
              <a:t>LEAVE A QUESTION</a:t>
            </a:r>
            <a:endParaRPr lang="en-US" sz="700" dirty="0"/>
          </a:p>
        </p:txBody>
      </p:sp>
      <p:sp>
        <p:nvSpPr>
          <p:cNvPr id="33" name="Text 30"/>
          <p:cNvSpPr/>
          <p:nvPr/>
        </p:nvSpPr>
        <p:spPr>
          <a:xfrm>
            <a:off x="8705088" y="4910328"/>
            <a:ext cx="4133088" cy="822960"/>
          </a:xfrm>
          <a:prstGeom prst="rect">
            <a:avLst/>
          </a:prstGeom>
          <a:noFill/>
          <a:ln/>
        </p:spPr>
        <p:txBody>
          <a:bodyPr wrap="square" lIns="0" tIns="0" rIns="0" bIns="0" rtlCol="0" anchor="t">
            <a:normAutofit/>
          </a:bodyPr>
          <a:lstStyle/>
          <a:p>
            <a:pPr indent="0" marL="0">
              <a:buNone/>
            </a:pPr>
            <a:r>
              <a:rPr lang="en-US" sz="1875" i="1" dirty="0">
                <a:solidFill>
                  <a:srgbClr val="83BADF"/>
                </a:solidFill>
                <a:latin typeface="Georgia" pitchFamily="34" charset="0"/>
                <a:ea typeface="Georgia" pitchFamily="34" charset="-122"/>
                <a:cs typeface="Georgia" pitchFamily="34" charset="-120"/>
              </a:rPr>
              <a:t>What tension could sustain another conversation?</a:t>
            </a:r>
            <a:endParaRPr lang="en-US" sz="1875" dirty="0"/>
          </a:p>
        </p:txBody>
      </p:sp>
      <p:sp>
        <p:nvSpPr>
          <p:cNvPr id="34" name="Text 31"/>
          <p:cNvSpPr/>
          <p:nvPr/>
        </p:nvSpPr>
        <p:spPr>
          <a:xfrm>
            <a:off x="8705088" y="5806440"/>
            <a:ext cx="4133088" cy="292608"/>
          </a:xfrm>
          <a:prstGeom prst="rect">
            <a:avLst/>
          </a:prstGeom>
          <a:noFill/>
          <a:ln/>
        </p:spPr>
        <p:txBody>
          <a:bodyPr wrap="square" lIns="0" tIns="0" rIns="0" bIns="0" rtlCol="0" anchor="t">
            <a:normAutofit/>
          </a:bodyPr>
          <a:lstStyle/>
          <a:p>
            <a:pPr indent="0" marL="0">
              <a:buNone/>
            </a:pPr>
            <a:r>
              <a:rPr lang="en-US" sz="700" dirty="0">
                <a:solidFill>
                  <a:srgbClr val="C0AAB9"/>
                </a:solidFill>
                <a:latin typeface="Arial" pitchFamily="34" charset="0"/>
                <a:ea typeface="Arial" pitchFamily="34" charset="-122"/>
                <a:cs typeface="Arial" pitchFamily="34" charset="-120"/>
              </a:rPr>
              <a:t>Beat order is not timing, a technical call or a show schedule.</a:t>
            </a:r>
            <a:endParaRPr lang="en-US" sz="700" dirty="0"/>
          </a:p>
        </p:txBody>
      </p:sp>
      <p:sp>
        <p:nvSpPr>
          <p:cNvPr id="35" name="Shape 32"/>
          <p:cNvSpPr/>
          <p:nvPr/>
        </p:nvSpPr>
        <p:spPr>
          <a:xfrm>
            <a:off x="1499616" y="6583680"/>
            <a:ext cx="3675888" cy="1481328"/>
          </a:xfrm>
          <a:prstGeom prst="rect">
            <a:avLst/>
          </a:prstGeom>
          <a:solidFill>
            <a:srgbClr val="12253B"/>
          </a:solidFill>
          <a:ln w="8890">
            <a:solidFill>
              <a:srgbClr val="735D6D"/>
            </a:solidFill>
            <a:prstDash val="solid"/>
          </a:ln>
        </p:spPr>
      </p:sp>
      <p:sp>
        <p:nvSpPr>
          <p:cNvPr id="36" name="Text 33"/>
          <p:cNvSpPr/>
          <p:nvPr/>
        </p:nvSpPr>
        <p:spPr>
          <a:xfrm>
            <a:off x="1682496"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83BADF"/>
                </a:solidFill>
                <a:latin typeface="Arial" pitchFamily="34" charset="0"/>
                <a:ea typeface="Arial" pitchFamily="34" charset="-122"/>
                <a:cs typeface="Arial" pitchFamily="34" charset="-120"/>
              </a:rPr>
              <a:t>01 / NOTICE</a:t>
            </a:r>
            <a:endParaRPr lang="en-US" sz="700" dirty="0"/>
          </a:p>
        </p:txBody>
      </p:sp>
      <p:sp>
        <p:nvSpPr>
          <p:cNvPr id="37" name="Text 34"/>
          <p:cNvSpPr/>
          <p:nvPr/>
        </p:nvSpPr>
        <p:spPr>
          <a:xfrm>
            <a:off x="1682496"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A theme can emerge from specific choices.</a:t>
            </a:r>
            <a:endParaRPr lang="en-US" sz="1500" dirty="0"/>
          </a:p>
        </p:txBody>
      </p:sp>
      <p:sp>
        <p:nvSpPr>
          <p:cNvPr id="38" name="Shape 35"/>
          <p:cNvSpPr/>
          <p:nvPr/>
        </p:nvSpPr>
        <p:spPr>
          <a:xfrm>
            <a:off x="5321808" y="6583680"/>
            <a:ext cx="3675888" cy="1481328"/>
          </a:xfrm>
          <a:prstGeom prst="rect">
            <a:avLst/>
          </a:prstGeom>
          <a:solidFill>
            <a:srgbClr val="12253B"/>
          </a:solidFill>
          <a:ln w="8890">
            <a:solidFill>
              <a:srgbClr val="735D6D"/>
            </a:solidFill>
            <a:prstDash val="solid"/>
          </a:ln>
        </p:spPr>
      </p:sp>
      <p:sp>
        <p:nvSpPr>
          <p:cNvPr id="39" name="Text 36"/>
          <p:cNvSpPr/>
          <p:nvPr/>
        </p:nvSpPr>
        <p:spPr>
          <a:xfrm>
            <a:off x="5504688"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83BADF"/>
                </a:solidFill>
                <a:latin typeface="Arial" pitchFamily="34" charset="0"/>
                <a:ea typeface="Arial" pitchFamily="34" charset="-122"/>
                <a:cs typeface="Arial" pitchFamily="34" charset="-120"/>
              </a:rPr>
              <a:t>02 / TRY IN WORDS</a:t>
            </a:r>
            <a:endParaRPr lang="en-US" sz="700" dirty="0"/>
          </a:p>
        </p:txBody>
      </p:sp>
      <p:sp>
        <p:nvSpPr>
          <p:cNvPr id="40" name="Text 37"/>
          <p:cNvSpPr/>
          <p:nvPr/>
        </p:nvSpPr>
        <p:spPr>
          <a:xfrm>
            <a:off x="5504688"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Write a provisional theme beginning with Perhaps.</a:t>
            </a:r>
            <a:endParaRPr lang="en-US" sz="1500" dirty="0"/>
          </a:p>
        </p:txBody>
      </p:sp>
      <p:sp>
        <p:nvSpPr>
          <p:cNvPr id="41" name="Shape 38"/>
          <p:cNvSpPr/>
          <p:nvPr/>
        </p:nvSpPr>
        <p:spPr>
          <a:xfrm>
            <a:off x="9144000" y="6583680"/>
            <a:ext cx="3675888" cy="1481328"/>
          </a:xfrm>
          <a:prstGeom prst="rect">
            <a:avLst/>
          </a:prstGeom>
          <a:solidFill>
            <a:srgbClr val="12253B"/>
          </a:solidFill>
          <a:ln w="8890">
            <a:solidFill>
              <a:srgbClr val="735D6D"/>
            </a:solidFill>
            <a:prstDash val="solid"/>
          </a:ln>
        </p:spPr>
      </p:sp>
      <p:sp>
        <p:nvSpPr>
          <p:cNvPr id="42" name="Text 39"/>
          <p:cNvSpPr/>
          <p:nvPr/>
        </p:nvSpPr>
        <p:spPr>
          <a:xfrm>
            <a:off x="9326880"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83BADF"/>
                </a:solidFill>
                <a:latin typeface="Arial" pitchFamily="34" charset="0"/>
                <a:ea typeface="Arial" pitchFamily="34" charset="-122"/>
                <a:cs typeface="Arial" pitchFamily="34" charset="-120"/>
              </a:rPr>
              <a:t>03 / KEEP VISIBLE</a:t>
            </a:r>
            <a:endParaRPr lang="en-US" sz="700" dirty="0"/>
          </a:p>
        </p:txBody>
      </p:sp>
      <p:sp>
        <p:nvSpPr>
          <p:cNvPr id="43" name="Text 40"/>
          <p:cNvSpPr/>
          <p:nvPr/>
        </p:nvSpPr>
        <p:spPr>
          <a:xfrm>
            <a:off x="9326880"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Label it provisional, not the project’s approved message.</a:t>
            </a:r>
            <a:endParaRPr lang="en-US" sz="1500" dirty="0"/>
          </a:p>
        </p:txBody>
      </p:sp>
      <p:sp>
        <p:nvSpPr>
          <p:cNvPr id="44" name="Shape 41"/>
          <p:cNvSpPr/>
          <p:nvPr/>
        </p:nvSpPr>
        <p:spPr>
          <a:xfrm>
            <a:off x="1499616" y="8211312"/>
            <a:ext cx="11338560" cy="0"/>
          </a:xfrm>
          <a:prstGeom prst="line">
            <a:avLst/>
          </a:prstGeom>
          <a:noFill/>
          <a:ln w="8890">
            <a:solidFill>
              <a:srgbClr val="796170"/>
            </a:solidFill>
            <a:prstDash val="solid"/>
          </a:ln>
        </p:spPr>
      </p:sp>
      <p:sp>
        <p:nvSpPr>
          <p:cNvPr id="45" name="Text 42"/>
          <p:cNvSpPr/>
          <p:nvPr/>
        </p:nvSpPr>
        <p:spPr>
          <a:xfrm>
            <a:off x="1499616" y="8339328"/>
            <a:ext cx="8229600" cy="118872"/>
          </a:xfrm>
          <a:prstGeom prst="rect">
            <a:avLst/>
          </a:prstGeom>
          <a:noFill/>
          <a:ln/>
        </p:spPr>
        <p:txBody>
          <a:bodyPr wrap="square" lIns="0" tIns="0" rIns="0" bIns="0" rtlCol="0" anchor="t">
            <a:normAutofit/>
          </a:bodyPr>
          <a:lstStyle/>
          <a:p>
            <a:pPr indent="0" marL="0">
              <a:buNone/>
            </a:pPr>
            <a:r>
              <a:rPr lang="en-US" sz="650" dirty="0">
                <a:solidFill>
                  <a:srgbClr val="C0AAB9"/>
                </a:solidFill>
                <a:latin typeface="Arial" pitchFamily="34" charset="0"/>
                <a:ea typeface="Arial" pitchFamily="34" charset="-122"/>
                <a:cs typeface="Arial" pitchFamily="34" charset="-120"/>
              </a:rPr>
              <a:t>FICTIONAL WRITING WORKSHOP / NOT A STAGING OR APPROVAL PLAN</a:t>
            </a:r>
            <a:endParaRPr lang="en-US" sz="650" dirty="0"/>
          </a:p>
        </p:txBody>
      </p:sp>
      <p:sp>
        <p:nvSpPr>
          <p:cNvPr id="46" name="Text 43"/>
          <p:cNvSpPr/>
          <p:nvPr/>
        </p:nvSpPr>
        <p:spPr>
          <a:xfrm>
            <a:off x="9729216" y="8339328"/>
            <a:ext cx="3108960" cy="118872"/>
          </a:xfrm>
          <a:prstGeom prst="rect">
            <a:avLst/>
          </a:prstGeom>
          <a:noFill/>
          <a:ln/>
        </p:spPr>
        <p:txBody>
          <a:bodyPr wrap="square" lIns="0" tIns="0" rIns="0" bIns="0" rtlCol="0" anchor="t">
            <a:normAutofit/>
          </a:bodyPr>
          <a:lstStyle/>
          <a:p>
            <a:pPr algn="r" indent="0" marL="0">
              <a:buNone/>
            </a:pPr>
            <a:r>
              <a:rPr lang="en-US" sz="650" dirty="0">
                <a:solidFill>
                  <a:srgbClr val="C0AAB9"/>
                </a:solidFill>
                <a:latin typeface="Arial" pitchFamily="34" charset="0"/>
                <a:ea typeface="Arial" pitchFamily="34" charset="-122"/>
                <a:cs typeface="Arial" pitchFamily="34" charset="-120"/>
              </a:rPr>
              <a:t>DRAFT / 14 OF 15 ARTWORKS / 12 OF 30</a:t>
            </a:r>
            <a:endParaRPr lang="en-US" sz="6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30201E"/>
        </a:solidFill>
      </p:bgPr>
    </p:bg>
    <p:spTree>
      <p:nvGrpSpPr>
        <p:cNvPr id="1" name=""/>
        <p:cNvGrpSpPr/>
        <p:nvPr/>
      </p:nvGrpSpPr>
      <p:grpSpPr>
        <a:xfrm>
          <a:off x="0" y="0"/>
          <a:ext cx="0" cy="0"/>
          <a:chOff x="0" y="0"/>
          <a:chExt cx="0" cy="0"/>
        </a:xfrm>
      </p:grpSpPr>
      <p:sp>
        <p:nvSpPr>
          <p:cNvPr id="2" name="Shape 0"/>
          <p:cNvSpPr/>
          <p:nvPr/>
        </p:nvSpPr>
        <p:spPr>
          <a:xfrm>
            <a:off x="1243584" y="329184"/>
            <a:ext cx="0" cy="8119872"/>
          </a:xfrm>
          <a:prstGeom prst="line">
            <a:avLst/>
          </a:prstGeom>
          <a:noFill/>
          <a:ln w="10160">
            <a:solidFill>
              <a:srgbClr val="776072"/>
            </a:solidFill>
            <a:prstDash val="solid"/>
          </a:ln>
        </p:spPr>
      </p:sp>
      <p:sp>
        <p:nvSpPr>
          <p:cNvPr id="3" name="Text 1"/>
          <p:cNvSpPr/>
          <p:nvPr/>
        </p:nvSpPr>
        <p:spPr>
          <a:xfrm>
            <a:off x="393192" y="457200"/>
            <a:ext cx="685800" cy="457200"/>
          </a:xfrm>
          <a:prstGeom prst="rect">
            <a:avLst/>
          </a:prstGeom>
          <a:noFill/>
          <a:ln/>
        </p:spPr>
        <p:txBody>
          <a:bodyPr wrap="square" lIns="0" tIns="0" rIns="0" bIns="0" rtlCol="0" anchor="t">
            <a:normAutofit/>
          </a:bodyPr>
          <a:lstStyle/>
          <a:p>
            <a:pPr indent="0" marL="0">
              <a:buNone/>
            </a:pPr>
            <a:r>
              <a:rPr lang="en-US" sz="600" dirty="0">
                <a:solidFill>
                  <a:srgbClr val="C0AAB9"/>
                </a:solidFill>
                <a:latin typeface="Arial" pitchFamily="34" charset="0"/>
                <a:ea typeface="Arial" pitchFamily="34" charset="-122"/>
                <a:cs typeface="Arial" pitchFamily="34" charset="-120"/>
              </a:rPr>
              <a:t>DESIGN BUDDY</a:t>
            </a:r>
            <a:endParaRPr lang="en-US" sz="600" dirty="0"/>
          </a:p>
          <a:p>
            <a:pPr indent="0" marL="0">
              <a:buNone/>
            </a:pPr>
            <a:r>
              <a:rPr lang="en-US" sz="600" dirty="0">
                <a:solidFill>
                  <a:srgbClr val="C0AAB9"/>
                </a:solidFill>
                <a:latin typeface="Arial" pitchFamily="34" charset="0"/>
                <a:ea typeface="Arial" pitchFamily="34" charset="-122"/>
                <a:cs typeface="Arial" pitchFamily="34" charset="-120"/>
              </a:rPr>
              <a:t>CREATIVE EXERCISE</a:t>
            </a:r>
            <a:endParaRPr lang="en-US" sz="600" dirty="0"/>
          </a:p>
        </p:txBody>
      </p:sp>
      <p:sp>
        <p:nvSpPr>
          <p:cNvPr id="4" name="Text 2"/>
          <p:cNvSpPr/>
          <p:nvPr/>
        </p:nvSpPr>
        <p:spPr>
          <a:xfrm>
            <a:off x="502920" y="1920240"/>
            <a:ext cx="502920" cy="4480560"/>
          </a:xfrm>
          <a:prstGeom prst="rect">
            <a:avLst/>
          </a:prstGeom>
          <a:noFill/>
          <a:ln/>
        </p:spPr>
        <p:txBody>
          <a:bodyPr wrap="square" lIns="0" tIns="0" rIns="0" bIns="0" rtlCol="0" anchor="t">
            <a:normAutofit/>
          </a:bodyPr>
          <a:lstStyle/>
          <a:p>
            <a:pPr algn="ctr" indent="0" marL="0">
              <a:buNone/>
            </a:pPr>
            <a:r>
              <a:rPr lang="en-US" sz="2500" dirty="0">
                <a:solidFill>
                  <a:srgbClr val="E7B66E"/>
                </a:solidFill>
                <a:latin typeface="Georgia" pitchFamily="34" charset="0"/>
                <a:ea typeface="Georgia" pitchFamily="34" charset="-122"/>
                <a:cs typeface="Georgia" pitchFamily="34" charset="-120"/>
              </a:rPr>
              <a:t>A</a:t>
            </a:r>
            <a:endParaRPr lang="en-US" sz="2500" dirty="0"/>
          </a:p>
          <a:p>
            <a:pPr algn="ctr" indent="0" marL="0">
              <a:buNone/>
            </a:pPr>
            <a:r>
              <a:rPr lang="en-US" sz="2500" dirty="0">
                <a:solidFill>
                  <a:srgbClr val="E7B66E"/>
                </a:solidFill>
                <a:latin typeface="Georgia" pitchFamily="34" charset="0"/>
                <a:ea typeface="Georgia" pitchFamily="34" charset="-122"/>
                <a:cs typeface="Georgia" pitchFamily="34" charset="-120"/>
              </a:rPr>
              <a:t>F</a:t>
            </a:r>
            <a:endParaRPr lang="en-US" sz="2500" dirty="0"/>
          </a:p>
          <a:p>
            <a:pPr algn="ctr" indent="0" marL="0">
              <a:buNone/>
            </a:pPr>
            <a:r>
              <a:rPr lang="en-US" sz="2500" dirty="0">
                <a:solidFill>
                  <a:srgbClr val="E7B66E"/>
                </a:solidFill>
                <a:latin typeface="Georgia" pitchFamily="34" charset="0"/>
                <a:ea typeface="Georgia" pitchFamily="34" charset="-122"/>
                <a:cs typeface="Georgia" pitchFamily="34" charset="-120"/>
              </a:rPr>
              <a:t>T</a:t>
            </a:r>
            <a:endParaRPr lang="en-US" sz="2500" dirty="0"/>
          </a:p>
          <a:p>
            <a:pPr algn="ctr" indent="0" marL="0">
              <a:buNone/>
            </a:pPr>
            <a:r>
              <a:rPr lang="en-US" sz="2500" dirty="0">
                <a:solidFill>
                  <a:srgbClr val="E7B66E"/>
                </a:solidFill>
                <a:latin typeface="Georgia" pitchFamily="34" charset="0"/>
                <a:ea typeface="Georgia" pitchFamily="34" charset="-122"/>
                <a:cs typeface="Georgia" pitchFamily="34" charset="-120"/>
              </a:rPr>
              <a:t>E</a:t>
            </a:r>
            <a:endParaRPr lang="en-US" sz="2500" dirty="0"/>
          </a:p>
          <a:p>
            <a:pPr algn="ctr" indent="0" marL="0">
              <a:buNone/>
            </a:pPr>
            <a:r>
              <a:rPr lang="en-US" sz="2500" dirty="0">
                <a:solidFill>
                  <a:srgbClr val="E7B66E"/>
                </a:solidFill>
                <a:latin typeface="Georgia" pitchFamily="34" charset="0"/>
                <a:ea typeface="Georgia" pitchFamily="34" charset="-122"/>
                <a:cs typeface="Georgia" pitchFamily="34" charset="-120"/>
              </a:rPr>
              <a:t>R</a:t>
            </a:r>
            <a:endParaRPr lang="en-US" sz="2500" dirty="0"/>
          </a:p>
          <a:p>
            <a:pPr algn="ctr" indent="0" marL="0">
              <a:buNone/>
            </a:pPr>
            <a:r>
              <a:rPr lang="en-US" sz="2500" dirty="0">
                <a:solidFill>
                  <a:srgbClr val="E7B66E"/>
                </a:solidFill>
                <a:latin typeface="Georgia" pitchFamily="34" charset="0"/>
                <a:ea typeface="Georgia" pitchFamily="34" charset="-122"/>
                <a:cs typeface="Georgia" pitchFamily="34" charset="-120"/>
              </a:rPr>
              <a:t>G</a:t>
            </a:r>
            <a:endParaRPr lang="en-US" sz="2500" dirty="0"/>
          </a:p>
          <a:p>
            <a:pPr algn="ctr" indent="0" marL="0">
              <a:buNone/>
            </a:pPr>
            <a:r>
              <a:rPr lang="en-US" sz="2500" dirty="0">
                <a:solidFill>
                  <a:srgbClr val="E7B66E"/>
                </a:solidFill>
                <a:latin typeface="Georgia" pitchFamily="34" charset="0"/>
                <a:ea typeface="Georgia" pitchFamily="34" charset="-122"/>
                <a:cs typeface="Georgia" pitchFamily="34" charset="-120"/>
              </a:rPr>
              <a:t>L</a:t>
            </a:r>
            <a:endParaRPr lang="en-US" sz="2500" dirty="0"/>
          </a:p>
          <a:p>
            <a:pPr algn="ctr" indent="0" marL="0">
              <a:buNone/>
            </a:pPr>
            <a:r>
              <a:rPr lang="en-US" sz="2500" dirty="0">
                <a:solidFill>
                  <a:srgbClr val="E7B66E"/>
                </a:solidFill>
                <a:latin typeface="Georgia" pitchFamily="34" charset="0"/>
                <a:ea typeface="Georgia" pitchFamily="34" charset="-122"/>
                <a:cs typeface="Georgia" pitchFamily="34" charset="-120"/>
              </a:rPr>
              <a:t>O</a:t>
            </a:r>
            <a:endParaRPr lang="en-US" sz="2500" dirty="0"/>
          </a:p>
          <a:p>
            <a:pPr algn="ctr" indent="0" marL="0">
              <a:buNone/>
            </a:pPr>
            <a:r>
              <a:rPr lang="en-US" sz="2500" dirty="0">
                <a:solidFill>
                  <a:srgbClr val="E7B66E"/>
                </a:solidFill>
                <a:latin typeface="Georgia" pitchFamily="34" charset="0"/>
                <a:ea typeface="Georgia" pitchFamily="34" charset="-122"/>
                <a:cs typeface="Georgia" pitchFamily="34" charset="-120"/>
              </a:rPr>
              <a:t>W</a:t>
            </a:r>
            <a:endParaRPr lang="en-US" sz="2500" dirty="0"/>
          </a:p>
        </p:txBody>
      </p:sp>
      <p:sp>
        <p:nvSpPr>
          <p:cNvPr id="5" name="Text 3"/>
          <p:cNvSpPr/>
          <p:nvPr/>
        </p:nvSpPr>
        <p:spPr>
          <a:xfrm>
            <a:off x="402336" y="7022592"/>
            <a:ext cx="731520" cy="594360"/>
          </a:xfrm>
          <a:prstGeom prst="rect">
            <a:avLst/>
          </a:prstGeom>
          <a:noFill/>
          <a:ln/>
        </p:spPr>
        <p:txBody>
          <a:bodyPr wrap="square" lIns="0" tIns="0" rIns="0" bIns="0" rtlCol="0" anchor="t">
            <a:normAutofit/>
          </a:bodyPr>
          <a:lstStyle/>
          <a:p>
            <a:pPr indent="0" marL="0">
              <a:buNone/>
            </a:pPr>
            <a:r>
              <a:rPr lang="en-US" sz="4200" dirty="0">
                <a:solidFill>
                  <a:srgbClr val="E7B66E"/>
                </a:solidFill>
                <a:latin typeface="Georgia" pitchFamily="34" charset="0"/>
                <a:ea typeface="Georgia" pitchFamily="34" charset="-122"/>
                <a:cs typeface="Georgia" pitchFamily="34" charset="-120"/>
              </a:rPr>
              <a:t>13</a:t>
            </a:r>
            <a:endParaRPr lang="en-US" sz="4200" dirty="0"/>
          </a:p>
        </p:txBody>
      </p:sp>
      <p:sp>
        <p:nvSpPr>
          <p:cNvPr id="6" name="Text 4"/>
          <p:cNvSpPr/>
          <p:nvPr/>
        </p:nvSpPr>
        <p:spPr>
          <a:xfrm>
            <a:off x="402336" y="7818120"/>
            <a:ext cx="731520" cy="411480"/>
          </a:xfrm>
          <a:prstGeom prst="rect">
            <a:avLst/>
          </a:prstGeom>
          <a:noFill/>
          <a:ln/>
        </p:spPr>
        <p:txBody>
          <a:bodyPr wrap="square" lIns="0" tIns="0" rIns="0" bIns="0" rtlCol="0" anchor="t">
            <a:normAutofit/>
          </a:bodyPr>
          <a:lstStyle/>
          <a:p>
            <a:pPr indent="0" marL="0">
              <a:buNone/>
            </a:pPr>
            <a:r>
              <a:rPr lang="en-US" sz="700" dirty="0">
                <a:solidFill>
                  <a:srgbClr val="C0AAB9"/>
                </a:solidFill>
                <a:latin typeface="Arial" pitchFamily="34" charset="0"/>
                <a:ea typeface="Arial" pitchFamily="34" charset="-122"/>
                <a:cs typeface="Arial" pitchFamily="34" charset="-120"/>
              </a:rPr>
              <a:t>ACT 3 / 5</a:t>
            </a:r>
            <a:endParaRPr lang="en-US" sz="700" dirty="0"/>
          </a:p>
          <a:p>
            <a:pPr indent="0" marL="0">
              <a:buNone/>
            </a:pPr>
            <a:r>
              <a:rPr lang="en-US" sz="700" dirty="0">
                <a:solidFill>
                  <a:srgbClr val="C0AAB9"/>
                </a:solidFill>
                <a:latin typeface="Arial" pitchFamily="34" charset="0"/>
                <a:ea typeface="Arial" pitchFamily="34" charset="-122"/>
                <a:cs typeface="Arial" pitchFamily="34" charset="-120"/>
              </a:rPr>
              <a:t>BEAT 1 / 6</a:t>
            </a:r>
            <a:endParaRPr lang="en-US" sz="700" dirty="0"/>
          </a:p>
        </p:txBody>
      </p:sp>
      <p:sp>
        <p:nvSpPr>
          <p:cNvPr id="7" name="Text 5"/>
          <p:cNvSpPr/>
          <p:nvPr/>
        </p:nvSpPr>
        <p:spPr>
          <a:xfrm>
            <a:off x="1499616" y="347472"/>
            <a:ext cx="9144000" cy="164592"/>
          </a:xfrm>
          <a:prstGeom prst="rect">
            <a:avLst/>
          </a:prstGeom>
          <a:noFill/>
          <a:ln/>
        </p:spPr>
        <p:txBody>
          <a:bodyPr wrap="square" lIns="0" tIns="0" rIns="0" bIns="0" rtlCol="0" anchor="t">
            <a:normAutofit/>
          </a:bodyPr>
          <a:lstStyle/>
          <a:p>
            <a:pPr indent="0" marL="0">
              <a:buNone/>
            </a:pPr>
            <a:r>
              <a:rPr lang="en-US" sz="700" spc="120" kern="0" dirty="0">
                <a:solidFill>
                  <a:srgbClr val="E7B66E"/>
                </a:solidFill>
                <a:latin typeface="Arial" pitchFamily="34" charset="0"/>
                <a:ea typeface="Arial" pitchFamily="34" charset="-122"/>
                <a:cs typeface="Arial" pitchFamily="34" charset="-120"/>
              </a:rPr>
              <a:t>ACT 3 / MOVEMENT</a:t>
            </a:r>
            <a:endParaRPr lang="en-US" sz="700" dirty="0"/>
          </a:p>
        </p:txBody>
      </p:sp>
      <p:sp>
        <p:nvSpPr>
          <p:cNvPr id="8" name="Text 6"/>
          <p:cNvSpPr/>
          <p:nvPr/>
        </p:nvSpPr>
        <p:spPr>
          <a:xfrm>
            <a:off x="1499616" y="612648"/>
            <a:ext cx="9692640" cy="594360"/>
          </a:xfrm>
          <a:prstGeom prst="rect">
            <a:avLst/>
          </a:prstGeom>
          <a:noFill/>
          <a:ln/>
        </p:spPr>
        <p:txBody>
          <a:bodyPr wrap="square" lIns="0" tIns="0" rIns="0" bIns="0" rtlCol="0" anchor="t">
            <a:normAutofit/>
          </a:bodyPr>
          <a:lstStyle/>
          <a:p>
            <a:pPr indent="0" marL="0">
              <a:buNone/>
            </a:pPr>
            <a:r>
              <a:rPr lang="en-US" sz="2800" dirty="0">
                <a:solidFill>
                  <a:srgbClr val="ECDED6"/>
                </a:solidFill>
                <a:latin typeface="Georgia" pitchFamily="34" charset="0"/>
                <a:ea typeface="Georgia" pitchFamily="34" charset="-122"/>
                <a:cs typeface="Georgia" pitchFamily="34" charset="-120"/>
              </a:rPr>
              <a:t>Move an idea, not a person.</a:t>
            </a:r>
            <a:endParaRPr lang="en-US" sz="2800" dirty="0"/>
          </a:p>
        </p:txBody>
      </p:sp>
      <p:sp>
        <p:nvSpPr>
          <p:cNvPr id="9" name="Text 7"/>
          <p:cNvSpPr/>
          <p:nvPr/>
        </p:nvSpPr>
        <p:spPr>
          <a:xfrm>
            <a:off x="11475720" y="438912"/>
            <a:ext cx="1325880" cy="182880"/>
          </a:xfrm>
          <a:prstGeom prst="rect">
            <a:avLst/>
          </a:prstGeom>
          <a:noFill/>
          <a:ln/>
        </p:spPr>
        <p:txBody>
          <a:bodyPr wrap="square" lIns="0" tIns="0" rIns="0" bIns="0" rtlCol="0" anchor="t">
            <a:normAutofit/>
          </a:bodyPr>
          <a:lstStyle/>
          <a:p>
            <a:pPr algn="r" indent="0" marL="0">
              <a:buNone/>
            </a:pPr>
            <a:r>
              <a:rPr lang="en-US" sz="700" dirty="0">
                <a:solidFill>
                  <a:srgbClr val="E7B66E"/>
                </a:solidFill>
                <a:latin typeface="Arial" pitchFamily="34" charset="0"/>
                <a:ea typeface="Arial" pitchFamily="34" charset="-122"/>
                <a:cs typeface="Arial" pitchFamily="34" charset="-120"/>
              </a:rPr>
              <a:t>LOCAL / UNMARKED</a:t>
            </a:r>
            <a:endParaRPr lang="en-US" sz="700" dirty="0"/>
          </a:p>
        </p:txBody>
      </p:sp>
      <p:sp>
        <p:nvSpPr>
          <p:cNvPr id="10" name="Shape 8"/>
          <p:cNvSpPr/>
          <p:nvPr/>
        </p:nvSpPr>
        <p:spPr>
          <a:xfrm>
            <a:off x="1499616" y="1307592"/>
            <a:ext cx="1819656" cy="448056"/>
          </a:xfrm>
          <a:prstGeom prst="rect">
            <a:avLst/>
          </a:prstGeom>
          <a:solidFill>
            <a:srgbClr val="30201E"/>
          </a:solidFill>
          <a:ln w="8890">
            <a:solidFill>
              <a:srgbClr val="E7B66E"/>
            </a:solidFill>
            <a:prstDash val="solid"/>
          </a:ln>
        </p:spPr>
      </p:sp>
      <p:sp>
        <p:nvSpPr>
          <p:cNvPr id="11" name="Text 9"/>
          <p:cNvSpPr/>
          <p:nvPr/>
        </p:nvSpPr>
        <p:spPr>
          <a:xfrm>
            <a:off x="1572768"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E7B66E"/>
                </a:solidFill>
                <a:latin typeface="Georgia" pitchFamily="34" charset="0"/>
                <a:ea typeface="Georgia" pitchFamily="34" charset="-122"/>
                <a:cs typeface="Georgia" pitchFamily="34" charset="-120"/>
              </a:rPr>
              <a:t>1</a:t>
            </a:r>
            <a:endParaRPr lang="en-US" sz="1700" dirty="0"/>
          </a:p>
        </p:txBody>
      </p:sp>
      <p:sp>
        <p:nvSpPr>
          <p:cNvPr id="12" name="Text 10"/>
          <p:cNvSpPr/>
          <p:nvPr/>
        </p:nvSpPr>
        <p:spPr>
          <a:xfrm>
            <a:off x="1865376"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Move an idea, not a person.</a:t>
            </a:r>
            <a:endParaRPr lang="en-US" sz="700" dirty="0"/>
          </a:p>
        </p:txBody>
      </p:sp>
      <p:sp>
        <p:nvSpPr>
          <p:cNvPr id="13" name="Shape 11"/>
          <p:cNvSpPr/>
          <p:nvPr/>
        </p:nvSpPr>
        <p:spPr>
          <a:xfrm>
            <a:off x="3392424" y="1307592"/>
            <a:ext cx="1819656" cy="448056"/>
          </a:xfrm>
          <a:prstGeom prst="rect">
            <a:avLst/>
          </a:prstGeom>
          <a:solidFill>
            <a:srgbClr val="30201E"/>
          </a:solidFill>
          <a:ln w="8890">
            <a:solidFill>
              <a:srgbClr val="6D5768"/>
            </a:solidFill>
            <a:prstDash val="solid"/>
          </a:ln>
        </p:spPr>
      </p:sp>
      <p:sp>
        <p:nvSpPr>
          <p:cNvPr id="14" name="Text 12"/>
          <p:cNvSpPr/>
          <p:nvPr/>
        </p:nvSpPr>
        <p:spPr>
          <a:xfrm>
            <a:off x="3465576"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E7B66E"/>
                </a:solidFill>
                <a:latin typeface="Georgia" pitchFamily="34" charset="0"/>
                <a:ea typeface="Georgia" pitchFamily="34" charset="-122"/>
                <a:cs typeface="Georgia" pitchFamily="34" charset="-120"/>
              </a:rPr>
              <a:t>2</a:t>
            </a:r>
            <a:endParaRPr lang="en-US" sz="1700" dirty="0"/>
          </a:p>
        </p:txBody>
      </p:sp>
      <p:sp>
        <p:nvSpPr>
          <p:cNvPr id="15" name="Text 13"/>
          <p:cNvSpPr/>
          <p:nvPr/>
        </p:nvSpPr>
        <p:spPr>
          <a:xfrm>
            <a:off x="3758184"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Use a repeated phrase carefully.</a:t>
            </a:r>
            <a:endParaRPr lang="en-US" sz="700" dirty="0"/>
          </a:p>
        </p:txBody>
      </p:sp>
      <p:sp>
        <p:nvSpPr>
          <p:cNvPr id="16" name="Shape 14"/>
          <p:cNvSpPr/>
          <p:nvPr/>
        </p:nvSpPr>
        <p:spPr>
          <a:xfrm>
            <a:off x="5285232" y="1307592"/>
            <a:ext cx="1819656" cy="448056"/>
          </a:xfrm>
          <a:prstGeom prst="rect">
            <a:avLst/>
          </a:prstGeom>
          <a:solidFill>
            <a:srgbClr val="30201E"/>
          </a:solidFill>
          <a:ln w="8890">
            <a:solidFill>
              <a:srgbClr val="6D5768"/>
            </a:solidFill>
            <a:prstDash val="solid"/>
          </a:ln>
        </p:spPr>
      </p:sp>
      <p:sp>
        <p:nvSpPr>
          <p:cNvPr id="17" name="Text 15"/>
          <p:cNvSpPr/>
          <p:nvPr/>
        </p:nvSpPr>
        <p:spPr>
          <a:xfrm>
            <a:off x="5358384"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E7B66E"/>
                </a:solidFill>
                <a:latin typeface="Georgia" pitchFamily="34" charset="0"/>
                <a:ea typeface="Georgia" pitchFamily="34" charset="-122"/>
                <a:cs typeface="Georgia" pitchFamily="34" charset="-120"/>
              </a:rPr>
              <a:t>3</a:t>
            </a:r>
            <a:endParaRPr lang="en-US" sz="1700" dirty="0"/>
          </a:p>
        </p:txBody>
      </p:sp>
      <p:sp>
        <p:nvSpPr>
          <p:cNvPr id="18" name="Text 16"/>
          <p:cNvSpPr/>
          <p:nvPr/>
        </p:nvSpPr>
        <p:spPr>
          <a:xfrm>
            <a:off x="5650992"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Make room for another voice.</a:t>
            </a:r>
            <a:endParaRPr lang="en-US" sz="700" dirty="0"/>
          </a:p>
        </p:txBody>
      </p:sp>
      <p:sp>
        <p:nvSpPr>
          <p:cNvPr id="19" name="Shape 17"/>
          <p:cNvSpPr/>
          <p:nvPr/>
        </p:nvSpPr>
        <p:spPr>
          <a:xfrm>
            <a:off x="7178040" y="1307592"/>
            <a:ext cx="1819656" cy="448056"/>
          </a:xfrm>
          <a:prstGeom prst="rect">
            <a:avLst/>
          </a:prstGeom>
          <a:solidFill>
            <a:srgbClr val="30201E"/>
          </a:solidFill>
          <a:ln w="8890">
            <a:solidFill>
              <a:srgbClr val="6D5768"/>
            </a:solidFill>
            <a:prstDash val="solid"/>
          </a:ln>
        </p:spPr>
      </p:sp>
      <p:sp>
        <p:nvSpPr>
          <p:cNvPr id="20" name="Text 18"/>
          <p:cNvSpPr/>
          <p:nvPr/>
        </p:nvSpPr>
        <p:spPr>
          <a:xfrm>
            <a:off x="7251192"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E7B66E"/>
                </a:solidFill>
                <a:latin typeface="Georgia" pitchFamily="34" charset="0"/>
                <a:ea typeface="Georgia" pitchFamily="34" charset="-122"/>
                <a:cs typeface="Georgia" pitchFamily="34" charset="-120"/>
              </a:rPr>
              <a:t>4</a:t>
            </a:r>
            <a:endParaRPr lang="en-US" sz="1700" dirty="0"/>
          </a:p>
        </p:txBody>
      </p:sp>
      <p:sp>
        <p:nvSpPr>
          <p:cNvPr id="21" name="Text 19"/>
          <p:cNvSpPr/>
          <p:nvPr/>
        </p:nvSpPr>
        <p:spPr>
          <a:xfrm>
            <a:off x="7543800"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Let an object return changed.</a:t>
            </a:r>
            <a:endParaRPr lang="en-US" sz="700" dirty="0"/>
          </a:p>
        </p:txBody>
      </p:sp>
      <p:sp>
        <p:nvSpPr>
          <p:cNvPr id="22" name="Shape 20"/>
          <p:cNvSpPr/>
          <p:nvPr/>
        </p:nvSpPr>
        <p:spPr>
          <a:xfrm>
            <a:off x="9070848" y="1307592"/>
            <a:ext cx="1819656" cy="448056"/>
          </a:xfrm>
          <a:prstGeom prst="rect">
            <a:avLst/>
          </a:prstGeom>
          <a:solidFill>
            <a:srgbClr val="30201E"/>
          </a:solidFill>
          <a:ln w="8890">
            <a:solidFill>
              <a:srgbClr val="6D5768"/>
            </a:solidFill>
            <a:prstDash val="solid"/>
          </a:ln>
        </p:spPr>
      </p:sp>
      <p:sp>
        <p:nvSpPr>
          <p:cNvPr id="23" name="Text 21"/>
          <p:cNvSpPr/>
          <p:nvPr/>
        </p:nvSpPr>
        <p:spPr>
          <a:xfrm>
            <a:off x="9144000"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E7B66E"/>
                </a:solidFill>
                <a:latin typeface="Georgia" pitchFamily="34" charset="0"/>
                <a:ea typeface="Georgia" pitchFamily="34" charset="-122"/>
                <a:cs typeface="Georgia" pitchFamily="34" charset="-120"/>
              </a:rPr>
              <a:t>5</a:t>
            </a:r>
            <a:endParaRPr lang="en-US" sz="1700" dirty="0"/>
          </a:p>
        </p:txBody>
      </p:sp>
      <p:sp>
        <p:nvSpPr>
          <p:cNvPr id="24" name="Text 22"/>
          <p:cNvSpPr/>
          <p:nvPr/>
        </p:nvSpPr>
        <p:spPr>
          <a:xfrm>
            <a:off x="9436608"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Keep a transition readable.</a:t>
            </a:r>
            <a:endParaRPr lang="en-US" sz="700" dirty="0"/>
          </a:p>
        </p:txBody>
      </p:sp>
      <p:sp>
        <p:nvSpPr>
          <p:cNvPr id="25" name="Shape 23"/>
          <p:cNvSpPr/>
          <p:nvPr/>
        </p:nvSpPr>
        <p:spPr>
          <a:xfrm>
            <a:off x="10963656" y="1307592"/>
            <a:ext cx="1819656" cy="448056"/>
          </a:xfrm>
          <a:prstGeom prst="rect">
            <a:avLst/>
          </a:prstGeom>
          <a:solidFill>
            <a:srgbClr val="30201E"/>
          </a:solidFill>
          <a:ln w="8890">
            <a:solidFill>
              <a:srgbClr val="6D5768"/>
            </a:solidFill>
            <a:prstDash val="solid"/>
          </a:ln>
        </p:spPr>
      </p:sp>
      <p:sp>
        <p:nvSpPr>
          <p:cNvPr id="26" name="Text 24"/>
          <p:cNvSpPr/>
          <p:nvPr/>
        </p:nvSpPr>
        <p:spPr>
          <a:xfrm>
            <a:off x="11036808"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E7B66E"/>
                </a:solidFill>
                <a:latin typeface="Georgia" pitchFamily="34" charset="0"/>
                <a:ea typeface="Georgia" pitchFamily="34" charset="-122"/>
                <a:cs typeface="Georgia" pitchFamily="34" charset="-120"/>
              </a:rPr>
              <a:t>6</a:t>
            </a:r>
            <a:endParaRPr lang="en-US" sz="1700" dirty="0"/>
          </a:p>
        </p:txBody>
      </p:sp>
      <p:sp>
        <p:nvSpPr>
          <p:cNvPr id="27" name="Text 25"/>
          <p:cNvSpPr/>
          <p:nvPr/>
        </p:nvSpPr>
        <p:spPr>
          <a:xfrm>
            <a:off x="11329416"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Find the turn without a verdict.</a:t>
            </a:r>
            <a:endParaRPr lang="en-US" sz="700" dirty="0"/>
          </a:p>
        </p:txBody>
      </p:sp>
      <p:pic>
        <p:nvPicPr>
          <p:cNvPr id="28" name="Image 0" descr="/home/user/design-buddy/design-buddy-home/public/atelier/afterglow/images/07.jpg">    </p:cNvPr>
          <p:cNvPicPr>
            <a:picLocks noChangeAspect="1"/>
          </p:cNvPicPr>
          <p:nvPr/>
        </p:nvPicPr>
        <p:blipFill>
          <a:blip r:embed="rId1"/>
          <a:srcRect l="0" r="0" t="0" b="0"/>
          <a:stretch/>
        </p:blipFill>
        <p:spPr>
          <a:xfrm>
            <a:off x="1499616" y="2066544"/>
            <a:ext cx="6949440" cy="3840480"/>
          </a:xfrm>
          <a:prstGeom prst="rect">
            <a:avLst/>
          </a:prstGeom>
        </p:spPr>
      </p:pic>
      <p:sp>
        <p:nvSpPr>
          <p:cNvPr id="29" name="Text 26"/>
          <p:cNvSpPr/>
          <p:nvPr/>
        </p:nvSpPr>
        <p:spPr>
          <a:xfrm>
            <a:off x="1499616" y="6007608"/>
            <a:ext cx="6949440" cy="164592"/>
          </a:xfrm>
          <a:prstGeom prst="rect">
            <a:avLst/>
          </a:prstGeom>
          <a:noFill/>
          <a:ln/>
        </p:spPr>
        <p:txBody>
          <a:bodyPr wrap="square" lIns="0" tIns="0" rIns="0" bIns="0" rtlCol="0" anchor="t">
            <a:normAutofit/>
          </a:bodyPr>
          <a:lstStyle/>
          <a:p>
            <a:pPr indent="0" marL="0">
              <a:buNone/>
            </a:pPr>
            <a:r>
              <a:rPr lang="en-US" sz="650" dirty="0">
                <a:solidFill>
                  <a:srgbClr val="C0AAB9"/>
                </a:solidFill>
                <a:latin typeface="Arial" pitchFamily="34" charset="0"/>
                <a:ea typeface="Arial" pitchFamily="34" charset="-122"/>
                <a:cs typeface="Arial" pitchFamily="34" charset="-120"/>
              </a:rPr>
              <a:t>Watercolour 7 / invented setting and adults / not production evidence</a:t>
            </a:r>
            <a:endParaRPr lang="en-US" sz="650" dirty="0"/>
          </a:p>
        </p:txBody>
      </p:sp>
      <p:sp>
        <p:nvSpPr>
          <p:cNvPr id="30" name="Text 27"/>
          <p:cNvSpPr/>
          <p:nvPr/>
        </p:nvSpPr>
        <p:spPr>
          <a:xfrm>
            <a:off x="8705088" y="2139696"/>
            <a:ext cx="4133088" cy="164592"/>
          </a:xfrm>
          <a:prstGeom prst="rect">
            <a:avLst/>
          </a:prstGeom>
          <a:noFill/>
          <a:ln/>
        </p:spPr>
        <p:txBody>
          <a:bodyPr wrap="square" lIns="0" tIns="0" rIns="0" bIns="0" rtlCol="0" anchor="t">
            <a:normAutofit/>
          </a:bodyPr>
          <a:lstStyle/>
          <a:p>
            <a:pPr indent="0" marL="0">
              <a:buNone/>
            </a:pPr>
            <a:r>
              <a:rPr lang="en-US" sz="700" spc="110" kern="0" dirty="0">
                <a:solidFill>
                  <a:srgbClr val="E7B66E"/>
                </a:solidFill>
                <a:latin typeface="Arial" pitchFamily="34" charset="0"/>
                <a:ea typeface="Arial" pitchFamily="34" charset="-122"/>
                <a:cs typeface="Arial" pitchFamily="34" charset="-120"/>
              </a:rPr>
              <a:t>STORY INTENTION</a:t>
            </a:r>
            <a:endParaRPr lang="en-US" sz="700" dirty="0"/>
          </a:p>
        </p:txBody>
      </p:sp>
      <p:sp>
        <p:nvSpPr>
          <p:cNvPr id="31" name="Text 28"/>
          <p:cNvSpPr/>
          <p:nvPr/>
        </p:nvSpPr>
        <p:spPr>
          <a:xfrm>
            <a:off x="8705088" y="2514600"/>
            <a:ext cx="4133088" cy="1828800"/>
          </a:xfrm>
          <a:prstGeom prst="rect">
            <a:avLst/>
          </a:prstGeom>
          <a:noFill/>
          <a:ln/>
        </p:spPr>
        <p:txBody>
          <a:bodyPr wrap="square" lIns="0" tIns="0" rIns="0" bIns="0" rtlCol="0" anchor="t">
            <a:normAutofit/>
          </a:bodyPr>
          <a:lstStyle/>
          <a:p>
            <a:pPr indent="0" marL="0">
              <a:buNone/>
            </a:pPr>
            <a:r>
              <a:rPr lang="en-US" sz="1575" dirty="0">
                <a:solidFill>
                  <a:srgbClr val="ECDED6"/>
                </a:solidFill>
                <a:latin typeface="Georgia" pitchFamily="34" charset="0"/>
                <a:ea typeface="Georgia" pitchFamily="34" charset="-122"/>
                <a:cs typeface="Georgia" pitchFamily="34" charset="-120"/>
              </a:rPr>
              <a:t>Trace how a thought changes between two lines of dialogue. The movement here is narrative: from certainty to curiosity, or from haste to attention. The folio does not supply physical blocking or accessibility instructions.</a:t>
            </a:r>
            <a:endParaRPr lang="en-US" sz="1575" dirty="0"/>
          </a:p>
        </p:txBody>
      </p:sp>
      <p:sp>
        <p:nvSpPr>
          <p:cNvPr id="32" name="Text 29"/>
          <p:cNvSpPr/>
          <p:nvPr/>
        </p:nvSpPr>
        <p:spPr>
          <a:xfrm>
            <a:off x="8705088" y="4572000"/>
            <a:ext cx="4133088" cy="164592"/>
          </a:xfrm>
          <a:prstGeom prst="rect">
            <a:avLst/>
          </a:prstGeom>
          <a:noFill/>
          <a:ln/>
        </p:spPr>
        <p:txBody>
          <a:bodyPr wrap="square" lIns="0" tIns="0" rIns="0" bIns="0" rtlCol="0" anchor="t">
            <a:normAutofit/>
          </a:bodyPr>
          <a:lstStyle/>
          <a:p>
            <a:pPr indent="0" marL="0">
              <a:buNone/>
            </a:pPr>
            <a:r>
              <a:rPr lang="en-US" sz="700" spc="110" kern="0" dirty="0">
                <a:solidFill>
                  <a:srgbClr val="E7B66E"/>
                </a:solidFill>
                <a:latin typeface="Arial" pitchFamily="34" charset="0"/>
                <a:ea typeface="Arial" pitchFamily="34" charset="-122"/>
                <a:cs typeface="Arial" pitchFamily="34" charset="-120"/>
              </a:rPr>
              <a:t>LEAVE A QUESTION</a:t>
            </a:r>
            <a:endParaRPr lang="en-US" sz="700" dirty="0"/>
          </a:p>
        </p:txBody>
      </p:sp>
      <p:sp>
        <p:nvSpPr>
          <p:cNvPr id="33" name="Text 30"/>
          <p:cNvSpPr/>
          <p:nvPr/>
        </p:nvSpPr>
        <p:spPr>
          <a:xfrm>
            <a:off x="8705088" y="4910328"/>
            <a:ext cx="4133088" cy="822960"/>
          </a:xfrm>
          <a:prstGeom prst="rect">
            <a:avLst/>
          </a:prstGeom>
          <a:noFill/>
          <a:ln/>
        </p:spPr>
        <p:txBody>
          <a:bodyPr wrap="square" lIns="0" tIns="0" rIns="0" bIns="0" rtlCol="0" anchor="t">
            <a:normAutofit/>
          </a:bodyPr>
          <a:lstStyle/>
          <a:p>
            <a:pPr indent="0" marL="0">
              <a:buNone/>
            </a:pPr>
            <a:r>
              <a:rPr lang="en-US" sz="1875" i="1" dirty="0">
                <a:solidFill>
                  <a:srgbClr val="E7B66E"/>
                </a:solidFill>
                <a:latin typeface="Georgia" pitchFamily="34" charset="0"/>
                <a:ea typeface="Georgia" pitchFamily="34" charset="-122"/>
                <a:cs typeface="Georgia" pitchFamily="34" charset="-120"/>
              </a:rPr>
              <a:t>Which word marks the shift in the imagined exchange?</a:t>
            </a:r>
            <a:endParaRPr lang="en-US" sz="1875" dirty="0"/>
          </a:p>
        </p:txBody>
      </p:sp>
      <p:sp>
        <p:nvSpPr>
          <p:cNvPr id="34" name="Text 31"/>
          <p:cNvSpPr/>
          <p:nvPr/>
        </p:nvSpPr>
        <p:spPr>
          <a:xfrm>
            <a:off x="8705088" y="5806440"/>
            <a:ext cx="4133088" cy="292608"/>
          </a:xfrm>
          <a:prstGeom prst="rect">
            <a:avLst/>
          </a:prstGeom>
          <a:noFill/>
          <a:ln/>
        </p:spPr>
        <p:txBody>
          <a:bodyPr wrap="square" lIns="0" tIns="0" rIns="0" bIns="0" rtlCol="0" anchor="t">
            <a:normAutofit/>
          </a:bodyPr>
          <a:lstStyle/>
          <a:p>
            <a:pPr indent="0" marL="0">
              <a:buNone/>
            </a:pPr>
            <a:r>
              <a:rPr lang="en-US" sz="700" dirty="0">
                <a:solidFill>
                  <a:srgbClr val="C0AAB9"/>
                </a:solidFill>
                <a:latin typeface="Arial" pitchFamily="34" charset="0"/>
                <a:ea typeface="Arial" pitchFamily="34" charset="-122"/>
                <a:cs typeface="Arial" pitchFamily="34" charset="-120"/>
              </a:rPr>
              <a:t>Beat order is not timing, a technical call or a show schedule.</a:t>
            </a:r>
            <a:endParaRPr lang="en-US" sz="700" dirty="0"/>
          </a:p>
        </p:txBody>
      </p:sp>
      <p:sp>
        <p:nvSpPr>
          <p:cNvPr id="35" name="Shape 32"/>
          <p:cNvSpPr/>
          <p:nvPr/>
        </p:nvSpPr>
        <p:spPr>
          <a:xfrm>
            <a:off x="1499616" y="6583680"/>
            <a:ext cx="3675888" cy="1481328"/>
          </a:xfrm>
          <a:prstGeom prst="rect">
            <a:avLst/>
          </a:prstGeom>
          <a:solidFill>
            <a:srgbClr val="30201E"/>
          </a:solidFill>
          <a:ln w="8890">
            <a:solidFill>
              <a:srgbClr val="735D6D"/>
            </a:solidFill>
            <a:prstDash val="solid"/>
          </a:ln>
        </p:spPr>
      </p:sp>
      <p:sp>
        <p:nvSpPr>
          <p:cNvPr id="36" name="Text 33"/>
          <p:cNvSpPr/>
          <p:nvPr/>
        </p:nvSpPr>
        <p:spPr>
          <a:xfrm>
            <a:off x="1682496"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E7B66E"/>
                </a:solidFill>
                <a:latin typeface="Arial" pitchFamily="34" charset="0"/>
                <a:ea typeface="Arial" pitchFamily="34" charset="-122"/>
                <a:cs typeface="Arial" pitchFamily="34" charset="-120"/>
              </a:rPr>
              <a:t>01 / NOTICE</a:t>
            </a:r>
            <a:endParaRPr lang="en-US" sz="700" dirty="0"/>
          </a:p>
        </p:txBody>
      </p:sp>
      <p:sp>
        <p:nvSpPr>
          <p:cNvPr id="37" name="Text 34"/>
          <p:cNvSpPr/>
          <p:nvPr/>
        </p:nvSpPr>
        <p:spPr>
          <a:xfrm>
            <a:off x="1682496"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Narrative movement is a change of understanding.</a:t>
            </a:r>
            <a:endParaRPr lang="en-US" sz="1500" dirty="0"/>
          </a:p>
        </p:txBody>
      </p:sp>
      <p:sp>
        <p:nvSpPr>
          <p:cNvPr id="38" name="Shape 35"/>
          <p:cNvSpPr/>
          <p:nvPr/>
        </p:nvSpPr>
        <p:spPr>
          <a:xfrm>
            <a:off x="5321808" y="6583680"/>
            <a:ext cx="3675888" cy="1481328"/>
          </a:xfrm>
          <a:prstGeom prst="rect">
            <a:avLst/>
          </a:prstGeom>
          <a:solidFill>
            <a:srgbClr val="30201E"/>
          </a:solidFill>
          <a:ln w="8890">
            <a:solidFill>
              <a:srgbClr val="735D6D"/>
            </a:solidFill>
            <a:prstDash val="solid"/>
          </a:ln>
        </p:spPr>
      </p:sp>
      <p:sp>
        <p:nvSpPr>
          <p:cNvPr id="39" name="Text 36"/>
          <p:cNvSpPr/>
          <p:nvPr/>
        </p:nvSpPr>
        <p:spPr>
          <a:xfrm>
            <a:off x="5504688"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E7B66E"/>
                </a:solidFill>
                <a:latin typeface="Arial" pitchFamily="34" charset="0"/>
                <a:ea typeface="Arial" pitchFamily="34" charset="-122"/>
                <a:cs typeface="Arial" pitchFamily="34" charset="-120"/>
              </a:rPr>
              <a:t>02 / TRY IN WORDS</a:t>
            </a:r>
            <a:endParaRPr lang="en-US" sz="700" dirty="0"/>
          </a:p>
        </p:txBody>
      </p:sp>
      <p:sp>
        <p:nvSpPr>
          <p:cNvPr id="40" name="Text 37"/>
          <p:cNvSpPr/>
          <p:nvPr/>
        </p:nvSpPr>
        <p:spPr>
          <a:xfrm>
            <a:off x="5504688"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Write two lines in which a confident claim becomes a question.</a:t>
            </a:r>
            <a:endParaRPr lang="en-US" sz="1500" dirty="0"/>
          </a:p>
        </p:txBody>
      </p:sp>
      <p:sp>
        <p:nvSpPr>
          <p:cNvPr id="41" name="Shape 38"/>
          <p:cNvSpPr/>
          <p:nvPr/>
        </p:nvSpPr>
        <p:spPr>
          <a:xfrm>
            <a:off x="9144000" y="6583680"/>
            <a:ext cx="3675888" cy="1481328"/>
          </a:xfrm>
          <a:prstGeom prst="rect">
            <a:avLst/>
          </a:prstGeom>
          <a:solidFill>
            <a:srgbClr val="30201E"/>
          </a:solidFill>
          <a:ln w="8890">
            <a:solidFill>
              <a:srgbClr val="735D6D"/>
            </a:solidFill>
            <a:prstDash val="solid"/>
          </a:ln>
        </p:spPr>
      </p:sp>
      <p:sp>
        <p:nvSpPr>
          <p:cNvPr id="42" name="Text 39"/>
          <p:cNvSpPr/>
          <p:nvPr/>
        </p:nvSpPr>
        <p:spPr>
          <a:xfrm>
            <a:off x="9326880"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E7B66E"/>
                </a:solidFill>
                <a:latin typeface="Arial" pitchFamily="34" charset="0"/>
                <a:ea typeface="Arial" pitchFamily="34" charset="-122"/>
                <a:cs typeface="Arial" pitchFamily="34" charset="-120"/>
              </a:rPr>
              <a:t>03 / KEEP VISIBLE</a:t>
            </a:r>
            <a:endParaRPr lang="en-US" sz="700" dirty="0"/>
          </a:p>
        </p:txBody>
      </p:sp>
      <p:sp>
        <p:nvSpPr>
          <p:cNvPr id="43" name="Text 40"/>
          <p:cNvSpPr/>
          <p:nvPr/>
        </p:nvSpPr>
        <p:spPr>
          <a:xfrm>
            <a:off x="9326880"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Keep the change visible in the language.</a:t>
            </a:r>
            <a:endParaRPr lang="en-US" sz="1500" dirty="0"/>
          </a:p>
        </p:txBody>
      </p:sp>
      <p:sp>
        <p:nvSpPr>
          <p:cNvPr id="44" name="Shape 41"/>
          <p:cNvSpPr/>
          <p:nvPr/>
        </p:nvSpPr>
        <p:spPr>
          <a:xfrm>
            <a:off x="1499616" y="8211312"/>
            <a:ext cx="11338560" cy="0"/>
          </a:xfrm>
          <a:prstGeom prst="line">
            <a:avLst/>
          </a:prstGeom>
          <a:noFill/>
          <a:ln w="8890">
            <a:solidFill>
              <a:srgbClr val="796170"/>
            </a:solidFill>
            <a:prstDash val="solid"/>
          </a:ln>
        </p:spPr>
      </p:sp>
      <p:sp>
        <p:nvSpPr>
          <p:cNvPr id="45" name="Text 42"/>
          <p:cNvSpPr/>
          <p:nvPr/>
        </p:nvSpPr>
        <p:spPr>
          <a:xfrm>
            <a:off x="1499616" y="8339328"/>
            <a:ext cx="8229600" cy="118872"/>
          </a:xfrm>
          <a:prstGeom prst="rect">
            <a:avLst/>
          </a:prstGeom>
          <a:noFill/>
          <a:ln/>
        </p:spPr>
        <p:txBody>
          <a:bodyPr wrap="square" lIns="0" tIns="0" rIns="0" bIns="0" rtlCol="0" anchor="t">
            <a:normAutofit/>
          </a:bodyPr>
          <a:lstStyle/>
          <a:p>
            <a:pPr indent="0" marL="0">
              <a:buNone/>
            </a:pPr>
            <a:r>
              <a:rPr lang="en-US" sz="650" dirty="0">
                <a:solidFill>
                  <a:srgbClr val="C0AAB9"/>
                </a:solidFill>
                <a:latin typeface="Arial" pitchFamily="34" charset="0"/>
                <a:ea typeface="Arial" pitchFamily="34" charset="-122"/>
                <a:cs typeface="Arial" pitchFamily="34" charset="-120"/>
              </a:rPr>
              <a:t>FICTIONAL WRITING WORKSHOP / NOT A STAGING OR APPROVAL PLAN</a:t>
            </a:r>
            <a:endParaRPr lang="en-US" sz="650" dirty="0"/>
          </a:p>
        </p:txBody>
      </p:sp>
      <p:sp>
        <p:nvSpPr>
          <p:cNvPr id="46" name="Text 43"/>
          <p:cNvSpPr/>
          <p:nvPr/>
        </p:nvSpPr>
        <p:spPr>
          <a:xfrm>
            <a:off x="9729216" y="8339328"/>
            <a:ext cx="3108960" cy="118872"/>
          </a:xfrm>
          <a:prstGeom prst="rect">
            <a:avLst/>
          </a:prstGeom>
          <a:noFill/>
          <a:ln/>
        </p:spPr>
        <p:txBody>
          <a:bodyPr wrap="square" lIns="0" tIns="0" rIns="0" bIns="0" rtlCol="0" anchor="t">
            <a:normAutofit/>
          </a:bodyPr>
          <a:lstStyle/>
          <a:p>
            <a:pPr algn="r" indent="0" marL="0">
              <a:buNone/>
            </a:pPr>
            <a:r>
              <a:rPr lang="en-US" sz="650" dirty="0">
                <a:solidFill>
                  <a:srgbClr val="C0AAB9"/>
                </a:solidFill>
                <a:latin typeface="Arial" pitchFamily="34" charset="0"/>
                <a:ea typeface="Arial" pitchFamily="34" charset="-122"/>
                <a:cs typeface="Arial" pitchFamily="34" charset="-120"/>
              </a:rPr>
              <a:t>DRAFT / 14 OF 15 ARTWORKS / 13 OF 30</a:t>
            </a:r>
            <a:endParaRPr lang="en-US" sz="6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30201E"/>
        </a:solidFill>
      </p:bgPr>
    </p:bg>
    <p:spTree>
      <p:nvGrpSpPr>
        <p:cNvPr id="1" name=""/>
        <p:cNvGrpSpPr/>
        <p:nvPr/>
      </p:nvGrpSpPr>
      <p:grpSpPr>
        <a:xfrm>
          <a:off x="0" y="0"/>
          <a:ext cx="0" cy="0"/>
          <a:chOff x="0" y="0"/>
          <a:chExt cx="0" cy="0"/>
        </a:xfrm>
      </p:grpSpPr>
      <p:sp>
        <p:nvSpPr>
          <p:cNvPr id="2" name="Shape 0"/>
          <p:cNvSpPr/>
          <p:nvPr/>
        </p:nvSpPr>
        <p:spPr>
          <a:xfrm>
            <a:off x="1243584" y="329184"/>
            <a:ext cx="0" cy="8119872"/>
          </a:xfrm>
          <a:prstGeom prst="line">
            <a:avLst/>
          </a:prstGeom>
          <a:noFill/>
          <a:ln w="10160">
            <a:solidFill>
              <a:srgbClr val="776072"/>
            </a:solidFill>
            <a:prstDash val="solid"/>
          </a:ln>
        </p:spPr>
      </p:sp>
      <p:sp>
        <p:nvSpPr>
          <p:cNvPr id="3" name="Text 1"/>
          <p:cNvSpPr/>
          <p:nvPr/>
        </p:nvSpPr>
        <p:spPr>
          <a:xfrm>
            <a:off x="393192" y="457200"/>
            <a:ext cx="685800" cy="457200"/>
          </a:xfrm>
          <a:prstGeom prst="rect">
            <a:avLst/>
          </a:prstGeom>
          <a:noFill/>
          <a:ln/>
        </p:spPr>
        <p:txBody>
          <a:bodyPr wrap="square" lIns="0" tIns="0" rIns="0" bIns="0" rtlCol="0" anchor="t">
            <a:normAutofit/>
          </a:bodyPr>
          <a:lstStyle/>
          <a:p>
            <a:pPr indent="0" marL="0">
              <a:buNone/>
            </a:pPr>
            <a:r>
              <a:rPr lang="en-US" sz="600" dirty="0">
                <a:solidFill>
                  <a:srgbClr val="C0AAB9"/>
                </a:solidFill>
                <a:latin typeface="Arial" pitchFamily="34" charset="0"/>
                <a:ea typeface="Arial" pitchFamily="34" charset="-122"/>
                <a:cs typeface="Arial" pitchFamily="34" charset="-120"/>
              </a:rPr>
              <a:t>DESIGN BUDDY</a:t>
            </a:r>
            <a:endParaRPr lang="en-US" sz="600" dirty="0"/>
          </a:p>
          <a:p>
            <a:pPr indent="0" marL="0">
              <a:buNone/>
            </a:pPr>
            <a:r>
              <a:rPr lang="en-US" sz="600" dirty="0">
                <a:solidFill>
                  <a:srgbClr val="C0AAB9"/>
                </a:solidFill>
                <a:latin typeface="Arial" pitchFamily="34" charset="0"/>
                <a:ea typeface="Arial" pitchFamily="34" charset="-122"/>
                <a:cs typeface="Arial" pitchFamily="34" charset="-120"/>
              </a:rPr>
              <a:t>CREATIVE EXERCISE</a:t>
            </a:r>
            <a:endParaRPr lang="en-US" sz="600" dirty="0"/>
          </a:p>
        </p:txBody>
      </p:sp>
      <p:sp>
        <p:nvSpPr>
          <p:cNvPr id="4" name="Text 2"/>
          <p:cNvSpPr/>
          <p:nvPr/>
        </p:nvSpPr>
        <p:spPr>
          <a:xfrm>
            <a:off x="502920" y="1920240"/>
            <a:ext cx="502920" cy="4480560"/>
          </a:xfrm>
          <a:prstGeom prst="rect">
            <a:avLst/>
          </a:prstGeom>
          <a:noFill/>
          <a:ln/>
        </p:spPr>
        <p:txBody>
          <a:bodyPr wrap="square" lIns="0" tIns="0" rIns="0" bIns="0" rtlCol="0" anchor="t">
            <a:normAutofit/>
          </a:bodyPr>
          <a:lstStyle/>
          <a:p>
            <a:pPr algn="ctr" indent="0" marL="0">
              <a:buNone/>
            </a:pPr>
            <a:r>
              <a:rPr lang="en-US" sz="2500" dirty="0">
                <a:solidFill>
                  <a:srgbClr val="E7B66E"/>
                </a:solidFill>
                <a:latin typeface="Georgia" pitchFamily="34" charset="0"/>
                <a:ea typeface="Georgia" pitchFamily="34" charset="-122"/>
                <a:cs typeface="Georgia" pitchFamily="34" charset="-120"/>
              </a:rPr>
              <a:t>A</a:t>
            </a:r>
            <a:endParaRPr lang="en-US" sz="2500" dirty="0"/>
          </a:p>
          <a:p>
            <a:pPr algn="ctr" indent="0" marL="0">
              <a:buNone/>
            </a:pPr>
            <a:r>
              <a:rPr lang="en-US" sz="2500" dirty="0">
                <a:solidFill>
                  <a:srgbClr val="E7B66E"/>
                </a:solidFill>
                <a:latin typeface="Georgia" pitchFamily="34" charset="0"/>
                <a:ea typeface="Georgia" pitchFamily="34" charset="-122"/>
                <a:cs typeface="Georgia" pitchFamily="34" charset="-120"/>
              </a:rPr>
              <a:t>F</a:t>
            </a:r>
            <a:endParaRPr lang="en-US" sz="2500" dirty="0"/>
          </a:p>
          <a:p>
            <a:pPr algn="ctr" indent="0" marL="0">
              <a:buNone/>
            </a:pPr>
            <a:r>
              <a:rPr lang="en-US" sz="2500" dirty="0">
                <a:solidFill>
                  <a:srgbClr val="E7B66E"/>
                </a:solidFill>
                <a:latin typeface="Georgia" pitchFamily="34" charset="0"/>
                <a:ea typeface="Georgia" pitchFamily="34" charset="-122"/>
                <a:cs typeface="Georgia" pitchFamily="34" charset="-120"/>
              </a:rPr>
              <a:t>T</a:t>
            </a:r>
            <a:endParaRPr lang="en-US" sz="2500" dirty="0"/>
          </a:p>
          <a:p>
            <a:pPr algn="ctr" indent="0" marL="0">
              <a:buNone/>
            </a:pPr>
            <a:r>
              <a:rPr lang="en-US" sz="2500" dirty="0">
                <a:solidFill>
                  <a:srgbClr val="E7B66E"/>
                </a:solidFill>
                <a:latin typeface="Georgia" pitchFamily="34" charset="0"/>
                <a:ea typeface="Georgia" pitchFamily="34" charset="-122"/>
                <a:cs typeface="Georgia" pitchFamily="34" charset="-120"/>
              </a:rPr>
              <a:t>E</a:t>
            </a:r>
            <a:endParaRPr lang="en-US" sz="2500" dirty="0"/>
          </a:p>
          <a:p>
            <a:pPr algn="ctr" indent="0" marL="0">
              <a:buNone/>
            </a:pPr>
            <a:r>
              <a:rPr lang="en-US" sz="2500" dirty="0">
                <a:solidFill>
                  <a:srgbClr val="E7B66E"/>
                </a:solidFill>
                <a:latin typeface="Georgia" pitchFamily="34" charset="0"/>
                <a:ea typeface="Georgia" pitchFamily="34" charset="-122"/>
                <a:cs typeface="Georgia" pitchFamily="34" charset="-120"/>
              </a:rPr>
              <a:t>R</a:t>
            </a:r>
            <a:endParaRPr lang="en-US" sz="2500" dirty="0"/>
          </a:p>
          <a:p>
            <a:pPr algn="ctr" indent="0" marL="0">
              <a:buNone/>
            </a:pPr>
            <a:r>
              <a:rPr lang="en-US" sz="2500" dirty="0">
                <a:solidFill>
                  <a:srgbClr val="E7B66E"/>
                </a:solidFill>
                <a:latin typeface="Georgia" pitchFamily="34" charset="0"/>
                <a:ea typeface="Georgia" pitchFamily="34" charset="-122"/>
                <a:cs typeface="Georgia" pitchFamily="34" charset="-120"/>
              </a:rPr>
              <a:t>G</a:t>
            </a:r>
            <a:endParaRPr lang="en-US" sz="2500" dirty="0"/>
          </a:p>
          <a:p>
            <a:pPr algn="ctr" indent="0" marL="0">
              <a:buNone/>
            </a:pPr>
            <a:r>
              <a:rPr lang="en-US" sz="2500" dirty="0">
                <a:solidFill>
                  <a:srgbClr val="E7B66E"/>
                </a:solidFill>
                <a:latin typeface="Georgia" pitchFamily="34" charset="0"/>
                <a:ea typeface="Georgia" pitchFamily="34" charset="-122"/>
                <a:cs typeface="Georgia" pitchFamily="34" charset="-120"/>
              </a:rPr>
              <a:t>L</a:t>
            </a:r>
            <a:endParaRPr lang="en-US" sz="2500" dirty="0"/>
          </a:p>
          <a:p>
            <a:pPr algn="ctr" indent="0" marL="0">
              <a:buNone/>
            </a:pPr>
            <a:r>
              <a:rPr lang="en-US" sz="2500" dirty="0">
                <a:solidFill>
                  <a:srgbClr val="E7B66E"/>
                </a:solidFill>
                <a:latin typeface="Georgia" pitchFamily="34" charset="0"/>
                <a:ea typeface="Georgia" pitchFamily="34" charset="-122"/>
                <a:cs typeface="Georgia" pitchFamily="34" charset="-120"/>
              </a:rPr>
              <a:t>O</a:t>
            </a:r>
            <a:endParaRPr lang="en-US" sz="2500" dirty="0"/>
          </a:p>
          <a:p>
            <a:pPr algn="ctr" indent="0" marL="0">
              <a:buNone/>
            </a:pPr>
            <a:r>
              <a:rPr lang="en-US" sz="2500" dirty="0">
                <a:solidFill>
                  <a:srgbClr val="E7B66E"/>
                </a:solidFill>
                <a:latin typeface="Georgia" pitchFamily="34" charset="0"/>
                <a:ea typeface="Georgia" pitchFamily="34" charset="-122"/>
                <a:cs typeface="Georgia" pitchFamily="34" charset="-120"/>
              </a:rPr>
              <a:t>W</a:t>
            </a:r>
            <a:endParaRPr lang="en-US" sz="2500" dirty="0"/>
          </a:p>
        </p:txBody>
      </p:sp>
      <p:sp>
        <p:nvSpPr>
          <p:cNvPr id="5" name="Text 3"/>
          <p:cNvSpPr/>
          <p:nvPr/>
        </p:nvSpPr>
        <p:spPr>
          <a:xfrm>
            <a:off x="402336" y="7022592"/>
            <a:ext cx="731520" cy="594360"/>
          </a:xfrm>
          <a:prstGeom prst="rect">
            <a:avLst/>
          </a:prstGeom>
          <a:noFill/>
          <a:ln/>
        </p:spPr>
        <p:txBody>
          <a:bodyPr wrap="square" lIns="0" tIns="0" rIns="0" bIns="0" rtlCol="0" anchor="t">
            <a:normAutofit/>
          </a:bodyPr>
          <a:lstStyle/>
          <a:p>
            <a:pPr indent="0" marL="0">
              <a:buNone/>
            </a:pPr>
            <a:r>
              <a:rPr lang="en-US" sz="4200" dirty="0">
                <a:solidFill>
                  <a:srgbClr val="E7B66E"/>
                </a:solidFill>
                <a:latin typeface="Georgia" pitchFamily="34" charset="0"/>
                <a:ea typeface="Georgia" pitchFamily="34" charset="-122"/>
                <a:cs typeface="Georgia" pitchFamily="34" charset="-120"/>
              </a:rPr>
              <a:t>14</a:t>
            </a:r>
            <a:endParaRPr lang="en-US" sz="4200" dirty="0"/>
          </a:p>
        </p:txBody>
      </p:sp>
      <p:sp>
        <p:nvSpPr>
          <p:cNvPr id="6" name="Text 4"/>
          <p:cNvSpPr/>
          <p:nvPr/>
        </p:nvSpPr>
        <p:spPr>
          <a:xfrm>
            <a:off x="402336" y="7818120"/>
            <a:ext cx="731520" cy="411480"/>
          </a:xfrm>
          <a:prstGeom prst="rect">
            <a:avLst/>
          </a:prstGeom>
          <a:noFill/>
          <a:ln/>
        </p:spPr>
        <p:txBody>
          <a:bodyPr wrap="square" lIns="0" tIns="0" rIns="0" bIns="0" rtlCol="0" anchor="t">
            <a:normAutofit/>
          </a:bodyPr>
          <a:lstStyle/>
          <a:p>
            <a:pPr indent="0" marL="0">
              <a:buNone/>
            </a:pPr>
            <a:r>
              <a:rPr lang="en-US" sz="700" dirty="0">
                <a:solidFill>
                  <a:srgbClr val="C0AAB9"/>
                </a:solidFill>
                <a:latin typeface="Arial" pitchFamily="34" charset="0"/>
                <a:ea typeface="Arial" pitchFamily="34" charset="-122"/>
                <a:cs typeface="Arial" pitchFamily="34" charset="-120"/>
              </a:rPr>
              <a:t>ACT 3 / 5</a:t>
            </a:r>
            <a:endParaRPr lang="en-US" sz="700" dirty="0"/>
          </a:p>
          <a:p>
            <a:pPr indent="0" marL="0">
              <a:buNone/>
            </a:pPr>
            <a:r>
              <a:rPr lang="en-US" sz="700" dirty="0">
                <a:solidFill>
                  <a:srgbClr val="C0AAB9"/>
                </a:solidFill>
                <a:latin typeface="Arial" pitchFamily="34" charset="0"/>
                <a:ea typeface="Arial" pitchFamily="34" charset="-122"/>
                <a:cs typeface="Arial" pitchFamily="34" charset="-120"/>
              </a:rPr>
              <a:t>BEAT 2 / 6</a:t>
            </a:r>
            <a:endParaRPr lang="en-US" sz="700" dirty="0"/>
          </a:p>
        </p:txBody>
      </p:sp>
      <p:sp>
        <p:nvSpPr>
          <p:cNvPr id="7" name="Text 5"/>
          <p:cNvSpPr/>
          <p:nvPr/>
        </p:nvSpPr>
        <p:spPr>
          <a:xfrm>
            <a:off x="1499616" y="347472"/>
            <a:ext cx="9144000" cy="164592"/>
          </a:xfrm>
          <a:prstGeom prst="rect">
            <a:avLst/>
          </a:prstGeom>
          <a:noFill/>
          <a:ln/>
        </p:spPr>
        <p:txBody>
          <a:bodyPr wrap="square" lIns="0" tIns="0" rIns="0" bIns="0" rtlCol="0" anchor="t">
            <a:normAutofit/>
          </a:bodyPr>
          <a:lstStyle/>
          <a:p>
            <a:pPr indent="0" marL="0">
              <a:buNone/>
            </a:pPr>
            <a:r>
              <a:rPr lang="en-US" sz="700" spc="120" kern="0" dirty="0">
                <a:solidFill>
                  <a:srgbClr val="E7B66E"/>
                </a:solidFill>
                <a:latin typeface="Arial" pitchFamily="34" charset="0"/>
                <a:ea typeface="Arial" pitchFamily="34" charset="-122"/>
                <a:cs typeface="Arial" pitchFamily="34" charset="-120"/>
              </a:rPr>
              <a:t>ACT 3 / MOVEMENT</a:t>
            </a:r>
            <a:endParaRPr lang="en-US" sz="700" dirty="0"/>
          </a:p>
        </p:txBody>
      </p:sp>
      <p:sp>
        <p:nvSpPr>
          <p:cNvPr id="8" name="Text 6"/>
          <p:cNvSpPr/>
          <p:nvPr/>
        </p:nvSpPr>
        <p:spPr>
          <a:xfrm>
            <a:off x="1499616" y="612648"/>
            <a:ext cx="9692640" cy="594360"/>
          </a:xfrm>
          <a:prstGeom prst="rect">
            <a:avLst/>
          </a:prstGeom>
          <a:noFill/>
          <a:ln/>
        </p:spPr>
        <p:txBody>
          <a:bodyPr wrap="square" lIns="0" tIns="0" rIns="0" bIns="0" rtlCol="0" anchor="t">
            <a:normAutofit/>
          </a:bodyPr>
          <a:lstStyle/>
          <a:p>
            <a:pPr indent="0" marL="0">
              <a:buNone/>
            </a:pPr>
            <a:r>
              <a:rPr lang="en-US" sz="2800" dirty="0">
                <a:solidFill>
                  <a:srgbClr val="ECDED6"/>
                </a:solidFill>
                <a:latin typeface="Georgia" pitchFamily="34" charset="0"/>
                <a:ea typeface="Georgia" pitchFamily="34" charset="-122"/>
                <a:cs typeface="Georgia" pitchFamily="34" charset="-120"/>
              </a:rPr>
              <a:t>Use a repeated phrase carefully.</a:t>
            </a:r>
            <a:endParaRPr lang="en-US" sz="2800" dirty="0"/>
          </a:p>
        </p:txBody>
      </p:sp>
      <p:sp>
        <p:nvSpPr>
          <p:cNvPr id="9" name="Text 7"/>
          <p:cNvSpPr/>
          <p:nvPr/>
        </p:nvSpPr>
        <p:spPr>
          <a:xfrm>
            <a:off x="11475720" y="438912"/>
            <a:ext cx="1325880" cy="182880"/>
          </a:xfrm>
          <a:prstGeom prst="rect">
            <a:avLst/>
          </a:prstGeom>
          <a:noFill/>
          <a:ln/>
        </p:spPr>
        <p:txBody>
          <a:bodyPr wrap="square" lIns="0" tIns="0" rIns="0" bIns="0" rtlCol="0" anchor="t">
            <a:normAutofit/>
          </a:bodyPr>
          <a:lstStyle/>
          <a:p>
            <a:pPr algn="r" indent="0" marL="0">
              <a:buNone/>
            </a:pPr>
            <a:r>
              <a:rPr lang="en-US" sz="700" dirty="0">
                <a:solidFill>
                  <a:srgbClr val="E7B66E"/>
                </a:solidFill>
                <a:latin typeface="Arial" pitchFamily="34" charset="0"/>
                <a:ea typeface="Arial" pitchFamily="34" charset="-122"/>
                <a:cs typeface="Arial" pitchFamily="34" charset="-120"/>
              </a:rPr>
              <a:t>LOCAL / UNMARKED</a:t>
            </a:r>
            <a:endParaRPr lang="en-US" sz="700" dirty="0"/>
          </a:p>
        </p:txBody>
      </p:sp>
      <p:sp>
        <p:nvSpPr>
          <p:cNvPr id="10" name="Shape 8"/>
          <p:cNvSpPr/>
          <p:nvPr/>
        </p:nvSpPr>
        <p:spPr>
          <a:xfrm>
            <a:off x="1499616" y="1307592"/>
            <a:ext cx="1819656" cy="448056"/>
          </a:xfrm>
          <a:prstGeom prst="rect">
            <a:avLst/>
          </a:prstGeom>
          <a:solidFill>
            <a:srgbClr val="30201E"/>
          </a:solidFill>
          <a:ln w="8890">
            <a:solidFill>
              <a:srgbClr val="6D5768"/>
            </a:solidFill>
            <a:prstDash val="solid"/>
          </a:ln>
        </p:spPr>
      </p:sp>
      <p:sp>
        <p:nvSpPr>
          <p:cNvPr id="11" name="Text 9"/>
          <p:cNvSpPr/>
          <p:nvPr/>
        </p:nvSpPr>
        <p:spPr>
          <a:xfrm>
            <a:off x="1572768"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E7B66E"/>
                </a:solidFill>
                <a:latin typeface="Georgia" pitchFamily="34" charset="0"/>
                <a:ea typeface="Georgia" pitchFamily="34" charset="-122"/>
                <a:cs typeface="Georgia" pitchFamily="34" charset="-120"/>
              </a:rPr>
              <a:t>1</a:t>
            </a:r>
            <a:endParaRPr lang="en-US" sz="1700" dirty="0"/>
          </a:p>
        </p:txBody>
      </p:sp>
      <p:sp>
        <p:nvSpPr>
          <p:cNvPr id="12" name="Text 10"/>
          <p:cNvSpPr/>
          <p:nvPr/>
        </p:nvSpPr>
        <p:spPr>
          <a:xfrm>
            <a:off x="1865376"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Move an idea, not a person.</a:t>
            </a:r>
            <a:endParaRPr lang="en-US" sz="700" dirty="0"/>
          </a:p>
        </p:txBody>
      </p:sp>
      <p:sp>
        <p:nvSpPr>
          <p:cNvPr id="13" name="Shape 11"/>
          <p:cNvSpPr/>
          <p:nvPr/>
        </p:nvSpPr>
        <p:spPr>
          <a:xfrm>
            <a:off x="3392424" y="1307592"/>
            <a:ext cx="1819656" cy="448056"/>
          </a:xfrm>
          <a:prstGeom prst="rect">
            <a:avLst/>
          </a:prstGeom>
          <a:solidFill>
            <a:srgbClr val="30201E"/>
          </a:solidFill>
          <a:ln w="8890">
            <a:solidFill>
              <a:srgbClr val="E7B66E"/>
            </a:solidFill>
            <a:prstDash val="solid"/>
          </a:ln>
        </p:spPr>
      </p:sp>
      <p:sp>
        <p:nvSpPr>
          <p:cNvPr id="14" name="Text 12"/>
          <p:cNvSpPr/>
          <p:nvPr/>
        </p:nvSpPr>
        <p:spPr>
          <a:xfrm>
            <a:off x="3465576"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E7B66E"/>
                </a:solidFill>
                <a:latin typeface="Georgia" pitchFamily="34" charset="0"/>
                <a:ea typeface="Georgia" pitchFamily="34" charset="-122"/>
                <a:cs typeface="Georgia" pitchFamily="34" charset="-120"/>
              </a:rPr>
              <a:t>2</a:t>
            </a:r>
            <a:endParaRPr lang="en-US" sz="1700" dirty="0"/>
          </a:p>
        </p:txBody>
      </p:sp>
      <p:sp>
        <p:nvSpPr>
          <p:cNvPr id="15" name="Text 13"/>
          <p:cNvSpPr/>
          <p:nvPr/>
        </p:nvSpPr>
        <p:spPr>
          <a:xfrm>
            <a:off x="3758184"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Use a repeated phrase carefully.</a:t>
            </a:r>
            <a:endParaRPr lang="en-US" sz="700" dirty="0"/>
          </a:p>
        </p:txBody>
      </p:sp>
      <p:sp>
        <p:nvSpPr>
          <p:cNvPr id="16" name="Shape 14"/>
          <p:cNvSpPr/>
          <p:nvPr/>
        </p:nvSpPr>
        <p:spPr>
          <a:xfrm>
            <a:off x="5285232" y="1307592"/>
            <a:ext cx="1819656" cy="448056"/>
          </a:xfrm>
          <a:prstGeom prst="rect">
            <a:avLst/>
          </a:prstGeom>
          <a:solidFill>
            <a:srgbClr val="30201E"/>
          </a:solidFill>
          <a:ln w="8890">
            <a:solidFill>
              <a:srgbClr val="6D5768"/>
            </a:solidFill>
            <a:prstDash val="solid"/>
          </a:ln>
        </p:spPr>
      </p:sp>
      <p:sp>
        <p:nvSpPr>
          <p:cNvPr id="17" name="Text 15"/>
          <p:cNvSpPr/>
          <p:nvPr/>
        </p:nvSpPr>
        <p:spPr>
          <a:xfrm>
            <a:off x="5358384"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E7B66E"/>
                </a:solidFill>
                <a:latin typeface="Georgia" pitchFamily="34" charset="0"/>
                <a:ea typeface="Georgia" pitchFamily="34" charset="-122"/>
                <a:cs typeface="Georgia" pitchFamily="34" charset="-120"/>
              </a:rPr>
              <a:t>3</a:t>
            </a:r>
            <a:endParaRPr lang="en-US" sz="1700" dirty="0"/>
          </a:p>
        </p:txBody>
      </p:sp>
      <p:sp>
        <p:nvSpPr>
          <p:cNvPr id="18" name="Text 16"/>
          <p:cNvSpPr/>
          <p:nvPr/>
        </p:nvSpPr>
        <p:spPr>
          <a:xfrm>
            <a:off x="5650992"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Make room for another voice.</a:t>
            </a:r>
            <a:endParaRPr lang="en-US" sz="700" dirty="0"/>
          </a:p>
        </p:txBody>
      </p:sp>
      <p:sp>
        <p:nvSpPr>
          <p:cNvPr id="19" name="Shape 17"/>
          <p:cNvSpPr/>
          <p:nvPr/>
        </p:nvSpPr>
        <p:spPr>
          <a:xfrm>
            <a:off x="7178040" y="1307592"/>
            <a:ext cx="1819656" cy="448056"/>
          </a:xfrm>
          <a:prstGeom prst="rect">
            <a:avLst/>
          </a:prstGeom>
          <a:solidFill>
            <a:srgbClr val="30201E"/>
          </a:solidFill>
          <a:ln w="8890">
            <a:solidFill>
              <a:srgbClr val="6D5768"/>
            </a:solidFill>
            <a:prstDash val="solid"/>
          </a:ln>
        </p:spPr>
      </p:sp>
      <p:sp>
        <p:nvSpPr>
          <p:cNvPr id="20" name="Text 18"/>
          <p:cNvSpPr/>
          <p:nvPr/>
        </p:nvSpPr>
        <p:spPr>
          <a:xfrm>
            <a:off x="7251192"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E7B66E"/>
                </a:solidFill>
                <a:latin typeface="Georgia" pitchFamily="34" charset="0"/>
                <a:ea typeface="Georgia" pitchFamily="34" charset="-122"/>
                <a:cs typeface="Georgia" pitchFamily="34" charset="-120"/>
              </a:rPr>
              <a:t>4</a:t>
            </a:r>
            <a:endParaRPr lang="en-US" sz="1700" dirty="0"/>
          </a:p>
        </p:txBody>
      </p:sp>
      <p:sp>
        <p:nvSpPr>
          <p:cNvPr id="21" name="Text 19"/>
          <p:cNvSpPr/>
          <p:nvPr/>
        </p:nvSpPr>
        <p:spPr>
          <a:xfrm>
            <a:off x="7543800"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Let an object return changed.</a:t>
            </a:r>
            <a:endParaRPr lang="en-US" sz="700" dirty="0"/>
          </a:p>
        </p:txBody>
      </p:sp>
      <p:sp>
        <p:nvSpPr>
          <p:cNvPr id="22" name="Shape 20"/>
          <p:cNvSpPr/>
          <p:nvPr/>
        </p:nvSpPr>
        <p:spPr>
          <a:xfrm>
            <a:off x="9070848" y="1307592"/>
            <a:ext cx="1819656" cy="448056"/>
          </a:xfrm>
          <a:prstGeom prst="rect">
            <a:avLst/>
          </a:prstGeom>
          <a:solidFill>
            <a:srgbClr val="30201E"/>
          </a:solidFill>
          <a:ln w="8890">
            <a:solidFill>
              <a:srgbClr val="6D5768"/>
            </a:solidFill>
            <a:prstDash val="solid"/>
          </a:ln>
        </p:spPr>
      </p:sp>
      <p:sp>
        <p:nvSpPr>
          <p:cNvPr id="23" name="Text 21"/>
          <p:cNvSpPr/>
          <p:nvPr/>
        </p:nvSpPr>
        <p:spPr>
          <a:xfrm>
            <a:off x="9144000"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E7B66E"/>
                </a:solidFill>
                <a:latin typeface="Georgia" pitchFamily="34" charset="0"/>
                <a:ea typeface="Georgia" pitchFamily="34" charset="-122"/>
                <a:cs typeface="Georgia" pitchFamily="34" charset="-120"/>
              </a:rPr>
              <a:t>5</a:t>
            </a:r>
            <a:endParaRPr lang="en-US" sz="1700" dirty="0"/>
          </a:p>
        </p:txBody>
      </p:sp>
      <p:sp>
        <p:nvSpPr>
          <p:cNvPr id="24" name="Text 22"/>
          <p:cNvSpPr/>
          <p:nvPr/>
        </p:nvSpPr>
        <p:spPr>
          <a:xfrm>
            <a:off x="9436608"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Keep a transition readable.</a:t>
            </a:r>
            <a:endParaRPr lang="en-US" sz="700" dirty="0"/>
          </a:p>
        </p:txBody>
      </p:sp>
      <p:sp>
        <p:nvSpPr>
          <p:cNvPr id="25" name="Shape 23"/>
          <p:cNvSpPr/>
          <p:nvPr/>
        </p:nvSpPr>
        <p:spPr>
          <a:xfrm>
            <a:off x="10963656" y="1307592"/>
            <a:ext cx="1819656" cy="448056"/>
          </a:xfrm>
          <a:prstGeom prst="rect">
            <a:avLst/>
          </a:prstGeom>
          <a:solidFill>
            <a:srgbClr val="30201E"/>
          </a:solidFill>
          <a:ln w="8890">
            <a:solidFill>
              <a:srgbClr val="6D5768"/>
            </a:solidFill>
            <a:prstDash val="solid"/>
          </a:ln>
        </p:spPr>
      </p:sp>
      <p:sp>
        <p:nvSpPr>
          <p:cNvPr id="26" name="Text 24"/>
          <p:cNvSpPr/>
          <p:nvPr/>
        </p:nvSpPr>
        <p:spPr>
          <a:xfrm>
            <a:off x="11036808"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E7B66E"/>
                </a:solidFill>
                <a:latin typeface="Georgia" pitchFamily="34" charset="0"/>
                <a:ea typeface="Georgia" pitchFamily="34" charset="-122"/>
                <a:cs typeface="Georgia" pitchFamily="34" charset="-120"/>
              </a:rPr>
              <a:t>6</a:t>
            </a:r>
            <a:endParaRPr lang="en-US" sz="1700" dirty="0"/>
          </a:p>
        </p:txBody>
      </p:sp>
      <p:sp>
        <p:nvSpPr>
          <p:cNvPr id="27" name="Text 25"/>
          <p:cNvSpPr/>
          <p:nvPr/>
        </p:nvSpPr>
        <p:spPr>
          <a:xfrm>
            <a:off x="11329416"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Find the turn without a verdict.</a:t>
            </a:r>
            <a:endParaRPr lang="en-US" sz="700" dirty="0"/>
          </a:p>
        </p:txBody>
      </p:sp>
      <p:pic>
        <p:nvPicPr>
          <p:cNvPr id="28" name="Image 0" descr="/home/user/design-buddy/design-buddy-home/public/atelier/afterglow/images/07.jpg">    </p:cNvPr>
          <p:cNvPicPr>
            <a:picLocks noChangeAspect="1"/>
          </p:cNvPicPr>
          <p:nvPr/>
        </p:nvPicPr>
        <p:blipFill>
          <a:blip r:embed="rId1"/>
          <a:srcRect l="0" r="0" t="0" b="0"/>
          <a:stretch/>
        </p:blipFill>
        <p:spPr>
          <a:xfrm>
            <a:off x="1499616" y="2066544"/>
            <a:ext cx="6949440" cy="3840480"/>
          </a:xfrm>
          <a:prstGeom prst="rect">
            <a:avLst/>
          </a:prstGeom>
        </p:spPr>
      </p:pic>
      <p:sp>
        <p:nvSpPr>
          <p:cNvPr id="29" name="Text 26"/>
          <p:cNvSpPr/>
          <p:nvPr/>
        </p:nvSpPr>
        <p:spPr>
          <a:xfrm>
            <a:off x="1499616" y="6007608"/>
            <a:ext cx="6949440" cy="164592"/>
          </a:xfrm>
          <a:prstGeom prst="rect">
            <a:avLst/>
          </a:prstGeom>
          <a:noFill/>
          <a:ln/>
        </p:spPr>
        <p:txBody>
          <a:bodyPr wrap="square" lIns="0" tIns="0" rIns="0" bIns="0" rtlCol="0" anchor="t">
            <a:normAutofit/>
          </a:bodyPr>
          <a:lstStyle/>
          <a:p>
            <a:pPr indent="0" marL="0">
              <a:buNone/>
            </a:pPr>
            <a:r>
              <a:rPr lang="en-US" sz="650" dirty="0">
                <a:solidFill>
                  <a:srgbClr val="C0AAB9"/>
                </a:solidFill>
                <a:latin typeface="Arial" pitchFamily="34" charset="0"/>
                <a:ea typeface="Arial" pitchFamily="34" charset="-122"/>
                <a:cs typeface="Arial" pitchFamily="34" charset="-120"/>
              </a:rPr>
              <a:t>Watercolour 7 / invented setting and adults / not production evidence</a:t>
            </a:r>
            <a:endParaRPr lang="en-US" sz="650" dirty="0"/>
          </a:p>
        </p:txBody>
      </p:sp>
      <p:sp>
        <p:nvSpPr>
          <p:cNvPr id="30" name="Text 27"/>
          <p:cNvSpPr/>
          <p:nvPr/>
        </p:nvSpPr>
        <p:spPr>
          <a:xfrm>
            <a:off x="8705088" y="2139696"/>
            <a:ext cx="4133088" cy="164592"/>
          </a:xfrm>
          <a:prstGeom prst="rect">
            <a:avLst/>
          </a:prstGeom>
          <a:noFill/>
          <a:ln/>
        </p:spPr>
        <p:txBody>
          <a:bodyPr wrap="square" lIns="0" tIns="0" rIns="0" bIns="0" rtlCol="0" anchor="t">
            <a:normAutofit/>
          </a:bodyPr>
          <a:lstStyle/>
          <a:p>
            <a:pPr indent="0" marL="0">
              <a:buNone/>
            </a:pPr>
            <a:r>
              <a:rPr lang="en-US" sz="700" spc="110" kern="0" dirty="0">
                <a:solidFill>
                  <a:srgbClr val="E7B66E"/>
                </a:solidFill>
                <a:latin typeface="Arial" pitchFamily="34" charset="0"/>
                <a:ea typeface="Arial" pitchFamily="34" charset="-122"/>
                <a:cs typeface="Arial" pitchFamily="34" charset="-120"/>
              </a:rPr>
              <a:t>STORY INTENTION</a:t>
            </a:r>
            <a:endParaRPr lang="en-US" sz="700" dirty="0"/>
          </a:p>
        </p:txBody>
      </p:sp>
      <p:sp>
        <p:nvSpPr>
          <p:cNvPr id="31" name="Text 28"/>
          <p:cNvSpPr/>
          <p:nvPr/>
        </p:nvSpPr>
        <p:spPr>
          <a:xfrm>
            <a:off x="8705088" y="2514600"/>
            <a:ext cx="4133088" cy="1828800"/>
          </a:xfrm>
          <a:prstGeom prst="rect">
            <a:avLst/>
          </a:prstGeom>
          <a:noFill/>
          <a:ln/>
        </p:spPr>
        <p:txBody>
          <a:bodyPr wrap="square" lIns="0" tIns="0" rIns="0" bIns="0" rtlCol="0" anchor="t">
            <a:normAutofit/>
          </a:bodyPr>
          <a:lstStyle/>
          <a:p>
            <a:pPr indent="0" marL="0">
              <a:buNone/>
            </a:pPr>
            <a:r>
              <a:rPr lang="en-US" sz="1575" dirty="0">
                <a:solidFill>
                  <a:srgbClr val="ECDED6"/>
                </a:solidFill>
                <a:latin typeface="Georgia" pitchFamily="34" charset="0"/>
                <a:ea typeface="Georgia" pitchFamily="34" charset="-122"/>
                <a:cs typeface="Georgia" pitchFamily="34" charset="-120"/>
              </a:rPr>
              <a:t>Give a short phrase a different meaning when it returns. A line such as We can wait may first sound reluctant and later generous. Repetition is an optional writing device, not a guaranteed emotional effect.</a:t>
            </a:r>
            <a:endParaRPr lang="en-US" sz="1575" dirty="0"/>
          </a:p>
        </p:txBody>
      </p:sp>
      <p:sp>
        <p:nvSpPr>
          <p:cNvPr id="32" name="Text 29"/>
          <p:cNvSpPr/>
          <p:nvPr/>
        </p:nvSpPr>
        <p:spPr>
          <a:xfrm>
            <a:off x="8705088" y="4572000"/>
            <a:ext cx="4133088" cy="164592"/>
          </a:xfrm>
          <a:prstGeom prst="rect">
            <a:avLst/>
          </a:prstGeom>
          <a:noFill/>
          <a:ln/>
        </p:spPr>
        <p:txBody>
          <a:bodyPr wrap="square" lIns="0" tIns="0" rIns="0" bIns="0" rtlCol="0" anchor="t">
            <a:normAutofit/>
          </a:bodyPr>
          <a:lstStyle/>
          <a:p>
            <a:pPr indent="0" marL="0">
              <a:buNone/>
            </a:pPr>
            <a:r>
              <a:rPr lang="en-US" sz="700" spc="110" kern="0" dirty="0">
                <a:solidFill>
                  <a:srgbClr val="E7B66E"/>
                </a:solidFill>
                <a:latin typeface="Arial" pitchFamily="34" charset="0"/>
                <a:ea typeface="Arial" pitchFamily="34" charset="-122"/>
                <a:cs typeface="Arial" pitchFamily="34" charset="-120"/>
              </a:rPr>
              <a:t>LEAVE A QUESTION</a:t>
            </a:r>
            <a:endParaRPr lang="en-US" sz="700" dirty="0"/>
          </a:p>
        </p:txBody>
      </p:sp>
      <p:sp>
        <p:nvSpPr>
          <p:cNvPr id="33" name="Text 30"/>
          <p:cNvSpPr/>
          <p:nvPr/>
        </p:nvSpPr>
        <p:spPr>
          <a:xfrm>
            <a:off x="8705088" y="4910328"/>
            <a:ext cx="4133088" cy="822960"/>
          </a:xfrm>
          <a:prstGeom prst="rect">
            <a:avLst/>
          </a:prstGeom>
          <a:noFill/>
          <a:ln/>
        </p:spPr>
        <p:txBody>
          <a:bodyPr wrap="square" lIns="0" tIns="0" rIns="0" bIns="0" rtlCol="0" anchor="t">
            <a:normAutofit/>
          </a:bodyPr>
          <a:lstStyle/>
          <a:p>
            <a:pPr indent="0" marL="0">
              <a:buNone/>
            </a:pPr>
            <a:r>
              <a:rPr lang="en-US" sz="1875" i="1" dirty="0">
                <a:solidFill>
                  <a:srgbClr val="E7B66E"/>
                </a:solidFill>
                <a:latin typeface="Georgia" pitchFamily="34" charset="0"/>
                <a:ea typeface="Georgia" pitchFamily="34" charset="-122"/>
                <a:cs typeface="Georgia" pitchFamily="34" charset="-120"/>
              </a:rPr>
              <a:t>What changed around the repeated words?</a:t>
            </a:r>
            <a:endParaRPr lang="en-US" sz="1875" dirty="0"/>
          </a:p>
        </p:txBody>
      </p:sp>
      <p:sp>
        <p:nvSpPr>
          <p:cNvPr id="34" name="Text 31"/>
          <p:cNvSpPr/>
          <p:nvPr/>
        </p:nvSpPr>
        <p:spPr>
          <a:xfrm>
            <a:off x="8705088" y="5806440"/>
            <a:ext cx="4133088" cy="292608"/>
          </a:xfrm>
          <a:prstGeom prst="rect">
            <a:avLst/>
          </a:prstGeom>
          <a:noFill/>
          <a:ln/>
        </p:spPr>
        <p:txBody>
          <a:bodyPr wrap="square" lIns="0" tIns="0" rIns="0" bIns="0" rtlCol="0" anchor="t">
            <a:normAutofit/>
          </a:bodyPr>
          <a:lstStyle/>
          <a:p>
            <a:pPr indent="0" marL="0">
              <a:buNone/>
            </a:pPr>
            <a:r>
              <a:rPr lang="en-US" sz="700" dirty="0">
                <a:solidFill>
                  <a:srgbClr val="C0AAB9"/>
                </a:solidFill>
                <a:latin typeface="Arial" pitchFamily="34" charset="0"/>
                <a:ea typeface="Arial" pitchFamily="34" charset="-122"/>
                <a:cs typeface="Arial" pitchFamily="34" charset="-120"/>
              </a:rPr>
              <a:t>Beat order is not timing, a technical call or a show schedule.</a:t>
            </a:r>
            <a:endParaRPr lang="en-US" sz="700" dirty="0"/>
          </a:p>
        </p:txBody>
      </p:sp>
      <p:sp>
        <p:nvSpPr>
          <p:cNvPr id="35" name="Shape 32"/>
          <p:cNvSpPr/>
          <p:nvPr/>
        </p:nvSpPr>
        <p:spPr>
          <a:xfrm>
            <a:off x="1499616" y="6583680"/>
            <a:ext cx="3675888" cy="1481328"/>
          </a:xfrm>
          <a:prstGeom prst="rect">
            <a:avLst/>
          </a:prstGeom>
          <a:solidFill>
            <a:srgbClr val="30201E"/>
          </a:solidFill>
          <a:ln w="8890">
            <a:solidFill>
              <a:srgbClr val="735D6D"/>
            </a:solidFill>
            <a:prstDash val="solid"/>
          </a:ln>
        </p:spPr>
      </p:sp>
      <p:sp>
        <p:nvSpPr>
          <p:cNvPr id="36" name="Text 33"/>
          <p:cNvSpPr/>
          <p:nvPr/>
        </p:nvSpPr>
        <p:spPr>
          <a:xfrm>
            <a:off x="1682496"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E7B66E"/>
                </a:solidFill>
                <a:latin typeface="Arial" pitchFamily="34" charset="0"/>
                <a:ea typeface="Arial" pitchFamily="34" charset="-122"/>
                <a:cs typeface="Arial" pitchFamily="34" charset="-120"/>
              </a:rPr>
              <a:t>01 / NOTICE</a:t>
            </a:r>
            <a:endParaRPr lang="en-US" sz="700" dirty="0"/>
          </a:p>
        </p:txBody>
      </p:sp>
      <p:sp>
        <p:nvSpPr>
          <p:cNvPr id="37" name="Text 34"/>
          <p:cNvSpPr/>
          <p:nvPr/>
        </p:nvSpPr>
        <p:spPr>
          <a:xfrm>
            <a:off x="1682496"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Context can transform a familiar phrase.</a:t>
            </a:r>
            <a:endParaRPr lang="en-US" sz="1500" dirty="0"/>
          </a:p>
        </p:txBody>
      </p:sp>
      <p:sp>
        <p:nvSpPr>
          <p:cNvPr id="38" name="Shape 35"/>
          <p:cNvSpPr/>
          <p:nvPr/>
        </p:nvSpPr>
        <p:spPr>
          <a:xfrm>
            <a:off x="5321808" y="6583680"/>
            <a:ext cx="3675888" cy="1481328"/>
          </a:xfrm>
          <a:prstGeom prst="rect">
            <a:avLst/>
          </a:prstGeom>
          <a:solidFill>
            <a:srgbClr val="30201E"/>
          </a:solidFill>
          <a:ln w="8890">
            <a:solidFill>
              <a:srgbClr val="735D6D"/>
            </a:solidFill>
            <a:prstDash val="solid"/>
          </a:ln>
        </p:spPr>
      </p:sp>
      <p:sp>
        <p:nvSpPr>
          <p:cNvPr id="39" name="Text 36"/>
          <p:cNvSpPr/>
          <p:nvPr/>
        </p:nvSpPr>
        <p:spPr>
          <a:xfrm>
            <a:off x="5504688"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E7B66E"/>
                </a:solidFill>
                <a:latin typeface="Arial" pitchFamily="34" charset="0"/>
                <a:ea typeface="Arial" pitchFamily="34" charset="-122"/>
                <a:cs typeface="Arial" pitchFamily="34" charset="-120"/>
              </a:rPr>
              <a:t>02 / TRY IN WORDS</a:t>
            </a:r>
            <a:endParaRPr lang="en-US" sz="700" dirty="0"/>
          </a:p>
        </p:txBody>
      </p:sp>
      <p:sp>
        <p:nvSpPr>
          <p:cNvPr id="40" name="Text 37"/>
          <p:cNvSpPr/>
          <p:nvPr/>
        </p:nvSpPr>
        <p:spPr>
          <a:xfrm>
            <a:off x="5504688"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Place the same line in two different fictional exchanges.</a:t>
            </a:r>
            <a:endParaRPr lang="en-US" sz="1500" dirty="0"/>
          </a:p>
        </p:txBody>
      </p:sp>
      <p:sp>
        <p:nvSpPr>
          <p:cNvPr id="41" name="Shape 38"/>
          <p:cNvSpPr/>
          <p:nvPr/>
        </p:nvSpPr>
        <p:spPr>
          <a:xfrm>
            <a:off x="9144000" y="6583680"/>
            <a:ext cx="3675888" cy="1481328"/>
          </a:xfrm>
          <a:prstGeom prst="rect">
            <a:avLst/>
          </a:prstGeom>
          <a:solidFill>
            <a:srgbClr val="30201E"/>
          </a:solidFill>
          <a:ln w="8890">
            <a:solidFill>
              <a:srgbClr val="735D6D"/>
            </a:solidFill>
            <a:prstDash val="solid"/>
          </a:ln>
        </p:spPr>
      </p:sp>
      <p:sp>
        <p:nvSpPr>
          <p:cNvPr id="42" name="Text 39"/>
          <p:cNvSpPr/>
          <p:nvPr/>
        </p:nvSpPr>
        <p:spPr>
          <a:xfrm>
            <a:off x="9326880"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E7B66E"/>
                </a:solidFill>
                <a:latin typeface="Arial" pitchFamily="34" charset="0"/>
                <a:ea typeface="Arial" pitchFamily="34" charset="-122"/>
                <a:cs typeface="Arial" pitchFamily="34" charset="-120"/>
              </a:rPr>
              <a:t>03 / KEEP VISIBLE</a:t>
            </a:r>
            <a:endParaRPr lang="en-US" sz="700" dirty="0"/>
          </a:p>
        </p:txBody>
      </p:sp>
      <p:sp>
        <p:nvSpPr>
          <p:cNvPr id="43" name="Text 40"/>
          <p:cNvSpPr/>
          <p:nvPr/>
        </p:nvSpPr>
        <p:spPr>
          <a:xfrm>
            <a:off x="9326880"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Keep both surrounding contexts available.</a:t>
            </a:r>
            <a:endParaRPr lang="en-US" sz="1500" dirty="0"/>
          </a:p>
        </p:txBody>
      </p:sp>
      <p:sp>
        <p:nvSpPr>
          <p:cNvPr id="44" name="Shape 41"/>
          <p:cNvSpPr/>
          <p:nvPr/>
        </p:nvSpPr>
        <p:spPr>
          <a:xfrm>
            <a:off x="1499616" y="8211312"/>
            <a:ext cx="11338560" cy="0"/>
          </a:xfrm>
          <a:prstGeom prst="line">
            <a:avLst/>
          </a:prstGeom>
          <a:noFill/>
          <a:ln w="8890">
            <a:solidFill>
              <a:srgbClr val="796170"/>
            </a:solidFill>
            <a:prstDash val="solid"/>
          </a:ln>
        </p:spPr>
      </p:sp>
      <p:sp>
        <p:nvSpPr>
          <p:cNvPr id="45" name="Text 42"/>
          <p:cNvSpPr/>
          <p:nvPr/>
        </p:nvSpPr>
        <p:spPr>
          <a:xfrm>
            <a:off x="1499616" y="8339328"/>
            <a:ext cx="8229600" cy="118872"/>
          </a:xfrm>
          <a:prstGeom prst="rect">
            <a:avLst/>
          </a:prstGeom>
          <a:noFill/>
          <a:ln/>
        </p:spPr>
        <p:txBody>
          <a:bodyPr wrap="square" lIns="0" tIns="0" rIns="0" bIns="0" rtlCol="0" anchor="t">
            <a:normAutofit/>
          </a:bodyPr>
          <a:lstStyle/>
          <a:p>
            <a:pPr indent="0" marL="0">
              <a:buNone/>
            </a:pPr>
            <a:r>
              <a:rPr lang="en-US" sz="650" dirty="0">
                <a:solidFill>
                  <a:srgbClr val="C0AAB9"/>
                </a:solidFill>
                <a:latin typeface="Arial" pitchFamily="34" charset="0"/>
                <a:ea typeface="Arial" pitchFamily="34" charset="-122"/>
                <a:cs typeface="Arial" pitchFamily="34" charset="-120"/>
              </a:rPr>
              <a:t>FICTIONAL WRITING WORKSHOP / NOT A STAGING OR APPROVAL PLAN</a:t>
            </a:r>
            <a:endParaRPr lang="en-US" sz="650" dirty="0"/>
          </a:p>
        </p:txBody>
      </p:sp>
      <p:sp>
        <p:nvSpPr>
          <p:cNvPr id="46" name="Text 43"/>
          <p:cNvSpPr/>
          <p:nvPr/>
        </p:nvSpPr>
        <p:spPr>
          <a:xfrm>
            <a:off x="9729216" y="8339328"/>
            <a:ext cx="3108960" cy="118872"/>
          </a:xfrm>
          <a:prstGeom prst="rect">
            <a:avLst/>
          </a:prstGeom>
          <a:noFill/>
          <a:ln/>
        </p:spPr>
        <p:txBody>
          <a:bodyPr wrap="square" lIns="0" tIns="0" rIns="0" bIns="0" rtlCol="0" anchor="t">
            <a:normAutofit/>
          </a:bodyPr>
          <a:lstStyle/>
          <a:p>
            <a:pPr algn="r" indent="0" marL="0">
              <a:buNone/>
            </a:pPr>
            <a:r>
              <a:rPr lang="en-US" sz="650" dirty="0">
                <a:solidFill>
                  <a:srgbClr val="C0AAB9"/>
                </a:solidFill>
                <a:latin typeface="Arial" pitchFamily="34" charset="0"/>
                <a:ea typeface="Arial" pitchFamily="34" charset="-122"/>
                <a:cs typeface="Arial" pitchFamily="34" charset="-120"/>
              </a:rPr>
              <a:t>DRAFT / 14 OF 15 ARTWORKS / 14 OF 30</a:t>
            </a:r>
            <a:endParaRPr lang="en-US" sz="6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30201E"/>
        </a:solidFill>
      </p:bgPr>
    </p:bg>
    <p:spTree>
      <p:nvGrpSpPr>
        <p:cNvPr id="1" name=""/>
        <p:cNvGrpSpPr/>
        <p:nvPr/>
      </p:nvGrpSpPr>
      <p:grpSpPr>
        <a:xfrm>
          <a:off x="0" y="0"/>
          <a:ext cx="0" cy="0"/>
          <a:chOff x="0" y="0"/>
          <a:chExt cx="0" cy="0"/>
        </a:xfrm>
      </p:grpSpPr>
      <p:sp>
        <p:nvSpPr>
          <p:cNvPr id="2" name="Shape 0"/>
          <p:cNvSpPr/>
          <p:nvPr/>
        </p:nvSpPr>
        <p:spPr>
          <a:xfrm>
            <a:off x="1243584" y="329184"/>
            <a:ext cx="0" cy="8119872"/>
          </a:xfrm>
          <a:prstGeom prst="line">
            <a:avLst/>
          </a:prstGeom>
          <a:noFill/>
          <a:ln w="10160">
            <a:solidFill>
              <a:srgbClr val="776072"/>
            </a:solidFill>
            <a:prstDash val="solid"/>
          </a:ln>
        </p:spPr>
      </p:sp>
      <p:sp>
        <p:nvSpPr>
          <p:cNvPr id="3" name="Text 1"/>
          <p:cNvSpPr/>
          <p:nvPr/>
        </p:nvSpPr>
        <p:spPr>
          <a:xfrm>
            <a:off x="393192" y="457200"/>
            <a:ext cx="685800" cy="457200"/>
          </a:xfrm>
          <a:prstGeom prst="rect">
            <a:avLst/>
          </a:prstGeom>
          <a:noFill/>
          <a:ln/>
        </p:spPr>
        <p:txBody>
          <a:bodyPr wrap="square" lIns="0" tIns="0" rIns="0" bIns="0" rtlCol="0" anchor="t">
            <a:normAutofit/>
          </a:bodyPr>
          <a:lstStyle/>
          <a:p>
            <a:pPr indent="0" marL="0">
              <a:buNone/>
            </a:pPr>
            <a:r>
              <a:rPr lang="en-US" sz="600" dirty="0">
                <a:solidFill>
                  <a:srgbClr val="C0AAB9"/>
                </a:solidFill>
                <a:latin typeface="Arial" pitchFamily="34" charset="0"/>
                <a:ea typeface="Arial" pitchFamily="34" charset="-122"/>
                <a:cs typeface="Arial" pitchFamily="34" charset="-120"/>
              </a:rPr>
              <a:t>DESIGN BUDDY</a:t>
            </a:r>
            <a:endParaRPr lang="en-US" sz="600" dirty="0"/>
          </a:p>
          <a:p>
            <a:pPr indent="0" marL="0">
              <a:buNone/>
            </a:pPr>
            <a:r>
              <a:rPr lang="en-US" sz="600" dirty="0">
                <a:solidFill>
                  <a:srgbClr val="C0AAB9"/>
                </a:solidFill>
                <a:latin typeface="Arial" pitchFamily="34" charset="0"/>
                <a:ea typeface="Arial" pitchFamily="34" charset="-122"/>
                <a:cs typeface="Arial" pitchFamily="34" charset="-120"/>
              </a:rPr>
              <a:t>CREATIVE EXERCISE</a:t>
            </a:r>
            <a:endParaRPr lang="en-US" sz="600" dirty="0"/>
          </a:p>
        </p:txBody>
      </p:sp>
      <p:sp>
        <p:nvSpPr>
          <p:cNvPr id="4" name="Text 2"/>
          <p:cNvSpPr/>
          <p:nvPr/>
        </p:nvSpPr>
        <p:spPr>
          <a:xfrm>
            <a:off x="502920" y="1920240"/>
            <a:ext cx="502920" cy="4480560"/>
          </a:xfrm>
          <a:prstGeom prst="rect">
            <a:avLst/>
          </a:prstGeom>
          <a:noFill/>
          <a:ln/>
        </p:spPr>
        <p:txBody>
          <a:bodyPr wrap="square" lIns="0" tIns="0" rIns="0" bIns="0" rtlCol="0" anchor="t">
            <a:normAutofit/>
          </a:bodyPr>
          <a:lstStyle/>
          <a:p>
            <a:pPr algn="ctr" indent="0" marL="0">
              <a:buNone/>
            </a:pPr>
            <a:r>
              <a:rPr lang="en-US" sz="2500" dirty="0">
                <a:solidFill>
                  <a:srgbClr val="E7B66E"/>
                </a:solidFill>
                <a:latin typeface="Georgia" pitchFamily="34" charset="0"/>
                <a:ea typeface="Georgia" pitchFamily="34" charset="-122"/>
                <a:cs typeface="Georgia" pitchFamily="34" charset="-120"/>
              </a:rPr>
              <a:t>A</a:t>
            </a:r>
            <a:endParaRPr lang="en-US" sz="2500" dirty="0"/>
          </a:p>
          <a:p>
            <a:pPr algn="ctr" indent="0" marL="0">
              <a:buNone/>
            </a:pPr>
            <a:r>
              <a:rPr lang="en-US" sz="2500" dirty="0">
                <a:solidFill>
                  <a:srgbClr val="E7B66E"/>
                </a:solidFill>
                <a:latin typeface="Georgia" pitchFamily="34" charset="0"/>
                <a:ea typeface="Georgia" pitchFamily="34" charset="-122"/>
                <a:cs typeface="Georgia" pitchFamily="34" charset="-120"/>
              </a:rPr>
              <a:t>F</a:t>
            </a:r>
            <a:endParaRPr lang="en-US" sz="2500" dirty="0"/>
          </a:p>
          <a:p>
            <a:pPr algn="ctr" indent="0" marL="0">
              <a:buNone/>
            </a:pPr>
            <a:r>
              <a:rPr lang="en-US" sz="2500" dirty="0">
                <a:solidFill>
                  <a:srgbClr val="E7B66E"/>
                </a:solidFill>
                <a:latin typeface="Georgia" pitchFamily="34" charset="0"/>
                <a:ea typeface="Georgia" pitchFamily="34" charset="-122"/>
                <a:cs typeface="Georgia" pitchFamily="34" charset="-120"/>
              </a:rPr>
              <a:t>T</a:t>
            </a:r>
            <a:endParaRPr lang="en-US" sz="2500" dirty="0"/>
          </a:p>
          <a:p>
            <a:pPr algn="ctr" indent="0" marL="0">
              <a:buNone/>
            </a:pPr>
            <a:r>
              <a:rPr lang="en-US" sz="2500" dirty="0">
                <a:solidFill>
                  <a:srgbClr val="E7B66E"/>
                </a:solidFill>
                <a:latin typeface="Georgia" pitchFamily="34" charset="0"/>
                <a:ea typeface="Georgia" pitchFamily="34" charset="-122"/>
                <a:cs typeface="Georgia" pitchFamily="34" charset="-120"/>
              </a:rPr>
              <a:t>E</a:t>
            </a:r>
            <a:endParaRPr lang="en-US" sz="2500" dirty="0"/>
          </a:p>
          <a:p>
            <a:pPr algn="ctr" indent="0" marL="0">
              <a:buNone/>
            </a:pPr>
            <a:r>
              <a:rPr lang="en-US" sz="2500" dirty="0">
                <a:solidFill>
                  <a:srgbClr val="E7B66E"/>
                </a:solidFill>
                <a:latin typeface="Georgia" pitchFamily="34" charset="0"/>
                <a:ea typeface="Georgia" pitchFamily="34" charset="-122"/>
                <a:cs typeface="Georgia" pitchFamily="34" charset="-120"/>
              </a:rPr>
              <a:t>R</a:t>
            </a:r>
            <a:endParaRPr lang="en-US" sz="2500" dirty="0"/>
          </a:p>
          <a:p>
            <a:pPr algn="ctr" indent="0" marL="0">
              <a:buNone/>
            </a:pPr>
            <a:r>
              <a:rPr lang="en-US" sz="2500" dirty="0">
                <a:solidFill>
                  <a:srgbClr val="E7B66E"/>
                </a:solidFill>
                <a:latin typeface="Georgia" pitchFamily="34" charset="0"/>
                <a:ea typeface="Georgia" pitchFamily="34" charset="-122"/>
                <a:cs typeface="Georgia" pitchFamily="34" charset="-120"/>
              </a:rPr>
              <a:t>G</a:t>
            </a:r>
            <a:endParaRPr lang="en-US" sz="2500" dirty="0"/>
          </a:p>
          <a:p>
            <a:pPr algn="ctr" indent="0" marL="0">
              <a:buNone/>
            </a:pPr>
            <a:r>
              <a:rPr lang="en-US" sz="2500" dirty="0">
                <a:solidFill>
                  <a:srgbClr val="E7B66E"/>
                </a:solidFill>
                <a:latin typeface="Georgia" pitchFamily="34" charset="0"/>
                <a:ea typeface="Georgia" pitchFamily="34" charset="-122"/>
                <a:cs typeface="Georgia" pitchFamily="34" charset="-120"/>
              </a:rPr>
              <a:t>L</a:t>
            </a:r>
            <a:endParaRPr lang="en-US" sz="2500" dirty="0"/>
          </a:p>
          <a:p>
            <a:pPr algn="ctr" indent="0" marL="0">
              <a:buNone/>
            </a:pPr>
            <a:r>
              <a:rPr lang="en-US" sz="2500" dirty="0">
                <a:solidFill>
                  <a:srgbClr val="E7B66E"/>
                </a:solidFill>
                <a:latin typeface="Georgia" pitchFamily="34" charset="0"/>
                <a:ea typeface="Georgia" pitchFamily="34" charset="-122"/>
                <a:cs typeface="Georgia" pitchFamily="34" charset="-120"/>
              </a:rPr>
              <a:t>O</a:t>
            </a:r>
            <a:endParaRPr lang="en-US" sz="2500" dirty="0"/>
          </a:p>
          <a:p>
            <a:pPr algn="ctr" indent="0" marL="0">
              <a:buNone/>
            </a:pPr>
            <a:r>
              <a:rPr lang="en-US" sz="2500" dirty="0">
                <a:solidFill>
                  <a:srgbClr val="E7B66E"/>
                </a:solidFill>
                <a:latin typeface="Georgia" pitchFamily="34" charset="0"/>
                <a:ea typeface="Georgia" pitchFamily="34" charset="-122"/>
                <a:cs typeface="Georgia" pitchFamily="34" charset="-120"/>
              </a:rPr>
              <a:t>W</a:t>
            </a:r>
            <a:endParaRPr lang="en-US" sz="2500" dirty="0"/>
          </a:p>
        </p:txBody>
      </p:sp>
      <p:sp>
        <p:nvSpPr>
          <p:cNvPr id="5" name="Text 3"/>
          <p:cNvSpPr/>
          <p:nvPr/>
        </p:nvSpPr>
        <p:spPr>
          <a:xfrm>
            <a:off x="402336" y="7022592"/>
            <a:ext cx="731520" cy="594360"/>
          </a:xfrm>
          <a:prstGeom prst="rect">
            <a:avLst/>
          </a:prstGeom>
          <a:noFill/>
          <a:ln/>
        </p:spPr>
        <p:txBody>
          <a:bodyPr wrap="square" lIns="0" tIns="0" rIns="0" bIns="0" rtlCol="0" anchor="t">
            <a:normAutofit/>
          </a:bodyPr>
          <a:lstStyle/>
          <a:p>
            <a:pPr indent="0" marL="0">
              <a:buNone/>
            </a:pPr>
            <a:r>
              <a:rPr lang="en-US" sz="4200" dirty="0">
                <a:solidFill>
                  <a:srgbClr val="E7B66E"/>
                </a:solidFill>
                <a:latin typeface="Georgia" pitchFamily="34" charset="0"/>
                <a:ea typeface="Georgia" pitchFamily="34" charset="-122"/>
                <a:cs typeface="Georgia" pitchFamily="34" charset="-120"/>
              </a:rPr>
              <a:t>15</a:t>
            </a:r>
            <a:endParaRPr lang="en-US" sz="4200" dirty="0"/>
          </a:p>
        </p:txBody>
      </p:sp>
      <p:sp>
        <p:nvSpPr>
          <p:cNvPr id="6" name="Text 4"/>
          <p:cNvSpPr/>
          <p:nvPr/>
        </p:nvSpPr>
        <p:spPr>
          <a:xfrm>
            <a:off x="402336" y="7818120"/>
            <a:ext cx="731520" cy="411480"/>
          </a:xfrm>
          <a:prstGeom prst="rect">
            <a:avLst/>
          </a:prstGeom>
          <a:noFill/>
          <a:ln/>
        </p:spPr>
        <p:txBody>
          <a:bodyPr wrap="square" lIns="0" tIns="0" rIns="0" bIns="0" rtlCol="0" anchor="t">
            <a:normAutofit/>
          </a:bodyPr>
          <a:lstStyle/>
          <a:p>
            <a:pPr indent="0" marL="0">
              <a:buNone/>
            </a:pPr>
            <a:r>
              <a:rPr lang="en-US" sz="700" dirty="0">
                <a:solidFill>
                  <a:srgbClr val="C0AAB9"/>
                </a:solidFill>
                <a:latin typeface="Arial" pitchFamily="34" charset="0"/>
                <a:ea typeface="Arial" pitchFamily="34" charset="-122"/>
                <a:cs typeface="Arial" pitchFamily="34" charset="-120"/>
              </a:rPr>
              <a:t>ACT 3 / 5</a:t>
            </a:r>
            <a:endParaRPr lang="en-US" sz="700" dirty="0"/>
          </a:p>
          <a:p>
            <a:pPr indent="0" marL="0">
              <a:buNone/>
            </a:pPr>
            <a:r>
              <a:rPr lang="en-US" sz="700" dirty="0">
                <a:solidFill>
                  <a:srgbClr val="C0AAB9"/>
                </a:solidFill>
                <a:latin typeface="Arial" pitchFamily="34" charset="0"/>
                <a:ea typeface="Arial" pitchFamily="34" charset="-122"/>
                <a:cs typeface="Arial" pitchFamily="34" charset="-120"/>
              </a:rPr>
              <a:t>BEAT 3 / 6</a:t>
            </a:r>
            <a:endParaRPr lang="en-US" sz="700" dirty="0"/>
          </a:p>
        </p:txBody>
      </p:sp>
      <p:sp>
        <p:nvSpPr>
          <p:cNvPr id="7" name="Text 5"/>
          <p:cNvSpPr/>
          <p:nvPr/>
        </p:nvSpPr>
        <p:spPr>
          <a:xfrm>
            <a:off x="1499616" y="347472"/>
            <a:ext cx="9144000" cy="164592"/>
          </a:xfrm>
          <a:prstGeom prst="rect">
            <a:avLst/>
          </a:prstGeom>
          <a:noFill/>
          <a:ln/>
        </p:spPr>
        <p:txBody>
          <a:bodyPr wrap="square" lIns="0" tIns="0" rIns="0" bIns="0" rtlCol="0" anchor="t">
            <a:normAutofit/>
          </a:bodyPr>
          <a:lstStyle/>
          <a:p>
            <a:pPr indent="0" marL="0">
              <a:buNone/>
            </a:pPr>
            <a:r>
              <a:rPr lang="en-US" sz="700" spc="120" kern="0" dirty="0">
                <a:solidFill>
                  <a:srgbClr val="E7B66E"/>
                </a:solidFill>
                <a:latin typeface="Arial" pitchFamily="34" charset="0"/>
                <a:ea typeface="Arial" pitchFamily="34" charset="-122"/>
                <a:cs typeface="Arial" pitchFamily="34" charset="-120"/>
              </a:rPr>
              <a:t>ACT 3 / MOVEMENT</a:t>
            </a:r>
            <a:endParaRPr lang="en-US" sz="700" dirty="0"/>
          </a:p>
        </p:txBody>
      </p:sp>
      <p:sp>
        <p:nvSpPr>
          <p:cNvPr id="8" name="Text 6"/>
          <p:cNvSpPr/>
          <p:nvPr/>
        </p:nvSpPr>
        <p:spPr>
          <a:xfrm>
            <a:off x="1499616" y="612648"/>
            <a:ext cx="9692640" cy="594360"/>
          </a:xfrm>
          <a:prstGeom prst="rect">
            <a:avLst/>
          </a:prstGeom>
          <a:noFill/>
          <a:ln/>
        </p:spPr>
        <p:txBody>
          <a:bodyPr wrap="square" lIns="0" tIns="0" rIns="0" bIns="0" rtlCol="0" anchor="t">
            <a:normAutofit/>
          </a:bodyPr>
          <a:lstStyle/>
          <a:p>
            <a:pPr indent="0" marL="0">
              <a:buNone/>
            </a:pPr>
            <a:r>
              <a:rPr lang="en-US" sz="2800" dirty="0">
                <a:solidFill>
                  <a:srgbClr val="ECDED6"/>
                </a:solidFill>
                <a:latin typeface="Georgia" pitchFamily="34" charset="0"/>
                <a:ea typeface="Georgia" pitchFamily="34" charset="-122"/>
                <a:cs typeface="Georgia" pitchFamily="34" charset="-120"/>
              </a:rPr>
              <a:t>Make room for another voice.</a:t>
            </a:r>
            <a:endParaRPr lang="en-US" sz="2800" dirty="0"/>
          </a:p>
        </p:txBody>
      </p:sp>
      <p:sp>
        <p:nvSpPr>
          <p:cNvPr id="9" name="Text 7"/>
          <p:cNvSpPr/>
          <p:nvPr/>
        </p:nvSpPr>
        <p:spPr>
          <a:xfrm>
            <a:off x="11475720" y="438912"/>
            <a:ext cx="1325880" cy="182880"/>
          </a:xfrm>
          <a:prstGeom prst="rect">
            <a:avLst/>
          </a:prstGeom>
          <a:noFill/>
          <a:ln/>
        </p:spPr>
        <p:txBody>
          <a:bodyPr wrap="square" lIns="0" tIns="0" rIns="0" bIns="0" rtlCol="0" anchor="t">
            <a:normAutofit/>
          </a:bodyPr>
          <a:lstStyle/>
          <a:p>
            <a:pPr algn="r" indent="0" marL="0">
              <a:buNone/>
            </a:pPr>
            <a:r>
              <a:rPr lang="en-US" sz="700" dirty="0">
                <a:solidFill>
                  <a:srgbClr val="E7B66E"/>
                </a:solidFill>
                <a:latin typeface="Arial" pitchFamily="34" charset="0"/>
                <a:ea typeface="Arial" pitchFamily="34" charset="-122"/>
                <a:cs typeface="Arial" pitchFamily="34" charset="-120"/>
              </a:rPr>
              <a:t>LOCAL / UNMARKED</a:t>
            </a:r>
            <a:endParaRPr lang="en-US" sz="700" dirty="0"/>
          </a:p>
        </p:txBody>
      </p:sp>
      <p:sp>
        <p:nvSpPr>
          <p:cNvPr id="10" name="Shape 8"/>
          <p:cNvSpPr/>
          <p:nvPr/>
        </p:nvSpPr>
        <p:spPr>
          <a:xfrm>
            <a:off x="1499616" y="1307592"/>
            <a:ext cx="1819656" cy="448056"/>
          </a:xfrm>
          <a:prstGeom prst="rect">
            <a:avLst/>
          </a:prstGeom>
          <a:solidFill>
            <a:srgbClr val="30201E"/>
          </a:solidFill>
          <a:ln w="8890">
            <a:solidFill>
              <a:srgbClr val="6D5768"/>
            </a:solidFill>
            <a:prstDash val="solid"/>
          </a:ln>
        </p:spPr>
      </p:sp>
      <p:sp>
        <p:nvSpPr>
          <p:cNvPr id="11" name="Text 9"/>
          <p:cNvSpPr/>
          <p:nvPr/>
        </p:nvSpPr>
        <p:spPr>
          <a:xfrm>
            <a:off x="1572768"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E7B66E"/>
                </a:solidFill>
                <a:latin typeface="Georgia" pitchFamily="34" charset="0"/>
                <a:ea typeface="Georgia" pitchFamily="34" charset="-122"/>
                <a:cs typeface="Georgia" pitchFamily="34" charset="-120"/>
              </a:rPr>
              <a:t>1</a:t>
            </a:r>
            <a:endParaRPr lang="en-US" sz="1700" dirty="0"/>
          </a:p>
        </p:txBody>
      </p:sp>
      <p:sp>
        <p:nvSpPr>
          <p:cNvPr id="12" name="Text 10"/>
          <p:cNvSpPr/>
          <p:nvPr/>
        </p:nvSpPr>
        <p:spPr>
          <a:xfrm>
            <a:off x="1865376"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Move an idea, not a person.</a:t>
            </a:r>
            <a:endParaRPr lang="en-US" sz="700" dirty="0"/>
          </a:p>
        </p:txBody>
      </p:sp>
      <p:sp>
        <p:nvSpPr>
          <p:cNvPr id="13" name="Shape 11"/>
          <p:cNvSpPr/>
          <p:nvPr/>
        </p:nvSpPr>
        <p:spPr>
          <a:xfrm>
            <a:off x="3392424" y="1307592"/>
            <a:ext cx="1819656" cy="448056"/>
          </a:xfrm>
          <a:prstGeom prst="rect">
            <a:avLst/>
          </a:prstGeom>
          <a:solidFill>
            <a:srgbClr val="30201E"/>
          </a:solidFill>
          <a:ln w="8890">
            <a:solidFill>
              <a:srgbClr val="6D5768"/>
            </a:solidFill>
            <a:prstDash val="solid"/>
          </a:ln>
        </p:spPr>
      </p:sp>
      <p:sp>
        <p:nvSpPr>
          <p:cNvPr id="14" name="Text 12"/>
          <p:cNvSpPr/>
          <p:nvPr/>
        </p:nvSpPr>
        <p:spPr>
          <a:xfrm>
            <a:off x="3465576"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E7B66E"/>
                </a:solidFill>
                <a:latin typeface="Georgia" pitchFamily="34" charset="0"/>
                <a:ea typeface="Georgia" pitchFamily="34" charset="-122"/>
                <a:cs typeface="Georgia" pitchFamily="34" charset="-120"/>
              </a:rPr>
              <a:t>2</a:t>
            </a:r>
            <a:endParaRPr lang="en-US" sz="1700" dirty="0"/>
          </a:p>
        </p:txBody>
      </p:sp>
      <p:sp>
        <p:nvSpPr>
          <p:cNvPr id="15" name="Text 13"/>
          <p:cNvSpPr/>
          <p:nvPr/>
        </p:nvSpPr>
        <p:spPr>
          <a:xfrm>
            <a:off x="3758184"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Use a repeated phrase carefully.</a:t>
            </a:r>
            <a:endParaRPr lang="en-US" sz="700" dirty="0"/>
          </a:p>
        </p:txBody>
      </p:sp>
      <p:sp>
        <p:nvSpPr>
          <p:cNvPr id="16" name="Shape 14"/>
          <p:cNvSpPr/>
          <p:nvPr/>
        </p:nvSpPr>
        <p:spPr>
          <a:xfrm>
            <a:off x="5285232" y="1307592"/>
            <a:ext cx="1819656" cy="448056"/>
          </a:xfrm>
          <a:prstGeom prst="rect">
            <a:avLst/>
          </a:prstGeom>
          <a:solidFill>
            <a:srgbClr val="30201E"/>
          </a:solidFill>
          <a:ln w="8890">
            <a:solidFill>
              <a:srgbClr val="E7B66E"/>
            </a:solidFill>
            <a:prstDash val="solid"/>
          </a:ln>
        </p:spPr>
      </p:sp>
      <p:sp>
        <p:nvSpPr>
          <p:cNvPr id="17" name="Text 15"/>
          <p:cNvSpPr/>
          <p:nvPr/>
        </p:nvSpPr>
        <p:spPr>
          <a:xfrm>
            <a:off x="5358384"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E7B66E"/>
                </a:solidFill>
                <a:latin typeface="Georgia" pitchFamily="34" charset="0"/>
                <a:ea typeface="Georgia" pitchFamily="34" charset="-122"/>
                <a:cs typeface="Georgia" pitchFamily="34" charset="-120"/>
              </a:rPr>
              <a:t>3</a:t>
            </a:r>
            <a:endParaRPr lang="en-US" sz="1700" dirty="0"/>
          </a:p>
        </p:txBody>
      </p:sp>
      <p:sp>
        <p:nvSpPr>
          <p:cNvPr id="18" name="Text 16"/>
          <p:cNvSpPr/>
          <p:nvPr/>
        </p:nvSpPr>
        <p:spPr>
          <a:xfrm>
            <a:off x="5650992"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Make room for another voice.</a:t>
            </a:r>
            <a:endParaRPr lang="en-US" sz="700" dirty="0"/>
          </a:p>
        </p:txBody>
      </p:sp>
      <p:sp>
        <p:nvSpPr>
          <p:cNvPr id="19" name="Shape 17"/>
          <p:cNvSpPr/>
          <p:nvPr/>
        </p:nvSpPr>
        <p:spPr>
          <a:xfrm>
            <a:off x="7178040" y="1307592"/>
            <a:ext cx="1819656" cy="448056"/>
          </a:xfrm>
          <a:prstGeom prst="rect">
            <a:avLst/>
          </a:prstGeom>
          <a:solidFill>
            <a:srgbClr val="30201E"/>
          </a:solidFill>
          <a:ln w="8890">
            <a:solidFill>
              <a:srgbClr val="6D5768"/>
            </a:solidFill>
            <a:prstDash val="solid"/>
          </a:ln>
        </p:spPr>
      </p:sp>
      <p:sp>
        <p:nvSpPr>
          <p:cNvPr id="20" name="Text 18"/>
          <p:cNvSpPr/>
          <p:nvPr/>
        </p:nvSpPr>
        <p:spPr>
          <a:xfrm>
            <a:off x="7251192"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E7B66E"/>
                </a:solidFill>
                <a:latin typeface="Georgia" pitchFamily="34" charset="0"/>
                <a:ea typeface="Georgia" pitchFamily="34" charset="-122"/>
                <a:cs typeface="Georgia" pitchFamily="34" charset="-120"/>
              </a:rPr>
              <a:t>4</a:t>
            </a:r>
            <a:endParaRPr lang="en-US" sz="1700" dirty="0"/>
          </a:p>
        </p:txBody>
      </p:sp>
      <p:sp>
        <p:nvSpPr>
          <p:cNvPr id="21" name="Text 19"/>
          <p:cNvSpPr/>
          <p:nvPr/>
        </p:nvSpPr>
        <p:spPr>
          <a:xfrm>
            <a:off x="7543800"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Let an object return changed.</a:t>
            </a:r>
            <a:endParaRPr lang="en-US" sz="700" dirty="0"/>
          </a:p>
        </p:txBody>
      </p:sp>
      <p:sp>
        <p:nvSpPr>
          <p:cNvPr id="22" name="Shape 20"/>
          <p:cNvSpPr/>
          <p:nvPr/>
        </p:nvSpPr>
        <p:spPr>
          <a:xfrm>
            <a:off x="9070848" y="1307592"/>
            <a:ext cx="1819656" cy="448056"/>
          </a:xfrm>
          <a:prstGeom prst="rect">
            <a:avLst/>
          </a:prstGeom>
          <a:solidFill>
            <a:srgbClr val="30201E"/>
          </a:solidFill>
          <a:ln w="8890">
            <a:solidFill>
              <a:srgbClr val="6D5768"/>
            </a:solidFill>
            <a:prstDash val="solid"/>
          </a:ln>
        </p:spPr>
      </p:sp>
      <p:sp>
        <p:nvSpPr>
          <p:cNvPr id="23" name="Text 21"/>
          <p:cNvSpPr/>
          <p:nvPr/>
        </p:nvSpPr>
        <p:spPr>
          <a:xfrm>
            <a:off x="9144000"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E7B66E"/>
                </a:solidFill>
                <a:latin typeface="Georgia" pitchFamily="34" charset="0"/>
                <a:ea typeface="Georgia" pitchFamily="34" charset="-122"/>
                <a:cs typeface="Georgia" pitchFamily="34" charset="-120"/>
              </a:rPr>
              <a:t>5</a:t>
            </a:r>
            <a:endParaRPr lang="en-US" sz="1700" dirty="0"/>
          </a:p>
        </p:txBody>
      </p:sp>
      <p:sp>
        <p:nvSpPr>
          <p:cNvPr id="24" name="Text 22"/>
          <p:cNvSpPr/>
          <p:nvPr/>
        </p:nvSpPr>
        <p:spPr>
          <a:xfrm>
            <a:off x="9436608"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Keep a transition readable.</a:t>
            </a:r>
            <a:endParaRPr lang="en-US" sz="700" dirty="0"/>
          </a:p>
        </p:txBody>
      </p:sp>
      <p:sp>
        <p:nvSpPr>
          <p:cNvPr id="25" name="Shape 23"/>
          <p:cNvSpPr/>
          <p:nvPr/>
        </p:nvSpPr>
        <p:spPr>
          <a:xfrm>
            <a:off x="10963656" y="1307592"/>
            <a:ext cx="1819656" cy="448056"/>
          </a:xfrm>
          <a:prstGeom prst="rect">
            <a:avLst/>
          </a:prstGeom>
          <a:solidFill>
            <a:srgbClr val="30201E"/>
          </a:solidFill>
          <a:ln w="8890">
            <a:solidFill>
              <a:srgbClr val="6D5768"/>
            </a:solidFill>
            <a:prstDash val="solid"/>
          </a:ln>
        </p:spPr>
      </p:sp>
      <p:sp>
        <p:nvSpPr>
          <p:cNvPr id="26" name="Text 24"/>
          <p:cNvSpPr/>
          <p:nvPr/>
        </p:nvSpPr>
        <p:spPr>
          <a:xfrm>
            <a:off x="11036808"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E7B66E"/>
                </a:solidFill>
                <a:latin typeface="Georgia" pitchFamily="34" charset="0"/>
                <a:ea typeface="Georgia" pitchFamily="34" charset="-122"/>
                <a:cs typeface="Georgia" pitchFamily="34" charset="-120"/>
              </a:rPr>
              <a:t>6</a:t>
            </a:r>
            <a:endParaRPr lang="en-US" sz="1700" dirty="0"/>
          </a:p>
        </p:txBody>
      </p:sp>
      <p:sp>
        <p:nvSpPr>
          <p:cNvPr id="27" name="Text 25"/>
          <p:cNvSpPr/>
          <p:nvPr/>
        </p:nvSpPr>
        <p:spPr>
          <a:xfrm>
            <a:off x="11329416"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Find the turn without a verdict.</a:t>
            </a:r>
            <a:endParaRPr lang="en-US" sz="700" dirty="0"/>
          </a:p>
        </p:txBody>
      </p:sp>
      <p:pic>
        <p:nvPicPr>
          <p:cNvPr id="28" name="Image 0" descr="/home/user/design-buddy/design-buddy-home/public/atelier/afterglow/images/08.jpg">    </p:cNvPr>
          <p:cNvPicPr>
            <a:picLocks noChangeAspect="1"/>
          </p:cNvPicPr>
          <p:nvPr/>
        </p:nvPicPr>
        <p:blipFill>
          <a:blip r:embed="rId1"/>
          <a:srcRect l="0" r="0" t="0" b="0"/>
          <a:stretch/>
        </p:blipFill>
        <p:spPr>
          <a:xfrm>
            <a:off x="1499616" y="2066544"/>
            <a:ext cx="6949440" cy="3840480"/>
          </a:xfrm>
          <a:prstGeom prst="rect">
            <a:avLst/>
          </a:prstGeom>
        </p:spPr>
      </p:pic>
      <p:sp>
        <p:nvSpPr>
          <p:cNvPr id="29" name="Text 26"/>
          <p:cNvSpPr/>
          <p:nvPr/>
        </p:nvSpPr>
        <p:spPr>
          <a:xfrm>
            <a:off x="1499616" y="6007608"/>
            <a:ext cx="6949440" cy="164592"/>
          </a:xfrm>
          <a:prstGeom prst="rect">
            <a:avLst/>
          </a:prstGeom>
          <a:noFill/>
          <a:ln/>
        </p:spPr>
        <p:txBody>
          <a:bodyPr wrap="square" lIns="0" tIns="0" rIns="0" bIns="0" rtlCol="0" anchor="t">
            <a:normAutofit/>
          </a:bodyPr>
          <a:lstStyle/>
          <a:p>
            <a:pPr indent="0" marL="0">
              <a:buNone/>
            </a:pPr>
            <a:r>
              <a:rPr lang="en-US" sz="650" dirty="0">
                <a:solidFill>
                  <a:srgbClr val="C0AAB9"/>
                </a:solidFill>
                <a:latin typeface="Arial" pitchFamily="34" charset="0"/>
                <a:ea typeface="Arial" pitchFamily="34" charset="-122"/>
                <a:cs typeface="Arial" pitchFamily="34" charset="-120"/>
              </a:rPr>
              <a:t>Watercolour 8 / invented setting and adults / not production evidence</a:t>
            </a:r>
            <a:endParaRPr lang="en-US" sz="650" dirty="0"/>
          </a:p>
        </p:txBody>
      </p:sp>
      <p:sp>
        <p:nvSpPr>
          <p:cNvPr id="30" name="Text 27"/>
          <p:cNvSpPr/>
          <p:nvPr/>
        </p:nvSpPr>
        <p:spPr>
          <a:xfrm>
            <a:off x="8705088" y="2139696"/>
            <a:ext cx="4133088" cy="164592"/>
          </a:xfrm>
          <a:prstGeom prst="rect">
            <a:avLst/>
          </a:prstGeom>
          <a:noFill/>
          <a:ln/>
        </p:spPr>
        <p:txBody>
          <a:bodyPr wrap="square" lIns="0" tIns="0" rIns="0" bIns="0" rtlCol="0" anchor="t">
            <a:normAutofit/>
          </a:bodyPr>
          <a:lstStyle/>
          <a:p>
            <a:pPr indent="0" marL="0">
              <a:buNone/>
            </a:pPr>
            <a:r>
              <a:rPr lang="en-US" sz="700" spc="110" kern="0" dirty="0">
                <a:solidFill>
                  <a:srgbClr val="E7B66E"/>
                </a:solidFill>
                <a:latin typeface="Arial" pitchFamily="34" charset="0"/>
                <a:ea typeface="Arial" pitchFamily="34" charset="-122"/>
                <a:cs typeface="Arial" pitchFamily="34" charset="-120"/>
              </a:rPr>
              <a:t>STORY INTENTION</a:t>
            </a:r>
            <a:endParaRPr lang="en-US" sz="700" dirty="0"/>
          </a:p>
        </p:txBody>
      </p:sp>
      <p:sp>
        <p:nvSpPr>
          <p:cNvPr id="31" name="Text 28"/>
          <p:cNvSpPr/>
          <p:nvPr/>
        </p:nvSpPr>
        <p:spPr>
          <a:xfrm>
            <a:off x="8705088" y="2514600"/>
            <a:ext cx="4133088" cy="1828800"/>
          </a:xfrm>
          <a:prstGeom prst="rect">
            <a:avLst/>
          </a:prstGeom>
          <a:noFill/>
          <a:ln/>
        </p:spPr>
        <p:txBody>
          <a:bodyPr wrap="square" lIns="0" tIns="0" rIns="0" bIns="0" rtlCol="0" anchor="t">
            <a:normAutofit/>
          </a:bodyPr>
          <a:lstStyle/>
          <a:p>
            <a:pPr indent="0" marL="0">
              <a:buNone/>
            </a:pPr>
            <a:r>
              <a:rPr lang="en-US" sz="1575" dirty="0">
                <a:solidFill>
                  <a:srgbClr val="ECDED6"/>
                </a:solidFill>
                <a:latin typeface="Georgia" pitchFamily="34" charset="0"/>
                <a:ea typeface="Georgia" pitchFamily="34" charset="-122"/>
                <a:cs typeface="Georgia" pitchFamily="34" charset="-120"/>
              </a:rPr>
              <a:t>Introduce a third imagined perspective without asking it to represent a whole community. Give this character a specific concern and a limited view. A fictional voice is not evidence of real audience needs.</a:t>
            </a:r>
            <a:endParaRPr lang="en-US" sz="1575" dirty="0"/>
          </a:p>
        </p:txBody>
      </p:sp>
      <p:sp>
        <p:nvSpPr>
          <p:cNvPr id="32" name="Text 29"/>
          <p:cNvSpPr/>
          <p:nvPr/>
        </p:nvSpPr>
        <p:spPr>
          <a:xfrm>
            <a:off x="8705088" y="4572000"/>
            <a:ext cx="4133088" cy="164592"/>
          </a:xfrm>
          <a:prstGeom prst="rect">
            <a:avLst/>
          </a:prstGeom>
          <a:noFill/>
          <a:ln/>
        </p:spPr>
        <p:txBody>
          <a:bodyPr wrap="square" lIns="0" tIns="0" rIns="0" bIns="0" rtlCol="0" anchor="t">
            <a:normAutofit/>
          </a:bodyPr>
          <a:lstStyle/>
          <a:p>
            <a:pPr indent="0" marL="0">
              <a:buNone/>
            </a:pPr>
            <a:r>
              <a:rPr lang="en-US" sz="700" spc="110" kern="0" dirty="0">
                <a:solidFill>
                  <a:srgbClr val="E7B66E"/>
                </a:solidFill>
                <a:latin typeface="Arial" pitchFamily="34" charset="0"/>
                <a:ea typeface="Arial" pitchFamily="34" charset="-122"/>
                <a:cs typeface="Arial" pitchFamily="34" charset="-120"/>
              </a:rPr>
              <a:t>LEAVE A QUESTION</a:t>
            </a:r>
            <a:endParaRPr lang="en-US" sz="700" dirty="0"/>
          </a:p>
        </p:txBody>
      </p:sp>
      <p:sp>
        <p:nvSpPr>
          <p:cNvPr id="33" name="Text 30"/>
          <p:cNvSpPr/>
          <p:nvPr/>
        </p:nvSpPr>
        <p:spPr>
          <a:xfrm>
            <a:off x="8705088" y="4910328"/>
            <a:ext cx="4133088" cy="822960"/>
          </a:xfrm>
          <a:prstGeom prst="rect">
            <a:avLst/>
          </a:prstGeom>
          <a:noFill/>
          <a:ln/>
        </p:spPr>
        <p:txBody>
          <a:bodyPr wrap="square" lIns="0" tIns="0" rIns="0" bIns="0" rtlCol="0" anchor="t">
            <a:normAutofit/>
          </a:bodyPr>
          <a:lstStyle/>
          <a:p>
            <a:pPr indent="0" marL="0">
              <a:buNone/>
            </a:pPr>
            <a:r>
              <a:rPr lang="en-US" sz="1875" i="1" dirty="0">
                <a:solidFill>
                  <a:srgbClr val="E7B66E"/>
                </a:solidFill>
                <a:latin typeface="Georgia" pitchFamily="34" charset="0"/>
                <a:ea typeface="Georgia" pitchFamily="34" charset="-122"/>
                <a:cs typeface="Georgia" pitchFamily="34" charset="-120"/>
              </a:rPr>
              <a:t>What can this new speaker know, and what can they not know?</a:t>
            </a:r>
            <a:endParaRPr lang="en-US" sz="1875" dirty="0"/>
          </a:p>
        </p:txBody>
      </p:sp>
      <p:sp>
        <p:nvSpPr>
          <p:cNvPr id="34" name="Text 31"/>
          <p:cNvSpPr/>
          <p:nvPr/>
        </p:nvSpPr>
        <p:spPr>
          <a:xfrm>
            <a:off x="8705088" y="5806440"/>
            <a:ext cx="4133088" cy="292608"/>
          </a:xfrm>
          <a:prstGeom prst="rect">
            <a:avLst/>
          </a:prstGeom>
          <a:noFill/>
          <a:ln/>
        </p:spPr>
        <p:txBody>
          <a:bodyPr wrap="square" lIns="0" tIns="0" rIns="0" bIns="0" rtlCol="0" anchor="t">
            <a:normAutofit/>
          </a:bodyPr>
          <a:lstStyle/>
          <a:p>
            <a:pPr indent="0" marL="0">
              <a:buNone/>
            </a:pPr>
            <a:r>
              <a:rPr lang="en-US" sz="700" dirty="0">
                <a:solidFill>
                  <a:srgbClr val="C0AAB9"/>
                </a:solidFill>
                <a:latin typeface="Arial" pitchFamily="34" charset="0"/>
                <a:ea typeface="Arial" pitchFamily="34" charset="-122"/>
                <a:cs typeface="Arial" pitchFamily="34" charset="-120"/>
              </a:rPr>
              <a:t>Beat order is not timing, a technical call or a show schedule.</a:t>
            </a:r>
            <a:endParaRPr lang="en-US" sz="700" dirty="0"/>
          </a:p>
        </p:txBody>
      </p:sp>
      <p:sp>
        <p:nvSpPr>
          <p:cNvPr id="35" name="Shape 32"/>
          <p:cNvSpPr/>
          <p:nvPr/>
        </p:nvSpPr>
        <p:spPr>
          <a:xfrm>
            <a:off x="1499616" y="6583680"/>
            <a:ext cx="3675888" cy="1481328"/>
          </a:xfrm>
          <a:prstGeom prst="rect">
            <a:avLst/>
          </a:prstGeom>
          <a:solidFill>
            <a:srgbClr val="30201E"/>
          </a:solidFill>
          <a:ln w="8890">
            <a:solidFill>
              <a:srgbClr val="735D6D"/>
            </a:solidFill>
            <a:prstDash val="solid"/>
          </a:ln>
        </p:spPr>
      </p:sp>
      <p:sp>
        <p:nvSpPr>
          <p:cNvPr id="36" name="Text 33"/>
          <p:cNvSpPr/>
          <p:nvPr/>
        </p:nvSpPr>
        <p:spPr>
          <a:xfrm>
            <a:off x="1682496"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E7B66E"/>
                </a:solidFill>
                <a:latin typeface="Arial" pitchFamily="34" charset="0"/>
                <a:ea typeface="Arial" pitchFamily="34" charset="-122"/>
                <a:cs typeface="Arial" pitchFamily="34" charset="-120"/>
              </a:rPr>
              <a:t>01 / NOTICE</a:t>
            </a:r>
            <a:endParaRPr lang="en-US" sz="700" dirty="0"/>
          </a:p>
        </p:txBody>
      </p:sp>
      <p:sp>
        <p:nvSpPr>
          <p:cNvPr id="37" name="Text 34"/>
          <p:cNvSpPr/>
          <p:nvPr/>
        </p:nvSpPr>
        <p:spPr>
          <a:xfrm>
            <a:off x="1682496"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No single fictional speaker represents everyone.</a:t>
            </a:r>
            <a:endParaRPr lang="en-US" sz="1500" dirty="0"/>
          </a:p>
        </p:txBody>
      </p:sp>
      <p:sp>
        <p:nvSpPr>
          <p:cNvPr id="38" name="Shape 35"/>
          <p:cNvSpPr/>
          <p:nvPr/>
        </p:nvSpPr>
        <p:spPr>
          <a:xfrm>
            <a:off x="5321808" y="6583680"/>
            <a:ext cx="3675888" cy="1481328"/>
          </a:xfrm>
          <a:prstGeom prst="rect">
            <a:avLst/>
          </a:prstGeom>
          <a:solidFill>
            <a:srgbClr val="30201E"/>
          </a:solidFill>
          <a:ln w="8890">
            <a:solidFill>
              <a:srgbClr val="735D6D"/>
            </a:solidFill>
            <a:prstDash val="solid"/>
          </a:ln>
        </p:spPr>
      </p:sp>
      <p:sp>
        <p:nvSpPr>
          <p:cNvPr id="39" name="Text 36"/>
          <p:cNvSpPr/>
          <p:nvPr/>
        </p:nvSpPr>
        <p:spPr>
          <a:xfrm>
            <a:off x="5504688"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E7B66E"/>
                </a:solidFill>
                <a:latin typeface="Arial" pitchFamily="34" charset="0"/>
                <a:ea typeface="Arial" pitchFamily="34" charset="-122"/>
                <a:cs typeface="Arial" pitchFamily="34" charset="-120"/>
              </a:rPr>
              <a:t>02 / TRY IN WORDS</a:t>
            </a:r>
            <a:endParaRPr lang="en-US" sz="700" dirty="0"/>
          </a:p>
        </p:txBody>
      </p:sp>
      <p:sp>
        <p:nvSpPr>
          <p:cNvPr id="40" name="Text 37"/>
          <p:cNvSpPr/>
          <p:nvPr/>
        </p:nvSpPr>
        <p:spPr>
          <a:xfrm>
            <a:off x="5504688"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Write a concern that belongs to this particular character.</a:t>
            </a:r>
            <a:endParaRPr lang="en-US" sz="1500" dirty="0"/>
          </a:p>
        </p:txBody>
      </p:sp>
      <p:sp>
        <p:nvSpPr>
          <p:cNvPr id="41" name="Shape 38"/>
          <p:cNvSpPr/>
          <p:nvPr/>
        </p:nvSpPr>
        <p:spPr>
          <a:xfrm>
            <a:off x="9144000" y="6583680"/>
            <a:ext cx="3675888" cy="1481328"/>
          </a:xfrm>
          <a:prstGeom prst="rect">
            <a:avLst/>
          </a:prstGeom>
          <a:solidFill>
            <a:srgbClr val="30201E"/>
          </a:solidFill>
          <a:ln w="8890">
            <a:solidFill>
              <a:srgbClr val="735D6D"/>
            </a:solidFill>
            <a:prstDash val="solid"/>
          </a:ln>
        </p:spPr>
      </p:sp>
      <p:sp>
        <p:nvSpPr>
          <p:cNvPr id="42" name="Text 39"/>
          <p:cNvSpPr/>
          <p:nvPr/>
        </p:nvSpPr>
        <p:spPr>
          <a:xfrm>
            <a:off x="9326880"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E7B66E"/>
                </a:solidFill>
                <a:latin typeface="Arial" pitchFamily="34" charset="0"/>
                <a:ea typeface="Arial" pitchFamily="34" charset="-122"/>
                <a:cs typeface="Arial" pitchFamily="34" charset="-120"/>
              </a:rPr>
              <a:t>03 / KEEP VISIBLE</a:t>
            </a:r>
            <a:endParaRPr lang="en-US" sz="700" dirty="0"/>
          </a:p>
        </p:txBody>
      </p:sp>
      <p:sp>
        <p:nvSpPr>
          <p:cNvPr id="43" name="Text 40"/>
          <p:cNvSpPr/>
          <p:nvPr/>
        </p:nvSpPr>
        <p:spPr>
          <a:xfrm>
            <a:off x="9326880"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Avoid borrowing real participant details.</a:t>
            </a:r>
            <a:endParaRPr lang="en-US" sz="1500" dirty="0"/>
          </a:p>
        </p:txBody>
      </p:sp>
      <p:sp>
        <p:nvSpPr>
          <p:cNvPr id="44" name="Shape 41"/>
          <p:cNvSpPr/>
          <p:nvPr/>
        </p:nvSpPr>
        <p:spPr>
          <a:xfrm>
            <a:off x="1499616" y="8211312"/>
            <a:ext cx="11338560" cy="0"/>
          </a:xfrm>
          <a:prstGeom prst="line">
            <a:avLst/>
          </a:prstGeom>
          <a:noFill/>
          <a:ln w="8890">
            <a:solidFill>
              <a:srgbClr val="796170"/>
            </a:solidFill>
            <a:prstDash val="solid"/>
          </a:ln>
        </p:spPr>
      </p:sp>
      <p:sp>
        <p:nvSpPr>
          <p:cNvPr id="45" name="Text 42"/>
          <p:cNvSpPr/>
          <p:nvPr/>
        </p:nvSpPr>
        <p:spPr>
          <a:xfrm>
            <a:off x="1499616" y="8339328"/>
            <a:ext cx="8229600" cy="118872"/>
          </a:xfrm>
          <a:prstGeom prst="rect">
            <a:avLst/>
          </a:prstGeom>
          <a:noFill/>
          <a:ln/>
        </p:spPr>
        <p:txBody>
          <a:bodyPr wrap="square" lIns="0" tIns="0" rIns="0" bIns="0" rtlCol="0" anchor="t">
            <a:normAutofit/>
          </a:bodyPr>
          <a:lstStyle/>
          <a:p>
            <a:pPr indent="0" marL="0">
              <a:buNone/>
            </a:pPr>
            <a:r>
              <a:rPr lang="en-US" sz="650" dirty="0">
                <a:solidFill>
                  <a:srgbClr val="C0AAB9"/>
                </a:solidFill>
                <a:latin typeface="Arial" pitchFamily="34" charset="0"/>
                <a:ea typeface="Arial" pitchFamily="34" charset="-122"/>
                <a:cs typeface="Arial" pitchFamily="34" charset="-120"/>
              </a:rPr>
              <a:t>FICTIONAL WRITING WORKSHOP / NOT A STAGING OR APPROVAL PLAN</a:t>
            </a:r>
            <a:endParaRPr lang="en-US" sz="650" dirty="0"/>
          </a:p>
        </p:txBody>
      </p:sp>
      <p:sp>
        <p:nvSpPr>
          <p:cNvPr id="46" name="Text 43"/>
          <p:cNvSpPr/>
          <p:nvPr/>
        </p:nvSpPr>
        <p:spPr>
          <a:xfrm>
            <a:off x="9729216" y="8339328"/>
            <a:ext cx="3108960" cy="118872"/>
          </a:xfrm>
          <a:prstGeom prst="rect">
            <a:avLst/>
          </a:prstGeom>
          <a:noFill/>
          <a:ln/>
        </p:spPr>
        <p:txBody>
          <a:bodyPr wrap="square" lIns="0" tIns="0" rIns="0" bIns="0" rtlCol="0" anchor="t">
            <a:normAutofit/>
          </a:bodyPr>
          <a:lstStyle/>
          <a:p>
            <a:pPr algn="r" indent="0" marL="0">
              <a:buNone/>
            </a:pPr>
            <a:r>
              <a:rPr lang="en-US" sz="650" dirty="0">
                <a:solidFill>
                  <a:srgbClr val="C0AAB9"/>
                </a:solidFill>
                <a:latin typeface="Arial" pitchFamily="34" charset="0"/>
                <a:ea typeface="Arial" pitchFamily="34" charset="-122"/>
                <a:cs typeface="Arial" pitchFamily="34" charset="-120"/>
              </a:rPr>
              <a:t>DRAFT / 14 OF 15 ARTWORKS / 15 OF 30</a:t>
            </a:r>
            <a:endParaRPr lang="en-US" sz="6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30201E"/>
        </a:solidFill>
      </p:bgPr>
    </p:bg>
    <p:spTree>
      <p:nvGrpSpPr>
        <p:cNvPr id="1" name=""/>
        <p:cNvGrpSpPr/>
        <p:nvPr/>
      </p:nvGrpSpPr>
      <p:grpSpPr>
        <a:xfrm>
          <a:off x="0" y="0"/>
          <a:ext cx="0" cy="0"/>
          <a:chOff x="0" y="0"/>
          <a:chExt cx="0" cy="0"/>
        </a:xfrm>
      </p:grpSpPr>
      <p:sp>
        <p:nvSpPr>
          <p:cNvPr id="2" name="Shape 0"/>
          <p:cNvSpPr/>
          <p:nvPr/>
        </p:nvSpPr>
        <p:spPr>
          <a:xfrm>
            <a:off x="1243584" y="329184"/>
            <a:ext cx="0" cy="8119872"/>
          </a:xfrm>
          <a:prstGeom prst="line">
            <a:avLst/>
          </a:prstGeom>
          <a:noFill/>
          <a:ln w="10160">
            <a:solidFill>
              <a:srgbClr val="776072"/>
            </a:solidFill>
            <a:prstDash val="solid"/>
          </a:ln>
        </p:spPr>
      </p:sp>
      <p:sp>
        <p:nvSpPr>
          <p:cNvPr id="3" name="Text 1"/>
          <p:cNvSpPr/>
          <p:nvPr/>
        </p:nvSpPr>
        <p:spPr>
          <a:xfrm>
            <a:off x="393192" y="457200"/>
            <a:ext cx="685800" cy="457200"/>
          </a:xfrm>
          <a:prstGeom prst="rect">
            <a:avLst/>
          </a:prstGeom>
          <a:noFill/>
          <a:ln/>
        </p:spPr>
        <p:txBody>
          <a:bodyPr wrap="square" lIns="0" tIns="0" rIns="0" bIns="0" rtlCol="0" anchor="t">
            <a:normAutofit/>
          </a:bodyPr>
          <a:lstStyle/>
          <a:p>
            <a:pPr indent="0" marL="0">
              <a:buNone/>
            </a:pPr>
            <a:r>
              <a:rPr lang="en-US" sz="600" dirty="0">
                <a:solidFill>
                  <a:srgbClr val="C0AAB9"/>
                </a:solidFill>
                <a:latin typeface="Arial" pitchFamily="34" charset="0"/>
                <a:ea typeface="Arial" pitchFamily="34" charset="-122"/>
                <a:cs typeface="Arial" pitchFamily="34" charset="-120"/>
              </a:rPr>
              <a:t>DESIGN BUDDY</a:t>
            </a:r>
            <a:endParaRPr lang="en-US" sz="600" dirty="0"/>
          </a:p>
          <a:p>
            <a:pPr indent="0" marL="0">
              <a:buNone/>
            </a:pPr>
            <a:r>
              <a:rPr lang="en-US" sz="600" dirty="0">
                <a:solidFill>
                  <a:srgbClr val="C0AAB9"/>
                </a:solidFill>
                <a:latin typeface="Arial" pitchFamily="34" charset="0"/>
                <a:ea typeface="Arial" pitchFamily="34" charset="-122"/>
                <a:cs typeface="Arial" pitchFamily="34" charset="-120"/>
              </a:rPr>
              <a:t>CREATIVE EXERCISE</a:t>
            </a:r>
            <a:endParaRPr lang="en-US" sz="600" dirty="0"/>
          </a:p>
        </p:txBody>
      </p:sp>
      <p:sp>
        <p:nvSpPr>
          <p:cNvPr id="4" name="Text 2"/>
          <p:cNvSpPr/>
          <p:nvPr/>
        </p:nvSpPr>
        <p:spPr>
          <a:xfrm>
            <a:off x="502920" y="1920240"/>
            <a:ext cx="502920" cy="4480560"/>
          </a:xfrm>
          <a:prstGeom prst="rect">
            <a:avLst/>
          </a:prstGeom>
          <a:noFill/>
          <a:ln/>
        </p:spPr>
        <p:txBody>
          <a:bodyPr wrap="square" lIns="0" tIns="0" rIns="0" bIns="0" rtlCol="0" anchor="t">
            <a:normAutofit/>
          </a:bodyPr>
          <a:lstStyle/>
          <a:p>
            <a:pPr algn="ctr" indent="0" marL="0">
              <a:buNone/>
            </a:pPr>
            <a:r>
              <a:rPr lang="en-US" sz="2500" dirty="0">
                <a:solidFill>
                  <a:srgbClr val="E7B66E"/>
                </a:solidFill>
                <a:latin typeface="Georgia" pitchFamily="34" charset="0"/>
                <a:ea typeface="Georgia" pitchFamily="34" charset="-122"/>
                <a:cs typeface="Georgia" pitchFamily="34" charset="-120"/>
              </a:rPr>
              <a:t>A</a:t>
            </a:r>
            <a:endParaRPr lang="en-US" sz="2500" dirty="0"/>
          </a:p>
          <a:p>
            <a:pPr algn="ctr" indent="0" marL="0">
              <a:buNone/>
            </a:pPr>
            <a:r>
              <a:rPr lang="en-US" sz="2500" dirty="0">
                <a:solidFill>
                  <a:srgbClr val="E7B66E"/>
                </a:solidFill>
                <a:latin typeface="Georgia" pitchFamily="34" charset="0"/>
                <a:ea typeface="Georgia" pitchFamily="34" charset="-122"/>
                <a:cs typeface="Georgia" pitchFamily="34" charset="-120"/>
              </a:rPr>
              <a:t>F</a:t>
            </a:r>
            <a:endParaRPr lang="en-US" sz="2500" dirty="0"/>
          </a:p>
          <a:p>
            <a:pPr algn="ctr" indent="0" marL="0">
              <a:buNone/>
            </a:pPr>
            <a:r>
              <a:rPr lang="en-US" sz="2500" dirty="0">
                <a:solidFill>
                  <a:srgbClr val="E7B66E"/>
                </a:solidFill>
                <a:latin typeface="Georgia" pitchFamily="34" charset="0"/>
                <a:ea typeface="Georgia" pitchFamily="34" charset="-122"/>
                <a:cs typeface="Georgia" pitchFamily="34" charset="-120"/>
              </a:rPr>
              <a:t>T</a:t>
            </a:r>
            <a:endParaRPr lang="en-US" sz="2500" dirty="0"/>
          </a:p>
          <a:p>
            <a:pPr algn="ctr" indent="0" marL="0">
              <a:buNone/>
            </a:pPr>
            <a:r>
              <a:rPr lang="en-US" sz="2500" dirty="0">
                <a:solidFill>
                  <a:srgbClr val="E7B66E"/>
                </a:solidFill>
                <a:latin typeface="Georgia" pitchFamily="34" charset="0"/>
                <a:ea typeface="Georgia" pitchFamily="34" charset="-122"/>
                <a:cs typeface="Georgia" pitchFamily="34" charset="-120"/>
              </a:rPr>
              <a:t>E</a:t>
            </a:r>
            <a:endParaRPr lang="en-US" sz="2500" dirty="0"/>
          </a:p>
          <a:p>
            <a:pPr algn="ctr" indent="0" marL="0">
              <a:buNone/>
            </a:pPr>
            <a:r>
              <a:rPr lang="en-US" sz="2500" dirty="0">
                <a:solidFill>
                  <a:srgbClr val="E7B66E"/>
                </a:solidFill>
                <a:latin typeface="Georgia" pitchFamily="34" charset="0"/>
                <a:ea typeface="Georgia" pitchFamily="34" charset="-122"/>
                <a:cs typeface="Georgia" pitchFamily="34" charset="-120"/>
              </a:rPr>
              <a:t>R</a:t>
            </a:r>
            <a:endParaRPr lang="en-US" sz="2500" dirty="0"/>
          </a:p>
          <a:p>
            <a:pPr algn="ctr" indent="0" marL="0">
              <a:buNone/>
            </a:pPr>
            <a:r>
              <a:rPr lang="en-US" sz="2500" dirty="0">
                <a:solidFill>
                  <a:srgbClr val="E7B66E"/>
                </a:solidFill>
                <a:latin typeface="Georgia" pitchFamily="34" charset="0"/>
                <a:ea typeface="Georgia" pitchFamily="34" charset="-122"/>
                <a:cs typeface="Georgia" pitchFamily="34" charset="-120"/>
              </a:rPr>
              <a:t>G</a:t>
            </a:r>
            <a:endParaRPr lang="en-US" sz="2500" dirty="0"/>
          </a:p>
          <a:p>
            <a:pPr algn="ctr" indent="0" marL="0">
              <a:buNone/>
            </a:pPr>
            <a:r>
              <a:rPr lang="en-US" sz="2500" dirty="0">
                <a:solidFill>
                  <a:srgbClr val="E7B66E"/>
                </a:solidFill>
                <a:latin typeface="Georgia" pitchFamily="34" charset="0"/>
                <a:ea typeface="Georgia" pitchFamily="34" charset="-122"/>
                <a:cs typeface="Georgia" pitchFamily="34" charset="-120"/>
              </a:rPr>
              <a:t>L</a:t>
            </a:r>
            <a:endParaRPr lang="en-US" sz="2500" dirty="0"/>
          </a:p>
          <a:p>
            <a:pPr algn="ctr" indent="0" marL="0">
              <a:buNone/>
            </a:pPr>
            <a:r>
              <a:rPr lang="en-US" sz="2500" dirty="0">
                <a:solidFill>
                  <a:srgbClr val="E7B66E"/>
                </a:solidFill>
                <a:latin typeface="Georgia" pitchFamily="34" charset="0"/>
                <a:ea typeface="Georgia" pitchFamily="34" charset="-122"/>
                <a:cs typeface="Georgia" pitchFamily="34" charset="-120"/>
              </a:rPr>
              <a:t>O</a:t>
            </a:r>
            <a:endParaRPr lang="en-US" sz="2500" dirty="0"/>
          </a:p>
          <a:p>
            <a:pPr algn="ctr" indent="0" marL="0">
              <a:buNone/>
            </a:pPr>
            <a:r>
              <a:rPr lang="en-US" sz="2500" dirty="0">
                <a:solidFill>
                  <a:srgbClr val="E7B66E"/>
                </a:solidFill>
                <a:latin typeface="Georgia" pitchFamily="34" charset="0"/>
                <a:ea typeface="Georgia" pitchFamily="34" charset="-122"/>
                <a:cs typeface="Georgia" pitchFamily="34" charset="-120"/>
              </a:rPr>
              <a:t>W</a:t>
            </a:r>
            <a:endParaRPr lang="en-US" sz="2500" dirty="0"/>
          </a:p>
        </p:txBody>
      </p:sp>
      <p:sp>
        <p:nvSpPr>
          <p:cNvPr id="5" name="Text 3"/>
          <p:cNvSpPr/>
          <p:nvPr/>
        </p:nvSpPr>
        <p:spPr>
          <a:xfrm>
            <a:off x="402336" y="7022592"/>
            <a:ext cx="731520" cy="594360"/>
          </a:xfrm>
          <a:prstGeom prst="rect">
            <a:avLst/>
          </a:prstGeom>
          <a:noFill/>
          <a:ln/>
        </p:spPr>
        <p:txBody>
          <a:bodyPr wrap="square" lIns="0" tIns="0" rIns="0" bIns="0" rtlCol="0" anchor="t">
            <a:normAutofit/>
          </a:bodyPr>
          <a:lstStyle/>
          <a:p>
            <a:pPr indent="0" marL="0">
              <a:buNone/>
            </a:pPr>
            <a:r>
              <a:rPr lang="en-US" sz="4200" dirty="0">
                <a:solidFill>
                  <a:srgbClr val="E7B66E"/>
                </a:solidFill>
                <a:latin typeface="Georgia" pitchFamily="34" charset="0"/>
                <a:ea typeface="Georgia" pitchFamily="34" charset="-122"/>
                <a:cs typeface="Georgia" pitchFamily="34" charset="-120"/>
              </a:rPr>
              <a:t>16</a:t>
            </a:r>
            <a:endParaRPr lang="en-US" sz="4200" dirty="0"/>
          </a:p>
        </p:txBody>
      </p:sp>
      <p:sp>
        <p:nvSpPr>
          <p:cNvPr id="6" name="Text 4"/>
          <p:cNvSpPr/>
          <p:nvPr/>
        </p:nvSpPr>
        <p:spPr>
          <a:xfrm>
            <a:off x="402336" y="7818120"/>
            <a:ext cx="731520" cy="411480"/>
          </a:xfrm>
          <a:prstGeom prst="rect">
            <a:avLst/>
          </a:prstGeom>
          <a:noFill/>
          <a:ln/>
        </p:spPr>
        <p:txBody>
          <a:bodyPr wrap="square" lIns="0" tIns="0" rIns="0" bIns="0" rtlCol="0" anchor="t">
            <a:normAutofit/>
          </a:bodyPr>
          <a:lstStyle/>
          <a:p>
            <a:pPr indent="0" marL="0">
              <a:buNone/>
            </a:pPr>
            <a:r>
              <a:rPr lang="en-US" sz="700" dirty="0">
                <a:solidFill>
                  <a:srgbClr val="C0AAB9"/>
                </a:solidFill>
                <a:latin typeface="Arial" pitchFamily="34" charset="0"/>
                <a:ea typeface="Arial" pitchFamily="34" charset="-122"/>
                <a:cs typeface="Arial" pitchFamily="34" charset="-120"/>
              </a:rPr>
              <a:t>ACT 3 / 5</a:t>
            </a:r>
            <a:endParaRPr lang="en-US" sz="700" dirty="0"/>
          </a:p>
          <a:p>
            <a:pPr indent="0" marL="0">
              <a:buNone/>
            </a:pPr>
            <a:r>
              <a:rPr lang="en-US" sz="700" dirty="0">
                <a:solidFill>
                  <a:srgbClr val="C0AAB9"/>
                </a:solidFill>
                <a:latin typeface="Arial" pitchFamily="34" charset="0"/>
                <a:ea typeface="Arial" pitchFamily="34" charset="-122"/>
                <a:cs typeface="Arial" pitchFamily="34" charset="-120"/>
              </a:rPr>
              <a:t>BEAT 4 / 6</a:t>
            </a:r>
            <a:endParaRPr lang="en-US" sz="700" dirty="0"/>
          </a:p>
        </p:txBody>
      </p:sp>
      <p:sp>
        <p:nvSpPr>
          <p:cNvPr id="7" name="Text 5"/>
          <p:cNvSpPr/>
          <p:nvPr/>
        </p:nvSpPr>
        <p:spPr>
          <a:xfrm>
            <a:off x="1499616" y="347472"/>
            <a:ext cx="9144000" cy="164592"/>
          </a:xfrm>
          <a:prstGeom prst="rect">
            <a:avLst/>
          </a:prstGeom>
          <a:noFill/>
          <a:ln/>
        </p:spPr>
        <p:txBody>
          <a:bodyPr wrap="square" lIns="0" tIns="0" rIns="0" bIns="0" rtlCol="0" anchor="t">
            <a:normAutofit/>
          </a:bodyPr>
          <a:lstStyle/>
          <a:p>
            <a:pPr indent="0" marL="0">
              <a:buNone/>
            </a:pPr>
            <a:r>
              <a:rPr lang="en-US" sz="700" spc="120" kern="0" dirty="0">
                <a:solidFill>
                  <a:srgbClr val="E7B66E"/>
                </a:solidFill>
                <a:latin typeface="Arial" pitchFamily="34" charset="0"/>
                <a:ea typeface="Arial" pitchFamily="34" charset="-122"/>
                <a:cs typeface="Arial" pitchFamily="34" charset="-120"/>
              </a:rPr>
              <a:t>ACT 3 / MOVEMENT</a:t>
            </a:r>
            <a:endParaRPr lang="en-US" sz="700" dirty="0"/>
          </a:p>
        </p:txBody>
      </p:sp>
      <p:sp>
        <p:nvSpPr>
          <p:cNvPr id="8" name="Text 6"/>
          <p:cNvSpPr/>
          <p:nvPr/>
        </p:nvSpPr>
        <p:spPr>
          <a:xfrm>
            <a:off x="1499616" y="612648"/>
            <a:ext cx="9692640" cy="594360"/>
          </a:xfrm>
          <a:prstGeom prst="rect">
            <a:avLst/>
          </a:prstGeom>
          <a:noFill/>
          <a:ln/>
        </p:spPr>
        <p:txBody>
          <a:bodyPr wrap="square" lIns="0" tIns="0" rIns="0" bIns="0" rtlCol="0" anchor="t">
            <a:normAutofit/>
          </a:bodyPr>
          <a:lstStyle/>
          <a:p>
            <a:pPr indent="0" marL="0">
              <a:buNone/>
            </a:pPr>
            <a:r>
              <a:rPr lang="en-US" sz="2800" dirty="0">
                <a:solidFill>
                  <a:srgbClr val="ECDED6"/>
                </a:solidFill>
                <a:latin typeface="Georgia" pitchFamily="34" charset="0"/>
                <a:ea typeface="Georgia" pitchFamily="34" charset="-122"/>
                <a:cs typeface="Georgia" pitchFamily="34" charset="-120"/>
              </a:rPr>
              <a:t>Let an object return changed.</a:t>
            </a:r>
            <a:endParaRPr lang="en-US" sz="2800" dirty="0"/>
          </a:p>
        </p:txBody>
      </p:sp>
      <p:sp>
        <p:nvSpPr>
          <p:cNvPr id="9" name="Text 7"/>
          <p:cNvSpPr/>
          <p:nvPr/>
        </p:nvSpPr>
        <p:spPr>
          <a:xfrm>
            <a:off x="11475720" y="438912"/>
            <a:ext cx="1325880" cy="182880"/>
          </a:xfrm>
          <a:prstGeom prst="rect">
            <a:avLst/>
          </a:prstGeom>
          <a:noFill/>
          <a:ln/>
        </p:spPr>
        <p:txBody>
          <a:bodyPr wrap="square" lIns="0" tIns="0" rIns="0" bIns="0" rtlCol="0" anchor="t">
            <a:normAutofit/>
          </a:bodyPr>
          <a:lstStyle/>
          <a:p>
            <a:pPr algn="r" indent="0" marL="0">
              <a:buNone/>
            </a:pPr>
            <a:r>
              <a:rPr lang="en-US" sz="700" dirty="0">
                <a:solidFill>
                  <a:srgbClr val="E7B66E"/>
                </a:solidFill>
                <a:latin typeface="Arial" pitchFamily="34" charset="0"/>
                <a:ea typeface="Arial" pitchFamily="34" charset="-122"/>
                <a:cs typeface="Arial" pitchFamily="34" charset="-120"/>
              </a:rPr>
              <a:t>LOCAL / UNMARKED</a:t>
            </a:r>
            <a:endParaRPr lang="en-US" sz="700" dirty="0"/>
          </a:p>
        </p:txBody>
      </p:sp>
      <p:sp>
        <p:nvSpPr>
          <p:cNvPr id="10" name="Shape 8"/>
          <p:cNvSpPr/>
          <p:nvPr/>
        </p:nvSpPr>
        <p:spPr>
          <a:xfrm>
            <a:off x="1499616" y="1307592"/>
            <a:ext cx="1819656" cy="448056"/>
          </a:xfrm>
          <a:prstGeom prst="rect">
            <a:avLst/>
          </a:prstGeom>
          <a:solidFill>
            <a:srgbClr val="30201E"/>
          </a:solidFill>
          <a:ln w="8890">
            <a:solidFill>
              <a:srgbClr val="6D5768"/>
            </a:solidFill>
            <a:prstDash val="solid"/>
          </a:ln>
        </p:spPr>
      </p:sp>
      <p:sp>
        <p:nvSpPr>
          <p:cNvPr id="11" name="Text 9"/>
          <p:cNvSpPr/>
          <p:nvPr/>
        </p:nvSpPr>
        <p:spPr>
          <a:xfrm>
            <a:off x="1572768"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E7B66E"/>
                </a:solidFill>
                <a:latin typeface="Georgia" pitchFamily="34" charset="0"/>
                <a:ea typeface="Georgia" pitchFamily="34" charset="-122"/>
                <a:cs typeface="Georgia" pitchFamily="34" charset="-120"/>
              </a:rPr>
              <a:t>1</a:t>
            </a:r>
            <a:endParaRPr lang="en-US" sz="1700" dirty="0"/>
          </a:p>
        </p:txBody>
      </p:sp>
      <p:sp>
        <p:nvSpPr>
          <p:cNvPr id="12" name="Text 10"/>
          <p:cNvSpPr/>
          <p:nvPr/>
        </p:nvSpPr>
        <p:spPr>
          <a:xfrm>
            <a:off x="1865376"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Move an idea, not a person.</a:t>
            </a:r>
            <a:endParaRPr lang="en-US" sz="700" dirty="0"/>
          </a:p>
        </p:txBody>
      </p:sp>
      <p:sp>
        <p:nvSpPr>
          <p:cNvPr id="13" name="Shape 11"/>
          <p:cNvSpPr/>
          <p:nvPr/>
        </p:nvSpPr>
        <p:spPr>
          <a:xfrm>
            <a:off x="3392424" y="1307592"/>
            <a:ext cx="1819656" cy="448056"/>
          </a:xfrm>
          <a:prstGeom prst="rect">
            <a:avLst/>
          </a:prstGeom>
          <a:solidFill>
            <a:srgbClr val="30201E"/>
          </a:solidFill>
          <a:ln w="8890">
            <a:solidFill>
              <a:srgbClr val="6D5768"/>
            </a:solidFill>
            <a:prstDash val="solid"/>
          </a:ln>
        </p:spPr>
      </p:sp>
      <p:sp>
        <p:nvSpPr>
          <p:cNvPr id="14" name="Text 12"/>
          <p:cNvSpPr/>
          <p:nvPr/>
        </p:nvSpPr>
        <p:spPr>
          <a:xfrm>
            <a:off x="3465576"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E7B66E"/>
                </a:solidFill>
                <a:latin typeface="Georgia" pitchFamily="34" charset="0"/>
                <a:ea typeface="Georgia" pitchFamily="34" charset="-122"/>
                <a:cs typeface="Georgia" pitchFamily="34" charset="-120"/>
              </a:rPr>
              <a:t>2</a:t>
            </a:r>
            <a:endParaRPr lang="en-US" sz="1700" dirty="0"/>
          </a:p>
        </p:txBody>
      </p:sp>
      <p:sp>
        <p:nvSpPr>
          <p:cNvPr id="15" name="Text 13"/>
          <p:cNvSpPr/>
          <p:nvPr/>
        </p:nvSpPr>
        <p:spPr>
          <a:xfrm>
            <a:off x="3758184"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Use a repeated phrase carefully.</a:t>
            </a:r>
            <a:endParaRPr lang="en-US" sz="700" dirty="0"/>
          </a:p>
        </p:txBody>
      </p:sp>
      <p:sp>
        <p:nvSpPr>
          <p:cNvPr id="16" name="Shape 14"/>
          <p:cNvSpPr/>
          <p:nvPr/>
        </p:nvSpPr>
        <p:spPr>
          <a:xfrm>
            <a:off x="5285232" y="1307592"/>
            <a:ext cx="1819656" cy="448056"/>
          </a:xfrm>
          <a:prstGeom prst="rect">
            <a:avLst/>
          </a:prstGeom>
          <a:solidFill>
            <a:srgbClr val="30201E"/>
          </a:solidFill>
          <a:ln w="8890">
            <a:solidFill>
              <a:srgbClr val="6D5768"/>
            </a:solidFill>
            <a:prstDash val="solid"/>
          </a:ln>
        </p:spPr>
      </p:sp>
      <p:sp>
        <p:nvSpPr>
          <p:cNvPr id="17" name="Text 15"/>
          <p:cNvSpPr/>
          <p:nvPr/>
        </p:nvSpPr>
        <p:spPr>
          <a:xfrm>
            <a:off x="5358384"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E7B66E"/>
                </a:solidFill>
                <a:latin typeface="Georgia" pitchFamily="34" charset="0"/>
                <a:ea typeface="Georgia" pitchFamily="34" charset="-122"/>
                <a:cs typeface="Georgia" pitchFamily="34" charset="-120"/>
              </a:rPr>
              <a:t>3</a:t>
            </a:r>
            <a:endParaRPr lang="en-US" sz="1700" dirty="0"/>
          </a:p>
        </p:txBody>
      </p:sp>
      <p:sp>
        <p:nvSpPr>
          <p:cNvPr id="18" name="Text 16"/>
          <p:cNvSpPr/>
          <p:nvPr/>
        </p:nvSpPr>
        <p:spPr>
          <a:xfrm>
            <a:off x="5650992"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Make room for another voice.</a:t>
            </a:r>
            <a:endParaRPr lang="en-US" sz="700" dirty="0"/>
          </a:p>
        </p:txBody>
      </p:sp>
      <p:sp>
        <p:nvSpPr>
          <p:cNvPr id="19" name="Shape 17"/>
          <p:cNvSpPr/>
          <p:nvPr/>
        </p:nvSpPr>
        <p:spPr>
          <a:xfrm>
            <a:off x="7178040" y="1307592"/>
            <a:ext cx="1819656" cy="448056"/>
          </a:xfrm>
          <a:prstGeom prst="rect">
            <a:avLst/>
          </a:prstGeom>
          <a:solidFill>
            <a:srgbClr val="30201E"/>
          </a:solidFill>
          <a:ln w="8890">
            <a:solidFill>
              <a:srgbClr val="E7B66E"/>
            </a:solidFill>
            <a:prstDash val="solid"/>
          </a:ln>
        </p:spPr>
      </p:sp>
      <p:sp>
        <p:nvSpPr>
          <p:cNvPr id="20" name="Text 18"/>
          <p:cNvSpPr/>
          <p:nvPr/>
        </p:nvSpPr>
        <p:spPr>
          <a:xfrm>
            <a:off x="7251192"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E7B66E"/>
                </a:solidFill>
                <a:latin typeface="Georgia" pitchFamily="34" charset="0"/>
                <a:ea typeface="Georgia" pitchFamily="34" charset="-122"/>
                <a:cs typeface="Georgia" pitchFamily="34" charset="-120"/>
              </a:rPr>
              <a:t>4</a:t>
            </a:r>
            <a:endParaRPr lang="en-US" sz="1700" dirty="0"/>
          </a:p>
        </p:txBody>
      </p:sp>
      <p:sp>
        <p:nvSpPr>
          <p:cNvPr id="21" name="Text 19"/>
          <p:cNvSpPr/>
          <p:nvPr/>
        </p:nvSpPr>
        <p:spPr>
          <a:xfrm>
            <a:off x="7543800"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Let an object return changed.</a:t>
            </a:r>
            <a:endParaRPr lang="en-US" sz="700" dirty="0"/>
          </a:p>
        </p:txBody>
      </p:sp>
      <p:sp>
        <p:nvSpPr>
          <p:cNvPr id="22" name="Shape 20"/>
          <p:cNvSpPr/>
          <p:nvPr/>
        </p:nvSpPr>
        <p:spPr>
          <a:xfrm>
            <a:off x="9070848" y="1307592"/>
            <a:ext cx="1819656" cy="448056"/>
          </a:xfrm>
          <a:prstGeom prst="rect">
            <a:avLst/>
          </a:prstGeom>
          <a:solidFill>
            <a:srgbClr val="30201E"/>
          </a:solidFill>
          <a:ln w="8890">
            <a:solidFill>
              <a:srgbClr val="6D5768"/>
            </a:solidFill>
            <a:prstDash val="solid"/>
          </a:ln>
        </p:spPr>
      </p:sp>
      <p:sp>
        <p:nvSpPr>
          <p:cNvPr id="23" name="Text 21"/>
          <p:cNvSpPr/>
          <p:nvPr/>
        </p:nvSpPr>
        <p:spPr>
          <a:xfrm>
            <a:off x="9144000"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E7B66E"/>
                </a:solidFill>
                <a:latin typeface="Georgia" pitchFamily="34" charset="0"/>
                <a:ea typeface="Georgia" pitchFamily="34" charset="-122"/>
                <a:cs typeface="Georgia" pitchFamily="34" charset="-120"/>
              </a:rPr>
              <a:t>5</a:t>
            </a:r>
            <a:endParaRPr lang="en-US" sz="1700" dirty="0"/>
          </a:p>
        </p:txBody>
      </p:sp>
      <p:sp>
        <p:nvSpPr>
          <p:cNvPr id="24" name="Text 22"/>
          <p:cNvSpPr/>
          <p:nvPr/>
        </p:nvSpPr>
        <p:spPr>
          <a:xfrm>
            <a:off x="9436608"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Keep a transition readable.</a:t>
            </a:r>
            <a:endParaRPr lang="en-US" sz="700" dirty="0"/>
          </a:p>
        </p:txBody>
      </p:sp>
      <p:sp>
        <p:nvSpPr>
          <p:cNvPr id="25" name="Shape 23"/>
          <p:cNvSpPr/>
          <p:nvPr/>
        </p:nvSpPr>
        <p:spPr>
          <a:xfrm>
            <a:off x="10963656" y="1307592"/>
            <a:ext cx="1819656" cy="448056"/>
          </a:xfrm>
          <a:prstGeom prst="rect">
            <a:avLst/>
          </a:prstGeom>
          <a:solidFill>
            <a:srgbClr val="30201E"/>
          </a:solidFill>
          <a:ln w="8890">
            <a:solidFill>
              <a:srgbClr val="6D5768"/>
            </a:solidFill>
            <a:prstDash val="solid"/>
          </a:ln>
        </p:spPr>
      </p:sp>
      <p:sp>
        <p:nvSpPr>
          <p:cNvPr id="26" name="Text 24"/>
          <p:cNvSpPr/>
          <p:nvPr/>
        </p:nvSpPr>
        <p:spPr>
          <a:xfrm>
            <a:off x="11036808"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E7B66E"/>
                </a:solidFill>
                <a:latin typeface="Georgia" pitchFamily="34" charset="0"/>
                <a:ea typeface="Georgia" pitchFamily="34" charset="-122"/>
                <a:cs typeface="Georgia" pitchFamily="34" charset="-120"/>
              </a:rPr>
              <a:t>6</a:t>
            </a:r>
            <a:endParaRPr lang="en-US" sz="1700" dirty="0"/>
          </a:p>
        </p:txBody>
      </p:sp>
      <p:sp>
        <p:nvSpPr>
          <p:cNvPr id="27" name="Text 25"/>
          <p:cNvSpPr/>
          <p:nvPr/>
        </p:nvSpPr>
        <p:spPr>
          <a:xfrm>
            <a:off x="11329416"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Find the turn without a verdict.</a:t>
            </a:r>
            <a:endParaRPr lang="en-US" sz="700" dirty="0"/>
          </a:p>
        </p:txBody>
      </p:sp>
      <p:pic>
        <p:nvPicPr>
          <p:cNvPr id="28" name="Image 0" descr="/home/user/design-buddy/design-buddy-home/public/atelier/afterglow/images/08.jpg">    </p:cNvPr>
          <p:cNvPicPr>
            <a:picLocks noChangeAspect="1"/>
          </p:cNvPicPr>
          <p:nvPr/>
        </p:nvPicPr>
        <p:blipFill>
          <a:blip r:embed="rId1"/>
          <a:srcRect l="0" r="0" t="0" b="0"/>
          <a:stretch/>
        </p:blipFill>
        <p:spPr>
          <a:xfrm>
            <a:off x="1499616" y="2066544"/>
            <a:ext cx="6949440" cy="3840480"/>
          </a:xfrm>
          <a:prstGeom prst="rect">
            <a:avLst/>
          </a:prstGeom>
        </p:spPr>
      </p:pic>
      <p:sp>
        <p:nvSpPr>
          <p:cNvPr id="29" name="Text 26"/>
          <p:cNvSpPr/>
          <p:nvPr/>
        </p:nvSpPr>
        <p:spPr>
          <a:xfrm>
            <a:off x="1499616" y="6007608"/>
            <a:ext cx="6949440" cy="164592"/>
          </a:xfrm>
          <a:prstGeom prst="rect">
            <a:avLst/>
          </a:prstGeom>
          <a:noFill/>
          <a:ln/>
        </p:spPr>
        <p:txBody>
          <a:bodyPr wrap="square" lIns="0" tIns="0" rIns="0" bIns="0" rtlCol="0" anchor="t">
            <a:normAutofit/>
          </a:bodyPr>
          <a:lstStyle/>
          <a:p>
            <a:pPr indent="0" marL="0">
              <a:buNone/>
            </a:pPr>
            <a:r>
              <a:rPr lang="en-US" sz="650" dirty="0">
                <a:solidFill>
                  <a:srgbClr val="C0AAB9"/>
                </a:solidFill>
                <a:latin typeface="Arial" pitchFamily="34" charset="0"/>
                <a:ea typeface="Arial" pitchFamily="34" charset="-122"/>
                <a:cs typeface="Arial" pitchFamily="34" charset="-120"/>
              </a:rPr>
              <a:t>Watercolour 8 / invented setting and adults / not production evidence</a:t>
            </a:r>
            <a:endParaRPr lang="en-US" sz="650" dirty="0"/>
          </a:p>
        </p:txBody>
      </p:sp>
      <p:sp>
        <p:nvSpPr>
          <p:cNvPr id="30" name="Text 27"/>
          <p:cNvSpPr/>
          <p:nvPr/>
        </p:nvSpPr>
        <p:spPr>
          <a:xfrm>
            <a:off x="8705088" y="2139696"/>
            <a:ext cx="4133088" cy="164592"/>
          </a:xfrm>
          <a:prstGeom prst="rect">
            <a:avLst/>
          </a:prstGeom>
          <a:noFill/>
          <a:ln/>
        </p:spPr>
        <p:txBody>
          <a:bodyPr wrap="square" lIns="0" tIns="0" rIns="0" bIns="0" rtlCol="0" anchor="t">
            <a:normAutofit/>
          </a:bodyPr>
          <a:lstStyle/>
          <a:p>
            <a:pPr indent="0" marL="0">
              <a:buNone/>
            </a:pPr>
            <a:r>
              <a:rPr lang="en-US" sz="700" spc="110" kern="0" dirty="0">
                <a:solidFill>
                  <a:srgbClr val="E7B66E"/>
                </a:solidFill>
                <a:latin typeface="Arial" pitchFamily="34" charset="0"/>
                <a:ea typeface="Arial" pitchFamily="34" charset="-122"/>
                <a:cs typeface="Arial" pitchFamily="34" charset="-120"/>
              </a:rPr>
              <a:t>STORY INTENTION</a:t>
            </a:r>
            <a:endParaRPr lang="en-US" sz="700" dirty="0"/>
          </a:p>
        </p:txBody>
      </p:sp>
      <p:sp>
        <p:nvSpPr>
          <p:cNvPr id="31" name="Text 28"/>
          <p:cNvSpPr/>
          <p:nvPr/>
        </p:nvSpPr>
        <p:spPr>
          <a:xfrm>
            <a:off x="8705088" y="2514600"/>
            <a:ext cx="4133088" cy="1828800"/>
          </a:xfrm>
          <a:prstGeom prst="rect">
            <a:avLst/>
          </a:prstGeom>
          <a:noFill/>
          <a:ln/>
        </p:spPr>
        <p:txBody>
          <a:bodyPr wrap="square" lIns="0" tIns="0" rIns="0" bIns="0" rtlCol="0" anchor="t">
            <a:normAutofit/>
          </a:bodyPr>
          <a:lstStyle/>
          <a:p>
            <a:pPr indent="0" marL="0">
              <a:buNone/>
            </a:pPr>
            <a:r>
              <a:rPr lang="en-US" sz="1575" dirty="0">
                <a:solidFill>
                  <a:srgbClr val="ECDED6"/>
                </a:solidFill>
                <a:latin typeface="Georgia" pitchFamily="34" charset="0"/>
                <a:ea typeface="Georgia" pitchFamily="34" charset="-122"/>
                <a:cs typeface="Georgia" pitchFamily="34" charset="-120"/>
              </a:rPr>
              <a:t>Bring back the ordinary object from the opening act. Its physical description can remain the same while a character’s understanding changes. Explore that difference in a short paragraph.</a:t>
            </a:r>
            <a:endParaRPr lang="en-US" sz="1575" dirty="0"/>
          </a:p>
        </p:txBody>
      </p:sp>
      <p:sp>
        <p:nvSpPr>
          <p:cNvPr id="32" name="Text 29"/>
          <p:cNvSpPr/>
          <p:nvPr/>
        </p:nvSpPr>
        <p:spPr>
          <a:xfrm>
            <a:off x="8705088" y="4572000"/>
            <a:ext cx="4133088" cy="164592"/>
          </a:xfrm>
          <a:prstGeom prst="rect">
            <a:avLst/>
          </a:prstGeom>
          <a:noFill/>
          <a:ln/>
        </p:spPr>
        <p:txBody>
          <a:bodyPr wrap="square" lIns="0" tIns="0" rIns="0" bIns="0" rtlCol="0" anchor="t">
            <a:normAutofit/>
          </a:bodyPr>
          <a:lstStyle/>
          <a:p>
            <a:pPr indent="0" marL="0">
              <a:buNone/>
            </a:pPr>
            <a:r>
              <a:rPr lang="en-US" sz="700" spc="110" kern="0" dirty="0">
                <a:solidFill>
                  <a:srgbClr val="E7B66E"/>
                </a:solidFill>
                <a:latin typeface="Arial" pitchFamily="34" charset="0"/>
                <a:ea typeface="Arial" pitchFamily="34" charset="-122"/>
                <a:cs typeface="Arial" pitchFamily="34" charset="-120"/>
              </a:rPr>
              <a:t>LEAVE A QUESTION</a:t>
            </a:r>
            <a:endParaRPr lang="en-US" sz="700" dirty="0"/>
          </a:p>
        </p:txBody>
      </p:sp>
      <p:sp>
        <p:nvSpPr>
          <p:cNvPr id="33" name="Text 30"/>
          <p:cNvSpPr/>
          <p:nvPr/>
        </p:nvSpPr>
        <p:spPr>
          <a:xfrm>
            <a:off x="8705088" y="4910328"/>
            <a:ext cx="4133088" cy="822960"/>
          </a:xfrm>
          <a:prstGeom prst="rect">
            <a:avLst/>
          </a:prstGeom>
          <a:noFill/>
          <a:ln/>
        </p:spPr>
        <p:txBody>
          <a:bodyPr wrap="square" lIns="0" tIns="0" rIns="0" bIns="0" rtlCol="0" anchor="t">
            <a:normAutofit/>
          </a:bodyPr>
          <a:lstStyle/>
          <a:p>
            <a:pPr indent="0" marL="0">
              <a:buNone/>
            </a:pPr>
            <a:r>
              <a:rPr lang="en-US" sz="1875" i="1" dirty="0">
                <a:solidFill>
                  <a:srgbClr val="E7B66E"/>
                </a:solidFill>
                <a:latin typeface="Georgia" pitchFamily="34" charset="0"/>
                <a:ea typeface="Georgia" pitchFamily="34" charset="-122"/>
                <a:cs typeface="Georgia" pitchFamily="34" charset="-120"/>
              </a:rPr>
              <a:t>What does the character now understand differently?</a:t>
            </a:r>
            <a:endParaRPr lang="en-US" sz="1875" dirty="0"/>
          </a:p>
        </p:txBody>
      </p:sp>
      <p:sp>
        <p:nvSpPr>
          <p:cNvPr id="34" name="Text 31"/>
          <p:cNvSpPr/>
          <p:nvPr/>
        </p:nvSpPr>
        <p:spPr>
          <a:xfrm>
            <a:off x="8705088" y="5806440"/>
            <a:ext cx="4133088" cy="292608"/>
          </a:xfrm>
          <a:prstGeom prst="rect">
            <a:avLst/>
          </a:prstGeom>
          <a:noFill/>
          <a:ln/>
        </p:spPr>
        <p:txBody>
          <a:bodyPr wrap="square" lIns="0" tIns="0" rIns="0" bIns="0" rtlCol="0" anchor="t">
            <a:normAutofit/>
          </a:bodyPr>
          <a:lstStyle/>
          <a:p>
            <a:pPr indent="0" marL="0">
              <a:buNone/>
            </a:pPr>
            <a:r>
              <a:rPr lang="en-US" sz="700" dirty="0">
                <a:solidFill>
                  <a:srgbClr val="C0AAB9"/>
                </a:solidFill>
                <a:latin typeface="Arial" pitchFamily="34" charset="0"/>
                <a:ea typeface="Arial" pitchFamily="34" charset="-122"/>
                <a:cs typeface="Arial" pitchFamily="34" charset="-120"/>
              </a:rPr>
              <a:t>Beat order is not timing, a technical call or a show schedule.</a:t>
            </a:r>
            <a:endParaRPr lang="en-US" sz="700" dirty="0"/>
          </a:p>
        </p:txBody>
      </p:sp>
      <p:sp>
        <p:nvSpPr>
          <p:cNvPr id="35" name="Shape 32"/>
          <p:cNvSpPr/>
          <p:nvPr/>
        </p:nvSpPr>
        <p:spPr>
          <a:xfrm>
            <a:off x="1499616" y="6583680"/>
            <a:ext cx="3675888" cy="1481328"/>
          </a:xfrm>
          <a:prstGeom prst="rect">
            <a:avLst/>
          </a:prstGeom>
          <a:solidFill>
            <a:srgbClr val="30201E"/>
          </a:solidFill>
          <a:ln w="8890">
            <a:solidFill>
              <a:srgbClr val="735D6D"/>
            </a:solidFill>
            <a:prstDash val="solid"/>
          </a:ln>
        </p:spPr>
      </p:sp>
      <p:sp>
        <p:nvSpPr>
          <p:cNvPr id="36" name="Text 33"/>
          <p:cNvSpPr/>
          <p:nvPr/>
        </p:nvSpPr>
        <p:spPr>
          <a:xfrm>
            <a:off x="1682496"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E7B66E"/>
                </a:solidFill>
                <a:latin typeface="Arial" pitchFamily="34" charset="0"/>
                <a:ea typeface="Arial" pitchFamily="34" charset="-122"/>
                <a:cs typeface="Arial" pitchFamily="34" charset="-120"/>
              </a:rPr>
              <a:t>01 / NOTICE</a:t>
            </a:r>
            <a:endParaRPr lang="en-US" sz="700" dirty="0"/>
          </a:p>
        </p:txBody>
      </p:sp>
      <p:sp>
        <p:nvSpPr>
          <p:cNvPr id="37" name="Text 34"/>
          <p:cNvSpPr/>
          <p:nvPr/>
        </p:nvSpPr>
        <p:spPr>
          <a:xfrm>
            <a:off x="1682496"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A returning object can connect separate moments.</a:t>
            </a:r>
            <a:endParaRPr lang="en-US" sz="1500" dirty="0"/>
          </a:p>
        </p:txBody>
      </p:sp>
      <p:sp>
        <p:nvSpPr>
          <p:cNvPr id="38" name="Shape 35"/>
          <p:cNvSpPr/>
          <p:nvPr/>
        </p:nvSpPr>
        <p:spPr>
          <a:xfrm>
            <a:off x="5321808" y="6583680"/>
            <a:ext cx="3675888" cy="1481328"/>
          </a:xfrm>
          <a:prstGeom prst="rect">
            <a:avLst/>
          </a:prstGeom>
          <a:solidFill>
            <a:srgbClr val="30201E"/>
          </a:solidFill>
          <a:ln w="8890">
            <a:solidFill>
              <a:srgbClr val="735D6D"/>
            </a:solidFill>
            <a:prstDash val="solid"/>
          </a:ln>
        </p:spPr>
      </p:sp>
      <p:sp>
        <p:nvSpPr>
          <p:cNvPr id="39" name="Text 36"/>
          <p:cNvSpPr/>
          <p:nvPr/>
        </p:nvSpPr>
        <p:spPr>
          <a:xfrm>
            <a:off x="5504688"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E7B66E"/>
                </a:solidFill>
                <a:latin typeface="Arial" pitchFamily="34" charset="0"/>
                <a:ea typeface="Arial" pitchFamily="34" charset="-122"/>
                <a:cs typeface="Arial" pitchFamily="34" charset="-120"/>
              </a:rPr>
              <a:t>02 / TRY IN WORDS</a:t>
            </a:r>
            <a:endParaRPr lang="en-US" sz="700" dirty="0"/>
          </a:p>
        </p:txBody>
      </p:sp>
      <p:sp>
        <p:nvSpPr>
          <p:cNvPr id="40" name="Text 37"/>
          <p:cNvSpPr/>
          <p:nvPr/>
        </p:nvSpPr>
        <p:spPr>
          <a:xfrm>
            <a:off x="5504688"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Write before and after descriptions of the same notebook.</a:t>
            </a:r>
            <a:endParaRPr lang="en-US" sz="1500" dirty="0"/>
          </a:p>
        </p:txBody>
      </p:sp>
      <p:sp>
        <p:nvSpPr>
          <p:cNvPr id="41" name="Shape 38"/>
          <p:cNvSpPr/>
          <p:nvPr/>
        </p:nvSpPr>
        <p:spPr>
          <a:xfrm>
            <a:off x="9144000" y="6583680"/>
            <a:ext cx="3675888" cy="1481328"/>
          </a:xfrm>
          <a:prstGeom prst="rect">
            <a:avLst/>
          </a:prstGeom>
          <a:solidFill>
            <a:srgbClr val="30201E"/>
          </a:solidFill>
          <a:ln w="8890">
            <a:solidFill>
              <a:srgbClr val="735D6D"/>
            </a:solidFill>
            <a:prstDash val="solid"/>
          </a:ln>
        </p:spPr>
      </p:sp>
      <p:sp>
        <p:nvSpPr>
          <p:cNvPr id="42" name="Text 39"/>
          <p:cNvSpPr/>
          <p:nvPr/>
        </p:nvSpPr>
        <p:spPr>
          <a:xfrm>
            <a:off x="9326880"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E7B66E"/>
                </a:solidFill>
                <a:latin typeface="Arial" pitchFamily="34" charset="0"/>
                <a:ea typeface="Arial" pitchFamily="34" charset="-122"/>
                <a:cs typeface="Arial" pitchFamily="34" charset="-120"/>
              </a:rPr>
              <a:t>03 / KEEP VISIBLE</a:t>
            </a:r>
            <a:endParaRPr lang="en-US" sz="700" dirty="0"/>
          </a:p>
        </p:txBody>
      </p:sp>
      <p:sp>
        <p:nvSpPr>
          <p:cNvPr id="43" name="Text 40"/>
          <p:cNvSpPr/>
          <p:nvPr/>
        </p:nvSpPr>
        <p:spPr>
          <a:xfrm>
            <a:off x="9326880"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Preserve the detail that lets readers recognise it.</a:t>
            </a:r>
            <a:endParaRPr lang="en-US" sz="1500" dirty="0"/>
          </a:p>
        </p:txBody>
      </p:sp>
      <p:sp>
        <p:nvSpPr>
          <p:cNvPr id="44" name="Shape 41"/>
          <p:cNvSpPr/>
          <p:nvPr/>
        </p:nvSpPr>
        <p:spPr>
          <a:xfrm>
            <a:off x="1499616" y="8211312"/>
            <a:ext cx="11338560" cy="0"/>
          </a:xfrm>
          <a:prstGeom prst="line">
            <a:avLst/>
          </a:prstGeom>
          <a:noFill/>
          <a:ln w="8890">
            <a:solidFill>
              <a:srgbClr val="796170"/>
            </a:solidFill>
            <a:prstDash val="solid"/>
          </a:ln>
        </p:spPr>
      </p:sp>
      <p:sp>
        <p:nvSpPr>
          <p:cNvPr id="45" name="Text 42"/>
          <p:cNvSpPr/>
          <p:nvPr/>
        </p:nvSpPr>
        <p:spPr>
          <a:xfrm>
            <a:off x="1499616" y="8339328"/>
            <a:ext cx="8229600" cy="118872"/>
          </a:xfrm>
          <a:prstGeom prst="rect">
            <a:avLst/>
          </a:prstGeom>
          <a:noFill/>
          <a:ln/>
        </p:spPr>
        <p:txBody>
          <a:bodyPr wrap="square" lIns="0" tIns="0" rIns="0" bIns="0" rtlCol="0" anchor="t">
            <a:normAutofit/>
          </a:bodyPr>
          <a:lstStyle/>
          <a:p>
            <a:pPr indent="0" marL="0">
              <a:buNone/>
            </a:pPr>
            <a:r>
              <a:rPr lang="en-US" sz="650" dirty="0">
                <a:solidFill>
                  <a:srgbClr val="C0AAB9"/>
                </a:solidFill>
                <a:latin typeface="Arial" pitchFamily="34" charset="0"/>
                <a:ea typeface="Arial" pitchFamily="34" charset="-122"/>
                <a:cs typeface="Arial" pitchFamily="34" charset="-120"/>
              </a:rPr>
              <a:t>FICTIONAL WRITING WORKSHOP / NOT A STAGING OR APPROVAL PLAN</a:t>
            </a:r>
            <a:endParaRPr lang="en-US" sz="650" dirty="0"/>
          </a:p>
        </p:txBody>
      </p:sp>
      <p:sp>
        <p:nvSpPr>
          <p:cNvPr id="46" name="Text 43"/>
          <p:cNvSpPr/>
          <p:nvPr/>
        </p:nvSpPr>
        <p:spPr>
          <a:xfrm>
            <a:off x="9729216" y="8339328"/>
            <a:ext cx="3108960" cy="118872"/>
          </a:xfrm>
          <a:prstGeom prst="rect">
            <a:avLst/>
          </a:prstGeom>
          <a:noFill/>
          <a:ln/>
        </p:spPr>
        <p:txBody>
          <a:bodyPr wrap="square" lIns="0" tIns="0" rIns="0" bIns="0" rtlCol="0" anchor="t">
            <a:normAutofit/>
          </a:bodyPr>
          <a:lstStyle/>
          <a:p>
            <a:pPr algn="r" indent="0" marL="0">
              <a:buNone/>
            </a:pPr>
            <a:r>
              <a:rPr lang="en-US" sz="650" dirty="0">
                <a:solidFill>
                  <a:srgbClr val="C0AAB9"/>
                </a:solidFill>
                <a:latin typeface="Arial" pitchFamily="34" charset="0"/>
                <a:ea typeface="Arial" pitchFamily="34" charset="-122"/>
                <a:cs typeface="Arial" pitchFamily="34" charset="-120"/>
              </a:rPr>
              <a:t>DRAFT / 14 OF 15 ARTWORKS / 16 OF 30</a:t>
            </a:r>
            <a:endParaRPr lang="en-US" sz="6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30201E"/>
        </a:solidFill>
      </p:bgPr>
    </p:bg>
    <p:spTree>
      <p:nvGrpSpPr>
        <p:cNvPr id="1" name=""/>
        <p:cNvGrpSpPr/>
        <p:nvPr/>
      </p:nvGrpSpPr>
      <p:grpSpPr>
        <a:xfrm>
          <a:off x="0" y="0"/>
          <a:ext cx="0" cy="0"/>
          <a:chOff x="0" y="0"/>
          <a:chExt cx="0" cy="0"/>
        </a:xfrm>
      </p:grpSpPr>
      <p:sp>
        <p:nvSpPr>
          <p:cNvPr id="2" name="Shape 0"/>
          <p:cNvSpPr/>
          <p:nvPr/>
        </p:nvSpPr>
        <p:spPr>
          <a:xfrm>
            <a:off x="1243584" y="329184"/>
            <a:ext cx="0" cy="8119872"/>
          </a:xfrm>
          <a:prstGeom prst="line">
            <a:avLst/>
          </a:prstGeom>
          <a:noFill/>
          <a:ln w="10160">
            <a:solidFill>
              <a:srgbClr val="776072"/>
            </a:solidFill>
            <a:prstDash val="solid"/>
          </a:ln>
        </p:spPr>
      </p:sp>
      <p:sp>
        <p:nvSpPr>
          <p:cNvPr id="3" name="Text 1"/>
          <p:cNvSpPr/>
          <p:nvPr/>
        </p:nvSpPr>
        <p:spPr>
          <a:xfrm>
            <a:off x="393192" y="457200"/>
            <a:ext cx="685800" cy="457200"/>
          </a:xfrm>
          <a:prstGeom prst="rect">
            <a:avLst/>
          </a:prstGeom>
          <a:noFill/>
          <a:ln/>
        </p:spPr>
        <p:txBody>
          <a:bodyPr wrap="square" lIns="0" tIns="0" rIns="0" bIns="0" rtlCol="0" anchor="t">
            <a:normAutofit/>
          </a:bodyPr>
          <a:lstStyle/>
          <a:p>
            <a:pPr indent="0" marL="0">
              <a:buNone/>
            </a:pPr>
            <a:r>
              <a:rPr lang="en-US" sz="600" dirty="0">
                <a:solidFill>
                  <a:srgbClr val="C0AAB9"/>
                </a:solidFill>
                <a:latin typeface="Arial" pitchFamily="34" charset="0"/>
                <a:ea typeface="Arial" pitchFamily="34" charset="-122"/>
                <a:cs typeface="Arial" pitchFamily="34" charset="-120"/>
              </a:rPr>
              <a:t>DESIGN BUDDY</a:t>
            </a:r>
            <a:endParaRPr lang="en-US" sz="600" dirty="0"/>
          </a:p>
          <a:p>
            <a:pPr indent="0" marL="0">
              <a:buNone/>
            </a:pPr>
            <a:r>
              <a:rPr lang="en-US" sz="600" dirty="0">
                <a:solidFill>
                  <a:srgbClr val="C0AAB9"/>
                </a:solidFill>
                <a:latin typeface="Arial" pitchFamily="34" charset="0"/>
                <a:ea typeface="Arial" pitchFamily="34" charset="-122"/>
                <a:cs typeface="Arial" pitchFamily="34" charset="-120"/>
              </a:rPr>
              <a:t>CREATIVE EXERCISE</a:t>
            </a:r>
            <a:endParaRPr lang="en-US" sz="600" dirty="0"/>
          </a:p>
        </p:txBody>
      </p:sp>
      <p:sp>
        <p:nvSpPr>
          <p:cNvPr id="4" name="Text 2"/>
          <p:cNvSpPr/>
          <p:nvPr/>
        </p:nvSpPr>
        <p:spPr>
          <a:xfrm>
            <a:off x="502920" y="1920240"/>
            <a:ext cx="502920" cy="4480560"/>
          </a:xfrm>
          <a:prstGeom prst="rect">
            <a:avLst/>
          </a:prstGeom>
          <a:noFill/>
          <a:ln/>
        </p:spPr>
        <p:txBody>
          <a:bodyPr wrap="square" lIns="0" tIns="0" rIns="0" bIns="0" rtlCol="0" anchor="t">
            <a:normAutofit/>
          </a:bodyPr>
          <a:lstStyle/>
          <a:p>
            <a:pPr algn="ctr" indent="0" marL="0">
              <a:buNone/>
            </a:pPr>
            <a:r>
              <a:rPr lang="en-US" sz="2500" dirty="0">
                <a:solidFill>
                  <a:srgbClr val="E7B66E"/>
                </a:solidFill>
                <a:latin typeface="Georgia" pitchFamily="34" charset="0"/>
                <a:ea typeface="Georgia" pitchFamily="34" charset="-122"/>
                <a:cs typeface="Georgia" pitchFamily="34" charset="-120"/>
              </a:rPr>
              <a:t>A</a:t>
            </a:r>
            <a:endParaRPr lang="en-US" sz="2500" dirty="0"/>
          </a:p>
          <a:p>
            <a:pPr algn="ctr" indent="0" marL="0">
              <a:buNone/>
            </a:pPr>
            <a:r>
              <a:rPr lang="en-US" sz="2500" dirty="0">
                <a:solidFill>
                  <a:srgbClr val="E7B66E"/>
                </a:solidFill>
                <a:latin typeface="Georgia" pitchFamily="34" charset="0"/>
                <a:ea typeface="Georgia" pitchFamily="34" charset="-122"/>
                <a:cs typeface="Georgia" pitchFamily="34" charset="-120"/>
              </a:rPr>
              <a:t>F</a:t>
            </a:r>
            <a:endParaRPr lang="en-US" sz="2500" dirty="0"/>
          </a:p>
          <a:p>
            <a:pPr algn="ctr" indent="0" marL="0">
              <a:buNone/>
            </a:pPr>
            <a:r>
              <a:rPr lang="en-US" sz="2500" dirty="0">
                <a:solidFill>
                  <a:srgbClr val="E7B66E"/>
                </a:solidFill>
                <a:latin typeface="Georgia" pitchFamily="34" charset="0"/>
                <a:ea typeface="Georgia" pitchFamily="34" charset="-122"/>
                <a:cs typeface="Georgia" pitchFamily="34" charset="-120"/>
              </a:rPr>
              <a:t>T</a:t>
            </a:r>
            <a:endParaRPr lang="en-US" sz="2500" dirty="0"/>
          </a:p>
          <a:p>
            <a:pPr algn="ctr" indent="0" marL="0">
              <a:buNone/>
            </a:pPr>
            <a:r>
              <a:rPr lang="en-US" sz="2500" dirty="0">
                <a:solidFill>
                  <a:srgbClr val="E7B66E"/>
                </a:solidFill>
                <a:latin typeface="Georgia" pitchFamily="34" charset="0"/>
                <a:ea typeface="Georgia" pitchFamily="34" charset="-122"/>
                <a:cs typeface="Georgia" pitchFamily="34" charset="-120"/>
              </a:rPr>
              <a:t>E</a:t>
            </a:r>
            <a:endParaRPr lang="en-US" sz="2500" dirty="0"/>
          </a:p>
          <a:p>
            <a:pPr algn="ctr" indent="0" marL="0">
              <a:buNone/>
            </a:pPr>
            <a:r>
              <a:rPr lang="en-US" sz="2500" dirty="0">
                <a:solidFill>
                  <a:srgbClr val="E7B66E"/>
                </a:solidFill>
                <a:latin typeface="Georgia" pitchFamily="34" charset="0"/>
                <a:ea typeface="Georgia" pitchFamily="34" charset="-122"/>
                <a:cs typeface="Georgia" pitchFamily="34" charset="-120"/>
              </a:rPr>
              <a:t>R</a:t>
            </a:r>
            <a:endParaRPr lang="en-US" sz="2500" dirty="0"/>
          </a:p>
          <a:p>
            <a:pPr algn="ctr" indent="0" marL="0">
              <a:buNone/>
            </a:pPr>
            <a:r>
              <a:rPr lang="en-US" sz="2500" dirty="0">
                <a:solidFill>
                  <a:srgbClr val="E7B66E"/>
                </a:solidFill>
                <a:latin typeface="Georgia" pitchFamily="34" charset="0"/>
                <a:ea typeface="Georgia" pitchFamily="34" charset="-122"/>
                <a:cs typeface="Georgia" pitchFamily="34" charset="-120"/>
              </a:rPr>
              <a:t>G</a:t>
            </a:r>
            <a:endParaRPr lang="en-US" sz="2500" dirty="0"/>
          </a:p>
          <a:p>
            <a:pPr algn="ctr" indent="0" marL="0">
              <a:buNone/>
            </a:pPr>
            <a:r>
              <a:rPr lang="en-US" sz="2500" dirty="0">
                <a:solidFill>
                  <a:srgbClr val="E7B66E"/>
                </a:solidFill>
                <a:latin typeface="Georgia" pitchFamily="34" charset="0"/>
                <a:ea typeface="Georgia" pitchFamily="34" charset="-122"/>
                <a:cs typeface="Georgia" pitchFamily="34" charset="-120"/>
              </a:rPr>
              <a:t>L</a:t>
            </a:r>
            <a:endParaRPr lang="en-US" sz="2500" dirty="0"/>
          </a:p>
          <a:p>
            <a:pPr algn="ctr" indent="0" marL="0">
              <a:buNone/>
            </a:pPr>
            <a:r>
              <a:rPr lang="en-US" sz="2500" dirty="0">
                <a:solidFill>
                  <a:srgbClr val="E7B66E"/>
                </a:solidFill>
                <a:latin typeface="Georgia" pitchFamily="34" charset="0"/>
                <a:ea typeface="Georgia" pitchFamily="34" charset="-122"/>
                <a:cs typeface="Georgia" pitchFamily="34" charset="-120"/>
              </a:rPr>
              <a:t>O</a:t>
            </a:r>
            <a:endParaRPr lang="en-US" sz="2500" dirty="0"/>
          </a:p>
          <a:p>
            <a:pPr algn="ctr" indent="0" marL="0">
              <a:buNone/>
            </a:pPr>
            <a:r>
              <a:rPr lang="en-US" sz="2500" dirty="0">
                <a:solidFill>
                  <a:srgbClr val="E7B66E"/>
                </a:solidFill>
                <a:latin typeface="Georgia" pitchFamily="34" charset="0"/>
                <a:ea typeface="Georgia" pitchFamily="34" charset="-122"/>
                <a:cs typeface="Georgia" pitchFamily="34" charset="-120"/>
              </a:rPr>
              <a:t>W</a:t>
            </a:r>
            <a:endParaRPr lang="en-US" sz="2500" dirty="0"/>
          </a:p>
        </p:txBody>
      </p:sp>
      <p:sp>
        <p:nvSpPr>
          <p:cNvPr id="5" name="Text 3"/>
          <p:cNvSpPr/>
          <p:nvPr/>
        </p:nvSpPr>
        <p:spPr>
          <a:xfrm>
            <a:off x="402336" y="7022592"/>
            <a:ext cx="731520" cy="594360"/>
          </a:xfrm>
          <a:prstGeom prst="rect">
            <a:avLst/>
          </a:prstGeom>
          <a:noFill/>
          <a:ln/>
        </p:spPr>
        <p:txBody>
          <a:bodyPr wrap="square" lIns="0" tIns="0" rIns="0" bIns="0" rtlCol="0" anchor="t">
            <a:normAutofit/>
          </a:bodyPr>
          <a:lstStyle/>
          <a:p>
            <a:pPr indent="0" marL="0">
              <a:buNone/>
            </a:pPr>
            <a:r>
              <a:rPr lang="en-US" sz="4200" dirty="0">
                <a:solidFill>
                  <a:srgbClr val="E7B66E"/>
                </a:solidFill>
                <a:latin typeface="Georgia" pitchFamily="34" charset="0"/>
                <a:ea typeface="Georgia" pitchFamily="34" charset="-122"/>
                <a:cs typeface="Georgia" pitchFamily="34" charset="-120"/>
              </a:rPr>
              <a:t>17</a:t>
            </a:r>
            <a:endParaRPr lang="en-US" sz="4200" dirty="0"/>
          </a:p>
        </p:txBody>
      </p:sp>
      <p:sp>
        <p:nvSpPr>
          <p:cNvPr id="6" name="Text 4"/>
          <p:cNvSpPr/>
          <p:nvPr/>
        </p:nvSpPr>
        <p:spPr>
          <a:xfrm>
            <a:off x="402336" y="7818120"/>
            <a:ext cx="731520" cy="411480"/>
          </a:xfrm>
          <a:prstGeom prst="rect">
            <a:avLst/>
          </a:prstGeom>
          <a:noFill/>
          <a:ln/>
        </p:spPr>
        <p:txBody>
          <a:bodyPr wrap="square" lIns="0" tIns="0" rIns="0" bIns="0" rtlCol="0" anchor="t">
            <a:normAutofit/>
          </a:bodyPr>
          <a:lstStyle/>
          <a:p>
            <a:pPr indent="0" marL="0">
              <a:buNone/>
            </a:pPr>
            <a:r>
              <a:rPr lang="en-US" sz="700" dirty="0">
                <a:solidFill>
                  <a:srgbClr val="C0AAB9"/>
                </a:solidFill>
                <a:latin typeface="Arial" pitchFamily="34" charset="0"/>
                <a:ea typeface="Arial" pitchFamily="34" charset="-122"/>
                <a:cs typeface="Arial" pitchFamily="34" charset="-120"/>
              </a:rPr>
              <a:t>ACT 3 / 5</a:t>
            </a:r>
            <a:endParaRPr lang="en-US" sz="700" dirty="0"/>
          </a:p>
          <a:p>
            <a:pPr indent="0" marL="0">
              <a:buNone/>
            </a:pPr>
            <a:r>
              <a:rPr lang="en-US" sz="700" dirty="0">
                <a:solidFill>
                  <a:srgbClr val="C0AAB9"/>
                </a:solidFill>
                <a:latin typeface="Arial" pitchFamily="34" charset="0"/>
                <a:ea typeface="Arial" pitchFamily="34" charset="-122"/>
                <a:cs typeface="Arial" pitchFamily="34" charset="-120"/>
              </a:rPr>
              <a:t>BEAT 5 / 6</a:t>
            </a:r>
            <a:endParaRPr lang="en-US" sz="700" dirty="0"/>
          </a:p>
        </p:txBody>
      </p:sp>
      <p:sp>
        <p:nvSpPr>
          <p:cNvPr id="7" name="Text 5"/>
          <p:cNvSpPr/>
          <p:nvPr/>
        </p:nvSpPr>
        <p:spPr>
          <a:xfrm>
            <a:off x="1499616" y="347472"/>
            <a:ext cx="9144000" cy="164592"/>
          </a:xfrm>
          <a:prstGeom prst="rect">
            <a:avLst/>
          </a:prstGeom>
          <a:noFill/>
          <a:ln/>
        </p:spPr>
        <p:txBody>
          <a:bodyPr wrap="square" lIns="0" tIns="0" rIns="0" bIns="0" rtlCol="0" anchor="t">
            <a:normAutofit/>
          </a:bodyPr>
          <a:lstStyle/>
          <a:p>
            <a:pPr indent="0" marL="0">
              <a:buNone/>
            </a:pPr>
            <a:r>
              <a:rPr lang="en-US" sz="700" spc="120" kern="0" dirty="0">
                <a:solidFill>
                  <a:srgbClr val="E7B66E"/>
                </a:solidFill>
                <a:latin typeface="Arial" pitchFamily="34" charset="0"/>
                <a:ea typeface="Arial" pitchFamily="34" charset="-122"/>
                <a:cs typeface="Arial" pitchFamily="34" charset="-120"/>
              </a:rPr>
              <a:t>ACT 3 / MOVEMENT</a:t>
            </a:r>
            <a:endParaRPr lang="en-US" sz="700" dirty="0"/>
          </a:p>
        </p:txBody>
      </p:sp>
      <p:sp>
        <p:nvSpPr>
          <p:cNvPr id="8" name="Text 6"/>
          <p:cNvSpPr/>
          <p:nvPr/>
        </p:nvSpPr>
        <p:spPr>
          <a:xfrm>
            <a:off x="1499616" y="612648"/>
            <a:ext cx="9692640" cy="594360"/>
          </a:xfrm>
          <a:prstGeom prst="rect">
            <a:avLst/>
          </a:prstGeom>
          <a:noFill/>
          <a:ln/>
        </p:spPr>
        <p:txBody>
          <a:bodyPr wrap="square" lIns="0" tIns="0" rIns="0" bIns="0" rtlCol="0" anchor="t">
            <a:normAutofit/>
          </a:bodyPr>
          <a:lstStyle/>
          <a:p>
            <a:pPr indent="0" marL="0">
              <a:buNone/>
            </a:pPr>
            <a:r>
              <a:rPr lang="en-US" sz="2800" dirty="0">
                <a:solidFill>
                  <a:srgbClr val="ECDED6"/>
                </a:solidFill>
                <a:latin typeface="Georgia" pitchFamily="34" charset="0"/>
                <a:ea typeface="Georgia" pitchFamily="34" charset="-122"/>
                <a:cs typeface="Georgia" pitchFamily="34" charset="-120"/>
              </a:rPr>
              <a:t>Keep a transition readable.</a:t>
            </a:r>
            <a:endParaRPr lang="en-US" sz="2800" dirty="0"/>
          </a:p>
        </p:txBody>
      </p:sp>
      <p:sp>
        <p:nvSpPr>
          <p:cNvPr id="9" name="Text 7"/>
          <p:cNvSpPr/>
          <p:nvPr/>
        </p:nvSpPr>
        <p:spPr>
          <a:xfrm>
            <a:off x="11475720" y="438912"/>
            <a:ext cx="1325880" cy="182880"/>
          </a:xfrm>
          <a:prstGeom prst="rect">
            <a:avLst/>
          </a:prstGeom>
          <a:noFill/>
          <a:ln/>
        </p:spPr>
        <p:txBody>
          <a:bodyPr wrap="square" lIns="0" tIns="0" rIns="0" bIns="0" rtlCol="0" anchor="t">
            <a:normAutofit/>
          </a:bodyPr>
          <a:lstStyle/>
          <a:p>
            <a:pPr algn="r" indent="0" marL="0">
              <a:buNone/>
            </a:pPr>
            <a:r>
              <a:rPr lang="en-US" sz="700" dirty="0">
                <a:solidFill>
                  <a:srgbClr val="E7B66E"/>
                </a:solidFill>
                <a:latin typeface="Arial" pitchFamily="34" charset="0"/>
                <a:ea typeface="Arial" pitchFamily="34" charset="-122"/>
                <a:cs typeface="Arial" pitchFamily="34" charset="-120"/>
              </a:rPr>
              <a:t>LOCAL / UNMARKED</a:t>
            </a:r>
            <a:endParaRPr lang="en-US" sz="700" dirty="0"/>
          </a:p>
        </p:txBody>
      </p:sp>
      <p:sp>
        <p:nvSpPr>
          <p:cNvPr id="10" name="Shape 8"/>
          <p:cNvSpPr/>
          <p:nvPr/>
        </p:nvSpPr>
        <p:spPr>
          <a:xfrm>
            <a:off x="1499616" y="1307592"/>
            <a:ext cx="1819656" cy="448056"/>
          </a:xfrm>
          <a:prstGeom prst="rect">
            <a:avLst/>
          </a:prstGeom>
          <a:solidFill>
            <a:srgbClr val="30201E"/>
          </a:solidFill>
          <a:ln w="8890">
            <a:solidFill>
              <a:srgbClr val="6D5768"/>
            </a:solidFill>
            <a:prstDash val="solid"/>
          </a:ln>
        </p:spPr>
      </p:sp>
      <p:sp>
        <p:nvSpPr>
          <p:cNvPr id="11" name="Text 9"/>
          <p:cNvSpPr/>
          <p:nvPr/>
        </p:nvSpPr>
        <p:spPr>
          <a:xfrm>
            <a:off x="1572768"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E7B66E"/>
                </a:solidFill>
                <a:latin typeface="Georgia" pitchFamily="34" charset="0"/>
                <a:ea typeface="Georgia" pitchFamily="34" charset="-122"/>
                <a:cs typeface="Georgia" pitchFamily="34" charset="-120"/>
              </a:rPr>
              <a:t>1</a:t>
            </a:r>
            <a:endParaRPr lang="en-US" sz="1700" dirty="0"/>
          </a:p>
        </p:txBody>
      </p:sp>
      <p:sp>
        <p:nvSpPr>
          <p:cNvPr id="12" name="Text 10"/>
          <p:cNvSpPr/>
          <p:nvPr/>
        </p:nvSpPr>
        <p:spPr>
          <a:xfrm>
            <a:off x="1865376"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Move an idea, not a person.</a:t>
            </a:r>
            <a:endParaRPr lang="en-US" sz="700" dirty="0"/>
          </a:p>
        </p:txBody>
      </p:sp>
      <p:sp>
        <p:nvSpPr>
          <p:cNvPr id="13" name="Shape 11"/>
          <p:cNvSpPr/>
          <p:nvPr/>
        </p:nvSpPr>
        <p:spPr>
          <a:xfrm>
            <a:off x="3392424" y="1307592"/>
            <a:ext cx="1819656" cy="448056"/>
          </a:xfrm>
          <a:prstGeom prst="rect">
            <a:avLst/>
          </a:prstGeom>
          <a:solidFill>
            <a:srgbClr val="30201E"/>
          </a:solidFill>
          <a:ln w="8890">
            <a:solidFill>
              <a:srgbClr val="6D5768"/>
            </a:solidFill>
            <a:prstDash val="solid"/>
          </a:ln>
        </p:spPr>
      </p:sp>
      <p:sp>
        <p:nvSpPr>
          <p:cNvPr id="14" name="Text 12"/>
          <p:cNvSpPr/>
          <p:nvPr/>
        </p:nvSpPr>
        <p:spPr>
          <a:xfrm>
            <a:off x="3465576"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E7B66E"/>
                </a:solidFill>
                <a:latin typeface="Georgia" pitchFamily="34" charset="0"/>
                <a:ea typeface="Georgia" pitchFamily="34" charset="-122"/>
                <a:cs typeface="Georgia" pitchFamily="34" charset="-120"/>
              </a:rPr>
              <a:t>2</a:t>
            </a:r>
            <a:endParaRPr lang="en-US" sz="1700" dirty="0"/>
          </a:p>
        </p:txBody>
      </p:sp>
      <p:sp>
        <p:nvSpPr>
          <p:cNvPr id="15" name="Text 13"/>
          <p:cNvSpPr/>
          <p:nvPr/>
        </p:nvSpPr>
        <p:spPr>
          <a:xfrm>
            <a:off x="3758184"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Use a repeated phrase carefully.</a:t>
            </a:r>
            <a:endParaRPr lang="en-US" sz="700" dirty="0"/>
          </a:p>
        </p:txBody>
      </p:sp>
      <p:sp>
        <p:nvSpPr>
          <p:cNvPr id="16" name="Shape 14"/>
          <p:cNvSpPr/>
          <p:nvPr/>
        </p:nvSpPr>
        <p:spPr>
          <a:xfrm>
            <a:off x="5285232" y="1307592"/>
            <a:ext cx="1819656" cy="448056"/>
          </a:xfrm>
          <a:prstGeom prst="rect">
            <a:avLst/>
          </a:prstGeom>
          <a:solidFill>
            <a:srgbClr val="30201E"/>
          </a:solidFill>
          <a:ln w="8890">
            <a:solidFill>
              <a:srgbClr val="6D5768"/>
            </a:solidFill>
            <a:prstDash val="solid"/>
          </a:ln>
        </p:spPr>
      </p:sp>
      <p:sp>
        <p:nvSpPr>
          <p:cNvPr id="17" name="Text 15"/>
          <p:cNvSpPr/>
          <p:nvPr/>
        </p:nvSpPr>
        <p:spPr>
          <a:xfrm>
            <a:off x="5358384"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E7B66E"/>
                </a:solidFill>
                <a:latin typeface="Georgia" pitchFamily="34" charset="0"/>
                <a:ea typeface="Georgia" pitchFamily="34" charset="-122"/>
                <a:cs typeface="Georgia" pitchFamily="34" charset="-120"/>
              </a:rPr>
              <a:t>3</a:t>
            </a:r>
            <a:endParaRPr lang="en-US" sz="1700" dirty="0"/>
          </a:p>
        </p:txBody>
      </p:sp>
      <p:sp>
        <p:nvSpPr>
          <p:cNvPr id="18" name="Text 16"/>
          <p:cNvSpPr/>
          <p:nvPr/>
        </p:nvSpPr>
        <p:spPr>
          <a:xfrm>
            <a:off x="5650992"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Make room for another voice.</a:t>
            </a:r>
            <a:endParaRPr lang="en-US" sz="700" dirty="0"/>
          </a:p>
        </p:txBody>
      </p:sp>
      <p:sp>
        <p:nvSpPr>
          <p:cNvPr id="19" name="Shape 17"/>
          <p:cNvSpPr/>
          <p:nvPr/>
        </p:nvSpPr>
        <p:spPr>
          <a:xfrm>
            <a:off x="7178040" y="1307592"/>
            <a:ext cx="1819656" cy="448056"/>
          </a:xfrm>
          <a:prstGeom prst="rect">
            <a:avLst/>
          </a:prstGeom>
          <a:solidFill>
            <a:srgbClr val="30201E"/>
          </a:solidFill>
          <a:ln w="8890">
            <a:solidFill>
              <a:srgbClr val="6D5768"/>
            </a:solidFill>
            <a:prstDash val="solid"/>
          </a:ln>
        </p:spPr>
      </p:sp>
      <p:sp>
        <p:nvSpPr>
          <p:cNvPr id="20" name="Text 18"/>
          <p:cNvSpPr/>
          <p:nvPr/>
        </p:nvSpPr>
        <p:spPr>
          <a:xfrm>
            <a:off x="7251192"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E7B66E"/>
                </a:solidFill>
                <a:latin typeface="Georgia" pitchFamily="34" charset="0"/>
                <a:ea typeface="Georgia" pitchFamily="34" charset="-122"/>
                <a:cs typeface="Georgia" pitchFamily="34" charset="-120"/>
              </a:rPr>
              <a:t>4</a:t>
            </a:r>
            <a:endParaRPr lang="en-US" sz="1700" dirty="0"/>
          </a:p>
        </p:txBody>
      </p:sp>
      <p:sp>
        <p:nvSpPr>
          <p:cNvPr id="21" name="Text 19"/>
          <p:cNvSpPr/>
          <p:nvPr/>
        </p:nvSpPr>
        <p:spPr>
          <a:xfrm>
            <a:off x="7543800"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Let an object return changed.</a:t>
            </a:r>
            <a:endParaRPr lang="en-US" sz="700" dirty="0"/>
          </a:p>
        </p:txBody>
      </p:sp>
      <p:sp>
        <p:nvSpPr>
          <p:cNvPr id="22" name="Shape 20"/>
          <p:cNvSpPr/>
          <p:nvPr/>
        </p:nvSpPr>
        <p:spPr>
          <a:xfrm>
            <a:off x="9070848" y="1307592"/>
            <a:ext cx="1819656" cy="448056"/>
          </a:xfrm>
          <a:prstGeom prst="rect">
            <a:avLst/>
          </a:prstGeom>
          <a:solidFill>
            <a:srgbClr val="30201E"/>
          </a:solidFill>
          <a:ln w="8890">
            <a:solidFill>
              <a:srgbClr val="E7B66E"/>
            </a:solidFill>
            <a:prstDash val="solid"/>
          </a:ln>
        </p:spPr>
      </p:sp>
      <p:sp>
        <p:nvSpPr>
          <p:cNvPr id="23" name="Text 21"/>
          <p:cNvSpPr/>
          <p:nvPr/>
        </p:nvSpPr>
        <p:spPr>
          <a:xfrm>
            <a:off x="9144000"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E7B66E"/>
                </a:solidFill>
                <a:latin typeface="Georgia" pitchFamily="34" charset="0"/>
                <a:ea typeface="Georgia" pitchFamily="34" charset="-122"/>
                <a:cs typeface="Georgia" pitchFamily="34" charset="-120"/>
              </a:rPr>
              <a:t>5</a:t>
            </a:r>
            <a:endParaRPr lang="en-US" sz="1700" dirty="0"/>
          </a:p>
        </p:txBody>
      </p:sp>
      <p:sp>
        <p:nvSpPr>
          <p:cNvPr id="24" name="Text 22"/>
          <p:cNvSpPr/>
          <p:nvPr/>
        </p:nvSpPr>
        <p:spPr>
          <a:xfrm>
            <a:off x="9436608"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Keep a transition readable.</a:t>
            </a:r>
            <a:endParaRPr lang="en-US" sz="700" dirty="0"/>
          </a:p>
        </p:txBody>
      </p:sp>
      <p:sp>
        <p:nvSpPr>
          <p:cNvPr id="25" name="Shape 23"/>
          <p:cNvSpPr/>
          <p:nvPr/>
        </p:nvSpPr>
        <p:spPr>
          <a:xfrm>
            <a:off x="10963656" y="1307592"/>
            <a:ext cx="1819656" cy="448056"/>
          </a:xfrm>
          <a:prstGeom prst="rect">
            <a:avLst/>
          </a:prstGeom>
          <a:solidFill>
            <a:srgbClr val="30201E"/>
          </a:solidFill>
          <a:ln w="8890">
            <a:solidFill>
              <a:srgbClr val="6D5768"/>
            </a:solidFill>
            <a:prstDash val="solid"/>
          </a:ln>
        </p:spPr>
      </p:sp>
      <p:sp>
        <p:nvSpPr>
          <p:cNvPr id="26" name="Text 24"/>
          <p:cNvSpPr/>
          <p:nvPr/>
        </p:nvSpPr>
        <p:spPr>
          <a:xfrm>
            <a:off x="11036808"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E7B66E"/>
                </a:solidFill>
                <a:latin typeface="Georgia" pitchFamily="34" charset="0"/>
                <a:ea typeface="Georgia" pitchFamily="34" charset="-122"/>
                <a:cs typeface="Georgia" pitchFamily="34" charset="-120"/>
              </a:rPr>
              <a:t>6</a:t>
            </a:r>
            <a:endParaRPr lang="en-US" sz="1700" dirty="0"/>
          </a:p>
        </p:txBody>
      </p:sp>
      <p:sp>
        <p:nvSpPr>
          <p:cNvPr id="27" name="Text 25"/>
          <p:cNvSpPr/>
          <p:nvPr/>
        </p:nvSpPr>
        <p:spPr>
          <a:xfrm>
            <a:off x="11329416"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Find the turn without a verdict.</a:t>
            </a:r>
            <a:endParaRPr lang="en-US" sz="700" dirty="0"/>
          </a:p>
        </p:txBody>
      </p:sp>
      <p:pic>
        <p:nvPicPr>
          <p:cNvPr id="28" name="Image 0" descr="/home/user/design-buddy/design-buddy-home/public/atelier/afterglow/images/09.jpg">    </p:cNvPr>
          <p:cNvPicPr>
            <a:picLocks noChangeAspect="1"/>
          </p:cNvPicPr>
          <p:nvPr/>
        </p:nvPicPr>
        <p:blipFill>
          <a:blip r:embed="rId1"/>
          <a:srcRect l="0" r="0" t="0" b="0"/>
          <a:stretch/>
        </p:blipFill>
        <p:spPr>
          <a:xfrm>
            <a:off x="1499616" y="2066544"/>
            <a:ext cx="6949440" cy="3840480"/>
          </a:xfrm>
          <a:prstGeom prst="rect">
            <a:avLst/>
          </a:prstGeom>
        </p:spPr>
      </p:pic>
      <p:sp>
        <p:nvSpPr>
          <p:cNvPr id="29" name="Text 26"/>
          <p:cNvSpPr/>
          <p:nvPr/>
        </p:nvSpPr>
        <p:spPr>
          <a:xfrm>
            <a:off x="1499616" y="6007608"/>
            <a:ext cx="6949440" cy="164592"/>
          </a:xfrm>
          <a:prstGeom prst="rect">
            <a:avLst/>
          </a:prstGeom>
          <a:noFill/>
          <a:ln/>
        </p:spPr>
        <p:txBody>
          <a:bodyPr wrap="square" lIns="0" tIns="0" rIns="0" bIns="0" rtlCol="0" anchor="t">
            <a:normAutofit/>
          </a:bodyPr>
          <a:lstStyle/>
          <a:p>
            <a:pPr indent="0" marL="0">
              <a:buNone/>
            </a:pPr>
            <a:r>
              <a:rPr lang="en-US" sz="650" dirty="0">
                <a:solidFill>
                  <a:srgbClr val="C0AAB9"/>
                </a:solidFill>
                <a:latin typeface="Arial" pitchFamily="34" charset="0"/>
                <a:ea typeface="Arial" pitchFamily="34" charset="-122"/>
                <a:cs typeface="Arial" pitchFamily="34" charset="-120"/>
              </a:rPr>
              <a:t>Watercolour 9 / invented setting and adults / not production evidence</a:t>
            </a:r>
            <a:endParaRPr lang="en-US" sz="650" dirty="0"/>
          </a:p>
        </p:txBody>
      </p:sp>
      <p:sp>
        <p:nvSpPr>
          <p:cNvPr id="30" name="Text 27"/>
          <p:cNvSpPr/>
          <p:nvPr/>
        </p:nvSpPr>
        <p:spPr>
          <a:xfrm>
            <a:off x="8705088" y="2139696"/>
            <a:ext cx="4133088" cy="164592"/>
          </a:xfrm>
          <a:prstGeom prst="rect">
            <a:avLst/>
          </a:prstGeom>
          <a:noFill/>
          <a:ln/>
        </p:spPr>
        <p:txBody>
          <a:bodyPr wrap="square" lIns="0" tIns="0" rIns="0" bIns="0" rtlCol="0" anchor="t">
            <a:normAutofit/>
          </a:bodyPr>
          <a:lstStyle/>
          <a:p>
            <a:pPr indent="0" marL="0">
              <a:buNone/>
            </a:pPr>
            <a:r>
              <a:rPr lang="en-US" sz="700" spc="110" kern="0" dirty="0">
                <a:solidFill>
                  <a:srgbClr val="E7B66E"/>
                </a:solidFill>
                <a:latin typeface="Arial" pitchFamily="34" charset="0"/>
                <a:ea typeface="Arial" pitchFamily="34" charset="-122"/>
                <a:cs typeface="Arial" pitchFamily="34" charset="-120"/>
              </a:rPr>
              <a:t>STORY INTENTION</a:t>
            </a:r>
            <a:endParaRPr lang="en-US" sz="700" dirty="0"/>
          </a:p>
        </p:txBody>
      </p:sp>
      <p:sp>
        <p:nvSpPr>
          <p:cNvPr id="31" name="Text 28"/>
          <p:cNvSpPr/>
          <p:nvPr/>
        </p:nvSpPr>
        <p:spPr>
          <a:xfrm>
            <a:off x="8705088" y="2514600"/>
            <a:ext cx="4133088" cy="1828800"/>
          </a:xfrm>
          <a:prstGeom prst="rect">
            <a:avLst/>
          </a:prstGeom>
          <a:noFill/>
          <a:ln/>
        </p:spPr>
        <p:txBody>
          <a:bodyPr wrap="square" lIns="0" tIns="0" rIns="0" bIns="0" rtlCol="0" anchor="t">
            <a:normAutofit/>
          </a:bodyPr>
          <a:lstStyle/>
          <a:p>
            <a:pPr indent="0" marL="0">
              <a:buNone/>
            </a:pPr>
            <a:r>
              <a:rPr lang="en-US" sz="1575" dirty="0">
                <a:solidFill>
                  <a:srgbClr val="ECDED6"/>
                </a:solidFill>
                <a:latin typeface="Georgia" pitchFamily="34" charset="0"/>
                <a:ea typeface="Georgia" pitchFamily="34" charset="-122"/>
                <a:cs typeface="Georgia" pitchFamily="34" charset="-120"/>
              </a:rPr>
              <a:t>Describe what carries the reader from one imagined exchange to the next: a question, a remembered phrase or an unresolved choice. These are reading connections, not a timed running order for a real show.</a:t>
            </a:r>
            <a:endParaRPr lang="en-US" sz="1575" dirty="0"/>
          </a:p>
        </p:txBody>
      </p:sp>
      <p:sp>
        <p:nvSpPr>
          <p:cNvPr id="32" name="Text 29"/>
          <p:cNvSpPr/>
          <p:nvPr/>
        </p:nvSpPr>
        <p:spPr>
          <a:xfrm>
            <a:off x="8705088" y="4572000"/>
            <a:ext cx="4133088" cy="164592"/>
          </a:xfrm>
          <a:prstGeom prst="rect">
            <a:avLst/>
          </a:prstGeom>
          <a:noFill/>
          <a:ln/>
        </p:spPr>
        <p:txBody>
          <a:bodyPr wrap="square" lIns="0" tIns="0" rIns="0" bIns="0" rtlCol="0" anchor="t">
            <a:normAutofit/>
          </a:bodyPr>
          <a:lstStyle/>
          <a:p>
            <a:pPr indent="0" marL="0">
              <a:buNone/>
            </a:pPr>
            <a:r>
              <a:rPr lang="en-US" sz="700" spc="110" kern="0" dirty="0">
                <a:solidFill>
                  <a:srgbClr val="E7B66E"/>
                </a:solidFill>
                <a:latin typeface="Arial" pitchFamily="34" charset="0"/>
                <a:ea typeface="Arial" pitchFamily="34" charset="-122"/>
                <a:cs typeface="Arial" pitchFamily="34" charset="-120"/>
              </a:rPr>
              <a:t>LEAVE A QUESTION</a:t>
            </a:r>
            <a:endParaRPr lang="en-US" sz="700" dirty="0"/>
          </a:p>
        </p:txBody>
      </p:sp>
      <p:sp>
        <p:nvSpPr>
          <p:cNvPr id="33" name="Text 30"/>
          <p:cNvSpPr/>
          <p:nvPr/>
        </p:nvSpPr>
        <p:spPr>
          <a:xfrm>
            <a:off x="8705088" y="4910328"/>
            <a:ext cx="4133088" cy="822960"/>
          </a:xfrm>
          <a:prstGeom prst="rect">
            <a:avLst/>
          </a:prstGeom>
          <a:noFill/>
          <a:ln/>
        </p:spPr>
        <p:txBody>
          <a:bodyPr wrap="square" lIns="0" tIns="0" rIns="0" bIns="0" rtlCol="0" anchor="t">
            <a:normAutofit/>
          </a:bodyPr>
          <a:lstStyle/>
          <a:p>
            <a:pPr indent="0" marL="0">
              <a:buNone/>
            </a:pPr>
            <a:r>
              <a:rPr lang="en-US" sz="1875" i="1" dirty="0">
                <a:solidFill>
                  <a:srgbClr val="E7B66E"/>
                </a:solidFill>
                <a:latin typeface="Georgia" pitchFamily="34" charset="0"/>
                <a:ea typeface="Georgia" pitchFamily="34" charset="-122"/>
                <a:cs typeface="Georgia" pitchFamily="34" charset="-120"/>
              </a:rPr>
              <a:t>Why would a reader want to follow this next exchange?</a:t>
            </a:r>
            <a:endParaRPr lang="en-US" sz="1875" dirty="0"/>
          </a:p>
        </p:txBody>
      </p:sp>
      <p:sp>
        <p:nvSpPr>
          <p:cNvPr id="34" name="Text 31"/>
          <p:cNvSpPr/>
          <p:nvPr/>
        </p:nvSpPr>
        <p:spPr>
          <a:xfrm>
            <a:off x="8705088" y="5806440"/>
            <a:ext cx="4133088" cy="292608"/>
          </a:xfrm>
          <a:prstGeom prst="rect">
            <a:avLst/>
          </a:prstGeom>
          <a:noFill/>
          <a:ln/>
        </p:spPr>
        <p:txBody>
          <a:bodyPr wrap="square" lIns="0" tIns="0" rIns="0" bIns="0" rtlCol="0" anchor="t">
            <a:normAutofit/>
          </a:bodyPr>
          <a:lstStyle/>
          <a:p>
            <a:pPr indent="0" marL="0">
              <a:buNone/>
            </a:pPr>
            <a:r>
              <a:rPr lang="en-US" sz="700" dirty="0">
                <a:solidFill>
                  <a:srgbClr val="C0AAB9"/>
                </a:solidFill>
                <a:latin typeface="Arial" pitchFamily="34" charset="0"/>
                <a:ea typeface="Arial" pitchFamily="34" charset="-122"/>
                <a:cs typeface="Arial" pitchFamily="34" charset="-120"/>
              </a:rPr>
              <a:t>Beat order is not timing, a technical call or a show schedule.</a:t>
            </a:r>
            <a:endParaRPr lang="en-US" sz="700" dirty="0"/>
          </a:p>
        </p:txBody>
      </p:sp>
      <p:sp>
        <p:nvSpPr>
          <p:cNvPr id="35" name="Shape 32"/>
          <p:cNvSpPr/>
          <p:nvPr/>
        </p:nvSpPr>
        <p:spPr>
          <a:xfrm>
            <a:off x="1499616" y="6583680"/>
            <a:ext cx="3675888" cy="1481328"/>
          </a:xfrm>
          <a:prstGeom prst="rect">
            <a:avLst/>
          </a:prstGeom>
          <a:solidFill>
            <a:srgbClr val="30201E"/>
          </a:solidFill>
          <a:ln w="8890">
            <a:solidFill>
              <a:srgbClr val="735D6D"/>
            </a:solidFill>
            <a:prstDash val="solid"/>
          </a:ln>
        </p:spPr>
      </p:sp>
      <p:sp>
        <p:nvSpPr>
          <p:cNvPr id="36" name="Text 33"/>
          <p:cNvSpPr/>
          <p:nvPr/>
        </p:nvSpPr>
        <p:spPr>
          <a:xfrm>
            <a:off x="1682496"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E7B66E"/>
                </a:solidFill>
                <a:latin typeface="Arial" pitchFamily="34" charset="0"/>
                <a:ea typeface="Arial" pitchFamily="34" charset="-122"/>
                <a:cs typeface="Arial" pitchFamily="34" charset="-120"/>
              </a:rPr>
              <a:t>01 / NOTICE</a:t>
            </a:r>
            <a:endParaRPr lang="en-US" sz="700" dirty="0"/>
          </a:p>
        </p:txBody>
      </p:sp>
      <p:sp>
        <p:nvSpPr>
          <p:cNvPr id="37" name="Text 34"/>
          <p:cNvSpPr/>
          <p:nvPr/>
        </p:nvSpPr>
        <p:spPr>
          <a:xfrm>
            <a:off x="1682496"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A transition can connect questions rather than locations.</a:t>
            </a:r>
            <a:endParaRPr lang="en-US" sz="1500" dirty="0"/>
          </a:p>
        </p:txBody>
      </p:sp>
      <p:sp>
        <p:nvSpPr>
          <p:cNvPr id="38" name="Shape 35"/>
          <p:cNvSpPr/>
          <p:nvPr/>
        </p:nvSpPr>
        <p:spPr>
          <a:xfrm>
            <a:off x="5321808" y="6583680"/>
            <a:ext cx="3675888" cy="1481328"/>
          </a:xfrm>
          <a:prstGeom prst="rect">
            <a:avLst/>
          </a:prstGeom>
          <a:solidFill>
            <a:srgbClr val="30201E"/>
          </a:solidFill>
          <a:ln w="8890">
            <a:solidFill>
              <a:srgbClr val="735D6D"/>
            </a:solidFill>
            <a:prstDash val="solid"/>
          </a:ln>
        </p:spPr>
      </p:sp>
      <p:sp>
        <p:nvSpPr>
          <p:cNvPr id="39" name="Text 36"/>
          <p:cNvSpPr/>
          <p:nvPr/>
        </p:nvSpPr>
        <p:spPr>
          <a:xfrm>
            <a:off x="5504688"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E7B66E"/>
                </a:solidFill>
                <a:latin typeface="Arial" pitchFamily="34" charset="0"/>
                <a:ea typeface="Arial" pitchFamily="34" charset="-122"/>
                <a:cs typeface="Arial" pitchFamily="34" charset="-120"/>
              </a:rPr>
              <a:t>02 / TRY IN WORDS</a:t>
            </a:r>
            <a:endParaRPr lang="en-US" sz="700" dirty="0"/>
          </a:p>
        </p:txBody>
      </p:sp>
      <p:sp>
        <p:nvSpPr>
          <p:cNvPr id="40" name="Text 37"/>
          <p:cNvSpPr/>
          <p:nvPr/>
        </p:nvSpPr>
        <p:spPr>
          <a:xfrm>
            <a:off x="5504688"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Finish one scene with a question the next scene complicates.</a:t>
            </a:r>
            <a:endParaRPr lang="en-US" sz="1500" dirty="0"/>
          </a:p>
        </p:txBody>
      </p:sp>
      <p:sp>
        <p:nvSpPr>
          <p:cNvPr id="41" name="Shape 38"/>
          <p:cNvSpPr/>
          <p:nvPr/>
        </p:nvSpPr>
        <p:spPr>
          <a:xfrm>
            <a:off x="9144000" y="6583680"/>
            <a:ext cx="3675888" cy="1481328"/>
          </a:xfrm>
          <a:prstGeom prst="rect">
            <a:avLst/>
          </a:prstGeom>
          <a:solidFill>
            <a:srgbClr val="30201E"/>
          </a:solidFill>
          <a:ln w="8890">
            <a:solidFill>
              <a:srgbClr val="735D6D"/>
            </a:solidFill>
            <a:prstDash val="solid"/>
          </a:ln>
        </p:spPr>
      </p:sp>
      <p:sp>
        <p:nvSpPr>
          <p:cNvPr id="42" name="Text 39"/>
          <p:cNvSpPr/>
          <p:nvPr/>
        </p:nvSpPr>
        <p:spPr>
          <a:xfrm>
            <a:off x="9326880"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E7B66E"/>
                </a:solidFill>
                <a:latin typeface="Arial" pitchFamily="34" charset="0"/>
                <a:ea typeface="Arial" pitchFamily="34" charset="-122"/>
                <a:cs typeface="Arial" pitchFamily="34" charset="-120"/>
              </a:rPr>
              <a:t>03 / KEEP VISIBLE</a:t>
            </a:r>
            <a:endParaRPr lang="en-US" sz="700" dirty="0"/>
          </a:p>
        </p:txBody>
      </p:sp>
      <p:sp>
        <p:nvSpPr>
          <p:cNvPr id="43" name="Text 40"/>
          <p:cNvSpPr/>
          <p:nvPr/>
        </p:nvSpPr>
        <p:spPr>
          <a:xfrm>
            <a:off x="9326880"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Do not assign invented minutes or technical calls.</a:t>
            </a:r>
            <a:endParaRPr lang="en-US" sz="1500" dirty="0"/>
          </a:p>
        </p:txBody>
      </p:sp>
      <p:sp>
        <p:nvSpPr>
          <p:cNvPr id="44" name="Shape 41"/>
          <p:cNvSpPr/>
          <p:nvPr/>
        </p:nvSpPr>
        <p:spPr>
          <a:xfrm>
            <a:off x="1499616" y="8211312"/>
            <a:ext cx="11338560" cy="0"/>
          </a:xfrm>
          <a:prstGeom prst="line">
            <a:avLst/>
          </a:prstGeom>
          <a:noFill/>
          <a:ln w="8890">
            <a:solidFill>
              <a:srgbClr val="796170"/>
            </a:solidFill>
            <a:prstDash val="solid"/>
          </a:ln>
        </p:spPr>
      </p:sp>
      <p:sp>
        <p:nvSpPr>
          <p:cNvPr id="45" name="Text 42"/>
          <p:cNvSpPr/>
          <p:nvPr/>
        </p:nvSpPr>
        <p:spPr>
          <a:xfrm>
            <a:off x="1499616" y="8339328"/>
            <a:ext cx="8229600" cy="118872"/>
          </a:xfrm>
          <a:prstGeom prst="rect">
            <a:avLst/>
          </a:prstGeom>
          <a:noFill/>
          <a:ln/>
        </p:spPr>
        <p:txBody>
          <a:bodyPr wrap="square" lIns="0" tIns="0" rIns="0" bIns="0" rtlCol="0" anchor="t">
            <a:normAutofit/>
          </a:bodyPr>
          <a:lstStyle/>
          <a:p>
            <a:pPr indent="0" marL="0">
              <a:buNone/>
            </a:pPr>
            <a:r>
              <a:rPr lang="en-US" sz="650" dirty="0">
                <a:solidFill>
                  <a:srgbClr val="C0AAB9"/>
                </a:solidFill>
                <a:latin typeface="Arial" pitchFamily="34" charset="0"/>
                <a:ea typeface="Arial" pitchFamily="34" charset="-122"/>
                <a:cs typeface="Arial" pitchFamily="34" charset="-120"/>
              </a:rPr>
              <a:t>FICTIONAL WRITING WORKSHOP / NOT A STAGING OR APPROVAL PLAN</a:t>
            </a:r>
            <a:endParaRPr lang="en-US" sz="650" dirty="0"/>
          </a:p>
        </p:txBody>
      </p:sp>
      <p:sp>
        <p:nvSpPr>
          <p:cNvPr id="46" name="Text 43"/>
          <p:cNvSpPr/>
          <p:nvPr/>
        </p:nvSpPr>
        <p:spPr>
          <a:xfrm>
            <a:off x="9729216" y="8339328"/>
            <a:ext cx="3108960" cy="118872"/>
          </a:xfrm>
          <a:prstGeom prst="rect">
            <a:avLst/>
          </a:prstGeom>
          <a:noFill/>
          <a:ln/>
        </p:spPr>
        <p:txBody>
          <a:bodyPr wrap="square" lIns="0" tIns="0" rIns="0" bIns="0" rtlCol="0" anchor="t">
            <a:normAutofit/>
          </a:bodyPr>
          <a:lstStyle/>
          <a:p>
            <a:pPr algn="r" indent="0" marL="0">
              <a:buNone/>
            </a:pPr>
            <a:r>
              <a:rPr lang="en-US" sz="650" dirty="0">
                <a:solidFill>
                  <a:srgbClr val="C0AAB9"/>
                </a:solidFill>
                <a:latin typeface="Arial" pitchFamily="34" charset="0"/>
                <a:ea typeface="Arial" pitchFamily="34" charset="-122"/>
                <a:cs typeface="Arial" pitchFamily="34" charset="-120"/>
              </a:rPr>
              <a:t>DRAFT / 14 OF 15 ARTWORKS / 17 OF 30</a:t>
            </a:r>
            <a:endParaRPr lang="en-US" sz="6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30201E"/>
        </a:solidFill>
      </p:bgPr>
    </p:bg>
    <p:spTree>
      <p:nvGrpSpPr>
        <p:cNvPr id="1" name=""/>
        <p:cNvGrpSpPr/>
        <p:nvPr/>
      </p:nvGrpSpPr>
      <p:grpSpPr>
        <a:xfrm>
          <a:off x="0" y="0"/>
          <a:ext cx="0" cy="0"/>
          <a:chOff x="0" y="0"/>
          <a:chExt cx="0" cy="0"/>
        </a:xfrm>
      </p:grpSpPr>
      <p:sp>
        <p:nvSpPr>
          <p:cNvPr id="2" name="Shape 0"/>
          <p:cNvSpPr/>
          <p:nvPr/>
        </p:nvSpPr>
        <p:spPr>
          <a:xfrm>
            <a:off x="1243584" y="329184"/>
            <a:ext cx="0" cy="8119872"/>
          </a:xfrm>
          <a:prstGeom prst="line">
            <a:avLst/>
          </a:prstGeom>
          <a:noFill/>
          <a:ln w="10160">
            <a:solidFill>
              <a:srgbClr val="776072"/>
            </a:solidFill>
            <a:prstDash val="solid"/>
          </a:ln>
        </p:spPr>
      </p:sp>
      <p:sp>
        <p:nvSpPr>
          <p:cNvPr id="3" name="Text 1"/>
          <p:cNvSpPr/>
          <p:nvPr/>
        </p:nvSpPr>
        <p:spPr>
          <a:xfrm>
            <a:off x="393192" y="457200"/>
            <a:ext cx="685800" cy="457200"/>
          </a:xfrm>
          <a:prstGeom prst="rect">
            <a:avLst/>
          </a:prstGeom>
          <a:noFill/>
          <a:ln/>
        </p:spPr>
        <p:txBody>
          <a:bodyPr wrap="square" lIns="0" tIns="0" rIns="0" bIns="0" rtlCol="0" anchor="t">
            <a:normAutofit/>
          </a:bodyPr>
          <a:lstStyle/>
          <a:p>
            <a:pPr indent="0" marL="0">
              <a:buNone/>
            </a:pPr>
            <a:r>
              <a:rPr lang="en-US" sz="600" dirty="0">
                <a:solidFill>
                  <a:srgbClr val="C0AAB9"/>
                </a:solidFill>
                <a:latin typeface="Arial" pitchFamily="34" charset="0"/>
                <a:ea typeface="Arial" pitchFamily="34" charset="-122"/>
                <a:cs typeface="Arial" pitchFamily="34" charset="-120"/>
              </a:rPr>
              <a:t>DESIGN BUDDY</a:t>
            </a:r>
            <a:endParaRPr lang="en-US" sz="600" dirty="0"/>
          </a:p>
          <a:p>
            <a:pPr indent="0" marL="0">
              <a:buNone/>
            </a:pPr>
            <a:r>
              <a:rPr lang="en-US" sz="600" dirty="0">
                <a:solidFill>
                  <a:srgbClr val="C0AAB9"/>
                </a:solidFill>
                <a:latin typeface="Arial" pitchFamily="34" charset="0"/>
                <a:ea typeface="Arial" pitchFamily="34" charset="-122"/>
                <a:cs typeface="Arial" pitchFamily="34" charset="-120"/>
              </a:rPr>
              <a:t>CREATIVE EXERCISE</a:t>
            </a:r>
            <a:endParaRPr lang="en-US" sz="600" dirty="0"/>
          </a:p>
        </p:txBody>
      </p:sp>
      <p:sp>
        <p:nvSpPr>
          <p:cNvPr id="4" name="Text 2"/>
          <p:cNvSpPr/>
          <p:nvPr/>
        </p:nvSpPr>
        <p:spPr>
          <a:xfrm>
            <a:off x="502920" y="1920240"/>
            <a:ext cx="502920" cy="4480560"/>
          </a:xfrm>
          <a:prstGeom prst="rect">
            <a:avLst/>
          </a:prstGeom>
          <a:noFill/>
          <a:ln/>
        </p:spPr>
        <p:txBody>
          <a:bodyPr wrap="square" lIns="0" tIns="0" rIns="0" bIns="0" rtlCol="0" anchor="t">
            <a:normAutofit/>
          </a:bodyPr>
          <a:lstStyle/>
          <a:p>
            <a:pPr algn="ctr" indent="0" marL="0">
              <a:buNone/>
            </a:pPr>
            <a:r>
              <a:rPr lang="en-US" sz="2500" dirty="0">
                <a:solidFill>
                  <a:srgbClr val="E7B66E"/>
                </a:solidFill>
                <a:latin typeface="Georgia" pitchFamily="34" charset="0"/>
                <a:ea typeface="Georgia" pitchFamily="34" charset="-122"/>
                <a:cs typeface="Georgia" pitchFamily="34" charset="-120"/>
              </a:rPr>
              <a:t>A</a:t>
            </a:r>
            <a:endParaRPr lang="en-US" sz="2500" dirty="0"/>
          </a:p>
          <a:p>
            <a:pPr algn="ctr" indent="0" marL="0">
              <a:buNone/>
            </a:pPr>
            <a:r>
              <a:rPr lang="en-US" sz="2500" dirty="0">
                <a:solidFill>
                  <a:srgbClr val="E7B66E"/>
                </a:solidFill>
                <a:latin typeface="Georgia" pitchFamily="34" charset="0"/>
                <a:ea typeface="Georgia" pitchFamily="34" charset="-122"/>
                <a:cs typeface="Georgia" pitchFamily="34" charset="-120"/>
              </a:rPr>
              <a:t>F</a:t>
            </a:r>
            <a:endParaRPr lang="en-US" sz="2500" dirty="0"/>
          </a:p>
          <a:p>
            <a:pPr algn="ctr" indent="0" marL="0">
              <a:buNone/>
            </a:pPr>
            <a:r>
              <a:rPr lang="en-US" sz="2500" dirty="0">
                <a:solidFill>
                  <a:srgbClr val="E7B66E"/>
                </a:solidFill>
                <a:latin typeface="Georgia" pitchFamily="34" charset="0"/>
                <a:ea typeface="Georgia" pitchFamily="34" charset="-122"/>
                <a:cs typeface="Georgia" pitchFamily="34" charset="-120"/>
              </a:rPr>
              <a:t>T</a:t>
            </a:r>
            <a:endParaRPr lang="en-US" sz="2500" dirty="0"/>
          </a:p>
          <a:p>
            <a:pPr algn="ctr" indent="0" marL="0">
              <a:buNone/>
            </a:pPr>
            <a:r>
              <a:rPr lang="en-US" sz="2500" dirty="0">
                <a:solidFill>
                  <a:srgbClr val="E7B66E"/>
                </a:solidFill>
                <a:latin typeface="Georgia" pitchFamily="34" charset="0"/>
                <a:ea typeface="Georgia" pitchFamily="34" charset="-122"/>
                <a:cs typeface="Georgia" pitchFamily="34" charset="-120"/>
              </a:rPr>
              <a:t>E</a:t>
            </a:r>
            <a:endParaRPr lang="en-US" sz="2500" dirty="0"/>
          </a:p>
          <a:p>
            <a:pPr algn="ctr" indent="0" marL="0">
              <a:buNone/>
            </a:pPr>
            <a:r>
              <a:rPr lang="en-US" sz="2500" dirty="0">
                <a:solidFill>
                  <a:srgbClr val="E7B66E"/>
                </a:solidFill>
                <a:latin typeface="Georgia" pitchFamily="34" charset="0"/>
                <a:ea typeface="Georgia" pitchFamily="34" charset="-122"/>
                <a:cs typeface="Georgia" pitchFamily="34" charset="-120"/>
              </a:rPr>
              <a:t>R</a:t>
            </a:r>
            <a:endParaRPr lang="en-US" sz="2500" dirty="0"/>
          </a:p>
          <a:p>
            <a:pPr algn="ctr" indent="0" marL="0">
              <a:buNone/>
            </a:pPr>
            <a:r>
              <a:rPr lang="en-US" sz="2500" dirty="0">
                <a:solidFill>
                  <a:srgbClr val="E7B66E"/>
                </a:solidFill>
                <a:latin typeface="Georgia" pitchFamily="34" charset="0"/>
                <a:ea typeface="Georgia" pitchFamily="34" charset="-122"/>
                <a:cs typeface="Georgia" pitchFamily="34" charset="-120"/>
              </a:rPr>
              <a:t>G</a:t>
            </a:r>
            <a:endParaRPr lang="en-US" sz="2500" dirty="0"/>
          </a:p>
          <a:p>
            <a:pPr algn="ctr" indent="0" marL="0">
              <a:buNone/>
            </a:pPr>
            <a:r>
              <a:rPr lang="en-US" sz="2500" dirty="0">
                <a:solidFill>
                  <a:srgbClr val="E7B66E"/>
                </a:solidFill>
                <a:latin typeface="Georgia" pitchFamily="34" charset="0"/>
                <a:ea typeface="Georgia" pitchFamily="34" charset="-122"/>
                <a:cs typeface="Georgia" pitchFamily="34" charset="-120"/>
              </a:rPr>
              <a:t>L</a:t>
            </a:r>
            <a:endParaRPr lang="en-US" sz="2500" dirty="0"/>
          </a:p>
          <a:p>
            <a:pPr algn="ctr" indent="0" marL="0">
              <a:buNone/>
            </a:pPr>
            <a:r>
              <a:rPr lang="en-US" sz="2500" dirty="0">
                <a:solidFill>
                  <a:srgbClr val="E7B66E"/>
                </a:solidFill>
                <a:latin typeface="Georgia" pitchFamily="34" charset="0"/>
                <a:ea typeface="Georgia" pitchFamily="34" charset="-122"/>
                <a:cs typeface="Georgia" pitchFamily="34" charset="-120"/>
              </a:rPr>
              <a:t>O</a:t>
            </a:r>
            <a:endParaRPr lang="en-US" sz="2500" dirty="0"/>
          </a:p>
          <a:p>
            <a:pPr algn="ctr" indent="0" marL="0">
              <a:buNone/>
            </a:pPr>
            <a:r>
              <a:rPr lang="en-US" sz="2500" dirty="0">
                <a:solidFill>
                  <a:srgbClr val="E7B66E"/>
                </a:solidFill>
                <a:latin typeface="Georgia" pitchFamily="34" charset="0"/>
                <a:ea typeface="Georgia" pitchFamily="34" charset="-122"/>
                <a:cs typeface="Georgia" pitchFamily="34" charset="-120"/>
              </a:rPr>
              <a:t>W</a:t>
            </a:r>
            <a:endParaRPr lang="en-US" sz="2500" dirty="0"/>
          </a:p>
        </p:txBody>
      </p:sp>
      <p:sp>
        <p:nvSpPr>
          <p:cNvPr id="5" name="Text 3"/>
          <p:cNvSpPr/>
          <p:nvPr/>
        </p:nvSpPr>
        <p:spPr>
          <a:xfrm>
            <a:off x="402336" y="7022592"/>
            <a:ext cx="731520" cy="594360"/>
          </a:xfrm>
          <a:prstGeom prst="rect">
            <a:avLst/>
          </a:prstGeom>
          <a:noFill/>
          <a:ln/>
        </p:spPr>
        <p:txBody>
          <a:bodyPr wrap="square" lIns="0" tIns="0" rIns="0" bIns="0" rtlCol="0" anchor="t">
            <a:normAutofit/>
          </a:bodyPr>
          <a:lstStyle/>
          <a:p>
            <a:pPr indent="0" marL="0">
              <a:buNone/>
            </a:pPr>
            <a:r>
              <a:rPr lang="en-US" sz="4200" dirty="0">
                <a:solidFill>
                  <a:srgbClr val="E7B66E"/>
                </a:solidFill>
                <a:latin typeface="Georgia" pitchFamily="34" charset="0"/>
                <a:ea typeface="Georgia" pitchFamily="34" charset="-122"/>
                <a:cs typeface="Georgia" pitchFamily="34" charset="-120"/>
              </a:rPr>
              <a:t>18</a:t>
            </a:r>
            <a:endParaRPr lang="en-US" sz="4200" dirty="0"/>
          </a:p>
        </p:txBody>
      </p:sp>
      <p:sp>
        <p:nvSpPr>
          <p:cNvPr id="6" name="Text 4"/>
          <p:cNvSpPr/>
          <p:nvPr/>
        </p:nvSpPr>
        <p:spPr>
          <a:xfrm>
            <a:off x="402336" y="7818120"/>
            <a:ext cx="731520" cy="411480"/>
          </a:xfrm>
          <a:prstGeom prst="rect">
            <a:avLst/>
          </a:prstGeom>
          <a:noFill/>
          <a:ln/>
        </p:spPr>
        <p:txBody>
          <a:bodyPr wrap="square" lIns="0" tIns="0" rIns="0" bIns="0" rtlCol="0" anchor="t">
            <a:normAutofit/>
          </a:bodyPr>
          <a:lstStyle/>
          <a:p>
            <a:pPr indent="0" marL="0">
              <a:buNone/>
            </a:pPr>
            <a:r>
              <a:rPr lang="en-US" sz="700" dirty="0">
                <a:solidFill>
                  <a:srgbClr val="C0AAB9"/>
                </a:solidFill>
                <a:latin typeface="Arial" pitchFamily="34" charset="0"/>
                <a:ea typeface="Arial" pitchFamily="34" charset="-122"/>
                <a:cs typeface="Arial" pitchFamily="34" charset="-120"/>
              </a:rPr>
              <a:t>ACT 3 / 5</a:t>
            </a:r>
            <a:endParaRPr lang="en-US" sz="700" dirty="0"/>
          </a:p>
          <a:p>
            <a:pPr indent="0" marL="0">
              <a:buNone/>
            </a:pPr>
            <a:r>
              <a:rPr lang="en-US" sz="700" dirty="0">
                <a:solidFill>
                  <a:srgbClr val="C0AAB9"/>
                </a:solidFill>
                <a:latin typeface="Arial" pitchFamily="34" charset="0"/>
                <a:ea typeface="Arial" pitchFamily="34" charset="-122"/>
                <a:cs typeface="Arial" pitchFamily="34" charset="-120"/>
              </a:rPr>
              <a:t>BEAT 6 / 6</a:t>
            </a:r>
            <a:endParaRPr lang="en-US" sz="700" dirty="0"/>
          </a:p>
        </p:txBody>
      </p:sp>
      <p:sp>
        <p:nvSpPr>
          <p:cNvPr id="7" name="Text 5"/>
          <p:cNvSpPr/>
          <p:nvPr/>
        </p:nvSpPr>
        <p:spPr>
          <a:xfrm>
            <a:off x="1499616" y="347472"/>
            <a:ext cx="9144000" cy="164592"/>
          </a:xfrm>
          <a:prstGeom prst="rect">
            <a:avLst/>
          </a:prstGeom>
          <a:noFill/>
          <a:ln/>
        </p:spPr>
        <p:txBody>
          <a:bodyPr wrap="square" lIns="0" tIns="0" rIns="0" bIns="0" rtlCol="0" anchor="t">
            <a:normAutofit/>
          </a:bodyPr>
          <a:lstStyle/>
          <a:p>
            <a:pPr indent="0" marL="0">
              <a:buNone/>
            </a:pPr>
            <a:r>
              <a:rPr lang="en-US" sz="700" spc="120" kern="0" dirty="0">
                <a:solidFill>
                  <a:srgbClr val="E7B66E"/>
                </a:solidFill>
                <a:latin typeface="Arial" pitchFamily="34" charset="0"/>
                <a:ea typeface="Arial" pitchFamily="34" charset="-122"/>
                <a:cs typeface="Arial" pitchFamily="34" charset="-120"/>
              </a:rPr>
              <a:t>ACT 3 / MOVEMENT</a:t>
            </a:r>
            <a:endParaRPr lang="en-US" sz="700" dirty="0"/>
          </a:p>
        </p:txBody>
      </p:sp>
      <p:sp>
        <p:nvSpPr>
          <p:cNvPr id="8" name="Text 6"/>
          <p:cNvSpPr/>
          <p:nvPr/>
        </p:nvSpPr>
        <p:spPr>
          <a:xfrm>
            <a:off x="1499616" y="612648"/>
            <a:ext cx="9692640" cy="594360"/>
          </a:xfrm>
          <a:prstGeom prst="rect">
            <a:avLst/>
          </a:prstGeom>
          <a:noFill/>
          <a:ln/>
        </p:spPr>
        <p:txBody>
          <a:bodyPr wrap="square" lIns="0" tIns="0" rIns="0" bIns="0" rtlCol="0" anchor="t">
            <a:normAutofit/>
          </a:bodyPr>
          <a:lstStyle/>
          <a:p>
            <a:pPr indent="0" marL="0">
              <a:buNone/>
            </a:pPr>
            <a:r>
              <a:rPr lang="en-US" sz="2800" dirty="0">
                <a:solidFill>
                  <a:srgbClr val="ECDED6"/>
                </a:solidFill>
                <a:latin typeface="Georgia" pitchFamily="34" charset="0"/>
                <a:ea typeface="Georgia" pitchFamily="34" charset="-122"/>
                <a:cs typeface="Georgia" pitchFamily="34" charset="-120"/>
              </a:rPr>
              <a:t>Find the turn without a verdict.</a:t>
            </a:r>
            <a:endParaRPr lang="en-US" sz="2800" dirty="0"/>
          </a:p>
        </p:txBody>
      </p:sp>
      <p:sp>
        <p:nvSpPr>
          <p:cNvPr id="9" name="Text 7"/>
          <p:cNvSpPr/>
          <p:nvPr/>
        </p:nvSpPr>
        <p:spPr>
          <a:xfrm>
            <a:off x="11475720" y="438912"/>
            <a:ext cx="1325880" cy="182880"/>
          </a:xfrm>
          <a:prstGeom prst="rect">
            <a:avLst/>
          </a:prstGeom>
          <a:noFill/>
          <a:ln/>
        </p:spPr>
        <p:txBody>
          <a:bodyPr wrap="square" lIns="0" tIns="0" rIns="0" bIns="0" rtlCol="0" anchor="t">
            <a:normAutofit/>
          </a:bodyPr>
          <a:lstStyle/>
          <a:p>
            <a:pPr algn="r" indent="0" marL="0">
              <a:buNone/>
            </a:pPr>
            <a:r>
              <a:rPr lang="en-US" sz="700" dirty="0">
                <a:solidFill>
                  <a:srgbClr val="E7B66E"/>
                </a:solidFill>
                <a:latin typeface="Arial" pitchFamily="34" charset="0"/>
                <a:ea typeface="Arial" pitchFamily="34" charset="-122"/>
                <a:cs typeface="Arial" pitchFamily="34" charset="-120"/>
              </a:rPr>
              <a:t>LOCAL / UNMARKED</a:t>
            </a:r>
            <a:endParaRPr lang="en-US" sz="700" dirty="0"/>
          </a:p>
        </p:txBody>
      </p:sp>
      <p:sp>
        <p:nvSpPr>
          <p:cNvPr id="10" name="Shape 8"/>
          <p:cNvSpPr/>
          <p:nvPr/>
        </p:nvSpPr>
        <p:spPr>
          <a:xfrm>
            <a:off x="1499616" y="1307592"/>
            <a:ext cx="1819656" cy="448056"/>
          </a:xfrm>
          <a:prstGeom prst="rect">
            <a:avLst/>
          </a:prstGeom>
          <a:solidFill>
            <a:srgbClr val="30201E"/>
          </a:solidFill>
          <a:ln w="8890">
            <a:solidFill>
              <a:srgbClr val="6D5768"/>
            </a:solidFill>
            <a:prstDash val="solid"/>
          </a:ln>
        </p:spPr>
      </p:sp>
      <p:sp>
        <p:nvSpPr>
          <p:cNvPr id="11" name="Text 9"/>
          <p:cNvSpPr/>
          <p:nvPr/>
        </p:nvSpPr>
        <p:spPr>
          <a:xfrm>
            <a:off x="1572768"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E7B66E"/>
                </a:solidFill>
                <a:latin typeface="Georgia" pitchFamily="34" charset="0"/>
                <a:ea typeface="Georgia" pitchFamily="34" charset="-122"/>
                <a:cs typeface="Georgia" pitchFamily="34" charset="-120"/>
              </a:rPr>
              <a:t>1</a:t>
            </a:r>
            <a:endParaRPr lang="en-US" sz="1700" dirty="0"/>
          </a:p>
        </p:txBody>
      </p:sp>
      <p:sp>
        <p:nvSpPr>
          <p:cNvPr id="12" name="Text 10"/>
          <p:cNvSpPr/>
          <p:nvPr/>
        </p:nvSpPr>
        <p:spPr>
          <a:xfrm>
            <a:off x="1865376"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Move an idea, not a person.</a:t>
            </a:r>
            <a:endParaRPr lang="en-US" sz="700" dirty="0"/>
          </a:p>
        </p:txBody>
      </p:sp>
      <p:sp>
        <p:nvSpPr>
          <p:cNvPr id="13" name="Shape 11"/>
          <p:cNvSpPr/>
          <p:nvPr/>
        </p:nvSpPr>
        <p:spPr>
          <a:xfrm>
            <a:off x="3392424" y="1307592"/>
            <a:ext cx="1819656" cy="448056"/>
          </a:xfrm>
          <a:prstGeom prst="rect">
            <a:avLst/>
          </a:prstGeom>
          <a:solidFill>
            <a:srgbClr val="30201E"/>
          </a:solidFill>
          <a:ln w="8890">
            <a:solidFill>
              <a:srgbClr val="6D5768"/>
            </a:solidFill>
            <a:prstDash val="solid"/>
          </a:ln>
        </p:spPr>
      </p:sp>
      <p:sp>
        <p:nvSpPr>
          <p:cNvPr id="14" name="Text 12"/>
          <p:cNvSpPr/>
          <p:nvPr/>
        </p:nvSpPr>
        <p:spPr>
          <a:xfrm>
            <a:off x="3465576"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E7B66E"/>
                </a:solidFill>
                <a:latin typeface="Georgia" pitchFamily="34" charset="0"/>
                <a:ea typeface="Georgia" pitchFamily="34" charset="-122"/>
                <a:cs typeface="Georgia" pitchFamily="34" charset="-120"/>
              </a:rPr>
              <a:t>2</a:t>
            </a:r>
            <a:endParaRPr lang="en-US" sz="1700" dirty="0"/>
          </a:p>
        </p:txBody>
      </p:sp>
      <p:sp>
        <p:nvSpPr>
          <p:cNvPr id="15" name="Text 13"/>
          <p:cNvSpPr/>
          <p:nvPr/>
        </p:nvSpPr>
        <p:spPr>
          <a:xfrm>
            <a:off x="3758184"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Use a repeated phrase carefully.</a:t>
            </a:r>
            <a:endParaRPr lang="en-US" sz="700" dirty="0"/>
          </a:p>
        </p:txBody>
      </p:sp>
      <p:sp>
        <p:nvSpPr>
          <p:cNvPr id="16" name="Shape 14"/>
          <p:cNvSpPr/>
          <p:nvPr/>
        </p:nvSpPr>
        <p:spPr>
          <a:xfrm>
            <a:off x="5285232" y="1307592"/>
            <a:ext cx="1819656" cy="448056"/>
          </a:xfrm>
          <a:prstGeom prst="rect">
            <a:avLst/>
          </a:prstGeom>
          <a:solidFill>
            <a:srgbClr val="30201E"/>
          </a:solidFill>
          <a:ln w="8890">
            <a:solidFill>
              <a:srgbClr val="6D5768"/>
            </a:solidFill>
            <a:prstDash val="solid"/>
          </a:ln>
        </p:spPr>
      </p:sp>
      <p:sp>
        <p:nvSpPr>
          <p:cNvPr id="17" name="Text 15"/>
          <p:cNvSpPr/>
          <p:nvPr/>
        </p:nvSpPr>
        <p:spPr>
          <a:xfrm>
            <a:off x="5358384"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E7B66E"/>
                </a:solidFill>
                <a:latin typeface="Georgia" pitchFamily="34" charset="0"/>
                <a:ea typeface="Georgia" pitchFamily="34" charset="-122"/>
                <a:cs typeface="Georgia" pitchFamily="34" charset="-120"/>
              </a:rPr>
              <a:t>3</a:t>
            </a:r>
            <a:endParaRPr lang="en-US" sz="1700" dirty="0"/>
          </a:p>
        </p:txBody>
      </p:sp>
      <p:sp>
        <p:nvSpPr>
          <p:cNvPr id="18" name="Text 16"/>
          <p:cNvSpPr/>
          <p:nvPr/>
        </p:nvSpPr>
        <p:spPr>
          <a:xfrm>
            <a:off x="5650992"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Make room for another voice.</a:t>
            </a:r>
            <a:endParaRPr lang="en-US" sz="700" dirty="0"/>
          </a:p>
        </p:txBody>
      </p:sp>
      <p:sp>
        <p:nvSpPr>
          <p:cNvPr id="19" name="Shape 17"/>
          <p:cNvSpPr/>
          <p:nvPr/>
        </p:nvSpPr>
        <p:spPr>
          <a:xfrm>
            <a:off x="7178040" y="1307592"/>
            <a:ext cx="1819656" cy="448056"/>
          </a:xfrm>
          <a:prstGeom prst="rect">
            <a:avLst/>
          </a:prstGeom>
          <a:solidFill>
            <a:srgbClr val="30201E"/>
          </a:solidFill>
          <a:ln w="8890">
            <a:solidFill>
              <a:srgbClr val="6D5768"/>
            </a:solidFill>
            <a:prstDash val="solid"/>
          </a:ln>
        </p:spPr>
      </p:sp>
      <p:sp>
        <p:nvSpPr>
          <p:cNvPr id="20" name="Text 18"/>
          <p:cNvSpPr/>
          <p:nvPr/>
        </p:nvSpPr>
        <p:spPr>
          <a:xfrm>
            <a:off x="7251192"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E7B66E"/>
                </a:solidFill>
                <a:latin typeface="Georgia" pitchFamily="34" charset="0"/>
                <a:ea typeface="Georgia" pitchFamily="34" charset="-122"/>
                <a:cs typeface="Georgia" pitchFamily="34" charset="-120"/>
              </a:rPr>
              <a:t>4</a:t>
            </a:r>
            <a:endParaRPr lang="en-US" sz="1700" dirty="0"/>
          </a:p>
        </p:txBody>
      </p:sp>
      <p:sp>
        <p:nvSpPr>
          <p:cNvPr id="21" name="Text 19"/>
          <p:cNvSpPr/>
          <p:nvPr/>
        </p:nvSpPr>
        <p:spPr>
          <a:xfrm>
            <a:off x="7543800"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Let an object return changed.</a:t>
            </a:r>
            <a:endParaRPr lang="en-US" sz="700" dirty="0"/>
          </a:p>
        </p:txBody>
      </p:sp>
      <p:sp>
        <p:nvSpPr>
          <p:cNvPr id="22" name="Shape 20"/>
          <p:cNvSpPr/>
          <p:nvPr/>
        </p:nvSpPr>
        <p:spPr>
          <a:xfrm>
            <a:off x="9070848" y="1307592"/>
            <a:ext cx="1819656" cy="448056"/>
          </a:xfrm>
          <a:prstGeom prst="rect">
            <a:avLst/>
          </a:prstGeom>
          <a:solidFill>
            <a:srgbClr val="30201E"/>
          </a:solidFill>
          <a:ln w="8890">
            <a:solidFill>
              <a:srgbClr val="6D5768"/>
            </a:solidFill>
            <a:prstDash val="solid"/>
          </a:ln>
        </p:spPr>
      </p:sp>
      <p:sp>
        <p:nvSpPr>
          <p:cNvPr id="23" name="Text 21"/>
          <p:cNvSpPr/>
          <p:nvPr/>
        </p:nvSpPr>
        <p:spPr>
          <a:xfrm>
            <a:off x="9144000"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E7B66E"/>
                </a:solidFill>
                <a:latin typeface="Georgia" pitchFamily="34" charset="0"/>
                <a:ea typeface="Georgia" pitchFamily="34" charset="-122"/>
                <a:cs typeface="Georgia" pitchFamily="34" charset="-120"/>
              </a:rPr>
              <a:t>5</a:t>
            </a:r>
            <a:endParaRPr lang="en-US" sz="1700" dirty="0"/>
          </a:p>
        </p:txBody>
      </p:sp>
      <p:sp>
        <p:nvSpPr>
          <p:cNvPr id="24" name="Text 22"/>
          <p:cNvSpPr/>
          <p:nvPr/>
        </p:nvSpPr>
        <p:spPr>
          <a:xfrm>
            <a:off x="9436608"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Keep a transition readable.</a:t>
            </a:r>
            <a:endParaRPr lang="en-US" sz="700" dirty="0"/>
          </a:p>
        </p:txBody>
      </p:sp>
      <p:sp>
        <p:nvSpPr>
          <p:cNvPr id="25" name="Shape 23"/>
          <p:cNvSpPr/>
          <p:nvPr/>
        </p:nvSpPr>
        <p:spPr>
          <a:xfrm>
            <a:off x="10963656" y="1307592"/>
            <a:ext cx="1819656" cy="448056"/>
          </a:xfrm>
          <a:prstGeom prst="rect">
            <a:avLst/>
          </a:prstGeom>
          <a:solidFill>
            <a:srgbClr val="30201E"/>
          </a:solidFill>
          <a:ln w="8890">
            <a:solidFill>
              <a:srgbClr val="E7B66E"/>
            </a:solidFill>
            <a:prstDash val="solid"/>
          </a:ln>
        </p:spPr>
      </p:sp>
      <p:sp>
        <p:nvSpPr>
          <p:cNvPr id="26" name="Text 24"/>
          <p:cNvSpPr/>
          <p:nvPr/>
        </p:nvSpPr>
        <p:spPr>
          <a:xfrm>
            <a:off x="11036808"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E7B66E"/>
                </a:solidFill>
                <a:latin typeface="Georgia" pitchFamily="34" charset="0"/>
                <a:ea typeface="Georgia" pitchFamily="34" charset="-122"/>
                <a:cs typeface="Georgia" pitchFamily="34" charset="-120"/>
              </a:rPr>
              <a:t>6</a:t>
            </a:r>
            <a:endParaRPr lang="en-US" sz="1700" dirty="0"/>
          </a:p>
        </p:txBody>
      </p:sp>
      <p:sp>
        <p:nvSpPr>
          <p:cNvPr id="27" name="Text 25"/>
          <p:cNvSpPr/>
          <p:nvPr/>
        </p:nvSpPr>
        <p:spPr>
          <a:xfrm>
            <a:off x="11329416"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Find the turn without a verdict.</a:t>
            </a:r>
            <a:endParaRPr lang="en-US" sz="700" dirty="0"/>
          </a:p>
        </p:txBody>
      </p:sp>
      <p:pic>
        <p:nvPicPr>
          <p:cNvPr id="28" name="Image 0" descr="/home/user/design-buddy/design-buddy-home/public/atelier/afterglow/images/09.jpg">    </p:cNvPr>
          <p:cNvPicPr>
            <a:picLocks noChangeAspect="1"/>
          </p:cNvPicPr>
          <p:nvPr/>
        </p:nvPicPr>
        <p:blipFill>
          <a:blip r:embed="rId1"/>
          <a:srcRect l="0" r="0" t="0" b="0"/>
          <a:stretch/>
        </p:blipFill>
        <p:spPr>
          <a:xfrm>
            <a:off x="1499616" y="2066544"/>
            <a:ext cx="6949440" cy="3840480"/>
          </a:xfrm>
          <a:prstGeom prst="rect">
            <a:avLst/>
          </a:prstGeom>
        </p:spPr>
      </p:pic>
      <p:sp>
        <p:nvSpPr>
          <p:cNvPr id="29" name="Text 26"/>
          <p:cNvSpPr/>
          <p:nvPr/>
        </p:nvSpPr>
        <p:spPr>
          <a:xfrm>
            <a:off x="1499616" y="6007608"/>
            <a:ext cx="6949440" cy="164592"/>
          </a:xfrm>
          <a:prstGeom prst="rect">
            <a:avLst/>
          </a:prstGeom>
          <a:noFill/>
          <a:ln/>
        </p:spPr>
        <p:txBody>
          <a:bodyPr wrap="square" lIns="0" tIns="0" rIns="0" bIns="0" rtlCol="0" anchor="t">
            <a:normAutofit/>
          </a:bodyPr>
          <a:lstStyle/>
          <a:p>
            <a:pPr indent="0" marL="0">
              <a:buNone/>
            </a:pPr>
            <a:r>
              <a:rPr lang="en-US" sz="650" dirty="0">
                <a:solidFill>
                  <a:srgbClr val="C0AAB9"/>
                </a:solidFill>
                <a:latin typeface="Arial" pitchFamily="34" charset="0"/>
                <a:ea typeface="Arial" pitchFamily="34" charset="-122"/>
                <a:cs typeface="Arial" pitchFamily="34" charset="-120"/>
              </a:rPr>
              <a:t>Watercolour 9 / invented setting and adults / not production evidence</a:t>
            </a:r>
            <a:endParaRPr lang="en-US" sz="650" dirty="0"/>
          </a:p>
        </p:txBody>
      </p:sp>
      <p:sp>
        <p:nvSpPr>
          <p:cNvPr id="30" name="Text 27"/>
          <p:cNvSpPr/>
          <p:nvPr/>
        </p:nvSpPr>
        <p:spPr>
          <a:xfrm>
            <a:off x="8705088" y="2139696"/>
            <a:ext cx="4133088" cy="164592"/>
          </a:xfrm>
          <a:prstGeom prst="rect">
            <a:avLst/>
          </a:prstGeom>
          <a:noFill/>
          <a:ln/>
        </p:spPr>
        <p:txBody>
          <a:bodyPr wrap="square" lIns="0" tIns="0" rIns="0" bIns="0" rtlCol="0" anchor="t">
            <a:normAutofit/>
          </a:bodyPr>
          <a:lstStyle/>
          <a:p>
            <a:pPr indent="0" marL="0">
              <a:buNone/>
            </a:pPr>
            <a:r>
              <a:rPr lang="en-US" sz="700" spc="110" kern="0" dirty="0">
                <a:solidFill>
                  <a:srgbClr val="E7B66E"/>
                </a:solidFill>
                <a:latin typeface="Arial" pitchFamily="34" charset="0"/>
                <a:ea typeface="Arial" pitchFamily="34" charset="-122"/>
                <a:cs typeface="Arial" pitchFamily="34" charset="-120"/>
              </a:rPr>
              <a:t>STORY INTENTION</a:t>
            </a:r>
            <a:endParaRPr lang="en-US" sz="700" dirty="0"/>
          </a:p>
        </p:txBody>
      </p:sp>
      <p:sp>
        <p:nvSpPr>
          <p:cNvPr id="31" name="Text 28"/>
          <p:cNvSpPr/>
          <p:nvPr/>
        </p:nvSpPr>
        <p:spPr>
          <a:xfrm>
            <a:off x="8705088" y="2514600"/>
            <a:ext cx="4133088" cy="1828800"/>
          </a:xfrm>
          <a:prstGeom prst="rect">
            <a:avLst/>
          </a:prstGeom>
          <a:noFill/>
          <a:ln/>
        </p:spPr>
        <p:txBody>
          <a:bodyPr wrap="square" lIns="0" tIns="0" rIns="0" bIns="0" rtlCol="0" anchor="t">
            <a:normAutofit/>
          </a:bodyPr>
          <a:lstStyle/>
          <a:p>
            <a:pPr indent="0" marL="0">
              <a:buNone/>
            </a:pPr>
            <a:r>
              <a:rPr lang="en-US" sz="1575" dirty="0">
                <a:solidFill>
                  <a:srgbClr val="ECDED6"/>
                </a:solidFill>
                <a:latin typeface="Georgia" pitchFamily="34" charset="0"/>
                <a:ea typeface="Georgia" pitchFamily="34" charset="-122"/>
                <a:cs typeface="Georgia" pitchFamily="34" charset="-120"/>
              </a:rPr>
              <a:t>Review the changes of understanding in this act. Identify a small turning point, while leaving later consequences open. A turn can be useful without declaring that a character or community has been fixed.</a:t>
            </a:r>
            <a:endParaRPr lang="en-US" sz="1575" dirty="0"/>
          </a:p>
        </p:txBody>
      </p:sp>
      <p:sp>
        <p:nvSpPr>
          <p:cNvPr id="32" name="Text 29"/>
          <p:cNvSpPr/>
          <p:nvPr/>
        </p:nvSpPr>
        <p:spPr>
          <a:xfrm>
            <a:off x="8705088" y="4572000"/>
            <a:ext cx="4133088" cy="164592"/>
          </a:xfrm>
          <a:prstGeom prst="rect">
            <a:avLst/>
          </a:prstGeom>
          <a:noFill/>
          <a:ln/>
        </p:spPr>
        <p:txBody>
          <a:bodyPr wrap="square" lIns="0" tIns="0" rIns="0" bIns="0" rtlCol="0" anchor="t">
            <a:normAutofit/>
          </a:bodyPr>
          <a:lstStyle/>
          <a:p>
            <a:pPr indent="0" marL="0">
              <a:buNone/>
            </a:pPr>
            <a:r>
              <a:rPr lang="en-US" sz="700" spc="110" kern="0" dirty="0">
                <a:solidFill>
                  <a:srgbClr val="E7B66E"/>
                </a:solidFill>
                <a:latin typeface="Arial" pitchFamily="34" charset="0"/>
                <a:ea typeface="Arial" pitchFamily="34" charset="-122"/>
                <a:cs typeface="Arial" pitchFamily="34" charset="-120"/>
              </a:rPr>
              <a:t>LEAVE A QUESTION</a:t>
            </a:r>
            <a:endParaRPr lang="en-US" sz="700" dirty="0"/>
          </a:p>
        </p:txBody>
      </p:sp>
      <p:sp>
        <p:nvSpPr>
          <p:cNvPr id="33" name="Text 30"/>
          <p:cNvSpPr/>
          <p:nvPr/>
        </p:nvSpPr>
        <p:spPr>
          <a:xfrm>
            <a:off x="8705088" y="4910328"/>
            <a:ext cx="4133088" cy="822960"/>
          </a:xfrm>
          <a:prstGeom prst="rect">
            <a:avLst/>
          </a:prstGeom>
          <a:noFill/>
          <a:ln/>
        </p:spPr>
        <p:txBody>
          <a:bodyPr wrap="square" lIns="0" tIns="0" rIns="0" bIns="0" rtlCol="0" anchor="t">
            <a:normAutofit/>
          </a:bodyPr>
          <a:lstStyle/>
          <a:p>
            <a:pPr indent="0" marL="0">
              <a:buNone/>
            </a:pPr>
            <a:r>
              <a:rPr lang="en-US" sz="1875" i="1" dirty="0">
                <a:solidFill>
                  <a:srgbClr val="E7B66E"/>
                </a:solidFill>
                <a:latin typeface="Georgia" pitchFamily="34" charset="0"/>
                <a:ea typeface="Georgia" pitchFamily="34" charset="-122"/>
                <a:cs typeface="Georgia" pitchFamily="34" charset="-120"/>
              </a:rPr>
              <a:t>Which choice opens the richest set of consequences?</a:t>
            </a:r>
            <a:endParaRPr lang="en-US" sz="1875" dirty="0"/>
          </a:p>
        </p:txBody>
      </p:sp>
      <p:sp>
        <p:nvSpPr>
          <p:cNvPr id="34" name="Text 31"/>
          <p:cNvSpPr/>
          <p:nvPr/>
        </p:nvSpPr>
        <p:spPr>
          <a:xfrm>
            <a:off x="8705088" y="5806440"/>
            <a:ext cx="4133088" cy="292608"/>
          </a:xfrm>
          <a:prstGeom prst="rect">
            <a:avLst/>
          </a:prstGeom>
          <a:noFill/>
          <a:ln/>
        </p:spPr>
        <p:txBody>
          <a:bodyPr wrap="square" lIns="0" tIns="0" rIns="0" bIns="0" rtlCol="0" anchor="t">
            <a:normAutofit/>
          </a:bodyPr>
          <a:lstStyle/>
          <a:p>
            <a:pPr indent="0" marL="0">
              <a:buNone/>
            </a:pPr>
            <a:r>
              <a:rPr lang="en-US" sz="700" dirty="0">
                <a:solidFill>
                  <a:srgbClr val="C0AAB9"/>
                </a:solidFill>
                <a:latin typeface="Arial" pitchFamily="34" charset="0"/>
                <a:ea typeface="Arial" pitchFamily="34" charset="-122"/>
                <a:cs typeface="Arial" pitchFamily="34" charset="-120"/>
              </a:rPr>
              <a:t>Beat order is not timing, a technical call or a show schedule.</a:t>
            </a:r>
            <a:endParaRPr lang="en-US" sz="700" dirty="0"/>
          </a:p>
        </p:txBody>
      </p:sp>
      <p:sp>
        <p:nvSpPr>
          <p:cNvPr id="35" name="Shape 32"/>
          <p:cNvSpPr/>
          <p:nvPr/>
        </p:nvSpPr>
        <p:spPr>
          <a:xfrm>
            <a:off x="1499616" y="6583680"/>
            <a:ext cx="3675888" cy="1481328"/>
          </a:xfrm>
          <a:prstGeom prst="rect">
            <a:avLst/>
          </a:prstGeom>
          <a:solidFill>
            <a:srgbClr val="30201E"/>
          </a:solidFill>
          <a:ln w="8890">
            <a:solidFill>
              <a:srgbClr val="735D6D"/>
            </a:solidFill>
            <a:prstDash val="solid"/>
          </a:ln>
        </p:spPr>
      </p:sp>
      <p:sp>
        <p:nvSpPr>
          <p:cNvPr id="36" name="Text 33"/>
          <p:cNvSpPr/>
          <p:nvPr/>
        </p:nvSpPr>
        <p:spPr>
          <a:xfrm>
            <a:off x="1682496"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E7B66E"/>
                </a:solidFill>
                <a:latin typeface="Arial" pitchFamily="34" charset="0"/>
                <a:ea typeface="Arial" pitchFamily="34" charset="-122"/>
                <a:cs typeface="Arial" pitchFamily="34" charset="-120"/>
              </a:rPr>
              <a:t>01 / NOTICE</a:t>
            </a:r>
            <a:endParaRPr lang="en-US" sz="700" dirty="0"/>
          </a:p>
        </p:txBody>
      </p:sp>
      <p:sp>
        <p:nvSpPr>
          <p:cNvPr id="37" name="Text 34"/>
          <p:cNvSpPr/>
          <p:nvPr/>
        </p:nvSpPr>
        <p:spPr>
          <a:xfrm>
            <a:off x="1682496"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A turn changes possibilities, not necessarily outcomes.</a:t>
            </a:r>
            <a:endParaRPr lang="en-US" sz="1500" dirty="0"/>
          </a:p>
        </p:txBody>
      </p:sp>
      <p:sp>
        <p:nvSpPr>
          <p:cNvPr id="38" name="Shape 35"/>
          <p:cNvSpPr/>
          <p:nvPr/>
        </p:nvSpPr>
        <p:spPr>
          <a:xfrm>
            <a:off x="5321808" y="6583680"/>
            <a:ext cx="3675888" cy="1481328"/>
          </a:xfrm>
          <a:prstGeom prst="rect">
            <a:avLst/>
          </a:prstGeom>
          <a:solidFill>
            <a:srgbClr val="30201E"/>
          </a:solidFill>
          <a:ln w="8890">
            <a:solidFill>
              <a:srgbClr val="735D6D"/>
            </a:solidFill>
            <a:prstDash val="solid"/>
          </a:ln>
        </p:spPr>
      </p:sp>
      <p:sp>
        <p:nvSpPr>
          <p:cNvPr id="39" name="Text 36"/>
          <p:cNvSpPr/>
          <p:nvPr/>
        </p:nvSpPr>
        <p:spPr>
          <a:xfrm>
            <a:off x="5504688"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E7B66E"/>
                </a:solidFill>
                <a:latin typeface="Arial" pitchFamily="34" charset="0"/>
                <a:ea typeface="Arial" pitchFamily="34" charset="-122"/>
                <a:cs typeface="Arial" pitchFamily="34" charset="-120"/>
              </a:rPr>
              <a:t>02 / TRY IN WORDS</a:t>
            </a:r>
            <a:endParaRPr lang="en-US" sz="700" dirty="0"/>
          </a:p>
        </p:txBody>
      </p:sp>
      <p:sp>
        <p:nvSpPr>
          <p:cNvPr id="40" name="Text 37"/>
          <p:cNvSpPr/>
          <p:nvPr/>
        </p:nvSpPr>
        <p:spPr>
          <a:xfrm>
            <a:off x="5504688"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Describe the turn in one sentence and two possible responses.</a:t>
            </a:r>
            <a:endParaRPr lang="en-US" sz="1500" dirty="0"/>
          </a:p>
        </p:txBody>
      </p:sp>
      <p:sp>
        <p:nvSpPr>
          <p:cNvPr id="41" name="Shape 38"/>
          <p:cNvSpPr/>
          <p:nvPr/>
        </p:nvSpPr>
        <p:spPr>
          <a:xfrm>
            <a:off x="9144000" y="6583680"/>
            <a:ext cx="3675888" cy="1481328"/>
          </a:xfrm>
          <a:prstGeom prst="rect">
            <a:avLst/>
          </a:prstGeom>
          <a:solidFill>
            <a:srgbClr val="30201E"/>
          </a:solidFill>
          <a:ln w="8890">
            <a:solidFill>
              <a:srgbClr val="735D6D"/>
            </a:solidFill>
            <a:prstDash val="solid"/>
          </a:ln>
        </p:spPr>
      </p:sp>
      <p:sp>
        <p:nvSpPr>
          <p:cNvPr id="42" name="Text 39"/>
          <p:cNvSpPr/>
          <p:nvPr/>
        </p:nvSpPr>
        <p:spPr>
          <a:xfrm>
            <a:off x="9326880"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E7B66E"/>
                </a:solidFill>
                <a:latin typeface="Arial" pitchFamily="34" charset="0"/>
                <a:ea typeface="Arial" pitchFamily="34" charset="-122"/>
                <a:cs typeface="Arial" pitchFamily="34" charset="-120"/>
              </a:rPr>
              <a:t>03 / KEEP VISIBLE</a:t>
            </a:r>
            <a:endParaRPr lang="en-US" sz="700" dirty="0"/>
          </a:p>
        </p:txBody>
      </p:sp>
      <p:sp>
        <p:nvSpPr>
          <p:cNvPr id="43" name="Text 40"/>
          <p:cNvSpPr/>
          <p:nvPr/>
        </p:nvSpPr>
        <p:spPr>
          <a:xfrm>
            <a:off x="9326880"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Keep the alternatives separate from the chosen draft.</a:t>
            </a:r>
            <a:endParaRPr lang="en-US" sz="1500" dirty="0"/>
          </a:p>
        </p:txBody>
      </p:sp>
      <p:sp>
        <p:nvSpPr>
          <p:cNvPr id="44" name="Shape 41"/>
          <p:cNvSpPr/>
          <p:nvPr/>
        </p:nvSpPr>
        <p:spPr>
          <a:xfrm>
            <a:off x="1499616" y="8211312"/>
            <a:ext cx="11338560" cy="0"/>
          </a:xfrm>
          <a:prstGeom prst="line">
            <a:avLst/>
          </a:prstGeom>
          <a:noFill/>
          <a:ln w="8890">
            <a:solidFill>
              <a:srgbClr val="796170"/>
            </a:solidFill>
            <a:prstDash val="solid"/>
          </a:ln>
        </p:spPr>
      </p:sp>
      <p:sp>
        <p:nvSpPr>
          <p:cNvPr id="45" name="Text 42"/>
          <p:cNvSpPr/>
          <p:nvPr/>
        </p:nvSpPr>
        <p:spPr>
          <a:xfrm>
            <a:off x="1499616" y="8339328"/>
            <a:ext cx="8229600" cy="118872"/>
          </a:xfrm>
          <a:prstGeom prst="rect">
            <a:avLst/>
          </a:prstGeom>
          <a:noFill/>
          <a:ln/>
        </p:spPr>
        <p:txBody>
          <a:bodyPr wrap="square" lIns="0" tIns="0" rIns="0" bIns="0" rtlCol="0" anchor="t">
            <a:normAutofit/>
          </a:bodyPr>
          <a:lstStyle/>
          <a:p>
            <a:pPr indent="0" marL="0">
              <a:buNone/>
            </a:pPr>
            <a:r>
              <a:rPr lang="en-US" sz="650" dirty="0">
                <a:solidFill>
                  <a:srgbClr val="C0AAB9"/>
                </a:solidFill>
                <a:latin typeface="Arial" pitchFamily="34" charset="0"/>
                <a:ea typeface="Arial" pitchFamily="34" charset="-122"/>
                <a:cs typeface="Arial" pitchFamily="34" charset="-120"/>
              </a:rPr>
              <a:t>FICTIONAL WRITING WORKSHOP / NOT A STAGING OR APPROVAL PLAN</a:t>
            </a:r>
            <a:endParaRPr lang="en-US" sz="650" dirty="0"/>
          </a:p>
        </p:txBody>
      </p:sp>
      <p:sp>
        <p:nvSpPr>
          <p:cNvPr id="46" name="Text 43"/>
          <p:cNvSpPr/>
          <p:nvPr/>
        </p:nvSpPr>
        <p:spPr>
          <a:xfrm>
            <a:off x="9729216" y="8339328"/>
            <a:ext cx="3108960" cy="118872"/>
          </a:xfrm>
          <a:prstGeom prst="rect">
            <a:avLst/>
          </a:prstGeom>
          <a:noFill/>
          <a:ln/>
        </p:spPr>
        <p:txBody>
          <a:bodyPr wrap="square" lIns="0" tIns="0" rIns="0" bIns="0" rtlCol="0" anchor="t">
            <a:normAutofit/>
          </a:bodyPr>
          <a:lstStyle/>
          <a:p>
            <a:pPr algn="r" indent="0" marL="0">
              <a:buNone/>
            </a:pPr>
            <a:r>
              <a:rPr lang="en-US" sz="650" dirty="0">
                <a:solidFill>
                  <a:srgbClr val="C0AAB9"/>
                </a:solidFill>
                <a:latin typeface="Arial" pitchFamily="34" charset="0"/>
                <a:ea typeface="Arial" pitchFamily="34" charset="-122"/>
                <a:cs typeface="Arial" pitchFamily="34" charset="-120"/>
              </a:rPr>
              <a:t>DRAFT / 14 OF 15 ARTWORKS / 18 OF 30</a:t>
            </a:r>
            <a:endParaRPr lang="en-US" sz="6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82D2C"/>
        </a:solidFill>
      </p:bgPr>
    </p:bg>
    <p:spTree>
      <p:nvGrpSpPr>
        <p:cNvPr id="1" name=""/>
        <p:cNvGrpSpPr/>
        <p:nvPr/>
      </p:nvGrpSpPr>
      <p:grpSpPr>
        <a:xfrm>
          <a:off x="0" y="0"/>
          <a:ext cx="0" cy="0"/>
          <a:chOff x="0" y="0"/>
          <a:chExt cx="0" cy="0"/>
        </a:xfrm>
      </p:grpSpPr>
      <p:sp>
        <p:nvSpPr>
          <p:cNvPr id="2" name="Shape 0"/>
          <p:cNvSpPr/>
          <p:nvPr/>
        </p:nvSpPr>
        <p:spPr>
          <a:xfrm>
            <a:off x="1243584" y="329184"/>
            <a:ext cx="0" cy="8119872"/>
          </a:xfrm>
          <a:prstGeom prst="line">
            <a:avLst/>
          </a:prstGeom>
          <a:noFill/>
          <a:ln w="10160">
            <a:solidFill>
              <a:srgbClr val="776072"/>
            </a:solidFill>
            <a:prstDash val="solid"/>
          </a:ln>
        </p:spPr>
      </p:sp>
      <p:sp>
        <p:nvSpPr>
          <p:cNvPr id="3" name="Text 1"/>
          <p:cNvSpPr/>
          <p:nvPr/>
        </p:nvSpPr>
        <p:spPr>
          <a:xfrm>
            <a:off x="393192" y="457200"/>
            <a:ext cx="685800" cy="457200"/>
          </a:xfrm>
          <a:prstGeom prst="rect">
            <a:avLst/>
          </a:prstGeom>
          <a:noFill/>
          <a:ln/>
        </p:spPr>
        <p:txBody>
          <a:bodyPr wrap="square" lIns="0" tIns="0" rIns="0" bIns="0" rtlCol="0" anchor="t">
            <a:normAutofit/>
          </a:bodyPr>
          <a:lstStyle/>
          <a:p>
            <a:pPr indent="0" marL="0">
              <a:buNone/>
            </a:pPr>
            <a:r>
              <a:rPr lang="en-US" sz="600" dirty="0">
                <a:solidFill>
                  <a:srgbClr val="C0AAB9"/>
                </a:solidFill>
                <a:latin typeface="Arial" pitchFamily="34" charset="0"/>
                <a:ea typeface="Arial" pitchFamily="34" charset="-122"/>
                <a:cs typeface="Arial" pitchFamily="34" charset="-120"/>
              </a:rPr>
              <a:t>DESIGN BUDDY</a:t>
            </a:r>
            <a:endParaRPr lang="en-US" sz="600" dirty="0"/>
          </a:p>
          <a:p>
            <a:pPr indent="0" marL="0">
              <a:buNone/>
            </a:pPr>
            <a:r>
              <a:rPr lang="en-US" sz="600" dirty="0">
                <a:solidFill>
                  <a:srgbClr val="C0AAB9"/>
                </a:solidFill>
                <a:latin typeface="Arial" pitchFamily="34" charset="0"/>
                <a:ea typeface="Arial" pitchFamily="34" charset="-122"/>
                <a:cs typeface="Arial" pitchFamily="34" charset="-120"/>
              </a:rPr>
              <a:t>CREATIVE EXERCISE</a:t>
            </a:r>
            <a:endParaRPr lang="en-US" sz="600" dirty="0"/>
          </a:p>
        </p:txBody>
      </p:sp>
      <p:sp>
        <p:nvSpPr>
          <p:cNvPr id="4" name="Text 2"/>
          <p:cNvSpPr/>
          <p:nvPr/>
        </p:nvSpPr>
        <p:spPr>
          <a:xfrm>
            <a:off x="502920" y="1920240"/>
            <a:ext cx="502920" cy="4480560"/>
          </a:xfrm>
          <a:prstGeom prst="rect">
            <a:avLst/>
          </a:prstGeom>
          <a:noFill/>
          <a:ln/>
        </p:spPr>
        <p:txBody>
          <a:bodyPr wrap="square" lIns="0" tIns="0" rIns="0" bIns="0" rtlCol="0" anchor="t">
            <a:normAutofit/>
          </a:bodyPr>
          <a:lstStyle/>
          <a:p>
            <a:pPr algn="ctr" indent="0" marL="0">
              <a:buNone/>
            </a:pPr>
            <a:r>
              <a:rPr lang="en-US" sz="2500" dirty="0">
                <a:solidFill>
                  <a:srgbClr val="9BC4A8"/>
                </a:solidFill>
                <a:latin typeface="Georgia" pitchFamily="34" charset="0"/>
                <a:ea typeface="Georgia" pitchFamily="34" charset="-122"/>
                <a:cs typeface="Georgia" pitchFamily="34" charset="-120"/>
              </a:rPr>
              <a:t>A</a:t>
            </a:r>
            <a:endParaRPr lang="en-US" sz="2500" dirty="0"/>
          </a:p>
          <a:p>
            <a:pPr algn="ctr" indent="0" marL="0">
              <a:buNone/>
            </a:pPr>
            <a:r>
              <a:rPr lang="en-US" sz="2500" dirty="0">
                <a:solidFill>
                  <a:srgbClr val="9BC4A8"/>
                </a:solidFill>
                <a:latin typeface="Georgia" pitchFamily="34" charset="0"/>
                <a:ea typeface="Georgia" pitchFamily="34" charset="-122"/>
                <a:cs typeface="Georgia" pitchFamily="34" charset="-120"/>
              </a:rPr>
              <a:t>F</a:t>
            </a:r>
            <a:endParaRPr lang="en-US" sz="2500" dirty="0"/>
          </a:p>
          <a:p>
            <a:pPr algn="ctr" indent="0" marL="0">
              <a:buNone/>
            </a:pPr>
            <a:r>
              <a:rPr lang="en-US" sz="2500" dirty="0">
                <a:solidFill>
                  <a:srgbClr val="9BC4A8"/>
                </a:solidFill>
                <a:latin typeface="Georgia" pitchFamily="34" charset="0"/>
                <a:ea typeface="Georgia" pitchFamily="34" charset="-122"/>
                <a:cs typeface="Georgia" pitchFamily="34" charset="-120"/>
              </a:rPr>
              <a:t>T</a:t>
            </a:r>
            <a:endParaRPr lang="en-US" sz="2500" dirty="0"/>
          </a:p>
          <a:p>
            <a:pPr algn="ctr" indent="0" marL="0">
              <a:buNone/>
            </a:pPr>
            <a:r>
              <a:rPr lang="en-US" sz="2500" dirty="0">
                <a:solidFill>
                  <a:srgbClr val="9BC4A8"/>
                </a:solidFill>
                <a:latin typeface="Georgia" pitchFamily="34" charset="0"/>
                <a:ea typeface="Georgia" pitchFamily="34" charset="-122"/>
                <a:cs typeface="Georgia" pitchFamily="34" charset="-120"/>
              </a:rPr>
              <a:t>E</a:t>
            </a:r>
            <a:endParaRPr lang="en-US" sz="2500" dirty="0"/>
          </a:p>
          <a:p>
            <a:pPr algn="ctr" indent="0" marL="0">
              <a:buNone/>
            </a:pPr>
            <a:r>
              <a:rPr lang="en-US" sz="2500" dirty="0">
                <a:solidFill>
                  <a:srgbClr val="9BC4A8"/>
                </a:solidFill>
                <a:latin typeface="Georgia" pitchFamily="34" charset="0"/>
                <a:ea typeface="Georgia" pitchFamily="34" charset="-122"/>
                <a:cs typeface="Georgia" pitchFamily="34" charset="-120"/>
              </a:rPr>
              <a:t>R</a:t>
            </a:r>
            <a:endParaRPr lang="en-US" sz="2500" dirty="0"/>
          </a:p>
          <a:p>
            <a:pPr algn="ctr" indent="0" marL="0">
              <a:buNone/>
            </a:pPr>
            <a:r>
              <a:rPr lang="en-US" sz="2500" dirty="0">
                <a:solidFill>
                  <a:srgbClr val="9BC4A8"/>
                </a:solidFill>
                <a:latin typeface="Georgia" pitchFamily="34" charset="0"/>
                <a:ea typeface="Georgia" pitchFamily="34" charset="-122"/>
                <a:cs typeface="Georgia" pitchFamily="34" charset="-120"/>
              </a:rPr>
              <a:t>G</a:t>
            </a:r>
            <a:endParaRPr lang="en-US" sz="2500" dirty="0"/>
          </a:p>
          <a:p>
            <a:pPr algn="ctr" indent="0" marL="0">
              <a:buNone/>
            </a:pPr>
            <a:r>
              <a:rPr lang="en-US" sz="2500" dirty="0">
                <a:solidFill>
                  <a:srgbClr val="9BC4A8"/>
                </a:solidFill>
                <a:latin typeface="Georgia" pitchFamily="34" charset="0"/>
                <a:ea typeface="Georgia" pitchFamily="34" charset="-122"/>
                <a:cs typeface="Georgia" pitchFamily="34" charset="-120"/>
              </a:rPr>
              <a:t>L</a:t>
            </a:r>
            <a:endParaRPr lang="en-US" sz="2500" dirty="0"/>
          </a:p>
          <a:p>
            <a:pPr algn="ctr" indent="0" marL="0">
              <a:buNone/>
            </a:pPr>
            <a:r>
              <a:rPr lang="en-US" sz="2500" dirty="0">
                <a:solidFill>
                  <a:srgbClr val="9BC4A8"/>
                </a:solidFill>
                <a:latin typeface="Georgia" pitchFamily="34" charset="0"/>
                <a:ea typeface="Georgia" pitchFamily="34" charset="-122"/>
                <a:cs typeface="Georgia" pitchFamily="34" charset="-120"/>
              </a:rPr>
              <a:t>O</a:t>
            </a:r>
            <a:endParaRPr lang="en-US" sz="2500" dirty="0"/>
          </a:p>
          <a:p>
            <a:pPr algn="ctr" indent="0" marL="0">
              <a:buNone/>
            </a:pPr>
            <a:r>
              <a:rPr lang="en-US" sz="2500" dirty="0">
                <a:solidFill>
                  <a:srgbClr val="9BC4A8"/>
                </a:solidFill>
                <a:latin typeface="Georgia" pitchFamily="34" charset="0"/>
                <a:ea typeface="Georgia" pitchFamily="34" charset="-122"/>
                <a:cs typeface="Georgia" pitchFamily="34" charset="-120"/>
              </a:rPr>
              <a:t>W</a:t>
            </a:r>
            <a:endParaRPr lang="en-US" sz="2500" dirty="0"/>
          </a:p>
        </p:txBody>
      </p:sp>
      <p:sp>
        <p:nvSpPr>
          <p:cNvPr id="5" name="Text 3"/>
          <p:cNvSpPr/>
          <p:nvPr/>
        </p:nvSpPr>
        <p:spPr>
          <a:xfrm>
            <a:off x="402336" y="7022592"/>
            <a:ext cx="731520" cy="594360"/>
          </a:xfrm>
          <a:prstGeom prst="rect">
            <a:avLst/>
          </a:prstGeom>
          <a:noFill/>
          <a:ln/>
        </p:spPr>
        <p:txBody>
          <a:bodyPr wrap="square" lIns="0" tIns="0" rIns="0" bIns="0" rtlCol="0" anchor="t">
            <a:normAutofit/>
          </a:bodyPr>
          <a:lstStyle/>
          <a:p>
            <a:pPr indent="0" marL="0">
              <a:buNone/>
            </a:pPr>
            <a:r>
              <a:rPr lang="en-US" sz="4200" dirty="0">
                <a:solidFill>
                  <a:srgbClr val="9BC4A8"/>
                </a:solidFill>
                <a:latin typeface="Georgia" pitchFamily="34" charset="0"/>
                <a:ea typeface="Georgia" pitchFamily="34" charset="-122"/>
                <a:cs typeface="Georgia" pitchFamily="34" charset="-120"/>
              </a:rPr>
              <a:t>19</a:t>
            </a:r>
            <a:endParaRPr lang="en-US" sz="4200" dirty="0"/>
          </a:p>
        </p:txBody>
      </p:sp>
      <p:sp>
        <p:nvSpPr>
          <p:cNvPr id="6" name="Text 4"/>
          <p:cNvSpPr/>
          <p:nvPr/>
        </p:nvSpPr>
        <p:spPr>
          <a:xfrm>
            <a:off x="402336" y="7818120"/>
            <a:ext cx="731520" cy="411480"/>
          </a:xfrm>
          <a:prstGeom prst="rect">
            <a:avLst/>
          </a:prstGeom>
          <a:noFill/>
          <a:ln/>
        </p:spPr>
        <p:txBody>
          <a:bodyPr wrap="square" lIns="0" tIns="0" rIns="0" bIns="0" rtlCol="0" anchor="t">
            <a:normAutofit/>
          </a:bodyPr>
          <a:lstStyle/>
          <a:p>
            <a:pPr indent="0" marL="0">
              <a:buNone/>
            </a:pPr>
            <a:r>
              <a:rPr lang="en-US" sz="700" dirty="0">
                <a:solidFill>
                  <a:srgbClr val="C0AAB9"/>
                </a:solidFill>
                <a:latin typeface="Arial" pitchFamily="34" charset="0"/>
                <a:ea typeface="Arial" pitchFamily="34" charset="-122"/>
                <a:cs typeface="Arial" pitchFamily="34" charset="-120"/>
              </a:rPr>
              <a:t>ACT 4 / 5</a:t>
            </a:r>
            <a:endParaRPr lang="en-US" sz="700" dirty="0"/>
          </a:p>
          <a:p>
            <a:pPr indent="0" marL="0">
              <a:buNone/>
            </a:pPr>
            <a:r>
              <a:rPr lang="en-US" sz="700" dirty="0">
                <a:solidFill>
                  <a:srgbClr val="C0AAB9"/>
                </a:solidFill>
                <a:latin typeface="Arial" pitchFamily="34" charset="0"/>
                <a:ea typeface="Arial" pitchFamily="34" charset="-122"/>
                <a:cs typeface="Arial" pitchFamily="34" charset="-120"/>
              </a:rPr>
              <a:t>BEAT 1 / 6</a:t>
            </a:r>
            <a:endParaRPr lang="en-US" sz="700" dirty="0"/>
          </a:p>
        </p:txBody>
      </p:sp>
      <p:sp>
        <p:nvSpPr>
          <p:cNvPr id="7" name="Text 5"/>
          <p:cNvSpPr/>
          <p:nvPr/>
        </p:nvSpPr>
        <p:spPr>
          <a:xfrm>
            <a:off x="1499616" y="347472"/>
            <a:ext cx="9144000" cy="164592"/>
          </a:xfrm>
          <a:prstGeom prst="rect">
            <a:avLst/>
          </a:prstGeom>
          <a:noFill/>
          <a:ln/>
        </p:spPr>
        <p:txBody>
          <a:bodyPr wrap="square" lIns="0" tIns="0" rIns="0" bIns="0" rtlCol="0" anchor="t">
            <a:normAutofit/>
          </a:bodyPr>
          <a:lstStyle/>
          <a:p>
            <a:pPr indent="0" marL="0">
              <a:buNone/>
            </a:pPr>
            <a:r>
              <a:rPr lang="en-US" sz="700" spc="120" kern="0" dirty="0">
                <a:solidFill>
                  <a:srgbClr val="9BC4A8"/>
                </a:solidFill>
                <a:latin typeface="Arial" pitchFamily="34" charset="0"/>
                <a:ea typeface="Arial" pitchFamily="34" charset="-122"/>
                <a:cs typeface="Arial" pitchFamily="34" charset="-120"/>
              </a:rPr>
              <a:t>ACT 4 / REVISION</a:t>
            </a:r>
            <a:endParaRPr lang="en-US" sz="700" dirty="0"/>
          </a:p>
        </p:txBody>
      </p:sp>
      <p:sp>
        <p:nvSpPr>
          <p:cNvPr id="8" name="Text 6"/>
          <p:cNvSpPr/>
          <p:nvPr/>
        </p:nvSpPr>
        <p:spPr>
          <a:xfrm>
            <a:off x="1499616" y="612648"/>
            <a:ext cx="9692640" cy="594360"/>
          </a:xfrm>
          <a:prstGeom prst="rect">
            <a:avLst/>
          </a:prstGeom>
          <a:noFill/>
          <a:ln/>
        </p:spPr>
        <p:txBody>
          <a:bodyPr wrap="square" lIns="0" tIns="0" rIns="0" bIns="0" rtlCol="0" anchor="t">
            <a:normAutofit/>
          </a:bodyPr>
          <a:lstStyle/>
          <a:p>
            <a:pPr indent="0" marL="0">
              <a:buNone/>
            </a:pPr>
            <a:r>
              <a:rPr lang="en-US" sz="2800" dirty="0">
                <a:solidFill>
                  <a:srgbClr val="ECDED6"/>
                </a:solidFill>
                <a:latin typeface="Georgia" pitchFamily="34" charset="0"/>
                <a:ea typeface="Georgia" pitchFamily="34" charset="-122"/>
                <a:cs typeface="Georgia" pitchFamily="34" charset="-120"/>
              </a:rPr>
              <a:t>Read a draft as a draft.</a:t>
            </a:r>
            <a:endParaRPr lang="en-US" sz="2800" dirty="0"/>
          </a:p>
        </p:txBody>
      </p:sp>
      <p:sp>
        <p:nvSpPr>
          <p:cNvPr id="9" name="Text 7"/>
          <p:cNvSpPr/>
          <p:nvPr/>
        </p:nvSpPr>
        <p:spPr>
          <a:xfrm>
            <a:off x="11475720" y="438912"/>
            <a:ext cx="1325880" cy="182880"/>
          </a:xfrm>
          <a:prstGeom prst="rect">
            <a:avLst/>
          </a:prstGeom>
          <a:noFill/>
          <a:ln/>
        </p:spPr>
        <p:txBody>
          <a:bodyPr wrap="square" lIns="0" tIns="0" rIns="0" bIns="0" rtlCol="0" anchor="t">
            <a:normAutofit/>
          </a:bodyPr>
          <a:lstStyle/>
          <a:p>
            <a:pPr algn="r" indent="0" marL="0">
              <a:buNone/>
            </a:pPr>
            <a:r>
              <a:rPr lang="en-US" sz="700" dirty="0">
                <a:solidFill>
                  <a:srgbClr val="9BC4A8"/>
                </a:solidFill>
                <a:latin typeface="Arial" pitchFamily="34" charset="0"/>
                <a:ea typeface="Arial" pitchFamily="34" charset="-122"/>
                <a:cs typeface="Arial" pitchFamily="34" charset="-120"/>
              </a:rPr>
              <a:t>LOCAL / UNMARKED</a:t>
            </a:r>
            <a:endParaRPr lang="en-US" sz="700" dirty="0"/>
          </a:p>
        </p:txBody>
      </p:sp>
      <p:sp>
        <p:nvSpPr>
          <p:cNvPr id="10" name="Shape 8"/>
          <p:cNvSpPr/>
          <p:nvPr/>
        </p:nvSpPr>
        <p:spPr>
          <a:xfrm>
            <a:off x="1499616" y="1307592"/>
            <a:ext cx="1819656" cy="448056"/>
          </a:xfrm>
          <a:prstGeom prst="rect">
            <a:avLst/>
          </a:prstGeom>
          <a:solidFill>
            <a:srgbClr val="182D2C"/>
          </a:solidFill>
          <a:ln w="8890">
            <a:solidFill>
              <a:srgbClr val="9BC4A8"/>
            </a:solidFill>
            <a:prstDash val="solid"/>
          </a:ln>
        </p:spPr>
      </p:sp>
      <p:sp>
        <p:nvSpPr>
          <p:cNvPr id="11" name="Text 9"/>
          <p:cNvSpPr/>
          <p:nvPr/>
        </p:nvSpPr>
        <p:spPr>
          <a:xfrm>
            <a:off x="1572768"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9BC4A8"/>
                </a:solidFill>
                <a:latin typeface="Georgia" pitchFamily="34" charset="0"/>
                <a:ea typeface="Georgia" pitchFamily="34" charset="-122"/>
                <a:cs typeface="Georgia" pitchFamily="34" charset="-120"/>
              </a:rPr>
              <a:t>1</a:t>
            </a:r>
            <a:endParaRPr lang="en-US" sz="1700" dirty="0"/>
          </a:p>
        </p:txBody>
      </p:sp>
      <p:sp>
        <p:nvSpPr>
          <p:cNvPr id="12" name="Text 10"/>
          <p:cNvSpPr/>
          <p:nvPr/>
        </p:nvSpPr>
        <p:spPr>
          <a:xfrm>
            <a:off x="1865376"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Read a draft as a draft.</a:t>
            </a:r>
            <a:endParaRPr lang="en-US" sz="700" dirty="0"/>
          </a:p>
        </p:txBody>
      </p:sp>
      <p:sp>
        <p:nvSpPr>
          <p:cNvPr id="13" name="Shape 11"/>
          <p:cNvSpPr/>
          <p:nvPr/>
        </p:nvSpPr>
        <p:spPr>
          <a:xfrm>
            <a:off x="3392424" y="1307592"/>
            <a:ext cx="1819656" cy="448056"/>
          </a:xfrm>
          <a:prstGeom prst="rect">
            <a:avLst/>
          </a:prstGeom>
          <a:solidFill>
            <a:srgbClr val="182D2C"/>
          </a:solidFill>
          <a:ln w="8890">
            <a:solidFill>
              <a:srgbClr val="6D5768"/>
            </a:solidFill>
            <a:prstDash val="solid"/>
          </a:ln>
        </p:spPr>
      </p:sp>
      <p:sp>
        <p:nvSpPr>
          <p:cNvPr id="14" name="Text 12"/>
          <p:cNvSpPr/>
          <p:nvPr/>
        </p:nvSpPr>
        <p:spPr>
          <a:xfrm>
            <a:off x="3465576"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9BC4A8"/>
                </a:solidFill>
                <a:latin typeface="Georgia" pitchFamily="34" charset="0"/>
                <a:ea typeface="Georgia" pitchFamily="34" charset="-122"/>
                <a:cs typeface="Georgia" pitchFamily="34" charset="-120"/>
              </a:rPr>
              <a:t>2</a:t>
            </a:r>
            <a:endParaRPr lang="en-US" sz="1700" dirty="0"/>
          </a:p>
        </p:txBody>
      </p:sp>
      <p:sp>
        <p:nvSpPr>
          <p:cNvPr id="15" name="Text 13"/>
          <p:cNvSpPr/>
          <p:nvPr/>
        </p:nvSpPr>
        <p:spPr>
          <a:xfrm>
            <a:off x="3758184"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Revise one thing at a time.</a:t>
            </a:r>
            <a:endParaRPr lang="en-US" sz="700" dirty="0"/>
          </a:p>
        </p:txBody>
      </p:sp>
      <p:sp>
        <p:nvSpPr>
          <p:cNvPr id="16" name="Shape 14"/>
          <p:cNvSpPr/>
          <p:nvPr/>
        </p:nvSpPr>
        <p:spPr>
          <a:xfrm>
            <a:off x="5285232" y="1307592"/>
            <a:ext cx="1819656" cy="448056"/>
          </a:xfrm>
          <a:prstGeom prst="rect">
            <a:avLst/>
          </a:prstGeom>
          <a:solidFill>
            <a:srgbClr val="182D2C"/>
          </a:solidFill>
          <a:ln w="8890">
            <a:solidFill>
              <a:srgbClr val="6D5768"/>
            </a:solidFill>
            <a:prstDash val="solid"/>
          </a:ln>
        </p:spPr>
      </p:sp>
      <p:sp>
        <p:nvSpPr>
          <p:cNvPr id="17" name="Text 15"/>
          <p:cNvSpPr/>
          <p:nvPr/>
        </p:nvSpPr>
        <p:spPr>
          <a:xfrm>
            <a:off x="5358384"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9BC4A8"/>
                </a:solidFill>
                <a:latin typeface="Georgia" pitchFamily="34" charset="0"/>
                <a:ea typeface="Georgia" pitchFamily="34" charset="-122"/>
                <a:cs typeface="Georgia" pitchFamily="34" charset="-120"/>
              </a:rPr>
              <a:t>3</a:t>
            </a:r>
            <a:endParaRPr lang="en-US" sz="1700" dirty="0"/>
          </a:p>
        </p:txBody>
      </p:sp>
      <p:sp>
        <p:nvSpPr>
          <p:cNvPr id="18" name="Text 16"/>
          <p:cNvSpPr/>
          <p:nvPr/>
        </p:nvSpPr>
        <p:spPr>
          <a:xfrm>
            <a:off x="5650992"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Distinguish taste from intention.</a:t>
            </a:r>
            <a:endParaRPr lang="en-US" sz="700" dirty="0"/>
          </a:p>
        </p:txBody>
      </p:sp>
      <p:sp>
        <p:nvSpPr>
          <p:cNvPr id="19" name="Shape 17"/>
          <p:cNvSpPr/>
          <p:nvPr/>
        </p:nvSpPr>
        <p:spPr>
          <a:xfrm>
            <a:off x="7178040" y="1307592"/>
            <a:ext cx="1819656" cy="448056"/>
          </a:xfrm>
          <a:prstGeom prst="rect">
            <a:avLst/>
          </a:prstGeom>
          <a:solidFill>
            <a:srgbClr val="182D2C"/>
          </a:solidFill>
          <a:ln w="8890">
            <a:solidFill>
              <a:srgbClr val="6D5768"/>
            </a:solidFill>
            <a:prstDash val="solid"/>
          </a:ln>
        </p:spPr>
      </p:sp>
      <p:sp>
        <p:nvSpPr>
          <p:cNvPr id="20" name="Text 18"/>
          <p:cNvSpPr/>
          <p:nvPr/>
        </p:nvSpPr>
        <p:spPr>
          <a:xfrm>
            <a:off x="7251192"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9BC4A8"/>
                </a:solidFill>
                <a:latin typeface="Georgia" pitchFamily="34" charset="0"/>
                <a:ea typeface="Georgia" pitchFamily="34" charset="-122"/>
                <a:cs typeface="Georgia" pitchFamily="34" charset="-120"/>
              </a:rPr>
              <a:t>4</a:t>
            </a:r>
            <a:endParaRPr lang="en-US" sz="1700" dirty="0"/>
          </a:p>
        </p:txBody>
      </p:sp>
      <p:sp>
        <p:nvSpPr>
          <p:cNvPr id="21" name="Text 19"/>
          <p:cNvSpPr/>
          <p:nvPr/>
        </p:nvSpPr>
        <p:spPr>
          <a:xfrm>
            <a:off x="7543800"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Keep the unused possibility.</a:t>
            </a:r>
            <a:endParaRPr lang="en-US" sz="700" dirty="0"/>
          </a:p>
        </p:txBody>
      </p:sp>
      <p:sp>
        <p:nvSpPr>
          <p:cNvPr id="22" name="Shape 20"/>
          <p:cNvSpPr/>
          <p:nvPr/>
        </p:nvSpPr>
        <p:spPr>
          <a:xfrm>
            <a:off x="9070848" y="1307592"/>
            <a:ext cx="1819656" cy="448056"/>
          </a:xfrm>
          <a:prstGeom prst="rect">
            <a:avLst/>
          </a:prstGeom>
          <a:solidFill>
            <a:srgbClr val="182D2C"/>
          </a:solidFill>
          <a:ln w="8890">
            <a:solidFill>
              <a:srgbClr val="6D5768"/>
            </a:solidFill>
            <a:prstDash val="solid"/>
          </a:ln>
        </p:spPr>
      </p:sp>
      <p:sp>
        <p:nvSpPr>
          <p:cNvPr id="23" name="Text 21"/>
          <p:cNvSpPr/>
          <p:nvPr/>
        </p:nvSpPr>
        <p:spPr>
          <a:xfrm>
            <a:off x="9144000"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9BC4A8"/>
                </a:solidFill>
                <a:latin typeface="Georgia" pitchFamily="34" charset="0"/>
                <a:ea typeface="Georgia" pitchFamily="34" charset="-122"/>
                <a:cs typeface="Georgia" pitchFamily="34" charset="-120"/>
              </a:rPr>
              <a:t>5</a:t>
            </a:r>
            <a:endParaRPr lang="en-US" sz="1700" dirty="0"/>
          </a:p>
        </p:txBody>
      </p:sp>
      <p:sp>
        <p:nvSpPr>
          <p:cNvPr id="24" name="Text 22"/>
          <p:cNvSpPr/>
          <p:nvPr/>
        </p:nvSpPr>
        <p:spPr>
          <a:xfrm>
            <a:off x="9436608"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Return to the story’s boundary.</a:t>
            </a:r>
            <a:endParaRPr lang="en-US" sz="700" dirty="0"/>
          </a:p>
        </p:txBody>
      </p:sp>
      <p:sp>
        <p:nvSpPr>
          <p:cNvPr id="25" name="Shape 23"/>
          <p:cNvSpPr/>
          <p:nvPr/>
        </p:nvSpPr>
        <p:spPr>
          <a:xfrm>
            <a:off x="10963656" y="1307592"/>
            <a:ext cx="1819656" cy="448056"/>
          </a:xfrm>
          <a:prstGeom prst="rect">
            <a:avLst/>
          </a:prstGeom>
          <a:solidFill>
            <a:srgbClr val="182D2C"/>
          </a:solidFill>
          <a:ln w="8890">
            <a:solidFill>
              <a:srgbClr val="6D5768"/>
            </a:solidFill>
            <a:prstDash val="solid"/>
          </a:ln>
        </p:spPr>
      </p:sp>
      <p:sp>
        <p:nvSpPr>
          <p:cNvPr id="26" name="Text 24"/>
          <p:cNvSpPr/>
          <p:nvPr/>
        </p:nvSpPr>
        <p:spPr>
          <a:xfrm>
            <a:off x="11036808"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9BC4A8"/>
                </a:solidFill>
                <a:latin typeface="Georgia" pitchFamily="34" charset="0"/>
                <a:ea typeface="Georgia" pitchFamily="34" charset="-122"/>
                <a:cs typeface="Georgia" pitchFamily="34" charset="-120"/>
              </a:rPr>
              <a:t>6</a:t>
            </a:r>
            <a:endParaRPr lang="en-US" sz="1700" dirty="0"/>
          </a:p>
        </p:txBody>
      </p:sp>
      <p:sp>
        <p:nvSpPr>
          <p:cNvPr id="27" name="Text 25"/>
          <p:cNvSpPr/>
          <p:nvPr/>
        </p:nvSpPr>
        <p:spPr>
          <a:xfrm>
            <a:off x="11329416"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Choose a revision question.</a:t>
            </a:r>
            <a:endParaRPr lang="en-US" sz="700" dirty="0"/>
          </a:p>
        </p:txBody>
      </p:sp>
      <p:pic>
        <p:nvPicPr>
          <p:cNvPr id="28" name="Image 0" descr="/home/user/design-buddy/design-buddy-home/public/atelier/afterglow/images/10.jpg">    </p:cNvPr>
          <p:cNvPicPr>
            <a:picLocks noChangeAspect="1"/>
          </p:cNvPicPr>
          <p:nvPr/>
        </p:nvPicPr>
        <p:blipFill>
          <a:blip r:embed="rId1"/>
          <a:srcRect l="0" r="0" t="0" b="0"/>
          <a:stretch/>
        </p:blipFill>
        <p:spPr>
          <a:xfrm>
            <a:off x="1499616" y="2066544"/>
            <a:ext cx="6949440" cy="3840480"/>
          </a:xfrm>
          <a:prstGeom prst="rect">
            <a:avLst/>
          </a:prstGeom>
        </p:spPr>
      </p:pic>
      <p:sp>
        <p:nvSpPr>
          <p:cNvPr id="29" name="Text 26"/>
          <p:cNvSpPr/>
          <p:nvPr/>
        </p:nvSpPr>
        <p:spPr>
          <a:xfrm>
            <a:off x="1499616" y="6007608"/>
            <a:ext cx="6949440" cy="164592"/>
          </a:xfrm>
          <a:prstGeom prst="rect">
            <a:avLst/>
          </a:prstGeom>
          <a:noFill/>
          <a:ln/>
        </p:spPr>
        <p:txBody>
          <a:bodyPr wrap="square" lIns="0" tIns="0" rIns="0" bIns="0" rtlCol="0" anchor="t">
            <a:normAutofit/>
          </a:bodyPr>
          <a:lstStyle/>
          <a:p>
            <a:pPr indent="0" marL="0">
              <a:buNone/>
            </a:pPr>
            <a:r>
              <a:rPr lang="en-US" sz="650" dirty="0">
                <a:solidFill>
                  <a:srgbClr val="C0AAB9"/>
                </a:solidFill>
                <a:latin typeface="Arial" pitchFamily="34" charset="0"/>
                <a:ea typeface="Arial" pitchFamily="34" charset="-122"/>
                <a:cs typeface="Arial" pitchFamily="34" charset="-120"/>
              </a:rPr>
              <a:t>Watercolour 10 / invented setting and adults / not production evidence</a:t>
            </a:r>
            <a:endParaRPr lang="en-US" sz="650" dirty="0"/>
          </a:p>
        </p:txBody>
      </p:sp>
      <p:sp>
        <p:nvSpPr>
          <p:cNvPr id="30" name="Text 27"/>
          <p:cNvSpPr/>
          <p:nvPr/>
        </p:nvSpPr>
        <p:spPr>
          <a:xfrm>
            <a:off x="8705088" y="2139696"/>
            <a:ext cx="4133088" cy="164592"/>
          </a:xfrm>
          <a:prstGeom prst="rect">
            <a:avLst/>
          </a:prstGeom>
          <a:noFill/>
          <a:ln/>
        </p:spPr>
        <p:txBody>
          <a:bodyPr wrap="square" lIns="0" tIns="0" rIns="0" bIns="0" rtlCol="0" anchor="t">
            <a:normAutofit/>
          </a:bodyPr>
          <a:lstStyle/>
          <a:p>
            <a:pPr indent="0" marL="0">
              <a:buNone/>
            </a:pPr>
            <a:r>
              <a:rPr lang="en-US" sz="700" spc="110" kern="0" dirty="0">
                <a:solidFill>
                  <a:srgbClr val="9BC4A8"/>
                </a:solidFill>
                <a:latin typeface="Arial" pitchFamily="34" charset="0"/>
                <a:ea typeface="Arial" pitchFamily="34" charset="-122"/>
                <a:cs typeface="Arial" pitchFamily="34" charset="-120"/>
              </a:rPr>
              <a:t>STORY INTENTION</a:t>
            </a:r>
            <a:endParaRPr lang="en-US" sz="700" dirty="0"/>
          </a:p>
        </p:txBody>
      </p:sp>
      <p:sp>
        <p:nvSpPr>
          <p:cNvPr id="31" name="Text 28"/>
          <p:cNvSpPr/>
          <p:nvPr/>
        </p:nvSpPr>
        <p:spPr>
          <a:xfrm>
            <a:off x="8705088" y="2514600"/>
            <a:ext cx="4133088" cy="1828800"/>
          </a:xfrm>
          <a:prstGeom prst="rect">
            <a:avLst/>
          </a:prstGeom>
          <a:noFill/>
          <a:ln/>
        </p:spPr>
        <p:txBody>
          <a:bodyPr wrap="square" lIns="0" tIns="0" rIns="0" bIns="0" rtlCol="0" anchor="t">
            <a:normAutofit/>
          </a:bodyPr>
          <a:lstStyle/>
          <a:p>
            <a:pPr indent="0" marL="0">
              <a:buNone/>
            </a:pPr>
            <a:r>
              <a:rPr lang="en-US" sz="1575" dirty="0">
                <a:solidFill>
                  <a:srgbClr val="ECDED6"/>
                </a:solidFill>
                <a:latin typeface="Georgia" pitchFamily="34" charset="0"/>
                <a:ea typeface="Georgia" pitchFamily="34" charset="-122"/>
                <a:cs typeface="Georgia" pitchFamily="34" charset="-120"/>
              </a:rPr>
              <a:t>Return to one earlier passage and mark what is clear, ambiguous or missing. These are local creative observations. They are not an official review, performer assessment or permission to produce a show.</a:t>
            </a:r>
            <a:endParaRPr lang="en-US" sz="1575" dirty="0"/>
          </a:p>
        </p:txBody>
      </p:sp>
      <p:sp>
        <p:nvSpPr>
          <p:cNvPr id="32" name="Text 29"/>
          <p:cNvSpPr/>
          <p:nvPr/>
        </p:nvSpPr>
        <p:spPr>
          <a:xfrm>
            <a:off x="8705088" y="4572000"/>
            <a:ext cx="4133088" cy="164592"/>
          </a:xfrm>
          <a:prstGeom prst="rect">
            <a:avLst/>
          </a:prstGeom>
          <a:noFill/>
          <a:ln/>
        </p:spPr>
        <p:txBody>
          <a:bodyPr wrap="square" lIns="0" tIns="0" rIns="0" bIns="0" rtlCol="0" anchor="t">
            <a:normAutofit/>
          </a:bodyPr>
          <a:lstStyle/>
          <a:p>
            <a:pPr indent="0" marL="0">
              <a:buNone/>
            </a:pPr>
            <a:r>
              <a:rPr lang="en-US" sz="700" spc="110" kern="0" dirty="0">
                <a:solidFill>
                  <a:srgbClr val="9BC4A8"/>
                </a:solidFill>
                <a:latin typeface="Arial" pitchFamily="34" charset="0"/>
                <a:ea typeface="Arial" pitchFamily="34" charset="-122"/>
                <a:cs typeface="Arial" pitchFamily="34" charset="-120"/>
              </a:rPr>
              <a:t>LEAVE A QUESTION</a:t>
            </a:r>
            <a:endParaRPr lang="en-US" sz="700" dirty="0"/>
          </a:p>
        </p:txBody>
      </p:sp>
      <p:sp>
        <p:nvSpPr>
          <p:cNvPr id="33" name="Text 30"/>
          <p:cNvSpPr/>
          <p:nvPr/>
        </p:nvSpPr>
        <p:spPr>
          <a:xfrm>
            <a:off x="8705088" y="4910328"/>
            <a:ext cx="4133088" cy="822960"/>
          </a:xfrm>
          <a:prstGeom prst="rect">
            <a:avLst/>
          </a:prstGeom>
          <a:noFill/>
          <a:ln/>
        </p:spPr>
        <p:txBody>
          <a:bodyPr wrap="square" lIns="0" tIns="0" rIns="0" bIns="0" rtlCol="0" anchor="t">
            <a:normAutofit/>
          </a:bodyPr>
          <a:lstStyle/>
          <a:p>
            <a:pPr indent="0" marL="0">
              <a:buNone/>
            </a:pPr>
            <a:r>
              <a:rPr lang="en-US" sz="1875" i="1" dirty="0">
                <a:solidFill>
                  <a:srgbClr val="9BC4A8"/>
                </a:solidFill>
                <a:latin typeface="Georgia" pitchFamily="34" charset="0"/>
                <a:ea typeface="Georgia" pitchFamily="34" charset="-122"/>
                <a:cs typeface="Georgia" pitchFamily="34" charset="-120"/>
              </a:rPr>
              <a:t>Which ambiguity is intentional, and which is accidental?</a:t>
            </a:r>
            <a:endParaRPr lang="en-US" sz="1875" dirty="0"/>
          </a:p>
        </p:txBody>
      </p:sp>
      <p:sp>
        <p:nvSpPr>
          <p:cNvPr id="34" name="Text 31"/>
          <p:cNvSpPr/>
          <p:nvPr/>
        </p:nvSpPr>
        <p:spPr>
          <a:xfrm>
            <a:off x="8705088" y="5806440"/>
            <a:ext cx="4133088" cy="292608"/>
          </a:xfrm>
          <a:prstGeom prst="rect">
            <a:avLst/>
          </a:prstGeom>
          <a:noFill/>
          <a:ln/>
        </p:spPr>
        <p:txBody>
          <a:bodyPr wrap="square" lIns="0" tIns="0" rIns="0" bIns="0" rtlCol="0" anchor="t">
            <a:normAutofit/>
          </a:bodyPr>
          <a:lstStyle/>
          <a:p>
            <a:pPr indent="0" marL="0">
              <a:buNone/>
            </a:pPr>
            <a:r>
              <a:rPr lang="en-US" sz="700" dirty="0">
                <a:solidFill>
                  <a:srgbClr val="C0AAB9"/>
                </a:solidFill>
                <a:latin typeface="Arial" pitchFamily="34" charset="0"/>
                <a:ea typeface="Arial" pitchFamily="34" charset="-122"/>
                <a:cs typeface="Arial" pitchFamily="34" charset="-120"/>
              </a:rPr>
              <a:t>Beat order is not timing, a technical call or a show schedule.</a:t>
            </a:r>
            <a:endParaRPr lang="en-US" sz="700" dirty="0"/>
          </a:p>
        </p:txBody>
      </p:sp>
      <p:sp>
        <p:nvSpPr>
          <p:cNvPr id="35" name="Shape 32"/>
          <p:cNvSpPr/>
          <p:nvPr/>
        </p:nvSpPr>
        <p:spPr>
          <a:xfrm>
            <a:off x="1499616" y="6583680"/>
            <a:ext cx="3675888" cy="1481328"/>
          </a:xfrm>
          <a:prstGeom prst="rect">
            <a:avLst/>
          </a:prstGeom>
          <a:solidFill>
            <a:srgbClr val="182D2C"/>
          </a:solidFill>
          <a:ln w="8890">
            <a:solidFill>
              <a:srgbClr val="735D6D"/>
            </a:solidFill>
            <a:prstDash val="solid"/>
          </a:ln>
        </p:spPr>
      </p:sp>
      <p:sp>
        <p:nvSpPr>
          <p:cNvPr id="36" name="Text 33"/>
          <p:cNvSpPr/>
          <p:nvPr/>
        </p:nvSpPr>
        <p:spPr>
          <a:xfrm>
            <a:off x="1682496"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9BC4A8"/>
                </a:solidFill>
                <a:latin typeface="Arial" pitchFamily="34" charset="0"/>
                <a:ea typeface="Arial" pitchFamily="34" charset="-122"/>
                <a:cs typeface="Arial" pitchFamily="34" charset="-120"/>
              </a:rPr>
              <a:t>01 / NOTICE</a:t>
            </a:r>
            <a:endParaRPr lang="en-US" sz="700" dirty="0"/>
          </a:p>
        </p:txBody>
      </p:sp>
      <p:sp>
        <p:nvSpPr>
          <p:cNvPr id="37" name="Text 34"/>
          <p:cNvSpPr/>
          <p:nvPr/>
        </p:nvSpPr>
        <p:spPr>
          <a:xfrm>
            <a:off x="1682496"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A local mark records a question, not approval.</a:t>
            </a:r>
            <a:endParaRPr lang="en-US" sz="1500" dirty="0"/>
          </a:p>
        </p:txBody>
      </p:sp>
      <p:sp>
        <p:nvSpPr>
          <p:cNvPr id="38" name="Shape 35"/>
          <p:cNvSpPr/>
          <p:nvPr/>
        </p:nvSpPr>
        <p:spPr>
          <a:xfrm>
            <a:off x="5321808" y="6583680"/>
            <a:ext cx="3675888" cy="1481328"/>
          </a:xfrm>
          <a:prstGeom prst="rect">
            <a:avLst/>
          </a:prstGeom>
          <a:solidFill>
            <a:srgbClr val="182D2C"/>
          </a:solidFill>
          <a:ln w="8890">
            <a:solidFill>
              <a:srgbClr val="735D6D"/>
            </a:solidFill>
            <a:prstDash val="solid"/>
          </a:ln>
        </p:spPr>
      </p:sp>
      <p:sp>
        <p:nvSpPr>
          <p:cNvPr id="39" name="Text 36"/>
          <p:cNvSpPr/>
          <p:nvPr/>
        </p:nvSpPr>
        <p:spPr>
          <a:xfrm>
            <a:off x="5504688"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9BC4A8"/>
                </a:solidFill>
                <a:latin typeface="Arial" pitchFamily="34" charset="0"/>
                <a:ea typeface="Arial" pitchFamily="34" charset="-122"/>
                <a:cs typeface="Arial" pitchFamily="34" charset="-120"/>
              </a:rPr>
              <a:t>02 / TRY IN WORDS</a:t>
            </a:r>
            <a:endParaRPr lang="en-US" sz="700" dirty="0"/>
          </a:p>
        </p:txBody>
      </p:sp>
      <p:sp>
        <p:nvSpPr>
          <p:cNvPr id="40" name="Text 37"/>
          <p:cNvSpPr/>
          <p:nvPr/>
        </p:nvSpPr>
        <p:spPr>
          <a:xfrm>
            <a:off x="5504688"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Use try, revise or park to record your own next step.</a:t>
            </a:r>
            <a:endParaRPr lang="en-US" sz="1500" dirty="0"/>
          </a:p>
        </p:txBody>
      </p:sp>
      <p:sp>
        <p:nvSpPr>
          <p:cNvPr id="41" name="Shape 38"/>
          <p:cNvSpPr/>
          <p:nvPr/>
        </p:nvSpPr>
        <p:spPr>
          <a:xfrm>
            <a:off x="9144000" y="6583680"/>
            <a:ext cx="3675888" cy="1481328"/>
          </a:xfrm>
          <a:prstGeom prst="rect">
            <a:avLst/>
          </a:prstGeom>
          <a:solidFill>
            <a:srgbClr val="182D2C"/>
          </a:solidFill>
          <a:ln w="8890">
            <a:solidFill>
              <a:srgbClr val="735D6D"/>
            </a:solidFill>
            <a:prstDash val="solid"/>
          </a:ln>
        </p:spPr>
      </p:sp>
      <p:sp>
        <p:nvSpPr>
          <p:cNvPr id="42" name="Text 39"/>
          <p:cNvSpPr/>
          <p:nvPr/>
        </p:nvSpPr>
        <p:spPr>
          <a:xfrm>
            <a:off x="9326880"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9BC4A8"/>
                </a:solidFill>
                <a:latin typeface="Arial" pitchFamily="34" charset="0"/>
                <a:ea typeface="Arial" pitchFamily="34" charset="-122"/>
                <a:cs typeface="Arial" pitchFamily="34" charset="-120"/>
              </a:rPr>
              <a:t>03 / KEEP VISIBLE</a:t>
            </a:r>
            <a:endParaRPr lang="en-US" sz="700" dirty="0"/>
          </a:p>
        </p:txBody>
      </p:sp>
      <p:sp>
        <p:nvSpPr>
          <p:cNvPr id="43" name="Text 40"/>
          <p:cNvSpPr/>
          <p:nvPr/>
        </p:nvSpPr>
        <p:spPr>
          <a:xfrm>
            <a:off x="9326880"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Keep the reason for a mark in the private note.</a:t>
            </a:r>
            <a:endParaRPr lang="en-US" sz="1500" dirty="0"/>
          </a:p>
        </p:txBody>
      </p:sp>
      <p:sp>
        <p:nvSpPr>
          <p:cNvPr id="44" name="Shape 41"/>
          <p:cNvSpPr/>
          <p:nvPr/>
        </p:nvSpPr>
        <p:spPr>
          <a:xfrm>
            <a:off x="1499616" y="8211312"/>
            <a:ext cx="11338560" cy="0"/>
          </a:xfrm>
          <a:prstGeom prst="line">
            <a:avLst/>
          </a:prstGeom>
          <a:noFill/>
          <a:ln w="8890">
            <a:solidFill>
              <a:srgbClr val="796170"/>
            </a:solidFill>
            <a:prstDash val="solid"/>
          </a:ln>
        </p:spPr>
      </p:sp>
      <p:sp>
        <p:nvSpPr>
          <p:cNvPr id="45" name="Text 42"/>
          <p:cNvSpPr/>
          <p:nvPr/>
        </p:nvSpPr>
        <p:spPr>
          <a:xfrm>
            <a:off x="1499616" y="8339328"/>
            <a:ext cx="8229600" cy="118872"/>
          </a:xfrm>
          <a:prstGeom prst="rect">
            <a:avLst/>
          </a:prstGeom>
          <a:noFill/>
          <a:ln/>
        </p:spPr>
        <p:txBody>
          <a:bodyPr wrap="square" lIns="0" tIns="0" rIns="0" bIns="0" rtlCol="0" anchor="t">
            <a:normAutofit/>
          </a:bodyPr>
          <a:lstStyle/>
          <a:p>
            <a:pPr indent="0" marL="0">
              <a:buNone/>
            </a:pPr>
            <a:r>
              <a:rPr lang="en-US" sz="650" dirty="0">
                <a:solidFill>
                  <a:srgbClr val="C0AAB9"/>
                </a:solidFill>
                <a:latin typeface="Arial" pitchFamily="34" charset="0"/>
                <a:ea typeface="Arial" pitchFamily="34" charset="-122"/>
                <a:cs typeface="Arial" pitchFamily="34" charset="-120"/>
              </a:rPr>
              <a:t>FICTIONAL WRITING WORKSHOP / NOT A STAGING OR APPROVAL PLAN</a:t>
            </a:r>
            <a:endParaRPr lang="en-US" sz="650" dirty="0"/>
          </a:p>
        </p:txBody>
      </p:sp>
      <p:sp>
        <p:nvSpPr>
          <p:cNvPr id="46" name="Text 43"/>
          <p:cNvSpPr/>
          <p:nvPr/>
        </p:nvSpPr>
        <p:spPr>
          <a:xfrm>
            <a:off x="9729216" y="8339328"/>
            <a:ext cx="3108960" cy="118872"/>
          </a:xfrm>
          <a:prstGeom prst="rect">
            <a:avLst/>
          </a:prstGeom>
          <a:noFill/>
          <a:ln/>
        </p:spPr>
        <p:txBody>
          <a:bodyPr wrap="square" lIns="0" tIns="0" rIns="0" bIns="0" rtlCol="0" anchor="t">
            <a:normAutofit/>
          </a:bodyPr>
          <a:lstStyle/>
          <a:p>
            <a:pPr algn="r" indent="0" marL="0">
              <a:buNone/>
            </a:pPr>
            <a:r>
              <a:rPr lang="en-US" sz="650" dirty="0">
                <a:solidFill>
                  <a:srgbClr val="C0AAB9"/>
                </a:solidFill>
                <a:latin typeface="Arial" pitchFamily="34" charset="0"/>
                <a:ea typeface="Arial" pitchFamily="34" charset="-122"/>
                <a:cs typeface="Arial" pitchFamily="34" charset="-120"/>
              </a:rPr>
              <a:t>DRAFT / 14 OF 15 ARTWORKS / 19 OF 30</a:t>
            </a:r>
            <a:endParaRPr lang="en-US" sz="6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82D2C"/>
        </a:solidFill>
      </p:bgPr>
    </p:bg>
    <p:spTree>
      <p:nvGrpSpPr>
        <p:cNvPr id="1" name=""/>
        <p:cNvGrpSpPr/>
        <p:nvPr/>
      </p:nvGrpSpPr>
      <p:grpSpPr>
        <a:xfrm>
          <a:off x="0" y="0"/>
          <a:ext cx="0" cy="0"/>
          <a:chOff x="0" y="0"/>
          <a:chExt cx="0" cy="0"/>
        </a:xfrm>
      </p:grpSpPr>
      <p:sp>
        <p:nvSpPr>
          <p:cNvPr id="2" name="Shape 0"/>
          <p:cNvSpPr/>
          <p:nvPr/>
        </p:nvSpPr>
        <p:spPr>
          <a:xfrm>
            <a:off x="1243584" y="329184"/>
            <a:ext cx="0" cy="8119872"/>
          </a:xfrm>
          <a:prstGeom prst="line">
            <a:avLst/>
          </a:prstGeom>
          <a:noFill/>
          <a:ln w="10160">
            <a:solidFill>
              <a:srgbClr val="776072"/>
            </a:solidFill>
            <a:prstDash val="solid"/>
          </a:ln>
        </p:spPr>
      </p:sp>
      <p:sp>
        <p:nvSpPr>
          <p:cNvPr id="3" name="Text 1"/>
          <p:cNvSpPr/>
          <p:nvPr/>
        </p:nvSpPr>
        <p:spPr>
          <a:xfrm>
            <a:off x="393192" y="457200"/>
            <a:ext cx="685800" cy="457200"/>
          </a:xfrm>
          <a:prstGeom prst="rect">
            <a:avLst/>
          </a:prstGeom>
          <a:noFill/>
          <a:ln/>
        </p:spPr>
        <p:txBody>
          <a:bodyPr wrap="square" lIns="0" tIns="0" rIns="0" bIns="0" rtlCol="0" anchor="t">
            <a:normAutofit/>
          </a:bodyPr>
          <a:lstStyle/>
          <a:p>
            <a:pPr indent="0" marL="0">
              <a:buNone/>
            </a:pPr>
            <a:r>
              <a:rPr lang="en-US" sz="600" dirty="0">
                <a:solidFill>
                  <a:srgbClr val="C0AAB9"/>
                </a:solidFill>
                <a:latin typeface="Arial" pitchFamily="34" charset="0"/>
                <a:ea typeface="Arial" pitchFamily="34" charset="-122"/>
                <a:cs typeface="Arial" pitchFamily="34" charset="-120"/>
              </a:rPr>
              <a:t>DESIGN BUDDY</a:t>
            </a:r>
            <a:endParaRPr lang="en-US" sz="600" dirty="0"/>
          </a:p>
          <a:p>
            <a:pPr indent="0" marL="0">
              <a:buNone/>
            </a:pPr>
            <a:r>
              <a:rPr lang="en-US" sz="600" dirty="0">
                <a:solidFill>
                  <a:srgbClr val="C0AAB9"/>
                </a:solidFill>
                <a:latin typeface="Arial" pitchFamily="34" charset="0"/>
                <a:ea typeface="Arial" pitchFamily="34" charset="-122"/>
                <a:cs typeface="Arial" pitchFamily="34" charset="-120"/>
              </a:rPr>
              <a:t>CREATIVE EXERCISE</a:t>
            </a:r>
            <a:endParaRPr lang="en-US" sz="600" dirty="0"/>
          </a:p>
        </p:txBody>
      </p:sp>
      <p:sp>
        <p:nvSpPr>
          <p:cNvPr id="4" name="Text 2"/>
          <p:cNvSpPr/>
          <p:nvPr/>
        </p:nvSpPr>
        <p:spPr>
          <a:xfrm>
            <a:off x="502920" y="1920240"/>
            <a:ext cx="502920" cy="4480560"/>
          </a:xfrm>
          <a:prstGeom prst="rect">
            <a:avLst/>
          </a:prstGeom>
          <a:noFill/>
          <a:ln/>
        </p:spPr>
        <p:txBody>
          <a:bodyPr wrap="square" lIns="0" tIns="0" rIns="0" bIns="0" rtlCol="0" anchor="t">
            <a:normAutofit/>
          </a:bodyPr>
          <a:lstStyle/>
          <a:p>
            <a:pPr algn="ctr" indent="0" marL="0">
              <a:buNone/>
            </a:pPr>
            <a:r>
              <a:rPr lang="en-US" sz="2500" dirty="0">
                <a:solidFill>
                  <a:srgbClr val="9BC4A8"/>
                </a:solidFill>
                <a:latin typeface="Georgia" pitchFamily="34" charset="0"/>
                <a:ea typeface="Georgia" pitchFamily="34" charset="-122"/>
                <a:cs typeface="Georgia" pitchFamily="34" charset="-120"/>
              </a:rPr>
              <a:t>A</a:t>
            </a:r>
            <a:endParaRPr lang="en-US" sz="2500" dirty="0"/>
          </a:p>
          <a:p>
            <a:pPr algn="ctr" indent="0" marL="0">
              <a:buNone/>
            </a:pPr>
            <a:r>
              <a:rPr lang="en-US" sz="2500" dirty="0">
                <a:solidFill>
                  <a:srgbClr val="9BC4A8"/>
                </a:solidFill>
                <a:latin typeface="Georgia" pitchFamily="34" charset="0"/>
                <a:ea typeface="Georgia" pitchFamily="34" charset="-122"/>
                <a:cs typeface="Georgia" pitchFamily="34" charset="-120"/>
              </a:rPr>
              <a:t>F</a:t>
            </a:r>
            <a:endParaRPr lang="en-US" sz="2500" dirty="0"/>
          </a:p>
          <a:p>
            <a:pPr algn="ctr" indent="0" marL="0">
              <a:buNone/>
            </a:pPr>
            <a:r>
              <a:rPr lang="en-US" sz="2500" dirty="0">
                <a:solidFill>
                  <a:srgbClr val="9BC4A8"/>
                </a:solidFill>
                <a:latin typeface="Georgia" pitchFamily="34" charset="0"/>
                <a:ea typeface="Georgia" pitchFamily="34" charset="-122"/>
                <a:cs typeface="Georgia" pitchFamily="34" charset="-120"/>
              </a:rPr>
              <a:t>T</a:t>
            </a:r>
            <a:endParaRPr lang="en-US" sz="2500" dirty="0"/>
          </a:p>
          <a:p>
            <a:pPr algn="ctr" indent="0" marL="0">
              <a:buNone/>
            </a:pPr>
            <a:r>
              <a:rPr lang="en-US" sz="2500" dirty="0">
                <a:solidFill>
                  <a:srgbClr val="9BC4A8"/>
                </a:solidFill>
                <a:latin typeface="Georgia" pitchFamily="34" charset="0"/>
                <a:ea typeface="Georgia" pitchFamily="34" charset="-122"/>
                <a:cs typeface="Georgia" pitchFamily="34" charset="-120"/>
              </a:rPr>
              <a:t>E</a:t>
            </a:r>
            <a:endParaRPr lang="en-US" sz="2500" dirty="0"/>
          </a:p>
          <a:p>
            <a:pPr algn="ctr" indent="0" marL="0">
              <a:buNone/>
            </a:pPr>
            <a:r>
              <a:rPr lang="en-US" sz="2500" dirty="0">
                <a:solidFill>
                  <a:srgbClr val="9BC4A8"/>
                </a:solidFill>
                <a:latin typeface="Georgia" pitchFamily="34" charset="0"/>
                <a:ea typeface="Georgia" pitchFamily="34" charset="-122"/>
                <a:cs typeface="Georgia" pitchFamily="34" charset="-120"/>
              </a:rPr>
              <a:t>R</a:t>
            </a:r>
            <a:endParaRPr lang="en-US" sz="2500" dirty="0"/>
          </a:p>
          <a:p>
            <a:pPr algn="ctr" indent="0" marL="0">
              <a:buNone/>
            </a:pPr>
            <a:r>
              <a:rPr lang="en-US" sz="2500" dirty="0">
                <a:solidFill>
                  <a:srgbClr val="9BC4A8"/>
                </a:solidFill>
                <a:latin typeface="Georgia" pitchFamily="34" charset="0"/>
                <a:ea typeface="Georgia" pitchFamily="34" charset="-122"/>
                <a:cs typeface="Georgia" pitchFamily="34" charset="-120"/>
              </a:rPr>
              <a:t>G</a:t>
            </a:r>
            <a:endParaRPr lang="en-US" sz="2500" dirty="0"/>
          </a:p>
          <a:p>
            <a:pPr algn="ctr" indent="0" marL="0">
              <a:buNone/>
            </a:pPr>
            <a:r>
              <a:rPr lang="en-US" sz="2500" dirty="0">
                <a:solidFill>
                  <a:srgbClr val="9BC4A8"/>
                </a:solidFill>
                <a:latin typeface="Georgia" pitchFamily="34" charset="0"/>
                <a:ea typeface="Georgia" pitchFamily="34" charset="-122"/>
                <a:cs typeface="Georgia" pitchFamily="34" charset="-120"/>
              </a:rPr>
              <a:t>L</a:t>
            </a:r>
            <a:endParaRPr lang="en-US" sz="2500" dirty="0"/>
          </a:p>
          <a:p>
            <a:pPr algn="ctr" indent="0" marL="0">
              <a:buNone/>
            </a:pPr>
            <a:r>
              <a:rPr lang="en-US" sz="2500" dirty="0">
                <a:solidFill>
                  <a:srgbClr val="9BC4A8"/>
                </a:solidFill>
                <a:latin typeface="Georgia" pitchFamily="34" charset="0"/>
                <a:ea typeface="Georgia" pitchFamily="34" charset="-122"/>
                <a:cs typeface="Georgia" pitchFamily="34" charset="-120"/>
              </a:rPr>
              <a:t>O</a:t>
            </a:r>
            <a:endParaRPr lang="en-US" sz="2500" dirty="0"/>
          </a:p>
          <a:p>
            <a:pPr algn="ctr" indent="0" marL="0">
              <a:buNone/>
            </a:pPr>
            <a:r>
              <a:rPr lang="en-US" sz="2500" dirty="0">
                <a:solidFill>
                  <a:srgbClr val="9BC4A8"/>
                </a:solidFill>
                <a:latin typeface="Georgia" pitchFamily="34" charset="0"/>
                <a:ea typeface="Georgia" pitchFamily="34" charset="-122"/>
                <a:cs typeface="Georgia" pitchFamily="34" charset="-120"/>
              </a:rPr>
              <a:t>W</a:t>
            </a:r>
            <a:endParaRPr lang="en-US" sz="2500" dirty="0"/>
          </a:p>
        </p:txBody>
      </p:sp>
      <p:sp>
        <p:nvSpPr>
          <p:cNvPr id="5" name="Text 3"/>
          <p:cNvSpPr/>
          <p:nvPr/>
        </p:nvSpPr>
        <p:spPr>
          <a:xfrm>
            <a:off x="402336" y="7022592"/>
            <a:ext cx="731520" cy="594360"/>
          </a:xfrm>
          <a:prstGeom prst="rect">
            <a:avLst/>
          </a:prstGeom>
          <a:noFill/>
          <a:ln/>
        </p:spPr>
        <p:txBody>
          <a:bodyPr wrap="square" lIns="0" tIns="0" rIns="0" bIns="0" rtlCol="0" anchor="t">
            <a:normAutofit/>
          </a:bodyPr>
          <a:lstStyle/>
          <a:p>
            <a:pPr indent="0" marL="0">
              <a:buNone/>
            </a:pPr>
            <a:r>
              <a:rPr lang="en-US" sz="4200" dirty="0">
                <a:solidFill>
                  <a:srgbClr val="9BC4A8"/>
                </a:solidFill>
                <a:latin typeface="Georgia" pitchFamily="34" charset="0"/>
                <a:ea typeface="Georgia" pitchFamily="34" charset="-122"/>
                <a:cs typeface="Georgia" pitchFamily="34" charset="-120"/>
              </a:rPr>
              <a:t>20</a:t>
            </a:r>
            <a:endParaRPr lang="en-US" sz="4200" dirty="0"/>
          </a:p>
        </p:txBody>
      </p:sp>
      <p:sp>
        <p:nvSpPr>
          <p:cNvPr id="6" name="Text 4"/>
          <p:cNvSpPr/>
          <p:nvPr/>
        </p:nvSpPr>
        <p:spPr>
          <a:xfrm>
            <a:off x="402336" y="7818120"/>
            <a:ext cx="731520" cy="411480"/>
          </a:xfrm>
          <a:prstGeom prst="rect">
            <a:avLst/>
          </a:prstGeom>
          <a:noFill/>
          <a:ln/>
        </p:spPr>
        <p:txBody>
          <a:bodyPr wrap="square" lIns="0" tIns="0" rIns="0" bIns="0" rtlCol="0" anchor="t">
            <a:normAutofit/>
          </a:bodyPr>
          <a:lstStyle/>
          <a:p>
            <a:pPr indent="0" marL="0">
              <a:buNone/>
            </a:pPr>
            <a:r>
              <a:rPr lang="en-US" sz="700" dirty="0">
                <a:solidFill>
                  <a:srgbClr val="C0AAB9"/>
                </a:solidFill>
                <a:latin typeface="Arial" pitchFamily="34" charset="0"/>
                <a:ea typeface="Arial" pitchFamily="34" charset="-122"/>
                <a:cs typeface="Arial" pitchFamily="34" charset="-120"/>
              </a:rPr>
              <a:t>ACT 4 / 5</a:t>
            </a:r>
            <a:endParaRPr lang="en-US" sz="700" dirty="0"/>
          </a:p>
          <a:p>
            <a:pPr indent="0" marL="0">
              <a:buNone/>
            </a:pPr>
            <a:r>
              <a:rPr lang="en-US" sz="700" dirty="0">
                <a:solidFill>
                  <a:srgbClr val="C0AAB9"/>
                </a:solidFill>
                <a:latin typeface="Arial" pitchFamily="34" charset="0"/>
                <a:ea typeface="Arial" pitchFamily="34" charset="-122"/>
                <a:cs typeface="Arial" pitchFamily="34" charset="-120"/>
              </a:rPr>
              <a:t>BEAT 2 / 6</a:t>
            </a:r>
            <a:endParaRPr lang="en-US" sz="700" dirty="0"/>
          </a:p>
        </p:txBody>
      </p:sp>
      <p:sp>
        <p:nvSpPr>
          <p:cNvPr id="7" name="Text 5"/>
          <p:cNvSpPr/>
          <p:nvPr/>
        </p:nvSpPr>
        <p:spPr>
          <a:xfrm>
            <a:off x="1499616" y="347472"/>
            <a:ext cx="9144000" cy="164592"/>
          </a:xfrm>
          <a:prstGeom prst="rect">
            <a:avLst/>
          </a:prstGeom>
          <a:noFill/>
          <a:ln/>
        </p:spPr>
        <p:txBody>
          <a:bodyPr wrap="square" lIns="0" tIns="0" rIns="0" bIns="0" rtlCol="0" anchor="t">
            <a:normAutofit/>
          </a:bodyPr>
          <a:lstStyle/>
          <a:p>
            <a:pPr indent="0" marL="0">
              <a:buNone/>
            </a:pPr>
            <a:r>
              <a:rPr lang="en-US" sz="700" spc="120" kern="0" dirty="0">
                <a:solidFill>
                  <a:srgbClr val="9BC4A8"/>
                </a:solidFill>
                <a:latin typeface="Arial" pitchFamily="34" charset="0"/>
                <a:ea typeface="Arial" pitchFamily="34" charset="-122"/>
                <a:cs typeface="Arial" pitchFamily="34" charset="-120"/>
              </a:rPr>
              <a:t>ACT 4 / REVISION</a:t>
            </a:r>
            <a:endParaRPr lang="en-US" sz="700" dirty="0"/>
          </a:p>
        </p:txBody>
      </p:sp>
      <p:sp>
        <p:nvSpPr>
          <p:cNvPr id="8" name="Text 6"/>
          <p:cNvSpPr/>
          <p:nvPr/>
        </p:nvSpPr>
        <p:spPr>
          <a:xfrm>
            <a:off x="1499616" y="612648"/>
            <a:ext cx="9692640" cy="594360"/>
          </a:xfrm>
          <a:prstGeom prst="rect">
            <a:avLst/>
          </a:prstGeom>
          <a:noFill/>
          <a:ln/>
        </p:spPr>
        <p:txBody>
          <a:bodyPr wrap="square" lIns="0" tIns="0" rIns="0" bIns="0" rtlCol="0" anchor="t">
            <a:normAutofit/>
          </a:bodyPr>
          <a:lstStyle/>
          <a:p>
            <a:pPr indent="0" marL="0">
              <a:buNone/>
            </a:pPr>
            <a:r>
              <a:rPr lang="en-US" sz="2800" dirty="0">
                <a:solidFill>
                  <a:srgbClr val="ECDED6"/>
                </a:solidFill>
                <a:latin typeface="Georgia" pitchFamily="34" charset="0"/>
                <a:ea typeface="Georgia" pitchFamily="34" charset="-122"/>
                <a:cs typeface="Georgia" pitchFamily="34" charset="-120"/>
              </a:rPr>
              <a:t>Revise one thing at a time.</a:t>
            </a:r>
            <a:endParaRPr lang="en-US" sz="2800" dirty="0"/>
          </a:p>
        </p:txBody>
      </p:sp>
      <p:sp>
        <p:nvSpPr>
          <p:cNvPr id="9" name="Text 7"/>
          <p:cNvSpPr/>
          <p:nvPr/>
        </p:nvSpPr>
        <p:spPr>
          <a:xfrm>
            <a:off x="11475720" y="438912"/>
            <a:ext cx="1325880" cy="182880"/>
          </a:xfrm>
          <a:prstGeom prst="rect">
            <a:avLst/>
          </a:prstGeom>
          <a:noFill/>
          <a:ln/>
        </p:spPr>
        <p:txBody>
          <a:bodyPr wrap="square" lIns="0" tIns="0" rIns="0" bIns="0" rtlCol="0" anchor="t">
            <a:normAutofit/>
          </a:bodyPr>
          <a:lstStyle/>
          <a:p>
            <a:pPr algn="r" indent="0" marL="0">
              <a:buNone/>
            </a:pPr>
            <a:r>
              <a:rPr lang="en-US" sz="700" dirty="0">
                <a:solidFill>
                  <a:srgbClr val="9BC4A8"/>
                </a:solidFill>
                <a:latin typeface="Arial" pitchFamily="34" charset="0"/>
                <a:ea typeface="Arial" pitchFamily="34" charset="-122"/>
                <a:cs typeface="Arial" pitchFamily="34" charset="-120"/>
              </a:rPr>
              <a:t>LOCAL / UNMARKED</a:t>
            </a:r>
            <a:endParaRPr lang="en-US" sz="700" dirty="0"/>
          </a:p>
        </p:txBody>
      </p:sp>
      <p:sp>
        <p:nvSpPr>
          <p:cNvPr id="10" name="Shape 8"/>
          <p:cNvSpPr/>
          <p:nvPr/>
        </p:nvSpPr>
        <p:spPr>
          <a:xfrm>
            <a:off x="1499616" y="1307592"/>
            <a:ext cx="1819656" cy="448056"/>
          </a:xfrm>
          <a:prstGeom prst="rect">
            <a:avLst/>
          </a:prstGeom>
          <a:solidFill>
            <a:srgbClr val="182D2C"/>
          </a:solidFill>
          <a:ln w="8890">
            <a:solidFill>
              <a:srgbClr val="6D5768"/>
            </a:solidFill>
            <a:prstDash val="solid"/>
          </a:ln>
        </p:spPr>
      </p:sp>
      <p:sp>
        <p:nvSpPr>
          <p:cNvPr id="11" name="Text 9"/>
          <p:cNvSpPr/>
          <p:nvPr/>
        </p:nvSpPr>
        <p:spPr>
          <a:xfrm>
            <a:off x="1572768"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9BC4A8"/>
                </a:solidFill>
                <a:latin typeface="Georgia" pitchFamily="34" charset="0"/>
                <a:ea typeface="Georgia" pitchFamily="34" charset="-122"/>
                <a:cs typeface="Georgia" pitchFamily="34" charset="-120"/>
              </a:rPr>
              <a:t>1</a:t>
            </a:r>
            <a:endParaRPr lang="en-US" sz="1700" dirty="0"/>
          </a:p>
        </p:txBody>
      </p:sp>
      <p:sp>
        <p:nvSpPr>
          <p:cNvPr id="12" name="Text 10"/>
          <p:cNvSpPr/>
          <p:nvPr/>
        </p:nvSpPr>
        <p:spPr>
          <a:xfrm>
            <a:off x="1865376"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Read a draft as a draft.</a:t>
            </a:r>
            <a:endParaRPr lang="en-US" sz="700" dirty="0"/>
          </a:p>
        </p:txBody>
      </p:sp>
      <p:sp>
        <p:nvSpPr>
          <p:cNvPr id="13" name="Shape 11"/>
          <p:cNvSpPr/>
          <p:nvPr/>
        </p:nvSpPr>
        <p:spPr>
          <a:xfrm>
            <a:off x="3392424" y="1307592"/>
            <a:ext cx="1819656" cy="448056"/>
          </a:xfrm>
          <a:prstGeom prst="rect">
            <a:avLst/>
          </a:prstGeom>
          <a:solidFill>
            <a:srgbClr val="182D2C"/>
          </a:solidFill>
          <a:ln w="8890">
            <a:solidFill>
              <a:srgbClr val="9BC4A8"/>
            </a:solidFill>
            <a:prstDash val="solid"/>
          </a:ln>
        </p:spPr>
      </p:sp>
      <p:sp>
        <p:nvSpPr>
          <p:cNvPr id="14" name="Text 12"/>
          <p:cNvSpPr/>
          <p:nvPr/>
        </p:nvSpPr>
        <p:spPr>
          <a:xfrm>
            <a:off x="3465576"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9BC4A8"/>
                </a:solidFill>
                <a:latin typeface="Georgia" pitchFamily="34" charset="0"/>
                <a:ea typeface="Georgia" pitchFamily="34" charset="-122"/>
                <a:cs typeface="Georgia" pitchFamily="34" charset="-120"/>
              </a:rPr>
              <a:t>2</a:t>
            </a:r>
            <a:endParaRPr lang="en-US" sz="1700" dirty="0"/>
          </a:p>
        </p:txBody>
      </p:sp>
      <p:sp>
        <p:nvSpPr>
          <p:cNvPr id="15" name="Text 13"/>
          <p:cNvSpPr/>
          <p:nvPr/>
        </p:nvSpPr>
        <p:spPr>
          <a:xfrm>
            <a:off x="3758184"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Revise one thing at a time.</a:t>
            </a:r>
            <a:endParaRPr lang="en-US" sz="700" dirty="0"/>
          </a:p>
        </p:txBody>
      </p:sp>
      <p:sp>
        <p:nvSpPr>
          <p:cNvPr id="16" name="Shape 14"/>
          <p:cNvSpPr/>
          <p:nvPr/>
        </p:nvSpPr>
        <p:spPr>
          <a:xfrm>
            <a:off x="5285232" y="1307592"/>
            <a:ext cx="1819656" cy="448056"/>
          </a:xfrm>
          <a:prstGeom prst="rect">
            <a:avLst/>
          </a:prstGeom>
          <a:solidFill>
            <a:srgbClr val="182D2C"/>
          </a:solidFill>
          <a:ln w="8890">
            <a:solidFill>
              <a:srgbClr val="6D5768"/>
            </a:solidFill>
            <a:prstDash val="solid"/>
          </a:ln>
        </p:spPr>
      </p:sp>
      <p:sp>
        <p:nvSpPr>
          <p:cNvPr id="17" name="Text 15"/>
          <p:cNvSpPr/>
          <p:nvPr/>
        </p:nvSpPr>
        <p:spPr>
          <a:xfrm>
            <a:off x="5358384"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9BC4A8"/>
                </a:solidFill>
                <a:latin typeface="Georgia" pitchFamily="34" charset="0"/>
                <a:ea typeface="Georgia" pitchFamily="34" charset="-122"/>
                <a:cs typeface="Georgia" pitchFamily="34" charset="-120"/>
              </a:rPr>
              <a:t>3</a:t>
            </a:r>
            <a:endParaRPr lang="en-US" sz="1700" dirty="0"/>
          </a:p>
        </p:txBody>
      </p:sp>
      <p:sp>
        <p:nvSpPr>
          <p:cNvPr id="18" name="Text 16"/>
          <p:cNvSpPr/>
          <p:nvPr/>
        </p:nvSpPr>
        <p:spPr>
          <a:xfrm>
            <a:off x="5650992"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Distinguish taste from intention.</a:t>
            </a:r>
            <a:endParaRPr lang="en-US" sz="700" dirty="0"/>
          </a:p>
        </p:txBody>
      </p:sp>
      <p:sp>
        <p:nvSpPr>
          <p:cNvPr id="19" name="Shape 17"/>
          <p:cNvSpPr/>
          <p:nvPr/>
        </p:nvSpPr>
        <p:spPr>
          <a:xfrm>
            <a:off x="7178040" y="1307592"/>
            <a:ext cx="1819656" cy="448056"/>
          </a:xfrm>
          <a:prstGeom prst="rect">
            <a:avLst/>
          </a:prstGeom>
          <a:solidFill>
            <a:srgbClr val="182D2C"/>
          </a:solidFill>
          <a:ln w="8890">
            <a:solidFill>
              <a:srgbClr val="6D5768"/>
            </a:solidFill>
            <a:prstDash val="solid"/>
          </a:ln>
        </p:spPr>
      </p:sp>
      <p:sp>
        <p:nvSpPr>
          <p:cNvPr id="20" name="Text 18"/>
          <p:cNvSpPr/>
          <p:nvPr/>
        </p:nvSpPr>
        <p:spPr>
          <a:xfrm>
            <a:off x="7251192"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9BC4A8"/>
                </a:solidFill>
                <a:latin typeface="Georgia" pitchFamily="34" charset="0"/>
                <a:ea typeface="Georgia" pitchFamily="34" charset="-122"/>
                <a:cs typeface="Georgia" pitchFamily="34" charset="-120"/>
              </a:rPr>
              <a:t>4</a:t>
            </a:r>
            <a:endParaRPr lang="en-US" sz="1700" dirty="0"/>
          </a:p>
        </p:txBody>
      </p:sp>
      <p:sp>
        <p:nvSpPr>
          <p:cNvPr id="21" name="Text 19"/>
          <p:cNvSpPr/>
          <p:nvPr/>
        </p:nvSpPr>
        <p:spPr>
          <a:xfrm>
            <a:off x="7543800"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Keep the unused possibility.</a:t>
            </a:r>
            <a:endParaRPr lang="en-US" sz="700" dirty="0"/>
          </a:p>
        </p:txBody>
      </p:sp>
      <p:sp>
        <p:nvSpPr>
          <p:cNvPr id="22" name="Shape 20"/>
          <p:cNvSpPr/>
          <p:nvPr/>
        </p:nvSpPr>
        <p:spPr>
          <a:xfrm>
            <a:off x="9070848" y="1307592"/>
            <a:ext cx="1819656" cy="448056"/>
          </a:xfrm>
          <a:prstGeom prst="rect">
            <a:avLst/>
          </a:prstGeom>
          <a:solidFill>
            <a:srgbClr val="182D2C"/>
          </a:solidFill>
          <a:ln w="8890">
            <a:solidFill>
              <a:srgbClr val="6D5768"/>
            </a:solidFill>
            <a:prstDash val="solid"/>
          </a:ln>
        </p:spPr>
      </p:sp>
      <p:sp>
        <p:nvSpPr>
          <p:cNvPr id="23" name="Text 21"/>
          <p:cNvSpPr/>
          <p:nvPr/>
        </p:nvSpPr>
        <p:spPr>
          <a:xfrm>
            <a:off x="9144000"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9BC4A8"/>
                </a:solidFill>
                <a:latin typeface="Georgia" pitchFamily="34" charset="0"/>
                <a:ea typeface="Georgia" pitchFamily="34" charset="-122"/>
                <a:cs typeface="Georgia" pitchFamily="34" charset="-120"/>
              </a:rPr>
              <a:t>5</a:t>
            </a:r>
            <a:endParaRPr lang="en-US" sz="1700" dirty="0"/>
          </a:p>
        </p:txBody>
      </p:sp>
      <p:sp>
        <p:nvSpPr>
          <p:cNvPr id="24" name="Text 22"/>
          <p:cNvSpPr/>
          <p:nvPr/>
        </p:nvSpPr>
        <p:spPr>
          <a:xfrm>
            <a:off x="9436608"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Return to the story’s boundary.</a:t>
            </a:r>
            <a:endParaRPr lang="en-US" sz="700" dirty="0"/>
          </a:p>
        </p:txBody>
      </p:sp>
      <p:sp>
        <p:nvSpPr>
          <p:cNvPr id="25" name="Shape 23"/>
          <p:cNvSpPr/>
          <p:nvPr/>
        </p:nvSpPr>
        <p:spPr>
          <a:xfrm>
            <a:off x="10963656" y="1307592"/>
            <a:ext cx="1819656" cy="448056"/>
          </a:xfrm>
          <a:prstGeom prst="rect">
            <a:avLst/>
          </a:prstGeom>
          <a:solidFill>
            <a:srgbClr val="182D2C"/>
          </a:solidFill>
          <a:ln w="8890">
            <a:solidFill>
              <a:srgbClr val="6D5768"/>
            </a:solidFill>
            <a:prstDash val="solid"/>
          </a:ln>
        </p:spPr>
      </p:sp>
      <p:sp>
        <p:nvSpPr>
          <p:cNvPr id="26" name="Text 24"/>
          <p:cNvSpPr/>
          <p:nvPr/>
        </p:nvSpPr>
        <p:spPr>
          <a:xfrm>
            <a:off x="11036808"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9BC4A8"/>
                </a:solidFill>
                <a:latin typeface="Georgia" pitchFamily="34" charset="0"/>
                <a:ea typeface="Georgia" pitchFamily="34" charset="-122"/>
                <a:cs typeface="Georgia" pitchFamily="34" charset="-120"/>
              </a:rPr>
              <a:t>6</a:t>
            </a:r>
            <a:endParaRPr lang="en-US" sz="1700" dirty="0"/>
          </a:p>
        </p:txBody>
      </p:sp>
      <p:sp>
        <p:nvSpPr>
          <p:cNvPr id="27" name="Text 25"/>
          <p:cNvSpPr/>
          <p:nvPr/>
        </p:nvSpPr>
        <p:spPr>
          <a:xfrm>
            <a:off x="11329416"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Choose a revision question.</a:t>
            </a:r>
            <a:endParaRPr lang="en-US" sz="700" dirty="0"/>
          </a:p>
        </p:txBody>
      </p:sp>
      <p:pic>
        <p:nvPicPr>
          <p:cNvPr id="28" name="Image 0" descr="/home/user/design-buddy/design-buddy-home/public/atelier/afterglow/images/10.jpg">    </p:cNvPr>
          <p:cNvPicPr>
            <a:picLocks noChangeAspect="1"/>
          </p:cNvPicPr>
          <p:nvPr/>
        </p:nvPicPr>
        <p:blipFill>
          <a:blip r:embed="rId1"/>
          <a:srcRect l="0" r="0" t="0" b="0"/>
          <a:stretch/>
        </p:blipFill>
        <p:spPr>
          <a:xfrm>
            <a:off x="1499616" y="2066544"/>
            <a:ext cx="6949440" cy="3840480"/>
          </a:xfrm>
          <a:prstGeom prst="rect">
            <a:avLst/>
          </a:prstGeom>
        </p:spPr>
      </p:pic>
      <p:sp>
        <p:nvSpPr>
          <p:cNvPr id="29" name="Text 26"/>
          <p:cNvSpPr/>
          <p:nvPr/>
        </p:nvSpPr>
        <p:spPr>
          <a:xfrm>
            <a:off x="1499616" y="6007608"/>
            <a:ext cx="6949440" cy="164592"/>
          </a:xfrm>
          <a:prstGeom prst="rect">
            <a:avLst/>
          </a:prstGeom>
          <a:noFill/>
          <a:ln/>
        </p:spPr>
        <p:txBody>
          <a:bodyPr wrap="square" lIns="0" tIns="0" rIns="0" bIns="0" rtlCol="0" anchor="t">
            <a:normAutofit/>
          </a:bodyPr>
          <a:lstStyle/>
          <a:p>
            <a:pPr indent="0" marL="0">
              <a:buNone/>
            </a:pPr>
            <a:r>
              <a:rPr lang="en-US" sz="650" dirty="0">
                <a:solidFill>
                  <a:srgbClr val="C0AAB9"/>
                </a:solidFill>
                <a:latin typeface="Arial" pitchFamily="34" charset="0"/>
                <a:ea typeface="Arial" pitchFamily="34" charset="-122"/>
                <a:cs typeface="Arial" pitchFamily="34" charset="-120"/>
              </a:rPr>
              <a:t>Watercolour 10 / invented setting and adults / not production evidence</a:t>
            </a:r>
            <a:endParaRPr lang="en-US" sz="650" dirty="0"/>
          </a:p>
        </p:txBody>
      </p:sp>
      <p:sp>
        <p:nvSpPr>
          <p:cNvPr id="30" name="Text 27"/>
          <p:cNvSpPr/>
          <p:nvPr/>
        </p:nvSpPr>
        <p:spPr>
          <a:xfrm>
            <a:off x="8705088" y="2139696"/>
            <a:ext cx="4133088" cy="164592"/>
          </a:xfrm>
          <a:prstGeom prst="rect">
            <a:avLst/>
          </a:prstGeom>
          <a:noFill/>
          <a:ln/>
        </p:spPr>
        <p:txBody>
          <a:bodyPr wrap="square" lIns="0" tIns="0" rIns="0" bIns="0" rtlCol="0" anchor="t">
            <a:normAutofit/>
          </a:bodyPr>
          <a:lstStyle/>
          <a:p>
            <a:pPr indent="0" marL="0">
              <a:buNone/>
            </a:pPr>
            <a:r>
              <a:rPr lang="en-US" sz="700" spc="110" kern="0" dirty="0">
                <a:solidFill>
                  <a:srgbClr val="9BC4A8"/>
                </a:solidFill>
                <a:latin typeface="Arial" pitchFamily="34" charset="0"/>
                <a:ea typeface="Arial" pitchFamily="34" charset="-122"/>
                <a:cs typeface="Arial" pitchFamily="34" charset="-120"/>
              </a:rPr>
              <a:t>STORY INTENTION</a:t>
            </a:r>
            <a:endParaRPr lang="en-US" sz="700" dirty="0"/>
          </a:p>
        </p:txBody>
      </p:sp>
      <p:sp>
        <p:nvSpPr>
          <p:cNvPr id="31" name="Text 28"/>
          <p:cNvSpPr/>
          <p:nvPr/>
        </p:nvSpPr>
        <p:spPr>
          <a:xfrm>
            <a:off x="8705088" y="2514600"/>
            <a:ext cx="4133088" cy="1828800"/>
          </a:xfrm>
          <a:prstGeom prst="rect">
            <a:avLst/>
          </a:prstGeom>
          <a:noFill/>
          <a:ln/>
        </p:spPr>
        <p:txBody>
          <a:bodyPr wrap="square" lIns="0" tIns="0" rIns="0" bIns="0" rtlCol="0" anchor="t">
            <a:normAutofit/>
          </a:bodyPr>
          <a:lstStyle/>
          <a:p>
            <a:pPr indent="0" marL="0">
              <a:buNone/>
            </a:pPr>
            <a:r>
              <a:rPr lang="en-US" sz="1575" dirty="0">
                <a:solidFill>
                  <a:srgbClr val="ECDED6"/>
                </a:solidFill>
                <a:latin typeface="Georgia" pitchFamily="34" charset="0"/>
                <a:ea typeface="Georgia" pitchFamily="34" charset="-122"/>
                <a:cs typeface="Georgia" pitchFamily="34" charset="-120"/>
              </a:rPr>
              <a:t>Choose a single sentence, object detail or reply to change. Compare the before and after versions against a stated creative intention. This is a writing comparison, not a claim that a real audience has responded better.</a:t>
            </a:r>
            <a:endParaRPr lang="en-US" sz="1575" dirty="0"/>
          </a:p>
        </p:txBody>
      </p:sp>
      <p:sp>
        <p:nvSpPr>
          <p:cNvPr id="32" name="Text 29"/>
          <p:cNvSpPr/>
          <p:nvPr/>
        </p:nvSpPr>
        <p:spPr>
          <a:xfrm>
            <a:off x="8705088" y="4572000"/>
            <a:ext cx="4133088" cy="164592"/>
          </a:xfrm>
          <a:prstGeom prst="rect">
            <a:avLst/>
          </a:prstGeom>
          <a:noFill/>
          <a:ln/>
        </p:spPr>
        <p:txBody>
          <a:bodyPr wrap="square" lIns="0" tIns="0" rIns="0" bIns="0" rtlCol="0" anchor="t">
            <a:normAutofit/>
          </a:bodyPr>
          <a:lstStyle/>
          <a:p>
            <a:pPr indent="0" marL="0">
              <a:buNone/>
            </a:pPr>
            <a:r>
              <a:rPr lang="en-US" sz="700" spc="110" kern="0" dirty="0">
                <a:solidFill>
                  <a:srgbClr val="9BC4A8"/>
                </a:solidFill>
                <a:latin typeface="Arial" pitchFamily="34" charset="0"/>
                <a:ea typeface="Arial" pitchFamily="34" charset="-122"/>
                <a:cs typeface="Arial" pitchFamily="34" charset="-120"/>
              </a:rPr>
              <a:t>LEAVE A QUESTION</a:t>
            </a:r>
            <a:endParaRPr lang="en-US" sz="700" dirty="0"/>
          </a:p>
        </p:txBody>
      </p:sp>
      <p:sp>
        <p:nvSpPr>
          <p:cNvPr id="33" name="Text 30"/>
          <p:cNvSpPr/>
          <p:nvPr/>
        </p:nvSpPr>
        <p:spPr>
          <a:xfrm>
            <a:off x="8705088" y="4910328"/>
            <a:ext cx="4133088" cy="822960"/>
          </a:xfrm>
          <a:prstGeom prst="rect">
            <a:avLst/>
          </a:prstGeom>
          <a:noFill/>
          <a:ln/>
        </p:spPr>
        <p:txBody>
          <a:bodyPr wrap="square" lIns="0" tIns="0" rIns="0" bIns="0" rtlCol="0" anchor="t">
            <a:normAutofit/>
          </a:bodyPr>
          <a:lstStyle/>
          <a:p>
            <a:pPr indent="0" marL="0">
              <a:buNone/>
            </a:pPr>
            <a:r>
              <a:rPr lang="en-US" sz="1875" i="1" dirty="0">
                <a:solidFill>
                  <a:srgbClr val="9BC4A8"/>
                </a:solidFill>
                <a:latin typeface="Georgia" pitchFamily="34" charset="0"/>
                <a:ea typeface="Georgia" pitchFamily="34" charset="-122"/>
                <a:cs typeface="Georgia" pitchFamily="34" charset="-120"/>
              </a:rPr>
              <a:t>What change are you actually testing in this draft?</a:t>
            </a:r>
            <a:endParaRPr lang="en-US" sz="1875" dirty="0"/>
          </a:p>
        </p:txBody>
      </p:sp>
      <p:sp>
        <p:nvSpPr>
          <p:cNvPr id="34" name="Text 31"/>
          <p:cNvSpPr/>
          <p:nvPr/>
        </p:nvSpPr>
        <p:spPr>
          <a:xfrm>
            <a:off x="8705088" y="5806440"/>
            <a:ext cx="4133088" cy="292608"/>
          </a:xfrm>
          <a:prstGeom prst="rect">
            <a:avLst/>
          </a:prstGeom>
          <a:noFill/>
          <a:ln/>
        </p:spPr>
        <p:txBody>
          <a:bodyPr wrap="square" lIns="0" tIns="0" rIns="0" bIns="0" rtlCol="0" anchor="t">
            <a:normAutofit/>
          </a:bodyPr>
          <a:lstStyle/>
          <a:p>
            <a:pPr indent="0" marL="0">
              <a:buNone/>
            </a:pPr>
            <a:r>
              <a:rPr lang="en-US" sz="700" dirty="0">
                <a:solidFill>
                  <a:srgbClr val="C0AAB9"/>
                </a:solidFill>
                <a:latin typeface="Arial" pitchFamily="34" charset="0"/>
                <a:ea typeface="Arial" pitchFamily="34" charset="-122"/>
                <a:cs typeface="Arial" pitchFamily="34" charset="-120"/>
              </a:rPr>
              <a:t>Beat order is not timing, a technical call or a show schedule.</a:t>
            </a:r>
            <a:endParaRPr lang="en-US" sz="700" dirty="0"/>
          </a:p>
        </p:txBody>
      </p:sp>
      <p:sp>
        <p:nvSpPr>
          <p:cNvPr id="35" name="Shape 32"/>
          <p:cNvSpPr/>
          <p:nvPr/>
        </p:nvSpPr>
        <p:spPr>
          <a:xfrm>
            <a:off x="1499616" y="6583680"/>
            <a:ext cx="3675888" cy="1481328"/>
          </a:xfrm>
          <a:prstGeom prst="rect">
            <a:avLst/>
          </a:prstGeom>
          <a:solidFill>
            <a:srgbClr val="182D2C"/>
          </a:solidFill>
          <a:ln w="8890">
            <a:solidFill>
              <a:srgbClr val="735D6D"/>
            </a:solidFill>
            <a:prstDash val="solid"/>
          </a:ln>
        </p:spPr>
      </p:sp>
      <p:sp>
        <p:nvSpPr>
          <p:cNvPr id="36" name="Text 33"/>
          <p:cNvSpPr/>
          <p:nvPr/>
        </p:nvSpPr>
        <p:spPr>
          <a:xfrm>
            <a:off x="1682496"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9BC4A8"/>
                </a:solidFill>
                <a:latin typeface="Arial" pitchFamily="34" charset="0"/>
                <a:ea typeface="Arial" pitchFamily="34" charset="-122"/>
                <a:cs typeface="Arial" pitchFamily="34" charset="-120"/>
              </a:rPr>
              <a:t>01 / NOTICE</a:t>
            </a:r>
            <a:endParaRPr lang="en-US" sz="700" dirty="0"/>
          </a:p>
        </p:txBody>
      </p:sp>
      <p:sp>
        <p:nvSpPr>
          <p:cNvPr id="37" name="Text 34"/>
          <p:cNvSpPr/>
          <p:nvPr/>
        </p:nvSpPr>
        <p:spPr>
          <a:xfrm>
            <a:off x="1682496"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A narrow revision makes comparison easier to explain.</a:t>
            </a:r>
            <a:endParaRPr lang="en-US" sz="1500" dirty="0"/>
          </a:p>
        </p:txBody>
      </p:sp>
      <p:sp>
        <p:nvSpPr>
          <p:cNvPr id="38" name="Shape 35"/>
          <p:cNvSpPr/>
          <p:nvPr/>
        </p:nvSpPr>
        <p:spPr>
          <a:xfrm>
            <a:off x="5321808" y="6583680"/>
            <a:ext cx="3675888" cy="1481328"/>
          </a:xfrm>
          <a:prstGeom prst="rect">
            <a:avLst/>
          </a:prstGeom>
          <a:solidFill>
            <a:srgbClr val="182D2C"/>
          </a:solidFill>
          <a:ln w="8890">
            <a:solidFill>
              <a:srgbClr val="735D6D"/>
            </a:solidFill>
            <a:prstDash val="solid"/>
          </a:ln>
        </p:spPr>
      </p:sp>
      <p:sp>
        <p:nvSpPr>
          <p:cNvPr id="39" name="Text 36"/>
          <p:cNvSpPr/>
          <p:nvPr/>
        </p:nvSpPr>
        <p:spPr>
          <a:xfrm>
            <a:off x="5504688"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9BC4A8"/>
                </a:solidFill>
                <a:latin typeface="Arial" pitchFamily="34" charset="0"/>
                <a:ea typeface="Arial" pitchFamily="34" charset="-122"/>
                <a:cs typeface="Arial" pitchFamily="34" charset="-120"/>
              </a:rPr>
              <a:t>02 / TRY IN WORDS</a:t>
            </a:r>
            <a:endParaRPr lang="en-US" sz="700" dirty="0"/>
          </a:p>
        </p:txBody>
      </p:sp>
      <p:sp>
        <p:nvSpPr>
          <p:cNvPr id="40" name="Text 37"/>
          <p:cNvSpPr/>
          <p:nvPr/>
        </p:nvSpPr>
        <p:spPr>
          <a:xfrm>
            <a:off x="5504688"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Write the intention before changing the sentence.</a:t>
            </a:r>
            <a:endParaRPr lang="en-US" sz="1500" dirty="0"/>
          </a:p>
        </p:txBody>
      </p:sp>
      <p:sp>
        <p:nvSpPr>
          <p:cNvPr id="41" name="Shape 38"/>
          <p:cNvSpPr/>
          <p:nvPr/>
        </p:nvSpPr>
        <p:spPr>
          <a:xfrm>
            <a:off x="9144000" y="6583680"/>
            <a:ext cx="3675888" cy="1481328"/>
          </a:xfrm>
          <a:prstGeom prst="rect">
            <a:avLst/>
          </a:prstGeom>
          <a:solidFill>
            <a:srgbClr val="182D2C"/>
          </a:solidFill>
          <a:ln w="8890">
            <a:solidFill>
              <a:srgbClr val="735D6D"/>
            </a:solidFill>
            <a:prstDash val="solid"/>
          </a:ln>
        </p:spPr>
      </p:sp>
      <p:sp>
        <p:nvSpPr>
          <p:cNvPr id="42" name="Text 39"/>
          <p:cNvSpPr/>
          <p:nvPr/>
        </p:nvSpPr>
        <p:spPr>
          <a:xfrm>
            <a:off x="9326880"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9BC4A8"/>
                </a:solidFill>
                <a:latin typeface="Arial" pitchFamily="34" charset="0"/>
                <a:ea typeface="Arial" pitchFamily="34" charset="-122"/>
                <a:cs typeface="Arial" pitchFamily="34" charset="-120"/>
              </a:rPr>
              <a:t>03 / KEEP VISIBLE</a:t>
            </a:r>
            <a:endParaRPr lang="en-US" sz="700" dirty="0"/>
          </a:p>
        </p:txBody>
      </p:sp>
      <p:sp>
        <p:nvSpPr>
          <p:cNvPr id="43" name="Text 40"/>
          <p:cNvSpPr/>
          <p:nvPr/>
        </p:nvSpPr>
        <p:spPr>
          <a:xfrm>
            <a:off x="9326880"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Retain the earlier version outside this local page if needed.</a:t>
            </a:r>
            <a:endParaRPr lang="en-US" sz="1500" dirty="0"/>
          </a:p>
        </p:txBody>
      </p:sp>
      <p:sp>
        <p:nvSpPr>
          <p:cNvPr id="44" name="Shape 41"/>
          <p:cNvSpPr/>
          <p:nvPr/>
        </p:nvSpPr>
        <p:spPr>
          <a:xfrm>
            <a:off x="1499616" y="8211312"/>
            <a:ext cx="11338560" cy="0"/>
          </a:xfrm>
          <a:prstGeom prst="line">
            <a:avLst/>
          </a:prstGeom>
          <a:noFill/>
          <a:ln w="8890">
            <a:solidFill>
              <a:srgbClr val="796170"/>
            </a:solidFill>
            <a:prstDash val="solid"/>
          </a:ln>
        </p:spPr>
      </p:sp>
      <p:sp>
        <p:nvSpPr>
          <p:cNvPr id="45" name="Text 42"/>
          <p:cNvSpPr/>
          <p:nvPr/>
        </p:nvSpPr>
        <p:spPr>
          <a:xfrm>
            <a:off x="1499616" y="8339328"/>
            <a:ext cx="8229600" cy="118872"/>
          </a:xfrm>
          <a:prstGeom prst="rect">
            <a:avLst/>
          </a:prstGeom>
          <a:noFill/>
          <a:ln/>
        </p:spPr>
        <p:txBody>
          <a:bodyPr wrap="square" lIns="0" tIns="0" rIns="0" bIns="0" rtlCol="0" anchor="t">
            <a:normAutofit/>
          </a:bodyPr>
          <a:lstStyle/>
          <a:p>
            <a:pPr indent="0" marL="0">
              <a:buNone/>
            </a:pPr>
            <a:r>
              <a:rPr lang="en-US" sz="650" dirty="0">
                <a:solidFill>
                  <a:srgbClr val="C0AAB9"/>
                </a:solidFill>
                <a:latin typeface="Arial" pitchFamily="34" charset="0"/>
                <a:ea typeface="Arial" pitchFamily="34" charset="-122"/>
                <a:cs typeface="Arial" pitchFamily="34" charset="-120"/>
              </a:rPr>
              <a:t>FICTIONAL WRITING WORKSHOP / NOT A STAGING OR APPROVAL PLAN</a:t>
            </a:r>
            <a:endParaRPr lang="en-US" sz="650" dirty="0"/>
          </a:p>
        </p:txBody>
      </p:sp>
      <p:sp>
        <p:nvSpPr>
          <p:cNvPr id="46" name="Text 43"/>
          <p:cNvSpPr/>
          <p:nvPr/>
        </p:nvSpPr>
        <p:spPr>
          <a:xfrm>
            <a:off x="9729216" y="8339328"/>
            <a:ext cx="3108960" cy="118872"/>
          </a:xfrm>
          <a:prstGeom prst="rect">
            <a:avLst/>
          </a:prstGeom>
          <a:noFill/>
          <a:ln/>
        </p:spPr>
        <p:txBody>
          <a:bodyPr wrap="square" lIns="0" tIns="0" rIns="0" bIns="0" rtlCol="0" anchor="t">
            <a:normAutofit/>
          </a:bodyPr>
          <a:lstStyle/>
          <a:p>
            <a:pPr algn="r" indent="0" marL="0">
              <a:buNone/>
            </a:pPr>
            <a:r>
              <a:rPr lang="en-US" sz="650" dirty="0">
                <a:solidFill>
                  <a:srgbClr val="C0AAB9"/>
                </a:solidFill>
                <a:latin typeface="Arial" pitchFamily="34" charset="0"/>
                <a:ea typeface="Arial" pitchFamily="34" charset="-122"/>
                <a:cs typeface="Arial" pitchFamily="34" charset="-120"/>
              </a:rPr>
              <a:t>DRAFT / 14 OF 15 ARTWORKS / 20 OF 30</a:t>
            </a:r>
            <a:endParaRPr lang="en-US" sz="6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82D2C"/>
        </a:solidFill>
      </p:bgPr>
    </p:bg>
    <p:spTree>
      <p:nvGrpSpPr>
        <p:cNvPr id="1" name=""/>
        <p:cNvGrpSpPr/>
        <p:nvPr/>
      </p:nvGrpSpPr>
      <p:grpSpPr>
        <a:xfrm>
          <a:off x="0" y="0"/>
          <a:ext cx="0" cy="0"/>
          <a:chOff x="0" y="0"/>
          <a:chExt cx="0" cy="0"/>
        </a:xfrm>
      </p:grpSpPr>
      <p:sp>
        <p:nvSpPr>
          <p:cNvPr id="2" name="Shape 0"/>
          <p:cNvSpPr/>
          <p:nvPr/>
        </p:nvSpPr>
        <p:spPr>
          <a:xfrm>
            <a:off x="1243584" y="329184"/>
            <a:ext cx="0" cy="8119872"/>
          </a:xfrm>
          <a:prstGeom prst="line">
            <a:avLst/>
          </a:prstGeom>
          <a:noFill/>
          <a:ln w="10160">
            <a:solidFill>
              <a:srgbClr val="776072"/>
            </a:solidFill>
            <a:prstDash val="solid"/>
          </a:ln>
        </p:spPr>
      </p:sp>
      <p:sp>
        <p:nvSpPr>
          <p:cNvPr id="3" name="Text 1"/>
          <p:cNvSpPr/>
          <p:nvPr/>
        </p:nvSpPr>
        <p:spPr>
          <a:xfrm>
            <a:off x="393192" y="457200"/>
            <a:ext cx="685800" cy="457200"/>
          </a:xfrm>
          <a:prstGeom prst="rect">
            <a:avLst/>
          </a:prstGeom>
          <a:noFill/>
          <a:ln/>
        </p:spPr>
        <p:txBody>
          <a:bodyPr wrap="square" lIns="0" tIns="0" rIns="0" bIns="0" rtlCol="0" anchor="t">
            <a:normAutofit/>
          </a:bodyPr>
          <a:lstStyle/>
          <a:p>
            <a:pPr indent="0" marL="0">
              <a:buNone/>
            </a:pPr>
            <a:r>
              <a:rPr lang="en-US" sz="600" dirty="0">
                <a:solidFill>
                  <a:srgbClr val="C0AAB9"/>
                </a:solidFill>
                <a:latin typeface="Arial" pitchFamily="34" charset="0"/>
                <a:ea typeface="Arial" pitchFamily="34" charset="-122"/>
                <a:cs typeface="Arial" pitchFamily="34" charset="-120"/>
              </a:rPr>
              <a:t>DESIGN BUDDY</a:t>
            </a:r>
            <a:endParaRPr lang="en-US" sz="600" dirty="0"/>
          </a:p>
          <a:p>
            <a:pPr indent="0" marL="0">
              <a:buNone/>
            </a:pPr>
            <a:r>
              <a:rPr lang="en-US" sz="600" dirty="0">
                <a:solidFill>
                  <a:srgbClr val="C0AAB9"/>
                </a:solidFill>
                <a:latin typeface="Arial" pitchFamily="34" charset="0"/>
                <a:ea typeface="Arial" pitchFamily="34" charset="-122"/>
                <a:cs typeface="Arial" pitchFamily="34" charset="-120"/>
              </a:rPr>
              <a:t>CREATIVE EXERCISE</a:t>
            </a:r>
            <a:endParaRPr lang="en-US" sz="600" dirty="0"/>
          </a:p>
        </p:txBody>
      </p:sp>
      <p:sp>
        <p:nvSpPr>
          <p:cNvPr id="4" name="Text 2"/>
          <p:cNvSpPr/>
          <p:nvPr/>
        </p:nvSpPr>
        <p:spPr>
          <a:xfrm>
            <a:off x="502920" y="1920240"/>
            <a:ext cx="502920" cy="4480560"/>
          </a:xfrm>
          <a:prstGeom prst="rect">
            <a:avLst/>
          </a:prstGeom>
          <a:noFill/>
          <a:ln/>
        </p:spPr>
        <p:txBody>
          <a:bodyPr wrap="square" lIns="0" tIns="0" rIns="0" bIns="0" rtlCol="0" anchor="t">
            <a:normAutofit/>
          </a:bodyPr>
          <a:lstStyle/>
          <a:p>
            <a:pPr algn="ctr" indent="0" marL="0">
              <a:buNone/>
            </a:pPr>
            <a:r>
              <a:rPr lang="en-US" sz="2500" dirty="0">
                <a:solidFill>
                  <a:srgbClr val="9BC4A8"/>
                </a:solidFill>
                <a:latin typeface="Georgia" pitchFamily="34" charset="0"/>
                <a:ea typeface="Georgia" pitchFamily="34" charset="-122"/>
                <a:cs typeface="Georgia" pitchFamily="34" charset="-120"/>
              </a:rPr>
              <a:t>A</a:t>
            </a:r>
            <a:endParaRPr lang="en-US" sz="2500" dirty="0"/>
          </a:p>
          <a:p>
            <a:pPr algn="ctr" indent="0" marL="0">
              <a:buNone/>
            </a:pPr>
            <a:r>
              <a:rPr lang="en-US" sz="2500" dirty="0">
                <a:solidFill>
                  <a:srgbClr val="9BC4A8"/>
                </a:solidFill>
                <a:latin typeface="Georgia" pitchFamily="34" charset="0"/>
                <a:ea typeface="Georgia" pitchFamily="34" charset="-122"/>
                <a:cs typeface="Georgia" pitchFamily="34" charset="-120"/>
              </a:rPr>
              <a:t>F</a:t>
            </a:r>
            <a:endParaRPr lang="en-US" sz="2500" dirty="0"/>
          </a:p>
          <a:p>
            <a:pPr algn="ctr" indent="0" marL="0">
              <a:buNone/>
            </a:pPr>
            <a:r>
              <a:rPr lang="en-US" sz="2500" dirty="0">
                <a:solidFill>
                  <a:srgbClr val="9BC4A8"/>
                </a:solidFill>
                <a:latin typeface="Georgia" pitchFamily="34" charset="0"/>
                <a:ea typeface="Georgia" pitchFamily="34" charset="-122"/>
                <a:cs typeface="Georgia" pitchFamily="34" charset="-120"/>
              </a:rPr>
              <a:t>T</a:t>
            </a:r>
            <a:endParaRPr lang="en-US" sz="2500" dirty="0"/>
          </a:p>
          <a:p>
            <a:pPr algn="ctr" indent="0" marL="0">
              <a:buNone/>
            </a:pPr>
            <a:r>
              <a:rPr lang="en-US" sz="2500" dirty="0">
                <a:solidFill>
                  <a:srgbClr val="9BC4A8"/>
                </a:solidFill>
                <a:latin typeface="Georgia" pitchFamily="34" charset="0"/>
                <a:ea typeface="Georgia" pitchFamily="34" charset="-122"/>
                <a:cs typeface="Georgia" pitchFamily="34" charset="-120"/>
              </a:rPr>
              <a:t>E</a:t>
            </a:r>
            <a:endParaRPr lang="en-US" sz="2500" dirty="0"/>
          </a:p>
          <a:p>
            <a:pPr algn="ctr" indent="0" marL="0">
              <a:buNone/>
            </a:pPr>
            <a:r>
              <a:rPr lang="en-US" sz="2500" dirty="0">
                <a:solidFill>
                  <a:srgbClr val="9BC4A8"/>
                </a:solidFill>
                <a:latin typeface="Georgia" pitchFamily="34" charset="0"/>
                <a:ea typeface="Georgia" pitchFamily="34" charset="-122"/>
                <a:cs typeface="Georgia" pitchFamily="34" charset="-120"/>
              </a:rPr>
              <a:t>R</a:t>
            </a:r>
            <a:endParaRPr lang="en-US" sz="2500" dirty="0"/>
          </a:p>
          <a:p>
            <a:pPr algn="ctr" indent="0" marL="0">
              <a:buNone/>
            </a:pPr>
            <a:r>
              <a:rPr lang="en-US" sz="2500" dirty="0">
                <a:solidFill>
                  <a:srgbClr val="9BC4A8"/>
                </a:solidFill>
                <a:latin typeface="Georgia" pitchFamily="34" charset="0"/>
                <a:ea typeface="Georgia" pitchFamily="34" charset="-122"/>
                <a:cs typeface="Georgia" pitchFamily="34" charset="-120"/>
              </a:rPr>
              <a:t>G</a:t>
            </a:r>
            <a:endParaRPr lang="en-US" sz="2500" dirty="0"/>
          </a:p>
          <a:p>
            <a:pPr algn="ctr" indent="0" marL="0">
              <a:buNone/>
            </a:pPr>
            <a:r>
              <a:rPr lang="en-US" sz="2500" dirty="0">
                <a:solidFill>
                  <a:srgbClr val="9BC4A8"/>
                </a:solidFill>
                <a:latin typeface="Georgia" pitchFamily="34" charset="0"/>
                <a:ea typeface="Georgia" pitchFamily="34" charset="-122"/>
                <a:cs typeface="Georgia" pitchFamily="34" charset="-120"/>
              </a:rPr>
              <a:t>L</a:t>
            </a:r>
            <a:endParaRPr lang="en-US" sz="2500" dirty="0"/>
          </a:p>
          <a:p>
            <a:pPr algn="ctr" indent="0" marL="0">
              <a:buNone/>
            </a:pPr>
            <a:r>
              <a:rPr lang="en-US" sz="2500" dirty="0">
                <a:solidFill>
                  <a:srgbClr val="9BC4A8"/>
                </a:solidFill>
                <a:latin typeface="Georgia" pitchFamily="34" charset="0"/>
                <a:ea typeface="Georgia" pitchFamily="34" charset="-122"/>
                <a:cs typeface="Georgia" pitchFamily="34" charset="-120"/>
              </a:rPr>
              <a:t>O</a:t>
            </a:r>
            <a:endParaRPr lang="en-US" sz="2500" dirty="0"/>
          </a:p>
          <a:p>
            <a:pPr algn="ctr" indent="0" marL="0">
              <a:buNone/>
            </a:pPr>
            <a:r>
              <a:rPr lang="en-US" sz="2500" dirty="0">
                <a:solidFill>
                  <a:srgbClr val="9BC4A8"/>
                </a:solidFill>
                <a:latin typeface="Georgia" pitchFamily="34" charset="0"/>
                <a:ea typeface="Georgia" pitchFamily="34" charset="-122"/>
                <a:cs typeface="Georgia" pitchFamily="34" charset="-120"/>
              </a:rPr>
              <a:t>W</a:t>
            </a:r>
            <a:endParaRPr lang="en-US" sz="2500" dirty="0"/>
          </a:p>
        </p:txBody>
      </p:sp>
      <p:sp>
        <p:nvSpPr>
          <p:cNvPr id="5" name="Text 3"/>
          <p:cNvSpPr/>
          <p:nvPr/>
        </p:nvSpPr>
        <p:spPr>
          <a:xfrm>
            <a:off x="402336" y="7022592"/>
            <a:ext cx="731520" cy="594360"/>
          </a:xfrm>
          <a:prstGeom prst="rect">
            <a:avLst/>
          </a:prstGeom>
          <a:noFill/>
          <a:ln/>
        </p:spPr>
        <p:txBody>
          <a:bodyPr wrap="square" lIns="0" tIns="0" rIns="0" bIns="0" rtlCol="0" anchor="t">
            <a:normAutofit/>
          </a:bodyPr>
          <a:lstStyle/>
          <a:p>
            <a:pPr indent="0" marL="0">
              <a:buNone/>
            </a:pPr>
            <a:r>
              <a:rPr lang="en-US" sz="4200" dirty="0">
                <a:solidFill>
                  <a:srgbClr val="9BC4A8"/>
                </a:solidFill>
                <a:latin typeface="Georgia" pitchFamily="34" charset="0"/>
                <a:ea typeface="Georgia" pitchFamily="34" charset="-122"/>
                <a:cs typeface="Georgia" pitchFamily="34" charset="-120"/>
              </a:rPr>
              <a:t>21</a:t>
            </a:r>
            <a:endParaRPr lang="en-US" sz="4200" dirty="0"/>
          </a:p>
        </p:txBody>
      </p:sp>
      <p:sp>
        <p:nvSpPr>
          <p:cNvPr id="6" name="Text 4"/>
          <p:cNvSpPr/>
          <p:nvPr/>
        </p:nvSpPr>
        <p:spPr>
          <a:xfrm>
            <a:off x="402336" y="7818120"/>
            <a:ext cx="731520" cy="411480"/>
          </a:xfrm>
          <a:prstGeom prst="rect">
            <a:avLst/>
          </a:prstGeom>
          <a:noFill/>
          <a:ln/>
        </p:spPr>
        <p:txBody>
          <a:bodyPr wrap="square" lIns="0" tIns="0" rIns="0" bIns="0" rtlCol="0" anchor="t">
            <a:normAutofit/>
          </a:bodyPr>
          <a:lstStyle/>
          <a:p>
            <a:pPr indent="0" marL="0">
              <a:buNone/>
            </a:pPr>
            <a:r>
              <a:rPr lang="en-US" sz="700" dirty="0">
                <a:solidFill>
                  <a:srgbClr val="C0AAB9"/>
                </a:solidFill>
                <a:latin typeface="Arial" pitchFamily="34" charset="0"/>
                <a:ea typeface="Arial" pitchFamily="34" charset="-122"/>
                <a:cs typeface="Arial" pitchFamily="34" charset="-120"/>
              </a:rPr>
              <a:t>ACT 4 / 5</a:t>
            </a:r>
            <a:endParaRPr lang="en-US" sz="700" dirty="0"/>
          </a:p>
          <a:p>
            <a:pPr indent="0" marL="0">
              <a:buNone/>
            </a:pPr>
            <a:r>
              <a:rPr lang="en-US" sz="700" dirty="0">
                <a:solidFill>
                  <a:srgbClr val="C0AAB9"/>
                </a:solidFill>
                <a:latin typeface="Arial" pitchFamily="34" charset="0"/>
                <a:ea typeface="Arial" pitchFamily="34" charset="-122"/>
                <a:cs typeface="Arial" pitchFamily="34" charset="-120"/>
              </a:rPr>
              <a:t>BEAT 3 / 6</a:t>
            </a:r>
            <a:endParaRPr lang="en-US" sz="700" dirty="0"/>
          </a:p>
        </p:txBody>
      </p:sp>
      <p:sp>
        <p:nvSpPr>
          <p:cNvPr id="7" name="Text 5"/>
          <p:cNvSpPr/>
          <p:nvPr/>
        </p:nvSpPr>
        <p:spPr>
          <a:xfrm>
            <a:off x="1499616" y="347472"/>
            <a:ext cx="9144000" cy="164592"/>
          </a:xfrm>
          <a:prstGeom prst="rect">
            <a:avLst/>
          </a:prstGeom>
          <a:noFill/>
          <a:ln/>
        </p:spPr>
        <p:txBody>
          <a:bodyPr wrap="square" lIns="0" tIns="0" rIns="0" bIns="0" rtlCol="0" anchor="t">
            <a:normAutofit/>
          </a:bodyPr>
          <a:lstStyle/>
          <a:p>
            <a:pPr indent="0" marL="0">
              <a:buNone/>
            </a:pPr>
            <a:r>
              <a:rPr lang="en-US" sz="700" spc="120" kern="0" dirty="0">
                <a:solidFill>
                  <a:srgbClr val="9BC4A8"/>
                </a:solidFill>
                <a:latin typeface="Arial" pitchFamily="34" charset="0"/>
                <a:ea typeface="Arial" pitchFamily="34" charset="-122"/>
                <a:cs typeface="Arial" pitchFamily="34" charset="-120"/>
              </a:rPr>
              <a:t>ACT 4 / REVISION</a:t>
            </a:r>
            <a:endParaRPr lang="en-US" sz="700" dirty="0"/>
          </a:p>
        </p:txBody>
      </p:sp>
      <p:sp>
        <p:nvSpPr>
          <p:cNvPr id="8" name="Text 6"/>
          <p:cNvSpPr/>
          <p:nvPr/>
        </p:nvSpPr>
        <p:spPr>
          <a:xfrm>
            <a:off x="1499616" y="612648"/>
            <a:ext cx="9692640" cy="594360"/>
          </a:xfrm>
          <a:prstGeom prst="rect">
            <a:avLst/>
          </a:prstGeom>
          <a:noFill/>
          <a:ln/>
        </p:spPr>
        <p:txBody>
          <a:bodyPr wrap="square" lIns="0" tIns="0" rIns="0" bIns="0" rtlCol="0" anchor="t">
            <a:normAutofit/>
          </a:bodyPr>
          <a:lstStyle/>
          <a:p>
            <a:pPr indent="0" marL="0">
              <a:buNone/>
            </a:pPr>
            <a:r>
              <a:rPr lang="en-US" sz="2800" dirty="0">
                <a:solidFill>
                  <a:srgbClr val="ECDED6"/>
                </a:solidFill>
                <a:latin typeface="Georgia" pitchFamily="34" charset="0"/>
                <a:ea typeface="Georgia" pitchFamily="34" charset="-122"/>
                <a:cs typeface="Georgia" pitchFamily="34" charset="-120"/>
              </a:rPr>
              <a:t>Distinguish taste from intention.</a:t>
            </a:r>
            <a:endParaRPr lang="en-US" sz="2800" dirty="0"/>
          </a:p>
        </p:txBody>
      </p:sp>
      <p:sp>
        <p:nvSpPr>
          <p:cNvPr id="9" name="Text 7"/>
          <p:cNvSpPr/>
          <p:nvPr/>
        </p:nvSpPr>
        <p:spPr>
          <a:xfrm>
            <a:off x="11475720" y="438912"/>
            <a:ext cx="1325880" cy="182880"/>
          </a:xfrm>
          <a:prstGeom prst="rect">
            <a:avLst/>
          </a:prstGeom>
          <a:noFill/>
          <a:ln/>
        </p:spPr>
        <p:txBody>
          <a:bodyPr wrap="square" lIns="0" tIns="0" rIns="0" bIns="0" rtlCol="0" anchor="t">
            <a:normAutofit/>
          </a:bodyPr>
          <a:lstStyle/>
          <a:p>
            <a:pPr algn="r" indent="0" marL="0">
              <a:buNone/>
            </a:pPr>
            <a:r>
              <a:rPr lang="en-US" sz="700" dirty="0">
                <a:solidFill>
                  <a:srgbClr val="9BC4A8"/>
                </a:solidFill>
                <a:latin typeface="Arial" pitchFamily="34" charset="0"/>
                <a:ea typeface="Arial" pitchFamily="34" charset="-122"/>
                <a:cs typeface="Arial" pitchFamily="34" charset="-120"/>
              </a:rPr>
              <a:t>LOCAL / UNMARKED</a:t>
            </a:r>
            <a:endParaRPr lang="en-US" sz="700" dirty="0"/>
          </a:p>
        </p:txBody>
      </p:sp>
      <p:sp>
        <p:nvSpPr>
          <p:cNvPr id="10" name="Shape 8"/>
          <p:cNvSpPr/>
          <p:nvPr/>
        </p:nvSpPr>
        <p:spPr>
          <a:xfrm>
            <a:off x="1499616" y="1307592"/>
            <a:ext cx="1819656" cy="448056"/>
          </a:xfrm>
          <a:prstGeom prst="rect">
            <a:avLst/>
          </a:prstGeom>
          <a:solidFill>
            <a:srgbClr val="182D2C"/>
          </a:solidFill>
          <a:ln w="8890">
            <a:solidFill>
              <a:srgbClr val="6D5768"/>
            </a:solidFill>
            <a:prstDash val="solid"/>
          </a:ln>
        </p:spPr>
      </p:sp>
      <p:sp>
        <p:nvSpPr>
          <p:cNvPr id="11" name="Text 9"/>
          <p:cNvSpPr/>
          <p:nvPr/>
        </p:nvSpPr>
        <p:spPr>
          <a:xfrm>
            <a:off x="1572768"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9BC4A8"/>
                </a:solidFill>
                <a:latin typeface="Georgia" pitchFamily="34" charset="0"/>
                <a:ea typeface="Georgia" pitchFamily="34" charset="-122"/>
                <a:cs typeface="Georgia" pitchFamily="34" charset="-120"/>
              </a:rPr>
              <a:t>1</a:t>
            </a:r>
            <a:endParaRPr lang="en-US" sz="1700" dirty="0"/>
          </a:p>
        </p:txBody>
      </p:sp>
      <p:sp>
        <p:nvSpPr>
          <p:cNvPr id="12" name="Text 10"/>
          <p:cNvSpPr/>
          <p:nvPr/>
        </p:nvSpPr>
        <p:spPr>
          <a:xfrm>
            <a:off x="1865376"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Read a draft as a draft.</a:t>
            </a:r>
            <a:endParaRPr lang="en-US" sz="700" dirty="0"/>
          </a:p>
        </p:txBody>
      </p:sp>
      <p:sp>
        <p:nvSpPr>
          <p:cNvPr id="13" name="Shape 11"/>
          <p:cNvSpPr/>
          <p:nvPr/>
        </p:nvSpPr>
        <p:spPr>
          <a:xfrm>
            <a:off x="3392424" y="1307592"/>
            <a:ext cx="1819656" cy="448056"/>
          </a:xfrm>
          <a:prstGeom prst="rect">
            <a:avLst/>
          </a:prstGeom>
          <a:solidFill>
            <a:srgbClr val="182D2C"/>
          </a:solidFill>
          <a:ln w="8890">
            <a:solidFill>
              <a:srgbClr val="6D5768"/>
            </a:solidFill>
            <a:prstDash val="solid"/>
          </a:ln>
        </p:spPr>
      </p:sp>
      <p:sp>
        <p:nvSpPr>
          <p:cNvPr id="14" name="Text 12"/>
          <p:cNvSpPr/>
          <p:nvPr/>
        </p:nvSpPr>
        <p:spPr>
          <a:xfrm>
            <a:off x="3465576"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9BC4A8"/>
                </a:solidFill>
                <a:latin typeface="Georgia" pitchFamily="34" charset="0"/>
                <a:ea typeface="Georgia" pitchFamily="34" charset="-122"/>
                <a:cs typeface="Georgia" pitchFamily="34" charset="-120"/>
              </a:rPr>
              <a:t>2</a:t>
            </a:r>
            <a:endParaRPr lang="en-US" sz="1700" dirty="0"/>
          </a:p>
        </p:txBody>
      </p:sp>
      <p:sp>
        <p:nvSpPr>
          <p:cNvPr id="15" name="Text 13"/>
          <p:cNvSpPr/>
          <p:nvPr/>
        </p:nvSpPr>
        <p:spPr>
          <a:xfrm>
            <a:off x="3758184"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Revise one thing at a time.</a:t>
            </a:r>
            <a:endParaRPr lang="en-US" sz="700" dirty="0"/>
          </a:p>
        </p:txBody>
      </p:sp>
      <p:sp>
        <p:nvSpPr>
          <p:cNvPr id="16" name="Shape 14"/>
          <p:cNvSpPr/>
          <p:nvPr/>
        </p:nvSpPr>
        <p:spPr>
          <a:xfrm>
            <a:off x="5285232" y="1307592"/>
            <a:ext cx="1819656" cy="448056"/>
          </a:xfrm>
          <a:prstGeom prst="rect">
            <a:avLst/>
          </a:prstGeom>
          <a:solidFill>
            <a:srgbClr val="182D2C"/>
          </a:solidFill>
          <a:ln w="8890">
            <a:solidFill>
              <a:srgbClr val="9BC4A8"/>
            </a:solidFill>
            <a:prstDash val="solid"/>
          </a:ln>
        </p:spPr>
      </p:sp>
      <p:sp>
        <p:nvSpPr>
          <p:cNvPr id="17" name="Text 15"/>
          <p:cNvSpPr/>
          <p:nvPr/>
        </p:nvSpPr>
        <p:spPr>
          <a:xfrm>
            <a:off x="5358384"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9BC4A8"/>
                </a:solidFill>
                <a:latin typeface="Georgia" pitchFamily="34" charset="0"/>
                <a:ea typeface="Georgia" pitchFamily="34" charset="-122"/>
                <a:cs typeface="Georgia" pitchFamily="34" charset="-120"/>
              </a:rPr>
              <a:t>3</a:t>
            </a:r>
            <a:endParaRPr lang="en-US" sz="1700" dirty="0"/>
          </a:p>
        </p:txBody>
      </p:sp>
      <p:sp>
        <p:nvSpPr>
          <p:cNvPr id="18" name="Text 16"/>
          <p:cNvSpPr/>
          <p:nvPr/>
        </p:nvSpPr>
        <p:spPr>
          <a:xfrm>
            <a:off x="5650992"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Distinguish taste from intention.</a:t>
            </a:r>
            <a:endParaRPr lang="en-US" sz="700" dirty="0"/>
          </a:p>
        </p:txBody>
      </p:sp>
      <p:sp>
        <p:nvSpPr>
          <p:cNvPr id="19" name="Shape 17"/>
          <p:cNvSpPr/>
          <p:nvPr/>
        </p:nvSpPr>
        <p:spPr>
          <a:xfrm>
            <a:off x="7178040" y="1307592"/>
            <a:ext cx="1819656" cy="448056"/>
          </a:xfrm>
          <a:prstGeom prst="rect">
            <a:avLst/>
          </a:prstGeom>
          <a:solidFill>
            <a:srgbClr val="182D2C"/>
          </a:solidFill>
          <a:ln w="8890">
            <a:solidFill>
              <a:srgbClr val="6D5768"/>
            </a:solidFill>
            <a:prstDash val="solid"/>
          </a:ln>
        </p:spPr>
      </p:sp>
      <p:sp>
        <p:nvSpPr>
          <p:cNvPr id="20" name="Text 18"/>
          <p:cNvSpPr/>
          <p:nvPr/>
        </p:nvSpPr>
        <p:spPr>
          <a:xfrm>
            <a:off x="7251192"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9BC4A8"/>
                </a:solidFill>
                <a:latin typeface="Georgia" pitchFamily="34" charset="0"/>
                <a:ea typeface="Georgia" pitchFamily="34" charset="-122"/>
                <a:cs typeface="Georgia" pitchFamily="34" charset="-120"/>
              </a:rPr>
              <a:t>4</a:t>
            </a:r>
            <a:endParaRPr lang="en-US" sz="1700" dirty="0"/>
          </a:p>
        </p:txBody>
      </p:sp>
      <p:sp>
        <p:nvSpPr>
          <p:cNvPr id="21" name="Text 19"/>
          <p:cNvSpPr/>
          <p:nvPr/>
        </p:nvSpPr>
        <p:spPr>
          <a:xfrm>
            <a:off x="7543800"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Keep the unused possibility.</a:t>
            </a:r>
            <a:endParaRPr lang="en-US" sz="700" dirty="0"/>
          </a:p>
        </p:txBody>
      </p:sp>
      <p:sp>
        <p:nvSpPr>
          <p:cNvPr id="22" name="Shape 20"/>
          <p:cNvSpPr/>
          <p:nvPr/>
        </p:nvSpPr>
        <p:spPr>
          <a:xfrm>
            <a:off x="9070848" y="1307592"/>
            <a:ext cx="1819656" cy="448056"/>
          </a:xfrm>
          <a:prstGeom prst="rect">
            <a:avLst/>
          </a:prstGeom>
          <a:solidFill>
            <a:srgbClr val="182D2C"/>
          </a:solidFill>
          <a:ln w="8890">
            <a:solidFill>
              <a:srgbClr val="6D5768"/>
            </a:solidFill>
            <a:prstDash val="solid"/>
          </a:ln>
        </p:spPr>
      </p:sp>
      <p:sp>
        <p:nvSpPr>
          <p:cNvPr id="23" name="Text 21"/>
          <p:cNvSpPr/>
          <p:nvPr/>
        </p:nvSpPr>
        <p:spPr>
          <a:xfrm>
            <a:off x="9144000"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9BC4A8"/>
                </a:solidFill>
                <a:latin typeface="Georgia" pitchFamily="34" charset="0"/>
                <a:ea typeface="Georgia" pitchFamily="34" charset="-122"/>
                <a:cs typeface="Georgia" pitchFamily="34" charset="-120"/>
              </a:rPr>
              <a:t>5</a:t>
            </a:r>
            <a:endParaRPr lang="en-US" sz="1700" dirty="0"/>
          </a:p>
        </p:txBody>
      </p:sp>
      <p:sp>
        <p:nvSpPr>
          <p:cNvPr id="24" name="Text 22"/>
          <p:cNvSpPr/>
          <p:nvPr/>
        </p:nvSpPr>
        <p:spPr>
          <a:xfrm>
            <a:off x="9436608"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Return to the story’s boundary.</a:t>
            </a:r>
            <a:endParaRPr lang="en-US" sz="700" dirty="0"/>
          </a:p>
        </p:txBody>
      </p:sp>
      <p:sp>
        <p:nvSpPr>
          <p:cNvPr id="25" name="Shape 23"/>
          <p:cNvSpPr/>
          <p:nvPr/>
        </p:nvSpPr>
        <p:spPr>
          <a:xfrm>
            <a:off x="10963656" y="1307592"/>
            <a:ext cx="1819656" cy="448056"/>
          </a:xfrm>
          <a:prstGeom prst="rect">
            <a:avLst/>
          </a:prstGeom>
          <a:solidFill>
            <a:srgbClr val="182D2C"/>
          </a:solidFill>
          <a:ln w="8890">
            <a:solidFill>
              <a:srgbClr val="6D5768"/>
            </a:solidFill>
            <a:prstDash val="solid"/>
          </a:ln>
        </p:spPr>
      </p:sp>
      <p:sp>
        <p:nvSpPr>
          <p:cNvPr id="26" name="Text 24"/>
          <p:cNvSpPr/>
          <p:nvPr/>
        </p:nvSpPr>
        <p:spPr>
          <a:xfrm>
            <a:off x="11036808"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9BC4A8"/>
                </a:solidFill>
                <a:latin typeface="Georgia" pitchFamily="34" charset="0"/>
                <a:ea typeface="Georgia" pitchFamily="34" charset="-122"/>
                <a:cs typeface="Georgia" pitchFamily="34" charset="-120"/>
              </a:rPr>
              <a:t>6</a:t>
            </a:r>
            <a:endParaRPr lang="en-US" sz="1700" dirty="0"/>
          </a:p>
        </p:txBody>
      </p:sp>
      <p:sp>
        <p:nvSpPr>
          <p:cNvPr id="27" name="Text 25"/>
          <p:cNvSpPr/>
          <p:nvPr/>
        </p:nvSpPr>
        <p:spPr>
          <a:xfrm>
            <a:off x="11329416"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Choose a revision question.</a:t>
            </a:r>
            <a:endParaRPr lang="en-US" sz="700" dirty="0"/>
          </a:p>
        </p:txBody>
      </p:sp>
      <p:pic>
        <p:nvPicPr>
          <p:cNvPr id="28" name="Image 0" descr="/home/user/design-buddy/design-buddy-home/public/atelier/afterglow/images/11.jpg">    </p:cNvPr>
          <p:cNvPicPr>
            <a:picLocks noChangeAspect="1"/>
          </p:cNvPicPr>
          <p:nvPr/>
        </p:nvPicPr>
        <p:blipFill>
          <a:blip r:embed="rId1"/>
          <a:srcRect l="0" r="0" t="0" b="0"/>
          <a:stretch/>
        </p:blipFill>
        <p:spPr>
          <a:xfrm>
            <a:off x="1499616" y="2066544"/>
            <a:ext cx="6949440" cy="3840480"/>
          </a:xfrm>
          <a:prstGeom prst="rect">
            <a:avLst/>
          </a:prstGeom>
        </p:spPr>
      </p:pic>
      <p:sp>
        <p:nvSpPr>
          <p:cNvPr id="29" name="Text 26"/>
          <p:cNvSpPr/>
          <p:nvPr/>
        </p:nvSpPr>
        <p:spPr>
          <a:xfrm>
            <a:off x="1499616" y="6007608"/>
            <a:ext cx="6949440" cy="164592"/>
          </a:xfrm>
          <a:prstGeom prst="rect">
            <a:avLst/>
          </a:prstGeom>
          <a:noFill/>
          <a:ln/>
        </p:spPr>
        <p:txBody>
          <a:bodyPr wrap="square" lIns="0" tIns="0" rIns="0" bIns="0" rtlCol="0" anchor="t">
            <a:normAutofit/>
          </a:bodyPr>
          <a:lstStyle/>
          <a:p>
            <a:pPr indent="0" marL="0">
              <a:buNone/>
            </a:pPr>
            <a:r>
              <a:rPr lang="en-US" sz="650" dirty="0">
                <a:solidFill>
                  <a:srgbClr val="C0AAB9"/>
                </a:solidFill>
                <a:latin typeface="Arial" pitchFamily="34" charset="0"/>
                <a:ea typeface="Arial" pitchFamily="34" charset="-122"/>
                <a:cs typeface="Arial" pitchFamily="34" charset="-120"/>
              </a:rPr>
              <a:t>Watercolour 11 / invented setting and adults / not production evidence</a:t>
            </a:r>
            <a:endParaRPr lang="en-US" sz="650" dirty="0"/>
          </a:p>
        </p:txBody>
      </p:sp>
      <p:sp>
        <p:nvSpPr>
          <p:cNvPr id="30" name="Text 27"/>
          <p:cNvSpPr/>
          <p:nvPr/>
        </p:nvSpPr>
        <p:spPr>
          <a:xfrm>
            <a:off x="8705088" y="2139696"/>
            <a:ext cx="4133088" cy="164592"/>
          </a:xfrm>
          <a:prstGeom prst="rect">
            <a:avLst/>
          </a:prstGeom>
          <a:noFill/>
          <a:ln/>
        </p:spPr>
        <p:txBody>
          <a:bodyPr wrap="square" lIns="0" tIns="0" rIns="0" bIns="0" rtlCol="0" anchor="t">
            <a:normAutofit/>
          </a:bodyPr>
          <a:lstStyle/>
          <a:p>
            <a:pPr indent="0" marL="0">
              <a:buNone/>
            </a:pPr>
            <a:r>
              <a:rPr lang="en-US" sz="700" spc="110" kern="0" dirty="0">
                <a:solidFill>
                  <a:srgbClr val="9BC4A8"/>
                </a:solidFill>
                <a:latin typeface="Arial" pitchFamily="34" charset="0"/>
                <a:ea typeface="Arial" pitchFamily="34" charset="-122"/>
                <a:cs typeface="Arial" pitchFamily="34" charset="-120"/>
              </a:rPr>
              <a:t>STORY INTENTION</a:t>
            </a:r>
            <a:endParaRPr lang="en-US" sz="700" dirty="0"/>
          </a:p>
        </p:txBody>
      </p:sp>
      <p:sp>
        <p:nvSpPr>
          <p:cNvPr id="31" name="Text 28"/>
          <p:cNvSpPr/>
          <p:nvPr/>
        </p:nvSpPr>
        <p:spPr>
          <a:xfrm>
            <a:off x="8705088" y="2514600"/>
            <a:ext cx="4133088" cy="1828800"/>
          </a:xfrm>
          <a:prstGeom prst="rect">
            <a:avLst/>
          </a:prstGeom>
          <a:noFill/>
          <a:ln/>
        </p:spPr>
        <p:txBody>
          <a:bodyPr wrap="square" lIns="0" tIns="0" rIns="0" bIns="0" rtlCol="0" anchor="t">
            <a:normAutofit/>
          </a:bodyPr>
          <a:lstStyle/>
          <a:p>
            <a:pPr indent="0" marL="0">
              <a:buNone/>
            </a:pPr>
            <a:r>
              <a:rPr lang="en-US" sz="1575" dirty="0">
                <a:solidFill>
                  <a:srgbClr val="ECDED6"/>
                </a:solidFill>
                <a:latin typeface="Georgia" pitchFamily="34" charset="0"/>
                <a:ea typeface="Georgia" pitchFamily="34" charset="-122"/>
                <a:cs typeface="Georgia" pitchFamily="34" charset="-120"/>
              </a:rPr>
              <a:t>A reader can dislike a choice that still serves the intended story, or enjoy a choice that distracts from it. Note the difference without pretending taste is a measured audience verdict.</a:t>
            </a:r>
            <a:endParaRPr lang="en-US" sz="1575" dirty="0"/>
          </a:p>
        </p:txBody>
      </p:sp>
      <p:sp>
        <p:nvSpPr>
          <p:cNvPr id="32" name="Text 29"/>
          <p:cNvSpPr/>
          <p:nvPr/>
        </p:nvSpPr>
        <p:spPr>
          <a:xfrm>
            <a:off x="8705088" y="4572000"/>
            <a:ext cx="4133088" cy="164592"/>
          </a:xfrm>
          <a:prstGeom prst="rect">
            <a:avLst/>
          </a:prstGeom>
          <a:noFill/>
          <a:ln/>
        </p:spPr>
        <p:txBody>
          <a:bodyPr wrap="square" lIns="0" tIns="0" rIns="0" bIns="0" rtlCol="0" anchor="t">
            <a:normAutofit/>
          </a:bodyPr>
          <a:lstStyle/>
          <a:p>
            <a:pPr indent="0" marL="0">
              <a:buNone/>
            </a:pPr>
            <a:r>
              <a:rPr lang="en-US" sz="700" spc="110" kern="0" dirty="0">
                <a:solidFill>
                  <a:srgbClr val="9BC4A8"/>
                </a:solidFill>
                <a:latin typeface="Arial" pitchFamily="34" charset="0"/>
                <a:ea typeface="Arial" pitchFamily="34" charset="-122"/>
                <a:cs typeface="Arial" pitchFamily="34" charset="-120"/>
              </a:rPr>
              <a:t>LEAVE A QUESTION</a:t>
            </a:r>
            <a:endParaRPr lang="en-US" sz="700" dirty="0"/>
          </a:p>
        </p:txBody>
      </p:sp>
      <p:sp>
        <p:nvSpPr>
          <p:cNvPr id="33" name="Text 30"/>
          <p:cNvSpPr/>
          <p:nvPr/>
        </p:nvSpPr>
        <p:spPr>
          <a:xfrm>
            <a:off x="8705088" y="4910328"/>
            <a:ext cx="4133088" cy="822960"/>
          </a:xfrm>
          <a:prstGeom prst="rect">
            <a:avLst/>
          </a:prstGeom>
          <a:noFill/>
          <a:ln/>
        </p:spPr>
        <p:txBody>
          <a:bodyPr wrap="square" lIns="0" tIns="0" rIns="0" bIns="0" rtlCol="0" anchor="t">
            <a:normAutofit/>
          </a:bodyPr>
          <a:lstStyle/>
          <a:p>
            <a:pPr indent="0" marL="0">
              <a:buNone/>
            </a:pPr>
            <a:r>
              <a:rPr lang="en-US" sz="1875" i="1" dirty="0">
                <a:solidFill>
                  <a:srgbClr val="9BC4A8"/>
                </a:solidFill>
                <a:latin typeface="Georgia" pitchFamily="34" charset="0"/>
                <a:ea typeface="Georgia" pitchFamily="34" charset="-122"/>
                <a:cs typeface="Georgia" pitchFamily="34" charset="-120"/>
              </a:rPr>
              <a:t>Does this note describe preference, clarity or the stated aim?</a:t>
            </a:r>
            <a:endParaRPr lang="en-US" sz="1875" dirty="0"/>
          </a:p>
        </p:txBody>
      </p:sp>
      <p:sp>
        <p:nvSpPr>
          <p:cNvPr id="34" name="Text 31"/>
          <p:cNvSpPr/>
          <p:nvPr/>
        </p:nvSpPr>
        <p:spPr>
          <a:xfrm>
            <a:off x="8705088" y="5806440"/>
            <a:ext cx="4133088" cy="292608"/>
          </a:xfrm>
          <a:prstGeom prst="rect">
            <a:avLst/>
          </a:prstGeom>
          <a:noFill/>
          <a:ln/>
        </p:spPr>
        <p:txBody>
          <a:bodyPr wrap="square" lIns="0" tIns="0" rIns="0" bIns="0" rtlCol="0" anchor="t">
            <a:normAutofit/>
          </a:bodyPr>
          <a:lstStyle/>
          <a:p>
            <a:pPr indent="0" marL="0">
              <a:buNone/>
            </a:pPr>
            <a:r>
              <a:rPr lang="en-US" sz="700" dirty="0">
                <a:solidFill>
                  <a:srgbClr val="C0AAB9"/>
                </a:solidFill>
                <a:latin typeface="Arial" pitchFamily="34" charset="0"/>
                <a:ea typeface="Arial" pitchFamily="34" charset="-122"/>
                <a:cs typeface="Arial" pitchFamily="34" charset="-120"/>
              </a:rPr>
              <a:t>Beat order is not timing, a technical call or a show schedule.</a:t>
            </a:r>
            <a:endParaRPr lang="en-US" sz="700" dirty="0"/>
          </a:p>
        </p:txBody>
      </p:sp>
      <p:sp>
        <p:nvSpPr>
          <p:cNvPr id="35" name="Shape 32"/>
          <p:cNvSpPr/>
          <p:nvPr/>
        </p:nvSpPr>
        <p:spPr>
          <a:xfrm>
            <a:off x="1499616" y="6583680"/>
            <a:ext cx="3675888" cy="1481328"/>
          </a:xfrm>
          <a:prstGeom prst="rect">
            <a:avLst/>
          </a:prstGeom>
          <a:solidFill>
            <a:srgbClr val="182D2C"/>
          </a:solidFill>
          <a:ln w="8890">
            <a:solidFill>
              <a:srgbClr val="735D6D"/>
            </a:solidFill>
            <a:prstDash val="solid"/>
          </a:ln>
        </p:spPr>
      </p:sp>
      <p:sp>
        <p:nvSpPr>
          <p:cNvPr id="36" name="Text 33"/>
          <p:cNvSpPr/>
          <p:nvPr/>
        </p:nvSpPr>
        <p:spPr>
          <a:xfrm>
            <a:off x="1682496"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9BC4A8"/>
                </a:solidFill>
                <a:latin typeface="Arial" pitchFamily="34" charset="0"/>
                <a:ea typeface="Arial" pitchFamily="34" charset="-122"/>
                <a:cs typeface="Arial" pitchFamily="34" charset="-120"/>
              </a:rPr>
              <a:t>01 / NOTICE</a:t>
            </a:r>
            <a:endParaRPr lang="en-US" sz="700" dirty="0"/>
          </a:p>
        </p:txBody>
      </p:sp>
      <p:sp>
        <p:nvSpPr>
          <p:cNvPr id="37" name="Text 34"/>
          <p:cNvSpPr/>
          <p:nvPr/>
        </p:nvSpPr>
        <p:spPr>
          <a:xfrm>
            <a:off x="1682496"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Different kinds of feedback call for different questions.</a:t>
            </a:r>
            <a:endParaRPr lang="en-US" sz="1500" dirty="0"/>
          </a:p>
        </p:txBody>
      </p:sp>
      <p:sp>
        <p:nvSpPr>
          <p:cNvPr id="38" name="Shape 35"/>
          <p:cNvSpPr/>
          <p:nvPr/>
        </p:nvSpPr>
        <p:spPr>
          <a:xfrm>
            <a:off x="5321808" y="6583680"/>
            <a:ext cx="3675888" cy="1481328"/>
          </a:xfrm>
          <a:prstGeom prst="rect">
            <a:avLst/>
          </a:prstGeom>
          <a:solidFill>
            <a:srgbClr val="182D2C"/>
          </a:solidFill>
          <a:ln w="8890">
            <a:solidFill>
              <a:srgbClr val="735D6D"/>
            </a:solidFill>
            <a:prstDash val="solid"/>
          </a:ln>
        </p:spPr>
      </p:sp>
      <p:sp>
        <p:nvSpPr>
          <p:cNvPr id="39" name="Text 36"/>
          <p:cNvSpPr/>
          <p:nvPr/>
        </p:nvSpPr>
        <p:spPr>
          <a:xfrm>
            <a:off x="5504688"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9BC4A8"/>
                </a:solidFill>
                <a:latin typeface="Arial" pitchFamily="34" charset="0"/>
                <a:ea typeface="Arial" pitchFamily="34" charset="-122"/>
                <a:cs typeface="Arial" pitchFamily="34" charset="-120"/>
              </a:rPr>
              <a:t>02 / TRY IN WORDS</a:t>
            </a:r>
            <a:endParaRPr lang="en-US" sz="700" dirty="0"/>
          </a:p>
        </p:txBody>
      </p:sp>
      <p:sp>
        <p:nvSpPr>
          <p:cNvPr id="40" name="Text 37"/>
          <p:cNvSpPr/>
          <p:nvPr/>
        </p:nvSpPr>
        <p:spPr>
          <a:xfrm>
            <a:off x="5504688"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Rewrite one vague judgement as a specific creative question.</a:t>
            </a:r>
            <a:endParaRPr lang="en-US" sz="1500" dirty="0"/>
          </a:p>
        </p:txBody>
      </p:sp>
      <p:sp>
        <p:nvSpPr>
          <p:cNvPr id="41" name="Shape 38"/>
          <p:cNvSpPr/>
          <p:nvPr/>
        </p:nvSpPr>
        <p:spPr>
          <a:xfrm>
            <a:off x="9144000" y="6583680"/>
            <a:ext cx="3675888" cy="1481328"/>
          </a:xfrm>
          <a:prstGeom prst="rect">
            <a:avLst/>
          </a:prstGeom>
          <a:solidFill>
            <a:srgbClr val="182D2C"/>
          </a:solidFill>
          <a:ln w="8890">
            <a:solidFill>
              <a:srgbClr val="735D6D"/>
            </a:solidFill>
            <a:prstDash val="solid"/>
          </a:ln>
        </p:spPr>
      </p:sp>
      <p:sp>
        <p:nvSpPr>
          <p:cNvPr id="42" name="Text 39"/>
          <p:cNvSpPr/>
          <p:nvPr/>
        </p:nvSpPr>
        <p:spPr>
          <a:xfrm>
            <a:off x="9326880"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9BC4A8"/>
                </a:solidFill>
                <a:latin typeface="Arial" pitchFamily="34" charset="0"/>
                <a:ea typeface="Arial" pitchFamily="34" charset="-122"/>
                <a:cs typeface="Arial" pitchFamily="34" charset="-120"/>
              </a:rPr>
              <a:t>03 / KEEP VISIBLE</a:t>
            </a:r>
            <a:endParaRPr lang="en-US" sz="700" dirty="0"/>
          </a:p>
        </p:txBody>
      </p:sp>
      <p:sp>
        <p:nvSpPr>
          <p:cNvPr id="43" name="Text 40"/>
          <p:cNvSpPr/>
          <p:nvPr/>
        </p:nvSpPr>
        <p:spPr>
          <a:xfrm>
            <a:off x="9326880"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Do not invent audience survey results.</a:t>
            </a:r>
            <a:endParaRPr lang="en-US" sz="1500" dirty="0"/>
          </a:p>
        </p:txBody>
      </p:sp>
      <p:sp>
        <p:nvSpPr>
          <p:cNvPr id="44" name="Shape 41"/>
          <p:cNvSpPr/>
          <p:nvPr/>
        </p:nvSpPr>
        <p:spPr>
          <a:xfrm>
            <a:off x="1499616" y="8211312"/>
            <a:ext cx="11338560" cy="0"/>
          </a:xfrm>
          <a:prstGeom prst="line">
            <a:avLst/>
          </a:prstGeom>
          <a:noFill/>
          <a:ln w="8890">
            <a:solidFill>
              <a:srgbClr val="796170"/>
            </a:solidFill>
            <a:prstDash val="solid"/>
          </a:ln>
        </p:spPr>
      </p:sp>
      <p:sp>
        <p:nvSpPr>
          <p:cNvPr id="45" name="Text 42"/>
          <p:cNvSpPr/>
          <p:nvPr/>
        </p:nvSpPr>
        <p:spPr>
          <a:xfrm>
            <a:off x="1499616" y="8339328"/>
            <a:ext cx="8229600" cy="118872"/>
          </a:xfrm>
          <a:prstGeom prst="rect">
            <a:avLst/>
          </a:prstGeom>
          <a:noFill/>
          <a:ln/>
        </p:spPr>
        <p:txBody>
          <a:bodyPr wrap="square" lIns="0" tIns="0" rIns="0" bIns="0" rtlCol="0" anchor="t">
            <a:normAutofit/>
          </a:bodyPr>
          <a:lstStyle/>
          <a:p>
            <a:pPr indent="0" marL="0">
              <a:buNone/>
            </a:pPr>
            <a:r>
              <a:rPr lang="en-US" sz="650" dirty="0">
                <a:solidFill>
                  <a:srgbClr val="C0AAB9"/>
                </a:solidFill>
                <a:latin typeface="Arial" pitchFamily="34" charset="0"/>
                <a:ea typeface="Arial" pitchFamily="34" charset="-122"/>
                <a:cs typeface="Arial" pitchFamily="34" charset="-120"/>
              </a:rPr>
              <a:t>FICTIONAL WRITING WORKSHOP / NOT A STAGING OR APPROVAL PLAN</a:t>
            </a:r>
            <a:endParaRPr lang="en-US" sz="650" dirty="0"/>
          </a:p>
        </p:txBody>
      </p:sp>
      <p:sp>
        <p:nvSpPr>
          <p:cNvPr id="46" name="Text 43"/>
          <p:cNvSpPr/>
          <p:nvPr/>
        </p:nvSpPr>
        <p:spPr>
          <a:xfrm>
            <a:off x="9729216" y="8339328"/>
            <a:ext cx="3108960" cy="118872"/>
          </a:xfrm>
          <a:prstGeom prst="rect">
            <a:avLst/>
          </a:prstGeom>
          <a:noFill/>
          <a:ln/>
        </p:spPr>
        <p:txBody>
          <a:bodyPr wrap="square" lIns="0" tIns="0" rIns="0" bIns="0" rtlCol="0" anchor="t">
            <a:normAutofit/>
          </a:bodyPr>
          <a:lstStyle/>
          <a:p>
            <a:pPr algn="r" indent="0" marL="0">
              <a:buNone/>
            </a:pPr>
            <a:r>
              <a:rPr lang="en-US" sz="650" dirty="0">
                <a:solidFill>
                  <a:srgbClr val="C0AAB9"/>
                </a:solidFill>
                <a:latin typeface="Arial" pitchFamily="34" charset="0"/>
                <a:ea typeface="Arial" pitchFamily="34" charset="-122"/>
                <a:cs typeface="Arial" pitchFamily="34" charset="-120"/>
              </a:rPr>
              <a:t>DRAFT / 14 OF 15 ARTWORKS / 21 OF 30</a:t>
            </a:r>
            <a:endParaRPr lang="en-US" sz="6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82D2C"/>
        </a:solidFill>
      </p:bgPr>
    </p:bg>
    <p:spTree>
      <p:nvGrpSpPr>
        <p:cNvPr id="1" name=""/>
        <p:cNvGrpSpPr/>
        <p:nvPr/>
      </p:nvGrpSpPr>
      <p:grpSpPr>
        <a:xfrm>
          <a:off x="0" y="0"/>
          <a:ext cx="0" cy="0"/>
          <a:chOff x="0" y="0"/>
          <a:chExt cx="0" cy="0"/>
        </a:xfrm>
      </p:grpSpPr>
      <p:sp>
        <p:nvSpPr>
          <p:cNvPr id="2" name="Shape 0"/>
          <p:cNvSpPr/>
          <p:nvPr/>
        </p:nvSpPr>
        <p:spPr>
          <a:xfrm>
            <a:off x="1243584" y="329184"/>
            <a:ext cx="0" cy="8119872"/>
          </a:xfrm>
          <a:prstGeom prst="line">
            <a:avLst/>
          </a:prstGeom>
          <a:noFill/>
          <a:ln w="10160">
            <a:solidFill>
              <a:srgbClr val="776072"/>
            </a:solidFill>
            <a:prstDash val="solid"/>
          </a:ln>
        </p:spPr>
      </p:sp>
      <p:sp>
        <p:nvSpPr>
          <p:cNvPr id="3" name="Text 1"/>
          <p:cNvSpPr/>
          <p:nvPr/>
        </p:nvSpPr>
        <p:spPr>
          <a:xfrm>
            <a:off x="393192" y="457200"/>
            <a:ext cx="685800" cy="457200"/>
          </a:xfrm>
          <a:prstGeom prst="rect">
            <a:avLst/>
          </a:prstGeom>
          <a:noFill/>
          <a:ln/>
        </p:spPr>
        <p:txBody>
          <a:bodyPr wrap="square" lIns="0" tIns="0" rIns="0" bIns="0" rtlCol="0" anchor="t">
            <a:normAutofit/>
          </a:bodyPr>
          <a:lstStyle/>
          <a:p>
            <a:pPr indent="0" marL="0">
              <a:buNone/>
            </a:pPr>
            <a:r>
              <a:rPr lang="en-US" sz="600" dirty="0">
                <a:solidFill>
                  <a:srgbClr val="C0AAB9"/>
                </a:solidFill>
                <a:latin typeface="Arial" pitchFamily="34" charset="0"/>
                <a:ea typeface="Arial" pitchFamily="34" charset="-122"/>
                <a:cs typeface="Arial" pitchFamily="34" charset="-120"/>
              </a:rPr>
              <a:t>DESIGN BUDDY</a:t>
            </a:r>
            <a:endParaRPr lang="en-US" sz="600" dirty="0"/>
          </a:p>
          <a:p>
            <a:pPr indent="0" marL="0">
              <a:buNone/>
            </a:pPr>
            <a:r>
              <a:rPr lang="en-US" sz="600" dirty="0">
                <a:solidFill>
                  <a:srgbClr val="C0AAB9"/>
                </a:solidFill>
                <a:latin typeface="Arial" pitchFamily="34" charset="0"/>
                <a:ea typeface="Arial" pitchFamily="34" charset="-122"/>
                <a:cs typeface="Arial" pitchFamily="34" charset="-120"/>
              </a:rPr>
              <a:t>CREATIVE EXERCISE</a:t>
            </a:r>
            <a:endParaRPr lang="en-US" sz="600" dirty="0"/>
          </a:p>
        </p:txBody>
      </p:sp>
      <p:sp>
        <p:nvSpPr>
          <p:cNvPr id="4" name="Text 2"/>
          <p:cNvSpPr/>
          <p:nvPr/>
        </p:nvSpPr>
        <p:spPr>
          <a:xfrm>
            <a:off x="502920" y="1920240"/>
            <a:ext cx="502920" cy="4480560"/>
          </a:xfrm>
          <a:prstGeom prst="rect">
            <a:avLst/>
          </a:prstGeom>
          <a:noFill/>
          <a:ln/>
        </p:spPr>
        <p:txBody>
          <a:bodyPr wrap="square" lIns="0" tIns="0" rIns="0" bIns="0" rtlCol="0" anchor="t">
            <a:normAutofit/>
          </a:bodyPr>
          <a:lstStyle/>
          <a:p>
            <a:pPr algn="ctr" indent="0" marL="0">
              <a:buNone/>
            </a:pPr>
            <a:r>
              <a:rPr lang="en-US" sz="2500" dirty="0">
                <a:solidFill>
                  <a:srgbClr val="9BC4A8"/>
                </a:solidFill>
                <a:latin typeface="Georgia" pitchFamily="34" charset="0"/>
                <a:ea typeface="Georgia" pitchFamily="34" charset="-122"/>
                <a:cs typeface="Georgia" pitchFamily="34" charset="-120"/>
              </a:rPr>
              <a:t>A</a:t>
            </a:r>
            <a:endParaRPr lang="en-US" sz="2500" dirty="0"/>
          </a:p>
          <a:p>
            <a:pPr algn="ctr" indent="0" marL="0">
              <a:buNone/>
            </a:pPr>
            <a:r>
              <a:rPr lang="en-US" sz="2500" dirty="0">
                <a:solidFill>
                  <a:srgbClr val="9BC4A8"/>
                </a:solidFill>
                <a:latin typeface="Georgia" pitchFamily="34" charset="0"/>
                <a:ea typeface="Georgia" pitchFamily="34" charset="-122"/>
                <a:cs typeface="Georgia" pitchFamily="34" charset="-120"/>
              </a:rPr>
              <a:t>F</a:t>
            </a:r>
            <a:endParaRPr lang="en-US" sz="2500" dirty="0"/>
          </a:p>
          <a:p>
            <a:pPr algn="ctr" indent="0" marL="0">
              <a:buNone/>
            </a:pPr>
            <a:r>
              <a:rPr lang="en-US" sz="2500" dirty="0">
                <a:solidFill>
                  <a:srgbClr val="9BC4A8"/>
                </a:solidFill>
                <a:latin typeface="Georgia" pitchFamily="34" charset="0"/>
                <a:ea typeface="Georgia" pitchFamily="34" charset="-122"/>
                <a:cs typeface="Georgia" pitchFamily="34" charset="-120"/>
              </a:rPr>
              <a:t>T</a:t>
            </a:r>
            <a:endParaRPr lang="en-US" sz="2500" dirty="0"/>
          </a:p>
          <a:p>
            <a:pPr algn="ctr" indent="0" marL="0">
              <a:buNone/>
            </a:pPr>
            <a:r>
              <a:rPr lang="en-US" sz="2500" dirty="0">
                <a:solidFill>
                  <a:srgbClr val="9BC4A8"/>
                </a:solidFill>
                <a:latin typeface="Georgia" pitchFamily="34" charset="0"/>
                <a:ea typeface="Georgia" pitchFamily="34" charset="-122"/>
                <a:cs typeface="Georgia" pitchFamily="34" charset="-120"/>
              </a:rPr>
              <a:t>E</a:t>
            </a:r>
            <a:endParaRPr lang="en-US" sz="2500" dirty="0"/>
          </a:p>
          <a:p>
            <a:pPr algn="ctr" indent="0" marL="0">
              <a:buNone/>
            </a:pPr>
            <a:r>
              <a:rPr lang="en-US" sz="2500" dirty="0">
                <a:solidFill>
                  <a:srgbClr val="9BC4A8"/>
                </a:solidFill>
                <a:latin typeface="Georgia" pitchFamily="34" charset="0"/>
                <a:ea typeface="Georgia" pitchFamily="34" charset="-122"/>
                <a:cs typeface="Georgia" pitchFamily="34" charset="-120"/>
              </a:rPr>
              <a:t>R</a:t>
            </a:r>
            <a:endParaRPr lang="en-US" sz="2500" dirty="0"/>
          </a:p>
          <a:p>
            <a:pPr algn="ctr" indent="0" marL="0">
              <a:buNone/>
            </a:pPr>
            <a:r>
              <a:rPr lang="en-US" sz="2500" dirty="0">
                <a:solidFill>
                  <a:srgbClr val="9BC4A8"/>
                </a:solidFill>
                <a:latin typeface="Georgia" pitchFamily="34" charset="0"/>
                <a:ea typeface="Georgia" pitchFamily="34" charset="-122"/>
                <a:cs typeface="Georgia" pitchFamily="34" charset="-120"/>
              </a:rPr>
              <a:t>G</a:t>
            </a:r>
            <a:endParaRPr lang="en-US" sz="2500" dirty="0"/>
          </a:p>
          <a:p>
            <a:pPr algn="ctr" indent="0" marL="0">
              <a:buNone/>
            </a:pPr>
            <a:r>
              <a:rPr lang="en-US" sz="2500" dirty="0">
                <a:solidFill>
                  <a:srgbClr val="9BC4A8"/>
                </a:solidFill>
                <a:latin typeface="Georgia" pitchFamily="34" charset="0"/>
                <a:ea typeface="Georgia" pitchFamily="34" charset="-122"/>
                <a:cs typeface="Georgia" pitchFamily="34" charset="-120"/>
              </a:rPr>
              <a:t>L</a:t>
            </a:r>
            <a:endParaRPr lang="en-US" sz="2500" dirty="0"/>
          </a:p>
          <a:p>
            <a:pPr algn="ctr" indent="0" marL="0">
              <a:buNone/>
            </a:pPr>
            <a:r>
              <a:rPr lang="en-US" sz="2500" dirty="0">
                <a:solidFill>
                  <a:srgbClr val="9BC4A8"/>
                </a:solidFill>
                <a:latin typeface="Georgia" pitchFamily="34" charset="0"/>
                <a:ea typeface="Georgia" pitchFamily="34" charset="-122"/>
                <a:cs typeface="Georgia" pitchFamily="34" charset="-120"/>
              </a:rPr>
              <a:t>O</a:t>
            </a:r>
            <a:endParaRPr lang="en-US" sz="2500" dirty="0"/>
          </a:p>
          <a:p>
            <a:pPr algn="ctr" indent="0" marL="0">
              <a:buNone/>
            </a:pPr>
            <a:r>
              <a:rPr lang="en-US" sz="2500" dirty="0">
                <a:solidFill>
                  <a:srgbClr val="9BC4A8"/>
                </a:solidFill>
                <a:latin typeface="Georgia" pitchFamily="34" charset="0"/>
                <a:ea typeface="Georgia" pitchFamily="34" charset="-122"/>
                <a:cs typeface="Georgia" pitchFamily="34" charset="-120"/>
              </a:rPr>
              <a:t>W</a:t>
            </a:r>
            <a:endParaRPr lang="en-US" sz="2500" dirty="0"/>
          </a:p>
        </p:txBody>
      </p:sp>
      <p:sp>
        <p:nvSpPr>
          <p:cNvPr id="5" name="Text 3"/>
          <p:cNvSpPr/>
          <p:nvPr/>
        </p:nvSpPr>
        <p:spPr>
          <a:xfrm>
            <a:off x="402336" y="7022592"/>
            <a:ext cx="731520" cy="594360"/>
          </a:xfrm>
          <a:prstGeom prst="rect">
            <a:avLst/>
          </a:prstGeom>
          <a:noFill/>
          <a:ln/>
        </p:spPr>
        <p:txBody>
          <a:bodyPr wrap="square" lIns="0" tIns="0" rIns="0" bIns="0" rtlCol="0" anchor="t">
            <a:normAutofit/>
          </a:bodyPr>
          <a:lstStyle/>
          <a:p>
            <a:pPr indent="0" marL="0">
              <a:buNone/>
            </a:pPr>
            <a:r>
              <a:rPr lang="en-US" sz="4200" dirty="0">
                <a:solidFill>
                  <a:srgbClr val="9BC4A8"/>
                </a:solidFill>
                <a:latin typeface="Georgia" pitchFamily="34" charset="0"/>
                <a:ea typeface="Georgia" pitchFamily="34" charset="-122"/>
                <a:cs typeface="Georgia" pitchFamily="34" charset="-120"/>
              </a:rPr>
              <a:t>22</a:t>
            </a:r>
            <a:endParaRPr lang="en-US" sz="4200" dirty="0"/>
          </a:p>
        </p:txBody>
      </p:sp>
      <p:sp>
        <p:nvSpPr>
          <p:cNvPr id="6" name="Text 4"/>
          <p:cNvSpPr/>
          <p:nvPr/>
        </p:nvSpPr>
        <p:spPr>
          <a:xfrm>
            <a:off x="402336" y="7818120"/>
            <a:ext cx="731520" cy="411480"/>
          </a:xfrm>
          <a:prstGeom prst="rect">
            <a:avLst/>
          </a:prstGeom>
          <a:noFill/>
          <a:ln/>
        </p:spPr>
        <p:txBody>
          <a:bodyPr wrap="square" lIns="0" tIns="0" rIns="0" bIns="0" rtlCol="0" anchor="t">
            <a:normAutofit/>
          </a:bodyPr>
          <a:lstStyle/>
          <a:p>
            <a:pPr indent="0" marL="0">
              <a:buNone/>
            </a:pPr>
            <a:r>
              <a:rPr lang="en-US" sz="700" dirty="0">
                <a:solidFill>
                  <a:srgbClr val="C0AAB9"/>
                </a:solidFill>
                <a:latin typeface="Arial" pitchFamily="34" charset="0"/>
                <a:ea typeface="Arial" pitchFamily="34" charset="-122"/>
                <a:cs typeface="Arial" pitchFamily="34" charset="-120"/>
              </a:rPr>
              <a:t>ACT 4 / 5</a:t>
            </a:r>
            <a:endParaRPr lang="en-US" sz="700" dirty="0"/>
          </a:p>
          <a:p>
            <a:pPr indent="0" marL="0">
              <a:buNone/>
            </a:pPr>
            <a:r>
              <a:rPr lang="en-US" sz="700" dirty="0">
                <a:solidFill>
                  <a:srgbClr val="C0AAB9"/>
                </a:solidFill>
                <a:latin typeface="Arial" pitchFamily="34" charset="0"/>
                <a:ea typeface="Arial" pitchFamily="34" charset="-122"/>
                <a:cs typeface="Arial" pitchFamily="34" charset="-120"/>
              </a:rPr>
              <a:t>BEAT 4 / 6</a:t>
            </a:r>
            <a:endParaRPr lang="en-US" sz="700" dirty="0"/>
          </a:p>
        </p:txBody>
      </p:sp>
      <p:sp>
        <p:nvSpPr>
          <p:cNvPr id="7" name="Text 5"/>
          <p:cNvSpPr/>
          <p:nvPr/>
        </p:nvSpPr>
        <p:spPr>
          <a:xfrm>
            <a:off x="1499616" y="347472"/>
            <a:ext cx="9144000" cy="164592"/>
          </a:xfrm>
          <a:prstGeom prst="rect">
            <a:avLst/>
          </a:prstGeom>
          <a:noFill/>
          <a:ln/>
        </p:spPr>
        <p:txBody>
          <a:bodyPr wrap="square" lIns="0" tIns="0" rIns="0" bIns="0" rtlCol="0" anchor="t">
            <a:normAutofit/>
          </a:bodyPr>
          <a:lstStyle/>
          <a:p>
            <a:pPr indent="0" marL="0">
              <a:buNone/>
            </a:pPr>
            <a:r>
              <a:rPr lang="en-US" sz="700" spc="120" kern="0" dirty="0">
                <a:solidFill>
                  <a:srgbClr val="9BC4A8"/>
                </a:solidFill>
                <a:latin typeface="Arial" pitchFamily="34" charset="0"/>
                <a:ea typeface="Arial" pitchFamily="34" charset="-122"/>
                <a:cs typeface="Arial" pitchFamily="34" charset="-120"/>
              </a:rPr>
              <a:t>ACT 4 / REVISION</a:t>
            </a:r>
            <a:endParaRPr lang="en-US" sz="700" dirty="0"/>
          </a:p>
        </p:txBody>
      </p:sp>
      <p:sp>
        <p:nvSpPr>
          <p:cNvPr id="8" name="Text 6"/>
          <p:cNvSpPr/>
          <p:nvPr/>
        </p:nvSpPr>
        <p:spPr>
          <a:xfrm>
            <a:off x="1499616" y="612648"/>
            <a:ext cx="9692640" cy="594360"/>
          </a:xfrm>
          <a:prstGeom prst="rect">
            <a:avLst/>
          </a:prstGeom>
          <a:noFill/>
          <a:ln/>
        </p:spPr>
        <p:txBody>
          <a:bodyPr wrap="square" lIns="0" tIns="0" rIns="0" bIns="0" rtlCol="0" anchor="t">
            <a:normAutofit/>
          </a:bodyPr>
          <a:lstStyle/>
          <a:p>
            <a:pPr indent="0" marL="0">
              <a:buNone/>
            </a:pPr>
            <a:r>
              <a:rPr lang="en-US" sz="2800" dirty="0">
                <a:solidFill>
                  <a:srgbClr val="ECDED6"/>
                </a:solidFill>
                <a:latin typeface="Georgia" pitchFamily="34" charset="0"/>
                <a:ea typeface="Georgia" pitchFamily="34" charset="-122"/>
                <a:cs typeface="Georgia" pitchFamily="34" charset="-120"/>
              </a:rPr>
              <a:t>Keep the unused possibility.</a:t>
            </a:r>
            <a:endParaRPr lang="en-US" sz="2800" dirty="0"/>
          </a:p>
        </p:txBody>
      </p:sp>
      <p:sp>
        <p:nvSpPr>
          <p:cNvPr id="9" name="Text 7"/>
          <p:cNvSpPr/>
          <p:nvPr/>
        </p:nvSpPr>
        <p:spPr>
          <a:xfrm>
            <a:off x="11475720" y="438912"/>
            <a:ext cx="1325880" cy="182880"/>
          </a:xfrm>
          <a:prstGeom prst="rect">
            <a:avLst/>
          </a:prstGeom>
          <a:noFill/>
          <a:ln/>
        </p:spPr>
        <p:txBody>
          <a:bodyPr wrap="square" lIns="0" tIns="0" rIns="0" bIns="0" rtlCol="0" anchor="t">
            <a:normAutofit/>
          </a:bodyPr>
          <a:lstStyle/>
          <a:p>
            <a:pPr algn="r" indent="0" marL="0">
              <a:buNone/>
            </a:pPr>
            <a:r>
              <a:rPr lang="en-US" sz="700" dirty="0">
                <a:solidFill>
                  <a:srgbClr val="9BC4A8"/>
                </a:solidFill>
                <a:latin typeface="Arial" pitchFamily="34" charset="0"/>
                <a:ea typeface="Arial" pitchFamily="34" charset="-122"/>
                <a:cs typeface="Arial" pitchFamily="34" charset="-120"/>
              </a:rPr>
              <a:t>LOCAL / UNMARKED</a:t>
            </a:r>
            <a:endParaRPr lang="en-US" sz="700" dirty="0"/>
          </a:p>
        </p:txBody>
      </p:sp>
      <p:sp>
        <p:nvSpPr>
          <p:cNvPr id="10" name="Shape 8"/>
          <p:cNvSpPr/>
          <p:nvPr/>
        </p:nvSpPr>
        <p:spPr>
          <a:xfrm>
            <a:off x="1499616" y="1307592"/>
            <a:ext cx="1819656" cy="448056"/>
          </a:xfrm>
          <a:prstGeom prst="rect">
            <a:avLst/>
          </a:prstGeom>
          <a:solidFill>
            <a:srgbClr val="182D2C"/>
          </a:solidFill>
          <a:ln w="8890">
            <a:solidFill>
              <a:srgbClr val="6D5768"/>
            </a:solidFill>
            <a:prstDash val="solid"/>
          </a:ln>
        </p:spPr>
      </p:sp>
      <p:sp>
        <p:nvSpPr>
          <p:cNvPr id="11" name="Text 9"/>
          <p:cNvSpPr/>
          <p:nvPr/>
        </p:nvSpPr>
        <p:spPr>
          <a:xfrm>
            <a:off x="1572768"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9BC4A8"/>
                </a:solidFill>
                <a:latin typeface="Georgia" pitchFamily="34" charset="0"/>
                <a:ea typeface="Georgia" pitchFamily="34" charset="-122"/>
                <a:cs typeface="Georgia" pitchFamily="34" charset="-120"/>
              </a:rPr>
              <a:t>1</a:t>
            </a:r>
            <a:endParaRPr lang="en-US" sz="1700" dirty="0"/>
          </a:p>
        </p:txBody>
      </p:sp>
      <p:sp>
        <p:nvSpPr>
          <p:cNvPr id="12" name="Text 10"/>
          <p:cNvSpPr/>
          <p:nvPr/>
        </p:nvSpPr>
        <p:spPr>
          <a:xfrm>
            <a:off x="1865376"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Read a draft as a draft.</a:t>
            </a:r>
            <a:endParaRPr lang="en-US" sz="700" dirty="0"/>
          </a:p>
        </p:txBody>
      </p:sp>
      <p:sp>
        <p:nvSpPr>
          <p:cNvPr id="13" name="Shape 11"/>
          <p:cNvSpPr/>
          <p:nvPr/>
        </p:nvSpPr>
        <p:spPr>
          <a:xfrm>
            <a:off x="3392424" y="1307592"/>
            <a:ext cx="1819656" cy="448056"/>
          </a:xfrm>
          <a:prstGeom prst="rect">
            <a:avLst/>
          </a:prstGeom>
          <a:solidFill>
            <a:srgbClr val="182D2C"/>
          </a:solidFill>
          <a:ln w="8890">
            <a:solidFill>
              <a:srgbClr val="6D5768"/>
            </a:solidFill>
            <a:prstDash val="solid"/>
          </a:ln>
        </p:spPr>
      </p:sp>
      <p:sp>
        <p:nvSpPr>
          <p:cNvPr id="14" name="Text 12"/>
          <p:cNvSpPr/>
          <p:nvPr/>
        </p:nvSpPr>
        <p:spPr>
          <a:xfrm>
            <a:off x="3465576"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9BC4A8"/>
                </a:solidFill>
                <a:latin typeface="Georgia" pitchFamily="34" charset="0"/>
                <a:ea typeface="Georgia" pitchFamily="34" charset="-122"/>
                <a:cs typeface="Georgia" pitchFamily="34" charset="-120"/>
              </a:rPr>
              <a:t>2</a:t>
            </a:r>
            <a:endParaRPr lang="en-US" sz="1700" dirty="0"/>
          </a:p>
        </p:txBody>
      </p:sp>
      <p:sp>
        <p:nvSpPr>
          <p:cNvPr id="15" name="Text 13"/>
          <p:cNvSpPr/>
          <p:nvPr/>
        </p:nvSpPr>
        <p:spPr>
          <a:xfrm>
            <a:off x="3758184"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Revise one thing at a time.</a:t>
            </a:r>
            <a:endParaRPr lang="en-US" sz="700" dirty="0"/>
          </a:p>
        </p:txBody>
      </p:sp>
      <p:sp>
        <p:nvSpPr>
          <p:cNvPr id="16" name="Shape 14"/>
          <p:cNvSpPr/>
          <p:nvPr/>
        </p:nvSpPr>
        <p:spPr>
          <a:xfrm>
            <a:off x="5285232" y="1307592"/>
            <a:ext cx="1819656" cy="448056"/>
          </a:xfrm>
          <a:prstGeom prst="rect">
            <a:avLst/>
          </a:prstGeom>
          <a:solidFill>
            <a:srgbClr val="182D2C"/>
          </a:solidFill>
          <a:ln w="8890">
            <a:solidFill>
              <a:srgbClr val="6D5768"/>
            </a:solidFill>
            <a:prstDash val="solid"/>
          </a:ln>
        </p:spPr>
      </p:sp>
      <p:sp>
        <p:nvSpPr>
          <p:cNvPr id="17" name="Text 15"/>
          <p:cNvSpPr/>
          <p:nvPr/>
        </p:nvSpPr>
        <p:spPr>
          <a:xfrm>
            <a:off x="5358384"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9BC4A8"/>
                </a:solidFill>
                <a:latin typeface="Georgia" pitchFamily="34" charset="0"/>
                <a:ea typeface="Georgia" pitchFamily="34" charset="-122"/>
                <a:cs typeface="Georgia" pitchFamily="34" charset="-120"/>
              </a:rPr>
              <a:t>3</a:t>
            </a:r>
            <a:endParaRPr lang="en-US" sz="1700" dirty="0"/>
          </a:p>
        </p:txBody>
      </p:sp>
      <p:sp>
        <p:nvSpPr>
          <p:cNvPr id="18" name="Text 16"/>
          <p:cNvSpPr/>
          <p:nvPr/>
        </p:nvSpPr>
        <p:spPr>
          <a:xfrm>
            <a:off x="5650992"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Distinguish taste from intention.</a:t>
            </a:r>
            <a:endParaRPr lang="en-US" sz="700" dirty="0"/>
          </a:p>
        </p:txBody>
      </p:sp>
      <p:sp>
        <p:nvSpPr>
          <p:cNvPr id="19" name="Shape 17"/>
          <p:cNvSpPr/>
          <p:nvPr/>
        </p:nvSpPr>
        <p:spPr>
          <a:xfrm>
            <a:off x="7178040" y="1307592"/>
            <a:ext cx="1819656" cy="448056"/>
          </a:xfrm>
          <a:prstGeom prst="rect">
            <a:avLst/>
          </a:prstGeom>
          <a:solidFill>
            <a:srgbClr val="182D2C"/>
          </a:solidFill>
          <a:ln w="8890">
            <a:solidFill>
              <a:srgbClr val="9BC4A8"/>
            </a:solidFill>
            <a:prstDash val="solid"/>
          </a:ln>
        </p:spPr>
      </p:sp>
      <p:sp>
        <p:nvSpPr>
          <p:cNvPr id="20" name="Text 18"/>
          <p:cNvSpPr/>
          <p:nvPr/>
        </p:nvSpPr>
        <p:spPr>
          <a:xfrm>
            <a:off x="7251192"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9BC4A8"/>
                </a:solidFill>
                <a:latin typeface="Georgia" pitchFamily="34" charset="0"/>
                <a:ea typeface="Georgia" pitchFamily="34" charset="-122"/>
                <a:cs typeface="Georgia" pitchFamily="34" charset="-120"/>
              </a:rPr>
              <a:t>4</a:t>
            </a:r>
            <a:endParaRPr lang="en-US" sz="1700" dirty="0"/>
          </a:p>
        </p:txBody>
      </p:sp>
      <p:sp>
        <p:nvSpPr>
          <p:cNvPr id="21" name="Text 19"/>
          <p:cNvSpPr/>
          <p:nvPr/>
        </p:nvSpPr>
        <p:spPr>
          <a:xfrm>
            <a:off x="7543800"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Keep the unused possibility.</a:t>
            </a:r>
            <a:endParaRPr lang="en-US" sz="700" dirty="0"/>
          </a:p>
        </p:txBody>
      </p:sp>
      <p:sp>
        <p:nvSpPr>
          <p:cNvPr id="22" name="Shape 20"/>
          <p:cNvSpPr/>
          <p:nvPr/>
        </p:nvSpPr>
        <p:spPr>
          <a:xfrm>
            <a:off x="9070848" y="1307592"/>
            <a:ext cx="1819656" cy="448056"/>
          </a:xfrm>
          <a:prstGeom prst="rect">
            <a:avLst/>
          </a:prstGeom>
          <a:solidFill>
            <a:srgbClr val="182D2C"/>
          </a:solidFill>
          <a:ln w="8890">
            <a:solidFill>
              <a:srgbClr val="6D5768"/>
            </a:solidFill>
            <a:prstDash val="solid"/>
          </a:ln>
        </p:spPr>
      </p:sp>
      <p:sp>
        <p:nvSpPr>
          <p:cNvPr id="23" name="Text 21"/>
          <p:cNvSpPr/>
          <p:nvPr/>
        </p:nvSpPr>
        <p:spPr>
          <a:xfrm>
            <a:off x="9144000"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9BC4A8"/>
                </a:solidFill>
                <a:latin typeface="Georgia" pitchFamily="34" charset="0"/>
                <a:ea typeface="Georgia" pitchFamily="34" charset="-122"/>
                <a:cs typeface="Georgia" pitchFamily="34" charset="-120"/>
              </a:rPr>
              <a:t>5</a:t>
            </a:r>
            <a:endParaRPr lang="en-US" sz="1700" dirty="0"/>
          </a:p>
        </p:txBody>
      </p:sp>
      <p:sp>
        <p:nvSpPr>
          <p:cNvPr id="24" name="Text 22"/>
          <p:cNvSpPr/>
          <p:nvPr/>
        </p:nvSpPr>
        <p:spPr>
          <a:xfrm>
            <a:off x="9436608"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Return to the story’s boundary.</a:t>
            </a:r>
            <a:endParaRPr lang="en-US" sz="700" dirty="0"/>
          </a:p>
        </p:txBody>
      </p:sp>
      <p:sp>
        <p:nvSpPr>
          <p:cNvPr id="25" name="Shape 23"/>
          <p:cNvSpPr/>
          <p:nvPr/>
        </p:nvSpPr>
        <p:spPr>
          <a:xfrm>
            <a:off x="10963656" y="1307592"/>
            <a:ext cx="1819656" cy="448056"/>
          </a:xfrm>
          <a:prstGeom prst="rect">
            <a:avLst/>
          </a:prstGeom>
          <a:solidFill>
            <a:srgbClr val="182D2C"/>
          </a:solidFill>
          <a:ln w="8890">
            <a:solidFill>
              <a:srgbClr val="6D5768"/>
            </a:solidFill>
            <a:prstDash val="solid"/>
          </a:ln>
        </p:spPr>
      </p:sp>
      <p:sp>
        <p:nvSpPr>
          <p:cNvPr id="26" name="Text 24"/>
          <p:cNvSpPr/>
          <p:nvPr/>
        </p:nvSpPr>
        <p:spPr>
          <a:xfrm>
            <a:off x="11036808"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9BC4A8"/>
                </a:solidFill>
                <a:latin typeface="Georgia" pitchFamily="34" charset="0"/>
                <a:ea typeface="Georgia" pitchFamily="34" charset="-122"/>
                <a:cs typeface="Georgia" pitchFamily="34" charset="-120"/>
              </a:rPr>
              <a:t>6</a:t>
            </a:r>
            <a:endParaRPr lang="en-US" sz="1700" dirty="0"/>
          </a:p>
        </p:txBody>
      </p:sp>
      <p:sp>
        <p:nvSpPr>
          <p:cNvPr id="27" name="Text 25"/>
          <p:cNvSpPr/>
          <p:nvPr/>
        </p:nvSpPr>
        <p:spPr>
          <a:xfrm>
            <a:off x="11329416"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Choose a revision question.</a:t>
            </a:r>
            <a:endParaRPr lang="en-US" sz="700" dirty="0"/>
          </a:p>
        </p:txBody>
      </p:sp>
      <p:pic>
        <p:nvPicPr>
          <p:cNvPr id="28" name="Image 0" descr="/home/user/design-buddy/design-buddy-home/public/atelier/afterglow/images/11.jpg">    </p:cNvPr>
          <p:cNvPicPr>
            <a:picLocks noChangeAspect="1"/>
          </p:cNvPicPr>
          <p:nvPr/>
        </p:nvPicPr>
        <p:blipFill>
          <a:blip r:embed="rId1"/>
          <a:srcRect l="0" r="0" t="0" b="0"/>
          <a:stretch/>
        </p:blipFill>
        <p:spPr>
          <a:xfrm>
            <a:off x="1499616" y="2066544"/>
            <a:ext cx="6949440" cy="3840480"/>
          </a:xfrm>
          <a:prstGeom prst="rect">
            <a:avLst/>
          </a:prstGeom>
        </p:spPr>
      </p:pic>
      <p:sp>
        <p:nvSpPr>
          <p:cNvPr id="29" name="Text 26"/>
          <p:cNvSpPr/>
          <p:nvPr/>
        </p:nvSpPr>
        <p:spPr>
          <a:xfrm>
            <a:off x="1499616" y="6007608"/>
            <a:ext cx="6949440" cy="164592"/>
          </a:xfrm>
          <a:prstGeom prst="rect">
            <a:avLst/>
          </a:prstGeom>
          <a:noFill/>
          <a:ln/>
        </p:spPr>
        <p:txBody>
          <a:bodyPr wrap="square" lIns="0" tIns="0" rIns="0" bIns="0" rtlCol="0" anchor="t">
            <a:normAutofit/>
          </a:bodyPr>
          <a:lstStyle/>
          <a:p>
            <a:pPr indent="0" marL="0">
              <a:buNone/>
            </a:pPr>
            <a:r>
              <a:rPr lang="en-US" sz="650" dirty="0">
                <a:solidFill>
                  <a:srgbClr val="C0AAB9"/>
                </a:solidFill>
                <a:latin typeface="Arial" pitchFamily="34" charset="0"/>
                <a:ea typeface="Arial" pitchFamily="34" charset="-122"/>
                <a:cs typeface="Arial" pitchFamily="34" charset="-120"/>
              </a:rPr>
              <a:t>Watercolour 11 / invented setting and adults / not production evidence</a:t>
            </a:r>
            <a:endParaRPr lang="en-US" sz="650" dirty="0"/>
          </a:p>
        </p:txBody>
      </p:sp>
      <p:sp>
        <p:nvSpPr>
          <p:cNvPr id="30" name="Text 27"/>
          <p:cNvSpPr/>
          <p:nvPr/>
        </p:nvSpPr>
        <p:spPr>
          <a:xfrm>
            <a:off x="8705088" y="2139696"/>
            <a:ext cx="4133088" cy="164592"/>
          </a:xfrm>
          <a:prstGeom prst="rect">
            <a:avLst/>
          </a:prstGeom>
          <a:noFill/>
          <a:ln/>
        </p:spPr>
        <p:txBody>
          <a:bodyPr wrap="square" lIns="0" tIns="0" rIns="0" bIns="0" rtlCol="0" anchor="t">
            <a:normAutofit/>
          </a:bodyPr>
          <a:lstStyle/>
          <a:p>
            <a:pPr indent="0" marL="0">
              <a:buNone/>
            </a:pPr>
            <a:r>
              <a:rPr lang="en-US" sz="700" spc="110" kern="0" dirty="0">
                <a:solidFill>
                  <a:srgbClr val="9BC4A8"/>
                </a:solidFill>
                <a:latin typeface="Arial" pitchFamily="34" charset="0"/>
                <a:ea typeface="Arial" pitchFamily="34" charset="-122"/>
                <a:cs typeface="Arial" pitchFamily="34" charset="-120"/>
              </a:rPr>
              <a:t>STORY INTENTION</a:t>
            </a:r>
            <a:endParaRPr lang="en-US" sz="700" dirty="0"/>
          </a:p>
        </p:txBody>
      </p:sp>
      <p:sp>
        <p:nvSpPr>
          <p:cNvPr id="31" name="Text 28"/>
          <p:cNvSpPr/>
          <p:nvPr/>
        </p:nvSpPr>
        <p:spPr>
          <a:xfrm>
            <a:off x="8705088" y="2514600"/>
            <a:ext cx="4133088" cy="1828800"/>
          </a:xfrm>
          <a:prstGeom prst="rect">
            <a:avLst/>
          </a:prstGeom>
          <a:noFill/>
          <a:ln/>
        </p:spPr>
        <p:txBody>
          <a:bodyPr wrap="square" lIns="0" tIns="0" rIns="0" bIns="0" rtlCol="0" anchor="t">
            <a:normAutofit/>
          </a:bodyPr>
          <a:lstStyle/>
          <a:p>
            <a:pPr indent="0" marL="0">
              <a:buNone/>
            </a:pPr>
            <a:r>
              <a:rPr lang="en-US" sz="1575" dirty="0">
                <a:solidFill>
                  <a:srgbClr val="ECDED6"/>
                </a:solidFill>
                <a:latin typeface="Georgia" pitchFamily="34" charset="0"/>
                <a:ea typeface="Georgia" pitchFamily="34" charset="-122"/>
                <a:cs typeface="Georgia" pitchFamily="34" charset="-120"/>
              </a:rPr>
              <a:t>A discarded line can remain useful as an alternative. Park it rather than rewriting the project’s history as though only one version existed. Browser-local marks are a convenience, not a version-control system.</a:t>
            </a:r>
            <a:endParaRPr lang="en-US" sz="1575" dirty="0"/>
          </a:p>
        </p:txBody>
      </p:sp>
      <p:sp>
        <p:nvSpPr>
          <p:cNvPr id="32" name="Text 29"/>
          <p:cNvSpPr/>
          <p:nvPr/>
        </p:nvSpPr>
        <p:spPr>
          <a:xfrm>
            <a:off x="8705088" y="4572000"/>
            <a:ext cx="4133088" cy="164592"/>
          </a:xfrm>
          <a:prstGeom prst="rect">
            <a:avLst/>
          </a:prstGeom>
          <a:noFill/>
          <a:ln/>
        </p:spPr>
        <p:txBody>
          <a:bodyPr wrap="square" lIns="0" tIns="0" rIns="0" bIns="0" rtlCol="0" anchor="t">
            <a:normAutofit/>
          </a:bodyPr>
          <a:lstStyle/>
          <a:p>
            <a:pPr indent="0" marL="0">
              <a:buNone/>
            </a:pPr>
            <a:r>
              <a:rPr lang="en-US" sz="700" spc="110" kern="0" dirty="0">
                <a:solidFill>
                  <a:srgbClr val="9BC4A8"/>
                </a:solidFill>
                <a:latin typeface="Arial" pitchFamily="34" charset="0"/>
                <a:ea typeface="Arial" pitchFamily="34" charset="-122"/>
                <a:cs typeface="Arial" pitchFamily="34" charset="-120"/>
              </a:rPr>
              <a:t>LEAVE A QUESTION</a:t>
            </a:r>
            <a:endParaRPr lang="en-US" sz="700" dirty="0"/>
          </a:p>
        </p:txBody>
      </p:sp>
      <p:sp>
        <p:nvSpPr>
          <p:cNvPr id="33" name="Text 30"/>
          <p:cNvSpPr/>
          <p:nvPr/>
        </p:nvSpPr>
        <p:spPr>
          <a:xfrm>
            <a:off x="8705088" y="4910328"/>
            <a:ext cx="4133088" cy="822960"/>
          </a:xfrm>
          <a:prstGeom prst="rect">
            <a:avLst/>
          </a:prstGeom>
          <a:noFill/>
          <a:ln/>
        </p:spPr>
        <p:txBody>
          <a:bodyPr wrap="square" lIns="0" tIns="0" rIns="0" bIns="0" rtlCol="0" anchor="t">
            <a:normAutofit/>
          </a:bodyPr>
          <a:lstStyle/>
          <a:p>
            <a:pPr indent="0" marL="0">
              <a:buNone/>
            </a:pPr>
            <a:r>
              <a:rPr lang="en-US" sz="1875" i="1" dirty="0">
                <a:solidFill>
                  <a:srgbClr val="9BC4A8"/>
                </a:solidFill>
                <a:latin typeface="Georgia" pitchFamily="34" charset="0"/>
                <a:ea typeface="Georgia" pitchFamily="34" charset="-122"/>
                <a:cs typeface="Georgia" pitchFamily="34" charset="-120"/>
              </a:rPr>
              <a:t>What future question might make this version useful again?</a:t>
            </a:r>
            <a:endParaRPr lang="en-US" sz="1875" dirty="0"/>
          </a:p>
        </p:txBody>
      </p:sp>
      <p:sp>
        <p:nvSpPr>
          <p:cNvPr id="34" name="Text 31"/>
          <p:cNvSpPr/>
          <p:nvPr/>
        </p:nvSpPr>
        <p:spPr>
          <a:xfrm>
            <a:off x="8705088" y="5806440"/>
            <a:ext cx="4133088" cy="292608"/>
          </a:xfrm>
          <a:prstGeom prst="rect">
            <a:avLst/>
          </a:prstGeom>
          <a:noFill/>
          <a:ln/>
        </p:spPr>
        <p:txBody>
          <a:bodyPr wrap="square" lIns="0" tIns="0" rIns="0" bIns="0" rtlCol="0" anchor="t">
            <a:normAutofit/>
          </a:bodyPr>
          <a:lstStyle/>
          <a:p>
            <a:pPr indent="0" marL="0">
              <a:buNone/>
            </a:pPr>
            <a:r>
              <a:rPr lang="en-US" sz="700" dirty="0">
                <a:solidFill>
                  <a:srgbClr val="C0AAB9"/>
                </a:solidFill>
                <a:latin typeface="Arial" pitchFamily="34" charset="0"/>
                <a:ea typeface="Arial" pitchFamily="34" charset="-122"/>
                <a:cs typeface="Arial" pitchFamily="34" charset="-120"/>
              </a:rPr>
              <a:t>Beat order is not timing, a technical call or a show schedule.</a:t>
            </a:r>
            <a:endParaRPr lang="en-US" sz="700" dirty="0"/>
          </a:p>
        </p:txBody>
      </p:sp>
      <p:sp>
        <p:nvSpPr>
          <p:cNvPr id="35" name="Shape 32"/>
          <p:cNvSpPr/>
          <p:nvPr/>
        </p:nvSpPr>
        <p:spPr>
          <a:xfrm>
            <a:off x="1499616" y="6583680"/>
            <a:ext cx="3675888" cy="1481328"/>
          </a:xfrm>
          <a:prstGeom prst="rect">
            <a:avLst/>
          </a:prstGeom>
          <a:solidFill>
            <a:srgbClr val="182D2C"/>
          </a:solidFill>
          <a:ln w="8890">
            <a:solidFill>
              <a:srgbClr val="735D6D"/>
            </a:solidFill>
            <a:prstDash val="solid"/>
          </a:ln>
        </p:spPr>
      </p:sp>
      <p:sp>
        <p:nvSpPr>
          <p:cNvPr id="36" name="Text 33"/>
          <p:cNvSpPr/>
          <p:nvPr/>
        </p:nvSpPr>
        <p:spPr>
          <a:xfrm>
            <a:off x="1682496"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9BC4A8"/>
                </a:solidFill>
                <a:latin typeface="Arial" pitchFamily="34" charset="0"/>
                <a:ea typeface="Arial" pitchFamily="34" charset="-122"/>
                <a:cs typeface="Arial" pitchFamily="34" charset="-120"/>
              </a:rPr>
              <a:t>01 / NOTICE</a:t>
            </a:r>
            <a:endParaRPr lang="en-US" sz="700" dirty="0"/>
          </a:p>
        </p:txBody>
      </p:sp>
      <p:sp>
        <p:nvSpPr>
          <p:cNvPr id="37" name="Text 34"/>
          <p:cNvSpPr/>
          <p:nvPr/>
        </p:nvSpPr>
        <p:spPr>
          <a:xfrm>
            <a:off x="1682496"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An unused draft is not necessarily a failed draft.</a:t>
            </a:r>
            <a:endParaRPr lang="en-US" sz="1500" dirty="0"/>
          </a:p>
        </p:txBody>
      </p:sp>
      <p:sp>
        <p:nvSpPr>
          <p:cNvPr id="38" name="Shape 35"/>
          <p:cNvSpPr/>
          <p:nvPr/>
        </p:nvSpPr>
        <p:spPr>
          <a:xfrm>
            <a:off x="5321808" y="6583680"/>
            <a:ext cx="3675888" cy="1481328"/>
          </a:xfrm>
          <a:prstGeom prst="rect">
            <a:avLst/>
          </a:prstGeom>
          <a:solidFill>
            <a:srgbClr val="182D2C"/>
          </a:solidFill>
          <a:ln w="8890">
            <a:solidFill>
              <a:srgbClr val="735D6D"/>
            </a:solidFill>
            <a:prstDash val="solid"/>
          </a:ln>
        </p:spPr>
      </p:sp>
      <p:sp>
        <p:nvSpPr>
          <p:cNvPr id="39" name="Text 36"/>
          <p:cNvSpPr/>
          <p:nvPr/>
        </p:nvSpPr>
        <p:spPr>
          <a:xfrm>
            <a:off x="5504688"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9BC4A8"/>
                </a:solidFill>
                <a:latin typeface="Arial" pitchFamily="34" charset="0"/>
                <a:ea typeface="Arial" pitchFamily="34" charset="-122"/>
                <a:cs typeface="Arial" pitchFamily="34" charset="-120"/>
              </a:rPr>
              <a:t>02 / TRY IN WORDS</a:t>
            </a:r>
            <a:endParaRPr lang="en-US" sz="700" dirty="0"/>
          </a:p>
        </p:txBody>
      </p:sp>
      <p:sp>
        <p:nvSpPr>
          <p:cNvPr id="40" name="Text 37"/>
          <p:cNvSpPr/>
          <p:nvPr/>
        </p:nvSpPr>
        <p:spPr>
          <a:xfrm>
            <a:off x="5504688"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Write a brief label explaining why you parked an idea.</a:t>
            </a:r>
            <a:endParaRPr lang="en-US" sz="1500" dirty="0"/>
          </a:p>
        </p:txBody>
      </p:sp>
      <p:sp>
        <p:nvSpPr>
          <p:cNvPr id="41" name="Shape 38"/>
          <p:cNvSpPr/>
          <p:nvPr/>
        </p:nvSpPr>
        <p:spPr>
          <a:xfrm>
            <a:off x="9144000" y="6583680"/>
            <a:ext cx="3675888" cy="1481328"/>
          </a:xfrm>
          <a:prstGeom prst="rect">
            <a:avLst/>
          </a:prstGeom>
          <a:solidFill>
            <a:srgbClr val="182D2C"/>
          </a:solidFill>
          <a:ln w="8890">
            <a:solidFill>
              <a:srgbClr val="735D6D"/>
            </a:solidFill>
            <a:prstDash val="solid"/>
          </a:ln>
        </p:spPr>
      </p:sp>
      <p:sp>
        <p:nvSpPr>
          <p:cNvPr id="42" name="Text 39"/>
          <p:cNvSpPr/>
          <p:nvPr/>
        </p:nvSpPr>
        <p:spPr>
          <a:xfrm>
            <a:off x="9326880"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9BC4A8"/>
                </a:solidFill>
                <a:latin typeface="Arial" pitchFamily="34" charset="0"/>
                <a:ea typeface="Arial" pitchFamily="34" charset="-122"/>
                <a:cs typeface="Arial" pitchFamily="34" charset="-120"/>
              </a:rPr>
              <a:t>03 / KEEP VISIBLE</a:t>
            </a:r>
            <a:endParaRPr lang="en-US" sz="700" dirty="0"/>
          </a:p>
        </p:txBody>
      </p:sp>
      <p:sp>
        <p:nvSpPr>
          <p:cNvPr id="43" name="Text 40"/>
          <p:cNvSpPr/>
          <p:nvPr/>
        </p:nvSpPr>
        <p:spPr>
          <a:xfrm>
            <a:off x="9326880"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Export your record before clearing local storage.</a:t>
            </a:r>
            <a:endParaRPr lang="en-US" sz="1500" dirty="0"/>
          </a:p>
        </p:txBody>
      </p:sp>
      <p:sp>
        <p:nvSpPr>
          <p:cNvPr id="44" name="Shape 41"/>
          <p:cNvSpPr/>
          <p:nvPr/>
        </p:nvSpPr>
        <p:spPr>
          <a:xfrm>
            <a:off x="1499616" y="8211312"/>
            <a:ext cx="11338560" cy="0"/>
          </a:xfrm>
          <a:prstGeom prst="line">
            <a:avLst/>
          </a:prstGeom>
          <a:noFill/>
          <a:ln w="8890">
            <a:solidFill>
              <a:srgbClr val="796170"/>
            </a:solidFill>
            <a:prstDash val="solid"/>
          </a:ln>
        </p:spPr>
      </p:sp>
      <p:sp>
        <p:nvSpPr>
          <p:cNvPr id="45" name="Text 42"/>
          <p:cNvSpPr/>
          <p:nvPr/>
        </p:nvSpPr>
        <p:spPr>
          <a:xfrm>
            <a:off x="1499616" y="8339328"/>
            <a:ext cx="8229600" cy="118872"/>
          </a:xfrm>
          <a:prstGeom prst="rect">
            <a:avLst/>
          </a:prstGeom>
          <a:noFill/>
          <a:ln/>
        </p:spPr>
        <p:txBody>
          <a:bodyPr wrap="square" lIns="0" tIns="0" rIns="0" bIns="0" rtlCol="0" anchor="t">
            <a:normAutofit/>
          </a:bodyPr>
          <a:lstStyle/>
          <a:p>
            <a:pPr indent="0" marL="0">
              <a:buNone/>
            </a:pPr>
            <a:r>
              <a:rPr lang="en-US" sz="650" dirty="0">
                <a:solidFill>
                  <a:srgbClr val="C0AAB9"/>
                </a:solidFill>
                <a:latin typeface="Arial" pitchFamily="34" charset="0"/>
                <a:ea typeface="Arial" pitchFamily="34" charset="-122"/>
                <a:cs typeface="Arial" pitchFamily="34" charset="-120"/>
              </a:rPr>
              <a:t>FICTIONAL WRITING WORKSHOP / NOT A STAGING OR APPROVAL PLAN</a:t>
            </a:r>
            <a:endParaRPr lang="en-US" sz="650" dirty="0"/>
          </a:p>
        </p:txBody>
      </p:sp>
      <p:sp>
        <p:nvSpPr>
          <p:cNvPr id="46" name="Text 43"/>
          <p:cNvSpPr/>
          <p:nvPr/>
        </p:nvSpPr>
        <p:spPr>
          <a:xfrm>
            <a:off x="9729216" y="8339328"/>
            <a:ext cx="3108960" cy="118872"/>
          </a:xfrm>
          <a:prstGeom prst="rect">
            <a:avLst/>
          </a:prstGeom>
          <a:noFill/>
          <a:ln/>
        </p:spPr>
        <p:txBody>
          <a:bodyPr wrap="square" lIns="0" tIns="0" rIns="0" bIns="0" rtlCol="0" anchor="t">
            <a:normAutofit/>
          </a:bodyPr>
          <a:lstStyle/>
          <a:p>
            <a:pPr algn="r" indent="0" marL="0">
              <a:buNone/>
            </a:pPr>
            <a:r>
              <a:rPr lang="en-US" sz="650" dirty="0">
                <a:solidFill>
                  <a:srgbClr val="C0AAB9"/>
                </a:solidFill>
                <a:latin typeface="Arial" pitchFamily="34" charset="0"/>
                <a:ea typeface="Arial" pitchFamily="34" charset="-122"/>
                <a:cs typeface="Arial" pitchFamily="34" charset="-120"/>
              </a:rPr>
              <a:t>DRAFT / 14 OF 15 ARTWORKS / 22 OF 30</a:t>
            </a:r>
            <a:endParaRPr lang="en-US" sz="6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82D2C"/>
        </a:solidFill>
      </p:bgPr>
    </p:bg>
    <p:spTree>
      <p:nvGrpSpPr>
        <p:cNvPr id="1" name=""/>
        <p:cNvGrpSpPr/>
        <p:nvPr/>
      </p:nvGrpSpPr>
      <p:grpSpPr>
        <a:xfrm>
          <a:off x="0" y="0"/>
          <a:ext cx="0" cy="0"/>
          <a:chOff x="0" y="0"/>
          <a:chExt cx="0" cy="0"/>
        </a:xfrm>
      </p:grpSpPr>
      <p:sp>
        <p:nvSpPr>
          <p:cNvPr id="2" name="Shape 0"/>
          <p:cNvSpPr/>
          <p:nvPr/>
        </p:nvSpPr>
        <p:spPr>
          <a:xfrm>
            <a:off x="1243584" y="329184"/>
            <a:ext cx="0" cy="8119872"/>
          </a:xfrm>
          <a:prstGeom prst="line">
            <a:avLst/>
          </a:prstGeom>
          <a:noFill/>
          <a:ln w="10160">
            <a:solidFill>
              <a:srgbClr val="776072"/>
            </a:solidFill>
            <a:prstDash val="solid"/>
          </a:ln>
        </p:spPr>
      </p:sp>
      <p:sp>
        <p:nvSpPr>
          <p:cNvPr id="3" name="Text 1"/>
          <p:cNvSpPr/>
          <p:nvPr/>
        </p:nvSpPr>
        <p:spPr>
          <a:xfrm>
            <a:off x="393192" y="457200"/>
            <a:ext cx="685800" cy="457200"/>
          </a:xfrm>
          <a:prstGeom prst="rect">
            <a:avLst/>
          </a:prstGeom>
          <a:noFill/>
          <a:ln/>
        </p:spPr>
        <p:txBody>
          <a:bodyPr wrap="square" lIns="0" tIns="0" rIns="0" bIns="0" rtlCol="0" anchor="t">
            <a:normAutofit/>
          </a:bodyPr>
          <a:lstStyle/>
          <a:p>
            <a:pPr indent="0" marL="0">
              <a:buNone/>
            </a:pPr>
            <a:r>
              <a:rPr lang="en-US" sz="600" dirty="0">
                <a:solidFill>
                  <a:srgbClr val="C0AAB9"/>
                </a:solidFill>
                <a:latin typeface="Arial" pitchFamily="34" charset="0"/>
                <a:ea typeface="Arial" pitchFamily="34" charset="-122"/>
                <a:cs typeface="Arial" pitchFamily="34" charset="-120"/>
              </a:rPr>
              <a:t>DESIGN BUDDY</a:t>
            </a:r>
            <a:endParaRPr lang="en-US" sz="600" dirty="0"/>
          </a:p>
          <a:p>
            <a:pPr indent="0" marL="0">
              <a:buNone/>
            </a:pPr>
            <a:r>
              <a:rPr lang="en-US" sz="600" dirty="0">
                <a:solidFill>
                  <a:srgbClr val="C0AAB9"/>
                </a:solidFill>
                <a:latin typeface="Arial" pitchFamily="34" charset="0"/>
                <a:ea typeface="Arial" pitchFamily="34" charset="-122"/>
                <a:cs typeface="Arial" pitchFamily="34" charset="-120"/>
              </a:rPr>
              <a:t>CREATIVE EXERCISE</a:t>
            </a:r>
            <a:endParaRPr lang="en-US" sz="600" dirty="0"/>
          </a:p>
        </p:txBody>
      </p:sp>
      <p:sp>
        <p:nvSpPr>
          <p:cNvPr id="4" name="Text 2"/>
          <p:cNvSpPr/>
          <p:nvPr/>
        </p:nvSpPr>
        <p:spPr>
          <a:xfrm>
            <a:off x="502920" y="1920240"/>
            <a:ext cx="502920" cy="4480560"/>
          </a:xfrm>
          <a:prstGeom prst="rect">
            <a:avLst/>
          </a:prstGeom>
          <a:noFill/>
          <a:ln/>
        </p:spPr>
        <p:txBody>
          <a:bodyPr wrap="square" lIns="0" tIns="0" rIns="0" bIns="0" rtlCol="0" anchor="t">
            <a:normAutofit/>
          </a:bodyPr>
          <a:lstStyle/>
          <a:p>
            <a:pPr algn="ctr" indent="0" marL="0">
              <a:buNone/>
            </a:pPr>
            <a:r>
              <a:rPr lang="en-US" sz="2500" dirty="0">
                <a:solidFill>
                  <a:srgbClr val="9BC4A8"/>
                </a:solidFill>
                <a:latin typeface="Georgia" pitchFamily="34" charset="0"/>
                <a:ea typeface="Georgia" pitchFamily="34" charset="-122"/>
                <a:cs typeface="Georgia" pitchFamily="34" charset="-120"/>
              </a:rPr>
              <a:t>A</a:t>
            </a:r>
            <a:endParaRPr lang="en-US" sz="2500" dirty="0"/>
          </a:p>
          <a:p>
            <a:pPr algn="ctr" indent="0" marL="0">
              <a:buNone/>
            </a:pPr>
            <a:r>
              <a:rPr lang="en-US" sz="2500" dirty="0">
                <a:solidFill>
                  <a:srgbClr val="9BC4A8"/>
                </a:solidFill>
                <a:latin typeface="Georgia" pitchFamily="34" charset="0"/>
                <a:ea typeface="Georgia" pitchFamily="34" charset="-122"/>
                <a:cs typeface="Georgia" pitchFamily="34" charset="-120"/>
              </a:rPr>
              <a:t>F</a:t>
            </a:r>
            <a:endParaRPr lang="en-US" sz="2500" dirty="0"/>
          </a:p>
          <a:p>
            <a:pPr algn="ctr" indent="0" marL="0">
              <a:buNone/>
            </a:pPr>
            <a:r>
              <a:rPr lang="en-US" sz="2500" dirty="0">
                <a:solidFill>
                  <a:srgbClr val="9BC4A8"/>
                </a:solidFill>
                <a:latin typeface="Georgia" pitchFamily="34" charset="0"/>
                <a:ea typeface="Georgia" pitchFamily="34" charset="-122"/>
                <a:cs typeface="Georgia" pitchFamily="34" charset="-120"/>
              </a:rPr>
              <a:t>T</a:t>
            </a:r>
            <a:endParaRPr lang="en-US" sz="2500" dirty="0"/>
          </a:p>
          <a:p>
            <a:pPr algn="ctr" indent="0" marL="0">
              <a:buNone/>
            </a:pPr>
            <a:r>
              <a:rPr lang="en-US" sz="2500" dirty="0">
                <a:solidFill>
                  <a:srgbClr val="9BC4A8"/>
                </a:solidFill>
                <a:latin typeface="Georgia" pitchFamily="34" charset="0"/>
                <a:ea typeface="Georgia" pitchFamily="34" charset="-122"/>
                <a:cs typeface="Georgia" pitchFamily="34" charset="-120"/>
              </a:rPr>
              <a:t>E</a:t>
            </a:r>
            <a:endParaRPr lang="en-US" sz="2500" dirty="0"/>
          </a:p>
          <a:p>
            <a:pPr algn="ctr" indent="0" marL="0">
              <a:buNone/>
            </a:pPr>
            <a:r>
              <a:rPr lang="en-US" sz="2500" dirty="0">
                <a:solidFill>
                  <a:srgbClr val="9BC4A8"/>
                </a:solidFill>
                <a:latin typeface="Georgia" pitchFamily="34" charset="0"/>
                <a:ea typeface="Georgia" pitchFamily="34" charset="-122"/>
                <a:cs typeface="Georgia" pitchFamily="34" charset="-120"/>
              </a:rPr>
              <a:t>R</a:t>
            </a:r>
            <a:endParaRPr lang="en-US" sz="2500" dirty="0"/>
          </a:p>
          <a:p>
            <a:pPr algn="ctr" indent="0" marL="0">
              <a:buNone/>
            </a:pPr>
            <a:r>
              <a:rPr lang="en-US" sz="2500" dirty="0">
                <a:solidFill>
                  <a:srgbClr val="9BC4A8"/>
                </a:solidFill>
                <a:latin typeface="Georgia" pitchFamily="34" charset="0"/>
                <a:ea typeface="Georgia" pitchFamily="34" charset="-122"/>
                <a:cs typeface="Georgia" pitchFamily="34" charset="-120"/>
              </a:rPr>
              <a:t>G</a:t>
            </a:r>
            <a:endParaRPr lang="en-US" sz="2500" dirty="0"/>
          </a:p>
          <a:p>
            <a:pPr algn="ctr" indent="0" marL="0">
              <a:buNone/>
            </a:pPr>
            <a:r>
              <a:rPr lang="en-US" sz="2500" dirty="0">
                <a:solidFill>
                  <a:srgbClr val="9BC4A8"/>
                </a:solidFill>
                <a:latin typeface="Georgia" pitchFamily="34" charset="0"/>
                <a:ea typeface="Georgia" pitchFamily="34" charset="-122"/>
                <a:cs typeface="Georgia" pitchFamily="34" charset="-120"/>
              </a:rPr>
              <a:t>L</a:t>
            </a:r>
            <a:endParaRPr lang="en-US" sz="2500" dirty="0"/>
          </a:p>
          <a:p>
            <a:pPr algn="ctr" indent="0" marL="0">
              <a:buNone/>
            </a:pPr>
            <a:r>
              <a:rPr lang="en-US" sz="2500" dirty="0">
                <a:solidFill>
                  <a:srgbClr val="9BC4A8"/>
                </a:solidFill>
                <a:latin typeface="Georgia" pitchFamily="34" charset="0"/>
                <a:ea typeface="Georgia" pitchFamily="34" charset="-122"/>
                <a:cs typeface="Georgia" pitchFamily="34" charset="-120"/>
              </a:rPr>
              <a:t>O</a:t>
            </a:r>
            <a:endParaRPr lang="en-US" sz="2500" dirty="0"/>
          </a:p>
          <a:p>
            <a:pPr algn="ctr" indent="0" marL="0">
              <a:buNone/>
            </a:pPr>
            <a:r>
              <a:rPr lang="en-US" sz="2500" dirty="0">
                <a:solidFill>
                  <a:srgbClr val="9BC4A8"/>
                </a:solidFill>
                <a:latin typeface="Georgia" pitchFamily="34" charset="0"/>
                <a:ea typeface="Georgia" pitchFamily="34" charset="-122"/>
                <a:cs typeface="Georgia" pitchFamily="34" charset="-120"/>
              </a:rPr>
              <a:t>W</a:t>
            </a:r>
            <a:endParaRPr lang="en-US" sz="2500" dirty="0"/>
          </a:p>
        </p:txBody>
      </p:sp>
      <p:sp>
        <p:nvSpPr>
          <p:cNvPr id="5" name="Text 3"/>
          <p:cNvSpPr/>
          <p:nvPr/>
        </p:nvSpPr>
        <p:spPr>
          <a:xfrm>
            <a:off x="402336" y="7022592"/>
            <a:ext cx="731520" cy="594360"/>
          </a:xfrm>
          <a:prstGeom prst="rect">
            <a:avLst/>
          </a:prstGeom>
          <a:noFill/>
          <a:ln/>
        </p:spPr>
        <p:txBody>
          <a:bodyPr wrap="square" lIns="0" tIns="0" rIns="0" bIns="0" rtlCol="0" anchor="t">
            <a:normAutofit/>
          </a:bodyPr>
          <a:lstStyle/>
          <a:p>
            <a:pPr indent="0" marL="0">
              <a:buNone/>
            </a:pPr>
            <a:r>
              <a:rPr lang="en-US" sz="4200" dirty="0">
                <a:solidFill>
                  <a:srgbClr val="9BC4A8"/>
                </a:solidFill>
                <a:latin typeface="Georgia" pitchFamily="34" charset="0"/>
                <a:ea typeface="Georgia" pitchFamily="34" charset="-122"/>
                <a:cs typeface="Georgia" pitchFamily="34" charset="-120"/>
              </a:rPr>
              <a:t>23</a:t>
            </a:r>
            <a:endParaRPr lang="en-US" sz="4200" dirty="0"/>
          </a:p>
        </p:txBody>
      </p:sp>
      <p:sp>
        <p:nvSpPr>
          <p:cNvPr id="6" name="Text 4"/>
          <p:cNvSpPr/>
          <p:nvPr/>
        </p:nvSpPr>
        <p:spPr>
          <a:xfrm>
            <a:off x="402336" y="7818120"/>
            <a:ext cx="731520" cy="411480"/>
          </a:xfrm>
          <a:prstGeom prst="rect">
            <a:avLst/>
          </a:prstGeom>
          <a:noFill/>
          <a:ln/>
        </p:spPr>
        <p:txBody>
          <a:bodyPr wrap="square" lIns="0" tIns="0" rIns="0" bIns="0" rtlCol="0" anchor="t">
            <a:normAutofit/>
          </a:bodyPr>
          <a:lstStyle/>
          <a:p>
            <a:pPr indent="0" marL="0">
              <a:buNone/>
            </a:pPr>
            <a:r>
              <a:rPr lang="en-US" sz="700" dirty="0">
                <a:solidFill>
                  <a:srgbClr val="C0AAB9"/>
                </a:solidFill>
                <a:latin typeface="Arial" pitchFamily="34" charset="0"/>
                <a:ea typeface="Arial" pitchFamily="34" charset="-122"/>
                <a:cs typeface="Arial" pitchFamily="34" charset="-120"/>
              </a:rPr>
              <a:t>ACT 4 / 5</a:t>
            </a:r>
            <a:endParaRPr lang="en-US" sz="700" dirty="0"/>
          </a:p>
          <a:p>
            <a:pPr indent="0" marL="0">
              <a:buNone/>
            </a:pPr>
            <a:r>
              <a:rPr lang="en-US" sz="700" dirty="0">
                <a:solidFill>
                  <a:srgbClr val="C0AAB9"/>
                </a:solidFill>
                <a:latin typeface="Arial" pitchFamily="34" charset="0"/>
                <a:ea typeface="Arial" pitchFamily="34" charset="-122"/>
                <a:cs typeface="Arial" pitchFamily="34" charset="-120"/>
              </a:rPr>
              <a:t>BEAT 5 / 6</a:t>
            </a:r>
            <a:endParaRPr lang="en-US" sz="700" dirty="0"/>
          </a:p>
        </p:txBody>
      </p:sp>
      <p:sp>
        <p:nvSpPr>
          <p:cNvPr id="7" name="Text 5"/>
          <p:cNvSpPr/>
          <p:nvPr/>
        </p:nvSpPr>
        <p:spPr>
          <a:xfrm>
            <a:off x="1499616" y="347472"/>
            <a:ext cx="9144000" cy="164592"/>
          </a:xfrm>
          <a:prstGeom prst="rect">
            <a:avLst/>
          </a:prstGeom>
          <a:noFill/>
          <a:ln/>
        </p:spPr>
        <p:txBody>
          <a:bodyPr wrap="square" lIns="0" tIns="0" rIns="0" bIns="0" rtlCol="0" anchor="t">
            <a:normAutofit/>
          </a:bodyPr>
          <a:lstStyle/>
          <a:p>
            <a:pPr indent="0" marL="0">
              <a:buNone/>
            </a:pPr>
            <a:r>
              <a:rPr lang="en-US" sz="700" spc="120" kern="0" dirty="0">
                <a:solidFill>
                  <a:srgbClr val="9BC4A8"/>
                </a:solidFill>
                <a:latin typeface="Arial" pitchFamily="34" charset="0"/>
                <a:ea typeface="Arial" pitchFamily="34" charset="-122"/>
                <a:cs typeface="Arial" pitchFamily="34" charset="-120"/>
              </a:rPr>
              <a:t>ACT 4 / REVISION</a:t>
            </a:r>
            <a:endParaRPr lang="en-US" sz="700" dirty="0"/>
          </a:p>
        </p:txBody>
      </p:sp>
      <p:sp>
        <p:nvSpPr>
          <p:cNvPr id="8" name="Text 6"/>
          <p:cNvSpPr/>
          <p:nvPr/>
        </p:nvSpPr>
        <p:spPr>
          <a:xfrm>
            <a:off x="1499616" y="612648"/>
            <a:ext cx="9692640" cy="594360"/>
          </a:xfrm>
          <a:prstGeom prst="rect">
            <a:avLst/>
          </a:prstGeom>
          <a:noFill/>
          <a:ln/>
        </p:spPr>
        <p:txBody>
          <a:bodyPr wrap="square" lIns="0" tIns="0" rIns="0" bIns="0" rtlCol="0" anchor="t">
            <a:normAutofit/>
          </a:bodyPr>
          <a:lstStyle/>
          <a:p>
            <a:pPr indent="0" marL="0">
              <a:buNone/>
            </a:pPr>
            <a:r>
              <a:rPr lang="en-US" sz="2800" dirty="0">
                <a:solidFill>
                  <a:srgbClr val="ECDED6"/>
                </a:solidFill>
                <a:latin typeface="Georgia" pitchFamily="34" charset="0"/>
                <a:ea typeface="Georgia" pitchFamily="34" charset="-122"/>
                <a:cs typeface="Georgia" pitchFamily="34" charset="-120"/>
              </a:rPr>
              <a:t>Return to the story’s boundary.</a:t>
            </a:r>
            <a:endParaRPr lang="en-US" sz="2800" dirty="0"/>
          </a:p>
        </p:txBody>
      </p:sp>
      <p:sp>
        <p:nvSpPr>
          <p:cNvPr id="9" name="Text 7"/>
          <p:cNvSpPr/>
          <p:nvPr/>
        </p:nvSpPr>
        <p:spPr>
          <a:xfrm>
            <a:off x="11475720" y="438912"/>
            <a:ext cx="1325880" cy="182880"/>
          </a:xfrm>
          <a:prstGeom prst="rect">
            <a:avLst/>
          </a:prstGeom>
          <a:noFill/>
          <a:ln/>
        </p:spPr>
        <p:txBody>
          <a:bodyPr wrap="square" lIns="0" tIns="0" rIns="0" bIns="0" rtlCol="0" anchor="t">
            <a:normAutofit/>
          </a:bodyPr>
          <a:lstStyle/>
          <a:p>
            <a:pPr algn="r" indent="0" marL="0">
              <a:buNone/>
            </a:pPr>
            <a:r>
              <a:rPr lang="en-US" sz="700" dirty="0">
                <a:solidFill>
                  <a:srgbClr val="9BC4A8"/>
                </a:solidFill>
                <a:latin typeface="Arial" pitchFamily="34" charset="0"/>
                <a:ea typeface="Arial" pitchFamily="34" charset="-122"/>
                <a:cs typeface="Arial" pitchFamily="34" charset="-120"/>
              </a:rPr>
              <a:t>LOCAL / UNMARKED</a:t>
            </a:r>
            <a:endParaRPr lang="en-US" sz="700" dirty="0"/>
          </a:p>
        </p:txBody>
      </p:sp>
      <p:sp>
        <p:nvSpPr>
          <p:cNvPr id="10" name="Shape 8"/>
          <p:cNvSpPr/>
          <p:nvPr/>
        </p:nvSpPr>
        <p:spPr>
          <a:xfrm>
            <a:off x="1499616" y="1307592"/>
            <a:ext cx="1819656" cy="448056"/>
          </a:xfrm>
          <a:prstGeom prst="rect">
            <a:avLst/>
          </a:prstGeom>
          <a:solidFill>
            <a:srgbClr val="182D2C"/>
          </a:solidFill>
          <a:ln w="8890">
            <a:solidFill>
              <a:srgbClr val="6D5768"/>
            </a:solidFill>
            <a:prstDash val="solid"/>
          </a:ln>
        </p:spPr>
      </p:sp>
      <p:sp>
        <p:nvSpPr>
          <p:cNvPr id="11" name="Text 9"/>
          <p:cNvSpPr/>
          <p:nvPr/>
        </p:nvSpPr>
        <p:spPr>
          <a:xfrm>
            <a:off x="1572768"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9BC4A8"/>
                </a:solidFill>
                <a:latin typeface="Georgia" pitchFamily="34" charset="0"/>
                <a:ea typeface="Georgia" pitchFamily="34" charset="-122"/>
                <a:cs typeface="Georgia" pitchFamily="34" charset="-120"/>
              </a:rPr>
              <a:t>1</a:t>
            </a:r>
            <a:endParaRPr lang="en-US" sz="1700" dirty="0"/>
          </a:p>
        </p:txBody>
      </p:sp>
      <p:sp>
        <p:nvSpPr>
          <p:cNvPr id="12" name="Text 10"/>
          <p:cNvSpPr/>
          <p:nvPr/>
        </p:nvSpPr>
        <p:spPr>
          <a:xfrm>
            <a:off x="1865376"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Read a draft as a draft.</a:t>
            </a:r>
            <a:endParaRPr lang="en-US" sz="700" dirty="0"/>
          </a:p>
        </p:txBody>
      </p:sp>
      <p:sp>
        <p:nvSpPr>
          <p:cNvPr id="13" name="Shape 11"/>
          <p:cNvSpPr/>
          <p:nvPr/>
        </p:nvSpPr>
        <p:spPr>
          <a:xfrm>
            <a:off x="3392424" y="1307592"/>
            <a:ext cx="1819656" cy="448056"/>
          </a:xfrm>
          <a:prstGeom prst="rect">
            <a:avLst/>
          </a:prstGeom>
          <a:solidFill>
            <a:srgbClr val="182D2C"/>
          </a:solidFill>
          <a:ln w="8890">
            <a:solidFill>
              <a:srgbClr val="6D5768"/>
            </a:solidFill>
            <a:prstDash val="solid"/>
          </a:ln>
        </p:spPr>
      </p:sp>
      <p:sp>
        <p:nvSpPr>
          <p:cNvPr id="14" name="Text 12"/>
          <p:cNvSpPr/>
          <p:nvPr/>
        </p:nvSpPr>
        <p:spPr>
          <a:xfrm>
            <a:off x="3465576"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9BC4A8"/>
                </a:solidFill>
                <a:latin typeface="Georgia" pitchFamily="34" charset="0"/>
                <a:ea typeface="Georgia" pitchFamily="34" charset="-122"/>
                <a:cs typeface="Georgia" pitchFamily="34" charset="-120"/>
              </a:rPr>
              <a:t>2</a:t>
            </a:r>
            <a:endParaRPr lang="en-US" sz="1700" dirty="0"/>
          </a:p>
        </p:txBody>
      </p:sp>
      <p:sp>
        <p:nvSpPr>
          <p:cNvPr id="15" name="Text 13"/>
          <p:cNvSpPr/>
          <p:nvPr/>
        </p:nvSpPr>
        <p:spPr>
          <a:xfrm>
            <a:off x="3758184"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Revise one thing at a time.</a:t>
            </a:r>
            <a:endParaRPr lang="en-US" sz="700" dirty="0"/>
          </a:p>
        </p:txBody>
      </p:sp>
      <p:sp>
        <p:nvSpPr>
          <p:cNvPr id="16" name="Shape 14"/>
          <p:cNvSpPr/>
          <p:nvPr/>
        </p:nvSpPr>
        <p:spPr>
          <a:xfrm>
            <a:off x="5285232" y="1307592"/>
            <a:ext cx="1819656" cy="448056"/>
          </a:xfrm>
          <a:prstGeom prst="rect">
            <a:avLst/>
          </a:prstGeom>
          <a:solidFill>
            <a:srgbClr val="182D2C"/>
          </a:solidFill>
          <a:ln w="8890">
            <a:solidFill>
              <a:srgbClr val="6D5768"/>
            </a:solidFill>
            <a:prstDash val="solid"/>
          </a:ln>
        </p:spPr>
      </p:sp>
      <p:sp>
        <p:nvSpPr>
          <p:cNvPr id="17" name="Text 15"/>
          <p:cNvSpPr/>
          <p:nvPr/>
        </p:nvSpPr>
        <p:spPr>
          <a:xfrm>
            <a:off x="5358384"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9BC4A8"/>
                </a:solidFill>
                <a:latin typeface="Georgia" pitchFamily="34" charset="0"/>
                <a:ea typeface="Georgia" pitchFamily="34" charset="-122"/>
                <a:cs typeface="Georgia" pitchFamily="34" charset="-120"/>
              </a:rPr>
              <a:t>3</a:t>
            </a:r>
            <a:endParaRPr lang="en-US" sz="1700" dirty="0"/>
          </a:p>
        </p:txBody>
      </p:sp>
      <p:sp>
        <p:nvSpPr>
          <p:cNvPr id="18" name="Text 16"/>
          <p:cNvSpPr/>
          <p:nvPr/>
        </p:nvSpPr>
        <p:spPr>
          <a:xfrm>
            <a:off x="5650992"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Distinguish taste from intention.</a:t>
            </a:r>
            <a:endParaRPr lang="en-US" sz="700" dirty="0"/>
          </a:p>
        </p:txBody>
      </p:sp>
      <p:sp>
        <p:nvSpPr>
          <p:cNvPr id="19" name="Shape 17"/>
          <p:cNvSpPr/>
          <p:nvPr/>
        </p:nvSpPr>
        <p:spPr>
          <a:xfrm>
            <a:off x="7178040" y="1307592"/>
            <a:ext cx="1819656" cy="448056"/>
          </a:xfrm>
          <a:prstGeom prst="rect">
            <a:avLst/>
          </a:prstGeom>
          <a:solidFill>
            <a:srgbClr val="182D2C"/>
          </a:solidFill>
          <a:ln w="8890">
            <a:solidFill>
              <a:srgbClr val="6D5768"/>
            </a:solidFill>
            <a:prstDash val="solid"/>
          </a:ln>
        </p:spPr>
      </p:sp>
      <p:sp>
        <p:nvSpPr>
          <p:cNvPr id="20" name="Text 18"/>
          <p:cNvSpPr/>
          <p:nvPr/>
        </p:nvSpPr>
        <p:spPr>
          <a:xfrm>
            <a:off x="7251192"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9BC4A8"/>
                </a:solidFill>
                <a:latin typeface="Georgia" pitchFamily="34" charset="0"/>
                <a:ea typeface="Georgia" pitchFamily="34" charset="-122"/>
                <a:cs typeface="Georgia" pitchFamily="34" charset="-120"/>
              </a:rPr>
              <a:t>4</a:t>
            </a:r>
            <a:endParaRPr lang="en-US" sz="1700" dirty="0"/>
          </a:p>
        </p:txBody>
      </p:sp>
      <p:sp>
        <p:nvSpPr>
          <p:cNvPr id="21" name="Text 19"/>
          <p:cNvSpPr/>
          <p:nvPr/>
        </p:nvSpPr>
        <p:spPr>
          <a:xfrm>
            <a:off x="7543800"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Keep the unused possibility.</a:t>
            </a:r>
            <a:endParaRPr lang="en-US" sz="700" dirty="0"/>
          </a:p>
        </p:txBody>
      </p:sp>
      <p:sp>
        <p:nvSpPr>
          <p:cNvPr id="22" name="Shape 20"/>
          <p:cNvSpPr/>
          <p:nvPr/>
        </p:nvSpPr>
        <p:spPr>
          <a:xfrm>
            <a:off x="9070848" y="1307592"/>
            <a:ext cx="1819656" cy="448056"/>
          </a:xfrm>
          <a:prstGeom prst="rect">
            <a:avLst/>
          </a:prstGeom>
          <a:solidFill>
            <a:srgbClr val="182D2C"/>
          </a:solidFill>
          <a:ln w="8890">
            <a:solidFill>
              <a:srgbClr val="9BC4A8"/>
            </a:solidFill>
            <a:prstDash val="solid"/>
          </a:ln>
        </p:spPr>
      </p:sp>
      <p:sp>
        <p:nvSpPr>
          <p:cNvPr id="23" name="Text 21"/>
          <p:cNvSpPr/>
          <p:nvPr/>
        </p:nvSpPr>
        <p:spPr>
          <a:xfrm>
            <a:off x="9144000"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9BC4A8"/>
                </a:solidFill>
                <a:latin typeface="Georgia" pitchFamily="34" charset="0"/>
                <a:ea typeface="Georgia" pitchFamily="34" charset="-122"/>
                <a:cs typeface="Georgia" pitchFamily="34" charset="-120"/>
              </a:rPr>
              <a:t>5</a:t>
            </a:r>
            <a:endParaRPr lang="en-US" sz="1700" dirty="0"/>
          </a:p>
        </p:txBody>
      </p:sp>
      <p:sp>
        <p:nvSpPr>
          <p:cNvPr id="24" name="Text 22"/>
          <p:cNvSpPr/>
          <p:nvPr/>
        </p:nvSpPr>
        <p:spPr>
          <a:xfrm>
            <a:off x="9436608"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Return to the story’s boundary.</a:t>
            </a:r>
            <a:endParaRPr lang="en-US" sz="700" dirty="0"/>
          </a:p>
        </p:txBody>
      </p:sp>
      <p:sp>
        <p:nvSpPr>
          <p:cNvPr id="25" name="Shape 23"/>
          <p:cNvSpPr/>
          <p:nvPr/>
        </p:nvSpPr>
        <p:spPr>
          <a:xfrm>
            <a:off x="10963656" y="1307592"/>
            <a:ext cx="1819656" cy="448056"/>
          </a:xfrm>
          <a:prstGeom prst="rect">
            <a:avLst/>
          </a:prstGeom>
          <a:solidFill>
            <a:srgbClr val="182D2C"/>
          </a:solidFill>
          <a:ln w="8890">
            <a:solidFill>
              <a:srgbClr val="6D5768"/>
            </a:solidFill>
            <a:prstDash val="solid"/>
          </a:ln>
        </p:spPr>
      </p:sp>
      <p:sp>
        <p:nvSpPr>
          <p:cNvPr id="26" name="Text 24"/>
          <p:cNvSpPr/>
          <p:nvPr/>
        </p:nvSpPr>
        <p:spPr>
          <a:xfrm>
            <a:off x="11036808"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9BC4A8"/>
                </a:solidFill>
                <a:latin typeface="Georgia" pitchFamily="34" charset="0"/>
                <a:ea typeface="Georgia" pitchFamily="34" charset="-122"/>
                <a:cs typeface="Georgia" pitchFamily="34" charset="-120"/>
              </a:rPr>
              <a:t>6</a:t>
            </a:r>
            <a:endParaRPr lang="en-US" sz="1700" dirty="0"/>
          </a:p>
        </p:txBody>
      </p:sp>
      <p:sp>
        <p:nvSpPr>
          <p:cNvPr id="27" name="Text 25"/>
          <p:cNvSpPr/>
          <p:nvPr/>
        </p:nvSpPr>
        <p:spPr>
          <a:xfrm>
            <a:off x="11329416"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Choose a revision question.</a:t>
            </a:r>
            <a:endParaRPr lang="en-US" sz="700" dirty="0"/>
          </a:p>
        </p:txBody>
      </p:sp>
      <p:pic>
        <p:nvPicPr>
          <p:cNvPr id="28" name="Image 0" descr="/home/user/design-buddy/design-buddy-home/public/atelier/afterglow/images/12.jpg">    </p:cNvPr>
          <p:cNvPicPr>
            <a:picLocks noChangeAspect="1"/>
          </p:cNvPicPr>
          <p:nvPr/>
        </p:nvPicPr>
        <p:blipFill>
          <a:blip r:embed="rId1"/>
          <a:srcRect l="0" r="0" t="0" b="0"/>
          <a:stretch/>
        </p:blipFill>
        <p:spPr>
          <a:xfrm>
            <a:off x="1499616" y="2066544"/>
            <a:ext cx="6949440" cy="3840480"/>
          </a:xfrm>
          <a:prstGeom prst="rect">
            <a:avLst/>
          </a:prstGeom>
        </p:spPr>
      </p:pic>
      <p:sp>
        <p:nvSpPr>
          <p:cNvPr id="29" name="Text 26"/>
          <p:cNvSpPr/>
          <p:nvPr/>
        </p:nvSpPr>
        <p:spPr>
          <a:xfrm>
            <a:off x="1499616" y="6007608"/>
            <a:ext cx="6949440" cy="164592"/>
          </a:xfrm>
          <a:prstGeom prst="rect">
            <a:avLst/>
          </a:prstGeom>
          <a:noFill/>
          <a:ln/>
        </p:spPr>
        <p:txBody>
          <a:bodyPr wrap="square" lIns="0" tIns="0" rIns="0" bIns="0" rtlCol="0" anchor="t">
            <a:normAutofit/>
          </a:bodyPr>
          <a:lstStyle/>
          <a:p>
            <a:pPr indent="0" marL="0">
              <a:buNone/>
            </a:pPr>
            <a:r>
              <a:rPr lang="en-US" sz="650" dirty="0">
                <a:solidFill>
                  <a:srgbClr val="C0AAB9"/>
                </a:solidFill>
                <a:latin typeface="Arial" pitchFamily="34" charset="0"/>
                <a:ea typeface="Arial" pitchFamily="34" charset="-122"/>
                <a:cs typeface="Arial" pitchFamily="34" charset="-120"/>
              </a:rPr>
              <a:t>Watercolour 12 / invented setting and adults / not production evidence</a:t>
            </a:r>
            <a:endParaRPr lang="en-US" sz="650" dirty="0"/>
          </a:p>
        </p:txBody>
      </p:sp>
      <p:sp>
        <p:nvSpPr>
          <p:cNvPr id="30" name="Text 27"/>
          <p:cNvSpPr/>
          <p:nvPr/>
        </p:nvSpPr>
        <p:spPr>
          <a:xfrm>
            <a:off x="8705088" y="2139696"/>
            <a:ext cx="4133088" cy="164592"/>
          </a:xfrm>
          <a:prstGeom prst="rect">
            <a:avLst/>
          </a:prstGeom>
          <a:noFill/>
          <a:ln/>
        </p:spPr>
        <p:txBody>
          <a:bodyPr wrap="square" lIns="0" tIns="0" rIns="0" bIns="0" rtlCol="0" anchor="t">
            <a:normAutofit/>
          </a:bodyPr>
          <a:lstStyle/>
          <a:p>
            <a:pPr indent="0" marL="0">
              <a:buNone/>
            </a:pPr>
            <a:r>
              <a:rPr lang="en-US" sz="700" spc="110" kern="0" dirty="0">
                <a:solidFill>
                  <a:srgbClr val="9BC4A8"/>
                </a:solidFill>
                <a:latin typeface="Arial" pitchFamily="34" charset="0"/>
                <a:ea typeface="Arial" pitchFamily="34" charset="-122"/>
                <a:cs typeface="Arial" pitchFamily="34" charset="-120"/>
              </a:rPr>
              <a:t>STORY INTENTION</a:t>
            </a:r>
            <a:endParaRPr lang="en-US" sz="700" dirty="0"/>
          </a:p>
        </p:txBody>
      </p:sp>
      <p:sp>
        <p:nvSpPr>
          <p:cNvPr id="31" name="Text 28"/>
          <p:cNvSpPr/>
          <p:nvPr/>
        </p:nvSpPr>
        <p:spPr>
          <a:xfrm>
            <a:off x="8705088" y="2514600"/>
            <a:ext cx="4133088" cy="1828800"/>
          </a:xfrm>
          <a:prstGeom prst="rect">
            <a:avLst/>
          </a:prstGeom>
          <a:noFill/>
          <a:ln/>
        </p:spPr>
        <p:txBody>
          <a:bodyPr wrap="square" lIns="0" tIns="0" rIns="0" bIns="0" rtlCol="0" anchor="t">
            <a:normAutofit/>
          </a:bodyPr>
          <a:lstStyle/>
          <a:p>
            <a:pPr indent="0" marL="0">
              <a:buNone/>
            </a:pPr>
            <a:r>
              <a:rPr lang="en-US" sz="1575" dirty="0">
                <a:solidFill>
                  <a:srgbClr val="ECDED6"/>
                </a:solidFill>
                <a:latin typeface="Georgia" pitchFamily="34" charset="0"/>
                <a:ea typeface="Georgia" pitchFamily="34" charset="-122"/>
                <a:cs typeface="Georgia" pitchFamily="34" charset="-120"/>
              </a:rPr>
              <a:t>Check that the imagined exercise still fits its original scope. The folio supplies no venue permissions, participant consent process, technical staging plan or production budget. Those would require separate responsible work.</a:t>
            </a:r>
            <a:endParaRPr lang="en-US" sz="1575" dirty="0"/>
          </a:p>
        </p:txBody>
      </p:sp>
      <p:sp>
        <p:nvSpPr>
          <p:cNvPr id="32" name="Text 29"/>
          <p:cNvSpPr/>
          <p:nvPr/>
        </p:nvSpPr>
        <p:spPr>
          <a:xfrm>
            <a:off x="8705088" y="4572000"/>
            <a:ext cx="4133088" cy="164592"/>
          </a:xfrm>
          <a:prstGeom prst="rect">
            <a:avLst/>
          </a:prstGeom>
          <a:noFill/>
          <a:ln/>
        </p:spPr>
        <p:txBody>
          <a:bodyPr wrap="square" lIns="0" tIns="0" rIns="0" bIns="0" rtlCol="0" anchor="t">
            <a:normAutofit/>
          </a:bodyPr>
          <a:lstStyle/>
          <a:p>
            <a:pPr indent="0" marL="0">
              <a:buNone/>
            </a:pPr>
            <a:r>
              <a:rPr lang="en-US" sz="700" spc="110" kern="0" dirty="0">
                <a:solidFill>
                  <a:srgbClr val="9BC4A8"/>
                </a:solidFill>
                <a:latin typeface="Arial" pitchFamily="34" charset="0"/>
                <a:ea typeface="Arial" pitchFamily="34" charset="-122"/>
                <a:cs typeface="Arial" pitchFamily="34" charset="-120"/>
              </a:rPr>
              <a:t>LEAVE A QUESTION</a:t>
            </a:r>
            <a:endParaRPr lang="en-US" sz="700" dirty="0"/>
          </a:p>
        </p:txBody>
      </p:sp>
      <p:sp>
        <p:nvSpPr>
          <p:cNvPr id="33" name="Text 30"/>
          <p:cNvSpPr/>
          <p:nvPr/>
        </p:nvSpPr>
        <p:spPr>
          <a:xfrm>
            <a:off x="8705088" y="4910328"/>
            <a:ext cx="4133088" cy="822960"/>
          </a:xfrm>
          <a:prstGeom prst="rect">
            <a:avLst/>
          </a:prstGeom>
          <a:noFill/>
          <a:ln/>
        </p:spPr>
        <p:txBody>
          <a:bodyPr wrap="square" lIns="0" tIns="0" rIns="0" bIns="0" rtlCol="0" anchor="t">
            <a:normAutofit/>
          </a:bodyPr>
          <a:lstStyle/>
          <a:p>
            <a:pPr indent="0" marL="0">
              <a:buNone/>
            </a:pPr>
            <a:r>
              <a:rPr lang="en-US" sz="1875" i="1" dirty="0">
                <a:solidFill>
                  <a:srgbClr val="9BC4A8"/>
                </a:solidFill>
                <a:latin typeface="Georgia" pitchFamily="34" charset="0"/>
                <a:ea typeface="Georgia" pitchFamily="34" charset="-122"/>
                <a:cs typeface="Georgia" pitchFamily="34" charset="-120"/>
              </a:rPr>
              <a:t>Which question belongs outside this creative folio?</a:t>
            </a:r>
            <a:endParaRPr lang="en-US" sz="1875" dirty="0"/>
          </a:p>
        </p:txBody>
      </p:sp>
      <p:sp>
        <p:nvSpPr>
          <p:cNvPr id="34" name="Text 31"/>
          <p:cNvSpPr/>
          <p:nvPr/>
        </p:nvSpPr>
        <p:spPr>
          <a:xfrm>
            <a:off x="8705088" y="5806440"/>
            <a:ext cx="4133088" cy="292608"/>
          </a:xfrm>
          <a:prstGeom prst="rect">
            <a:avLst/>
          </a:prstGeom>
          <a:noFill/>
          <a:ln/>
        </p:spPr>
        <p:txBody>
          <a:bodyPr wrap="square" lIns="0" tIns="0" rIns="0" bIns="0" rtlCol="0" anchor="t">
            <a:normAutofit/>
          </a:bodyPr>
          <a:lstStyle/>
          <a:p>
            <a:pPr indent="0" marL="0">
              <a:buNone/>
            </a:pPr>
            <a:r>
              <a:rPr lang="en-US" sz="700" dirty="0">
                <a:solidFill>
                  <a:srgbClr val="C0AAB9"/>
                </a:solidFill>
                <a:latin typeface="Arial" pitchFamily="34" charset="0"/>
                <a:ea typeface="Arial" pitchFamily="34" charset="-122"/>
                <a:cs typeface="Arial" pitchFamily="34" charset="-120"/>
              </a:rPr>
              <a:t>Beat order is not timing, a technical call or a show schedule.</a:t>
            </a:r>
            <a:endParaRPr lang="en-US" sz="700" dirty="0"/>
          </a:p>
        </p:txBody>
      </p:sp>
      <p:sp>
        <p:nvSpPr>
          <p:cNvPr id="35" name="Shape 32"/>
          <p:cNvSpPr/>
          <p:nvPr/>
        </p:nvSpPr>
        <p:spPr>
          <a:xfrm>
            <a:off x="1499616" y="6583680"/>
            <a:ext cx="3675888" cy="1481328"/>
          </a:xfrm>
          <a:prstGeom prst="rect">
            <a:avLst/>
          </a:prstGeom>
          <a:solidFill>
            <a:srgbClr val="182D2C"/>
          </a:solidFill>
          <a:ln w="8890">
            <a:solidFill>
              <a:srgbClr val="735D6D"/>
            </a:solidFill>
            <a:prstDash val="solid"/>
          </a:ln>
        </p:spPr>
      </p:sp>
      <p:sp>
        <p:nvSpPr>
          <p:cNvPr id="36" name="Text 33"/>
          <p:cNvSpPr/>
          <p:nvPr/>
        </p:nvSpPr>
        <p:spPr>
          <a:xfrm>
            <a:off x="1682496"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9BC4A8"/>
                </a:solidFill>
                <a:latin typeface="Arial" pitchFamily="34" charset="0"/>
                <a:ea typeface="Arial" pitchFamily="34" charset="-122"/>
                <a:cs typeface="Arial" pitchFamily="34" charset="-120"/>
              </a:rPr>
              <a:t>01 / NOTICE</a:t>
            </a:r>
            <a:endParaRPr lang="en-US" sz="700" dirty="0"/>
          </a:p>
        </p:txBody>
      </p:sp>
      <p:sp>
        <p:nvSpPr>
          <p:cNvPr id="37" name="Text 34"/>
          <p:cNvSpPr/>
          <p:nvPr/>
        </p:nvSpPr>
        <p:spPr>
          <a:xfrm>
            <a:off x="1682496"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An evocative illustration is not an operational plan.</a:t>
            </a:r>
            <a:endParaRPr lang="en-US" sz="1500" dirty="0"/>
          </a:p>
        </p:txBody>
      </p:sp>
      <p:sp>
        <p:nvSpPr>
          <p:cNvPr id="38" name="Shape 35"/>
          <p:cNvSpPr/>
          <p:nvPr/>
        </p:nvSpPr>
        <p:spPr>
          <a:xfrm>
            <a:off x="5321808" y="6583680"/>
            <a:ext cx="3675888" cy="1481328"/>
          </a:xfrm>
          <a:prstGeom prst="rect">
            <a:avLst/>
          </a:prstGeom>
          <a:solidFill>
            <a:srgbClr val="182D2C"/>
          </a:solidFill>
          <a:ln w="8890">
            <a:solidFill>
              <a:srgbClr val="735D6D"/>
            </a:solidFill>
            <a:prstDash val="solid"/>
          </a:ln>
        </p:spPr>
      </p:sp>
      <p:sp>
        <p:nvSpPr>
          <p:cNvPr id="39" name="Text 36"/>
          <p:cNvSpPr/>
          <p:nvPr/>
        </p:nvSpPr>
        <p:spPr>
          <a:xfrm>
            <a:off x="5504688"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9BC4A8"/>
                </a:solidFill>
                <a:latin typeface="Arial" pitchFamily="34" charset="0"/>
                <a:ea typeface="Arial" pitchFamily="34" charset="-122"/>
                <a:cs typeface="Arial" pitchFamily="34" charset="-120"/>
              </a:rPr>
              <a:t>02 / TRY IN WORDS</a:t>
            </a:r>
            <a:endParaRPr lang="en-US" sz="700" dirty="0"/>
          </a:p>
        </p:txBody>
      </p:sp>
      <p:sp>
        <p:nvSpPr>
          <p:cNvPr id="40" name="Text 37"/>
          <p:cNvSpPr/>
          <p:nvPr/>
        </p:nvSpPr>
        <p:spPr>
          <a:xfrm>
            <a:off x="5504688"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Name one creative choice and one separate production question.</a:t>
            </a:r>
            <a:endParaRPr lang="en-US" sz="1500" dirty="0"/>
          </a:p>
        </p:txBody>
      </p:sp>
      <p:sp>
        <p:nvSpPr>
          <p:cNvPr id="41" name="Shape 38"/>
          <p:cNvSpPr/>
          <p:nvPr/>
        </p:nvSpPr>
        <p:spPr>
          <a:xfrm>
            <a:off x="9144000" y="6583680"/>
            <a:ext cx="3675888" cy="1481328"/>
          </a:xfrm>
          <a:prstGeom prst="rect">
            <a:avLst/>
          </a:prstGeom>
          <a:solidFill>
            <a:srgbClr val="182D2C"/>
          </a:solidFill>
          <a:ln w="8890">
            <a:solidFill>
              <a:srgbClr val="735D6D"/>
            </a:solidFill>
            <a:prstDash val="solid"/>
          </a:ln>
        </p:spPr>
      </p:sp>
      <p:sp>
        <p:nvSpPr>
          <p:cNvPr id="42" name="Text 39"/>
          <p:cNvSpPr/>
          <p:nvPr/>
        </p:nvSpPr>
        <p:spPr>
          <a:xfrm>
            <a:off x="9326880"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9BC4A8"/>
                </a:solidFill>
                <a:latin typeface="Arial" pitchFamily="34" charset="0"/>
                <a:ea typeface="Arial" pitchFamily="34" charset="-122"/>
                <a:cs typeface="Arial" pitchFamily="34" charset="-120"/>
              </a:rPr>
              <a:t>03 / KEEP VISIBLE</a:t>
            </a:r>
            <a:endParaRPr lang="en-US" sz="700" dirty="0"/>
          </a:p>
        </p:txBody>
      </p:sp>
      <p:sp>
        <p:nvSpPr>
          <p:cNvPr id="43" name="Text 40"/>
          <p:cNvSpPr/>
          <p:nvPr/>
        </p:nvSpPr>
        <p:spPr>
          <a:xfrm>
            <a:off x="9326880"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Do not record sensitive personal information here.</a:t>
            </a:r>
            <a:endParaRPr lang="en-US" sz="1500" dirty="0"/>
          </a:p>
        </p:txBody>
      </p:sp>
      <p:sp>
        <p:nvSpPr>
          <p:cNvPr id="44" name="Shape 41"/>
          <p:cNvSpPr/>
          <p:nvPr/>
        </p:nvSpPr>
        <p:spPr>
          <a:xfrm>
            <a:off x="1499616" y="8211312"/>
            <a:ext cx="11338560" cy="0"/>
          </a:xfrm>
          <a:prstGeom prst="line">
            <a:avLst/>
          </a:prstGeom>
          <a:noFill/>
          <a:ln w="8890">
            <a:solidFill>
              <a:srgbClr val="796170"/>
            </a:solidFill>
            <a:prstDash val="solid"/>
          </a:ln>
        </p:spPr>
      </p:sp>
      <p:sp>
        <p:nvSpPr>
          <p:cNvPr id="45" name="Text 42"/>
          <p:cNvSpPr/>
          <p:nvPr/>
        </p:nvSpPr>
        <p:spPr>
          <a:xfrm>
            <a:off x="1499616" y="8339328"/>
            <a:ext cx="8229600" cy="118872"/>
          </a:xfrm>
          <a:prstGeom prst="rect">
            <a:avLst/>
          </a:prstGeom>
          <a:noFill/>
          <a:ln/>
        </p:spPr>
        <p:txBody>
          <a:bodyPr wrap="square" lIns="0" tIns="0" rIns="0" bIns="0" rtlCol="0" anchor="t">
            <a:normAutofit/>
          </a:bodyPr>
          <a:lstStyle/>
          <a:p>
            <a:pPr indent="0" marL="0">
              <a:buNone/>
            </a:pPr>
            <a:r>
              <a:rPr lang="en-US" sz="650" dirty="0">
                <a:solidFill>
                  <a:srgbClr val="C0AAB9"/>
                </a:solidFill>
                <a:latin typeface="Arial" pitchFamily="34" charset="0"/>
                <a:ea typeface="Arial" pitchFamily="34" charset="-122"/>
                <a:cs typeface="Arial" pitchFamily="34" charset="-120"/>
              </a:rPr>
              <a:t>FICTIONAL WRITING WORKSHOP / NOT A STAGING OR APPROVAL PLAN</a:t>
            </a:r>
            <a:endParaRPr lang="en-US" sz="650" dirty="0"/>
          </a:p>
        </p:txBody>
      </p:sp>
      <p:sp>
        <p:nvSpPr>
          <p:cNvPr id="46" name="Text 43"/>
          <p:cNvSpPr/>
          <p:nvPr/>
        </p:nvSpPr>
        <p:spPr>
          <a:xfrm>
            <a:off x="9729216" y="8339328"/>
            <a:ext cx="3108960" cy="118872"/>
          </a:xfrm>
          <a:prstGeom prst="rect">
            <a:avLst/>
          </a:prstGeom>
          <a:noFill/>
          <a:ln/>
        </p:spPr>
        <p:txBody>
          <a:bodyPr wrap="square" lIns="0" tIns="0" rIns="0" bIns="0" rtlCol="0" anchor="t">
            <a:normAutofit/>
          </a:bodyPr>
          <a:lstStyle/>
          <a:p>
            <a:pPr algn="r" indent="0" marL="0">
              <a:buNone/>
            </a:pPr>
            <a:r>
              <a:rPr lang="en-US" sz="650" dirty="0">
                <a:solidFill>
                  <a:srgbClr val="C0AAB9"/>
                </a:solidFill>
                <a:latin typeface="Arial" pitchFamily="34" charset="0"/>
                <a:ea typeface="Arial" pitchFamily="34" charset="-122"/>
                <a:cs typeface="Arial" pitchFamily="34" charset="-120"/>
              </a:rPr>
              <a:t>DRAFT / 14 OF 15 ARTWORKS / 23 OF 30</a:t>
            </a:r>
            <a:endParaRPr lang="en-US" sz="6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82D2C"/>
        </a:solidFill>
      </p:bgPr>
    </p:bg>
    <p:spTree>
      <p:nvGrpSpPr>
        <p:cNvPr id="1" name=""/>
        <p:cNvGrpSpPr/>
        <p:nvPr/>
      </p:nvGrpSpPr>
      <p:grpSpPr>
        <a:xfrm>
          <a:off x="0" y="0"/>
          <a:ext cx="0" cy="0"/>
          <a:chOff x="0" y="0"/>
          <a:chExt cx="0" cy="0"/>
        </a:xfrm>
      </p:grpSpPr>
      <p:sp>
        <p:nvSpPr>
          <p:cNvPr id="2" name="Shape 0"/>
          <p:cNvSpPr/>
          <p:nvPr/>
        </p:nvSpPr>
        <p:spPr>
          <a:xfrm>
            <a:off x="1243584" y="329184"/>
            <a:ext cx="0" cy="8119872"/>
          </a:xfrm>
          <a:prstGeom prst="line">
            <a:avLst/>
          </a:prstGeom>
          <a:noFill/>
          <a:ln w="10160">
            <a:solidFill>
              <a:srgbClr val="776072"/>
            </a:solidFill>
            <a:prstDash val="solid"/>
          </a:ln>
        </p:spPr>
      </p:sp>
      <p:sp>
        <p:nvSpPr>
          <p:cNvPr id="3" name="Text 1"/>
          <p:cNvSpPr/>
          <p:nvPr/>
        </p:nvSpPr>
        <p:spPr>
          <a:xfrm>
            <a:off x="393192" y="457200"/>
            <a:ext cx="685800" cy="457200"/>
          </a:xfrm>
          <a:prstGeom prst="rect">
            <a:avLst/>
          </a:prstGeom>
          <a:noFill/>
          <a:ln/>
        </p:spPr>
        <p:txBody>
          <a:bodyPr wrap="square" lIns="0" tIns="0" rIns="0" bIns="0" rtlCol="0" anchor="t">
            <a:normAutofit/>
          </a:bodyPr>
          <a:lstStyle/>
          <a:p>
            <a:pPr indent="0" marL="0">
              <a:buNone/>
            </a:pPr>
            <a:r>
              <a:rPr lang="en-US" sz="600" dirty="0">
                <a:solidFill>
                  <a:srgbClr val="C0AAB9"/>
                </a:solidFill>
                <a:latin typeface="Arial" pitchFamily="34" charset="0"/>
                <a:ea typeface="Arial" pitchFamily="34" charset="-122"/>
                <a:cs typeface="Arial" pitchFamily="34" charset="-120"/>
              </a:rPr>
              <a:t>DESIGN BUDDY</a:t>
            </a:r>
            <a:endParaRPr lang="en-US" sz="600" dirty="0"/>
          </a:p>
          <a:p>
            <a:pPr indent="0" marL="0">
              <a:buNone/>
            </a:pPr>
            <a:r>
              <a:rPr lang="en-US" sz="600" dirty="0">
                <a:solidFill>
                  <a:srgbClr val="C0AAB9"/>
                </a:solidFill>
                <a:latin typeface="Arial" pitchFamily="34" charset="0"/>
                <a:ea typeface="Arial" pitchFamily="34" charset="-122"/>
                <a:cs typeface="Arial" pitchFamily="34" charset="-120"/>
              </a:rPr>
              <a:t>CREATIVE EXERCISE</a:t>
            </a:r>
            <a:endParaRPr lang="en-US" sz="600" dirty="0"/>
          </a:p>
        </p:txBody>
      </p:sp>
      <p:sp>
        <p:nvSpPr>
          <p:cNvPr id="4" name="Text 2"/>
          <p:cNvSpPr/>
          <p:nvPr/>
        </p:nvSpPr>
        <p:spPr>
          <a:xfrm>
            <a:off x="502920" y="1920240"/>
            <a:ext cx="502920" cy="4480560"/>
          </a:xfrm>
          <a:prstGeom prst="rect">
            <a:avLst/>
          </a:prstGeom>
          <a:noFill/>
          <a:ln/>
        </p:spPr>
        <p:txBody>
          <a:bodyPr wrap="square" lIns="0" tIns="0" rIns="0" bIns="0" rtlCol="0" anchor="t">
            <a:normAutofit/>
          </a:bodyPr>
          <a:lstStyle/>
          <a:p>
            <a:pPr algn="ctr" indent="0" marL="0">
              <a:buNone/>
            </a:pPr>
            <a:r>
              <a:rPr lang="en-US" sz="2500" dirty="0">
                <a:solidFill>
                  <a:srgbClr val="9BC4A8"/>
                </a:solidFill>
                <a:latin typeface="Georgia" pitchFamily="34" charset="0"/>
                <a:ea typeface="Georgia" pitchFamily="34" charset="-122"/>
                <a:cs typeface="Georgia" pitchFamily="34" charset="-120"/>
              </a:rPr>
              <a:t>A</a:t>
            </a:r>
            <a:endParaRPr lang="en-US" sz="2500" dirty="0"/>
          </a:p>
          <a:p>
            <a:pPr algn="ctr" indent="0" marL="0">
              <a:buNone/>
            </a:pPr>
            <a:r>
              <a:rPr lang="en-US" sz="2500" dirty="0">
                <a:solidFill>
                  <a:srgbClr val="9BC4A8"/>
                </a:solidFill>
                <a:latin typeface="Georgia" pitchFamily="34" charset="0"/>
                <a:ea typeface="Georgia" pitchFamily="34" charset="-122"/>
                <a:cs typeface="Georgia" pitchFamily="34" charset="-120"/>
              </a:rPr>
              <a:t>F</a:t>
            </a:r>
            <a:endParaRPr lang="en-US" sz="2500" dirty="0"/>
          </a:p>
          <a:p>
            <a:pPr algn="ctr" indent="0" marL="0">
              <a:buNone/>
            </a:pPr>
            <a:r>
              <a:rPr lang="en-US" sz="2500" dirty="0">
                <a:solidFill>
                  <a:srgbClr val="9BC4A8"/>
                </a:solidFill>
                <a:latin typeface="Georgia" pitchFamily="34" charset="0"/>
                <a:ea typeface="Georgia" pitchFamily="34" charset="-122"/>
                <a:cs typeface="Georgia" pitchFamily="34" charset="-120"/>
              </a:rPr>
              <a:t>T</a:t>
            </a:r>
            <a:endParaRPr lang="en-US" sz="2500" dirty="0"/>
          </a:p>
          <a:p>
            <a:pPr algn="ctr" indent="0" marL="0">
              <a:buNone/>
            </a:pPr>
            <a:r>
              <a:rPr lang="en-US" sz="2500" dirty="0">
                <a:solidFill>
                  <a:srgbClr val="9BC4A8"/>
                </a:solidFill>
                <a:latin typeface="Georgia" pitchFamily="34" charset="0"/>
                <a:ea typeface="Georgia" pitchFamily="34" charset="-122"/>
                <a:cs typeface="Georgia" pitchFamily="34" charset="-120"/>
              </a:rPr>
              <a:t>E</a:t>
            </a:r>
            <a:endParaRPr lang="en-US" sz="2500" dirty="0"/>
          </a:p>
          <a:p>
            <a:pPr algn="ctr" indent="0" marL="0">
              <a:buNone/>
            </a:pPr>
            <a:r>
              <a:rPr lang="en-US" sz="2500" dirty="0">
                <a:solidFill>
                  <a:srgbClr val="9BC4A8"/>
                </a:solidFill>
                <a:latin typeface="Georgia" pitchFamily="34" charset="0"/>
                <a:ea typeface="Georgia" pitchFamily="34" charset="-122"/>
                <a:cs typeface="Georgia" pitchFamily="34" charset="-120"/>
              </a:rPr>
              <a:t>R</a:t>
            </a:r>
            <a:endParaRPr lang="en-US" sz="2500" dirty="0"/>
          </a:p>
          <a:p>
            <a:pPr algn="ctr" indent="0" marL="0">
              <a:buNone/>
            </a:pPr>
            <a:r>
              <a:rPr lang="en-US" sz="2500" dirty="0">
                <a:solidFill>
                  <a:srgbClr val="9BC4A8"/>
                </a:solidFill>
                <a:latin typeface="Georgia" pitchFamily="34" charset="0"/>
                <a:ea typeface="Georgia" pitchFamily="34" charset="-122"/>
                <a:cs typeface="Georgia" pitchFamily="34" charset="-120"/>
              </a:rPr>
              <a:t>G</a:t>
            </a:r>
            <a:endParaRPr lang="en-US" sz="2500" dirty="0"/>
          </a:p>
          <a:p>
            <a:pPr algn="ctr" indent="0" marL="0">
              <a:buNone/>
            </a:pPr>
            <a:r>
              <a:rPr lang="en-US" sz="2500" dirty="0">
                <a:solidFill>
                  <a:srgbClr val="9BC4A8"/>
                </a:solidFill>
                <a:latin typeface="Georgia" pitchFamily="34" charset="0"/>
                <a:ea typeface="Georgia" pitchFamily="34" charset="-122"/>
                <a:cs typeface="Georgia" pitchFamily="34" charset="-120"/>
              </a:rPr>
              <a:t>L</a:t>
            </a:r>
            <a:endParaRPr lang="en-US" sz="2500" dirty="0"/>
          </a:p>
          <a:p>
            <a:pPr algn="ctr" indent="0" marL="0">
              <a:buNone/>
            </a:pPr>
            <a:r>
              <a:rPr lang="en-US" sz="2500" dirty="0">
                <a:solidFill>
                  <a:srgbClr val="9BC4A8"/>
                </a:solidFill>
                <a:latin typeface="Georgia" pitchFamily="34" charset="0"/>
                <a:ea typeface="Georgia" pitchFamily="34" charset="-122"/>
                <a:cs typeface="Georgia" pitchFamily="34" charset="-120"/>
              </a:rPr>
              <a:t>O</a:t>
            </a:r>
            <a:endParaRPr lang="en-US" sz="2500" dirty="0"/>
          </a:p>
          <a:p>
            <a:pPr algn="ctr" indent="0" marL="0">
              <a:buNone/>
            </a:pPr>
            <a:r>
              <a:rPr lang="en-US" sz="2500" dirty="0">
                <a:solidFill>
                  <a:srgbClr val="9BC4A8"/>
                </a:solidFill>
                <a:latin typeface="Georgia" pitchFamily="34" charset="0"/>
                <a:ea typeface="Georgia" pitchFamily="34" charset="-122"/>
                <a:cs typeface="Georgia" pitchFamily="34" charset="-120"/>
              </a:rPr>
              <a:t>W</a:t>
            </a:r>
            <a:endParaRPr lang="en-US" sz="2500" dirty="0"/>
          </a:p>
        </p:txBody>
      </p:sp>
      <p:sp>
        <p:nvSpPr>
          <p:cNvPr id="5" name="Text 3"/>
          <p:cNvSpPr/>
          <p:nvPr/>
        </p:nvSpPr>
        <p:spPr>
          <a:xfrm>
            <a:off x="402336" y="7022592"/>
            <a:ext cx="731520" cy="594360"/>
          </a:xfrm>
          <a:prstGeom prst="rect">
            <a:avLst/>
          </a:prstGeom>
          <a:noFill/>
          <a:ln/>
        </p:spPr>
        <p:txBody>
          <a:bodyPr wrap="square" lIns="0" tIns="0" rIns="0" bIns="0" rtlCol="0" anchor="t">
            <a:normAutofit/>
          </a:bodyPr>
          <a:lstStyle/>
          <a:p>
            <a:pPr indent="0" marL="0">
              <a:buNone/>
            </a:pPr>
            <a:r>
              <a:rPr lang="en-US" sz="4200" dirty="0">
                <a:solidFill>
                  <a:srgbClr val="9BC4A8"/>
                </a:solidFill>
                <a:latin typeface="Georgia" pitchFamily="34" charset="0"/>
                <a:ea typeface="Georgia" pitchFamily="34" charset="-122"/>
                <a:cs typeface="Georgia" pitchFamily="34" charset="-120"/>
              </a:rPr>
              <a:t>24</a:t>
            </a:r>
            <a:endParaRPr lang="en-US" sz="4200" dirty="0"/>
          </a:p>
        </p:txBody>
      </p:sp>
      <p:sp>
        <p:nvSpPr>
          <p:cNvPr id="6" name="Text 4"/>
          <p:cNvSpPr/>
          <p:nvPr/>
        </p:nvSpPr>
        <p:spPr>
          <a:xfrm>
            <a:off x="402336" y="7818120"/>
            <a:ext cx="731520" cy="411480"/>
          </a:xfrm>
          <a:prstGeom prst="rect">
            <a:avLst/>
          </a:prstGeom>
          <a:noFill/>
          <a:ln/>
        </p:spPr>
        <p:txBody>
          <a:bodyPr wrap="square" lIns="0" tIns="0" rIns="0" bIns="0" rtlCol="0" anchor="t">
            <a:normAutofit/>
          </a:bodyPr>
          <a:lstStyle/>
          <a:p>
            <a:pPr indent="0" marL="0">
              <a:buNone/>
            </a:pPr>
            <a:r>
              <a:rPr lang="en-US" sz="700" dirty="0">
                <a:solidFill>
                  <a:srgbClr val="C0AAB9"/>
                </a:solidFill>
                <a:latin typeface="Arial" pitchFamily="34" charset="0"/>
                <a:ea typeface="Arial" pitchFamily="34" charset="-122"/>
                <a:cs typeface="Arial" pitchFamily="34" charset="-120"/>
              </a:rPr>
              <a:t>ACT 4 / 5</a:t>
            </a:r>
            <a:endParaRPr lang="en-US" sz="700" dirty="0"/>
          </a:p>
          <a:p>
            <a:pPr indent="0" marL="0">
              <a:buNone/>
            </a:pPr>
            <a:r>
              <a:rPr lang="en-US" sz="700" dirty="0">
                <a:solidFill>
                  <a:srgbClr val="C0AAB9"/>
                </a:solidFill>
                <a:latin typeface="Arial" pitchFamily="34" charset="0"/>
                <a:ea typeface="Arial" pitchFamily="34" charset="-122"/>
                <a:cs typeface="Arial" pitchFamily="34" charset="-120"/>
              </a:rPr>
              <a:t>BEAT 6 / 6</a:t>
            </a:r>
            <a:endParaRPr lang="en-US" sz="700" dirty="0"/>
          </a:p>
        </p:txBody>
      </p:sp>
      <p:sp>
        <p:nvSpPr>
          <p:cNvPr id="7" name="Text 5"/>
          <p:cNvSpPr/>
          <p:nvPr/>
        </p:nvSpPr>
        <p:spPr>
          <a:xfrm>
            <a:off x="1499616" y="347472"/>
            <a:ext cx="9144000" cy="164592"/>
          </a:xfrm>
          <a:prstGeom prst="rect">
            <a:avLst/>
          </a:prstGeom>
          <a:noFill/>
          <a:ln/>
        </p:spPr>
        <p:txBody>
          <a:bodyPr wrap="square" lIns="0" tIns="0" rIns="0" bIns="0" rtlCol="0" anchor="t">
            <a:normAutofit/>
          </a:bodyPr>
          <a:lstStyle/>
          <a:p>
            <a:pPr indent="0" marL="0">
              <a:buNone/>
            </a:pPr>
            <a:r>
              <a:rPr lang="en-US" sz="700" spc="120" kern="0" dirty="0">
                <a:solidFill>
                  <a:srgbClr val="9BC4A8"/>
                </a:solidFill>
                <a:latin typeface="Arial" pitchFamily="34" charset="0"/>
                <a:ea typeface="Arial" pitchFamily="34" charset="-122"/>
                <a:cs typeface="Arial" pitchFamily="34" charset="-120"/>
              </a:rPr>
              <a:t>ACT 4 / REVISION</a:t>
            </a:r>
            <a:endParaRPr lang="en-US" sz="700" dirty="0"/>
          </a:p>
        </p:txBody>
      </p:sp>
      <p:sp>
        <p:nvSpPr>
          <p:cNvPr id="8" name="Text 6"/>
          <p:cNvSpPr/>
          <p:nvPr/>
        </p:nvSpPr>
        <p:spPr>
          <a:xfrm>
            <a:off x="1499616" y="612648"/>
            <a:ext cx="9692640" cy="594360"/>
          </a:xfrm>
          <a:prstGeom prst="rect">
            <a:avLst/>
          </a:prstGeom>
          <a:noFill/>
          <a:ln/>
        </p:spPr>
        <p:txBody>
          <a:bodyPr wrap="square" lIns="0" tIns="0" rIns="0" bIns="0" rtlCol="0" anchor="t">
            <a:normAutofit/>
          </a:bodyPr>
          <a:lstStyle/>
          <a:p>
            <a:pPr indent="0" marL="0">
              <a:buNone/>
            </a:pPr>
            <a:r>
              <a:rPr lang="en-US" sz="2800" dirty="0">
                <a:solidFill>
                  <a:srgbClr val="ECDED6"/>
                </a:solidFill>
                <a:latin typeface="Georgia" pitchFamily="34" charset="0"/>
                <a:ea typeface="Georgia" pitchFamily="34" charset="-122"/>
                <a:cs typeface="Georgia" pitchFamily="34" charset="-120"/>
              </a:rPr>
              <a:t>Choose a revision question.</a:t>
            </a:r>
            <a:endParaRPr lang="en-US" sz="2800" dirty="0"/>
          </a:p>
        </p:txBody>
      </p:sp>
      <p:sp>
        <p:nvSpPr>
          <p:cNvPr id="9" name="Text 7"/>
          <p:cNvSpPr/>
          <p:nvPr/>
        </p:nvSpPr>
        <p:spPr>
          <a:xfrm>
            <a:off x="11475720" y="438912"/>
            <a:ext cx="1325880" cy="182880"/>
          </a:xfrm>
          <a:prstGeom prst="rect">
            <a:avLst/>
          </a:prstGeom>
          <a:noFill/>
          <a:ln/>
        </p:spPr>
        <p:txBody>
          <a:bodyPr wrap="square" lIns="0" tIns="0" rIns="0" bIns="0" rtlCol="0" anchor="t">
            <a:normAutofit/>
          </a:bodyPr>
          <a:lstStyle/>
          <a:p>
            <a:pPr algn="r" indent="0" marL="0">
              <a:buNone/>
            </a:pPr>
            <a:r>
              <a:rPr lang="en-US" sz="700" dirty="0">
                <a:solidFill>
                  <a:srgbClr val="9BC4A8"/>
                </a:solidFill>
                <a:latin typeface="Arial" pitchFamily="34" charset="0"/>
                <a:ea typeface="Arial" pitchFamily="34" charset="-122"/>
                <a:cs typeface="Arial" pitchFamily="34" charset="-120"/>
              </a:rPr>
              <a:t>LOCAL / UNMARKED</a:t>
            </a:r>
            <a:endParaRPr lang="en-US" sz="700" dirty="0"/>
          </a:p>
        </p:txBody>
      </p:sp>
      <p:sp>
        <p:nvSpPr>
          <p:cNvPr id="10" name="Shape 8"/>
          <p:cNvSpPr/>
          <p:nvPr/>
        </p:nvSpPr>
        <p:spPr>
          <a:xfrm>
            <a:off x="1499616" y="1307592"/>
            <a:ext cx="1819656" cy="448056"/>
          </a:xfrm>
          <a:prstGeom prst="rect">
            <a:avLst/>
          </a:prstGeom>
          <a:solidFill>
            <a:srgbClr val="182D2C"/>
          </a:solidFill>
          <a:ln w="8890">
            <a:solidFill>
              <a:srgbClr val="6D5768"/>
            </a:solidFill>
            <a:prstDash val="solid"/>
          </a:ln>
        </p:spPr>
      </p:sp>
      <p:sp>
        <p:nvSpPr>
          <p:cNvPr id="11" name="Text 9"/>
          <p:cNvSpPr/>
          <p:nvPr/>
        </p:nvSpPr>
        <p:spPr>
          <a:xfrm>
            <a:off x="1572768"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9BC4A8"/>
                </a:solidFill>
                <a:latin typeface="Georgia" pitchFamily="34" charset="0"/>
                <a:ea typeface="Georgia" pitchFamily="34" charset="-122"/>
                <a:cs typeface="Georgia" pitchFamily="34" charset="-120"/>
              </a:rPr>
              <a:t>1</a:t>
            </a:r>
            <a:endParaRPr lang="en-US" sz="1700" dirty="0"/>
          </a:p>
        </p:txBody>
      </p:sp>
      <p:sp>
        <p:nvSpPr>
          <p:cNvPr id="12" name="Text 10"/>
          <p:cNvSpPr/>
          <p:nvPr/>
        </p:nvSpPr>
        <p:spPr>
          <a:xfrm>
            <a:off x="1865376"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Read a draft as a draft.</a:t>
            </a:r>
            <a:endParaRPr lang="en-US" sz="700" dirty="0"/>
          </a:p>
        </p:txBody>
      </p:sp>
      <p:sp>
        <p:nvSpPr>
          <p:cNvPr id="13" name="Shape 11"/>
          <p:cNvSpPr/>
          <p:nvPr/>
        </p:nvSpPr>
        <p:spPr>
          <a:xfrm>
            <a:off x="3392424" y="1307592"/>
            <a:ext cx="1819656" cy="448056"/>
          </a:xfrm>
          <a:prstGeom prst="rect">
            <a:avLst/>
          </a:prstGeom>
          <a:solidFill>
            <a:srgbClr val="182D2C"/>
          </a:solidFill>
          <a:ln w="8890">
            <a:solidFill>
              <a:srgbClr val="6D5768"/>
            </a:solidFill>
            <a:prstDash val="solid"/>
          </a:ln>
        </p:spPr>
      </p:sp>
      <p:sp>
        <p:nvSpPr>
          <p:cNvPr id="14" name="Text 12"/>
          <p:cNvSpPr/>
          <p:nvPr/>
        </p:nvSpPr>
        <p:spPr>
          <a:xfrm>
            <a:off x="3465576"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9BC4A8"/>
                </a:solidFill>
                <a:latin typeface="Georgia" pitchFamily="34" charset="0"/>
                <a:ea typeface="Georgia" pitchFamily="34" charset="-122"/>
                <a:cs typeface="Georgia" pitchFamily="34" charset="-120"/>
              </a:rPr>
              <a:t>2</a:t>
            </a:r>
            <a:endParaRPr lang="en-US" sz="1700" dirty="0"/>
          </a:p>
        </p:txBody>
      </p:sp>
      <p:sp>
        <p:nvSpPr>
          <p:cNvPr id="15" name="Text 13"/>
          <p:cNvSpPr/>
          <p:nvPr/>
        </p:nvSpPr>
        <p:spPr>
          <a:xfrm>
            <a:off x="3758184"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Revise one thing at a time.</a:t>
            </a:r>
            <a:endParaRPr lang="en-US" sz="700" dirty="0"/>
          </a:p>
        </p:txBody>
      </p:sp>
      <p:sp>
        <p:nvSpPr>
          <p:cNvPr id="16" name="Shape 14"/>
          <p:cNvSpPr/>
          <p:nvPr/>
        </p:nvSpPr>
        <p:spPr>
          <a:xfrm>
            <a:off x="5285232" y="1307592"/>
            <a:ext cx="1819656" cy="448056"/>
          </a:xfrm>
          <a:prstGeom prst="rect">
            <a:avLst/>
          </a:prstGeom>
          <a:solidFill>
            <a:srgbClr val="182D2C"/>
          </a:solidFill>
          <a:ln w="8890">
            <a:solidFill>
              <a:srgbClr val="6D5768"/>
            </a:solidFill>
            <a:prstDash val="solid"/>
          </a:ln>
        </p:spPr>
      </p:sp>
      <p:sp>
        <p:nvSpPr>
          <p:cNvPr id="17" name="Text 15"/>
          <p:cNvSpPr/>
          <p:nvPr/>
        </p:nvSpPr>
        <p:spPr>
          <a:xfrm>
            <a:off x="5358384"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9BC4A8"/>
                </a:solidFill>
                <a:latin typeface="Georgia" pitchFamily="34" charset="0"/>
                <a:ea typeface="Georgia" pitchFamily="34" charset="-122"/>
                <a:cs typeface="Georgia" pitchFamily="34" charset="-120"/>
              </a:rPr>
              <a:t>3</a:t>
            </a:r>
            <a:endParaRPr lang="en-US" sz="1700" dirty="0"/>
          </a:p>
        </p:txBody>
      </p:sp>
      <p:sp>
        <p:nvSpPr>
          <p:cNvPr id="18" name="Text 16"/>
          <p:cNvSpPr/>
          <p:nvPr/>
        </p:nvSpPr>
        <p:spPr>
          <a:xfrm>
            <a:off x="5650992"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Distinguish taste from intention.</a:t>
            </a:r>
            <a:endParaRPr lang="en-US" sz="700" dirty="0"/>
          </a:p>
        </p:txBody>
      </p:sp>
      <p:sp>
        <p:nvSpPr>
          <p:cNvPr id="19" name="Shape 17"/>
          <p:cNvSpPr/>
          <p:nvPr/>
        </p:nvSpPr>
        <p:spPr>
          <a:xfrm>
            <a:off x="7178040" y="1307592"/>
            <a:ext cx="1819656" cy="448056"/>
          </a:xfrm>
          <a:prstGeom prst="rect">
            <a:avLst/>
          </a:prstGeom>
          <a:solidFill>
            <a:srgbClr val="182D2C"/>
          </a:solidFill>
          <a:ln w="8890">
            <a:solidFill>
              <a:srgbClr val="6D5768"/>
            </a:solidFill>
            <a:prstDash val="solid"/>
          </a:ln>
        </p:spPr>
      </p:sp>
      <p:sp>
        <p:nvSpPr>
          <p:cNvPr id="20" name="Text 18"/>
          <p:cNvSpPr/>
          <p:nvPr/>
        </p:nvSpPr>
        <p:spPr>
          <a:xfrm>
            <a:off x="7251192"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9BC4A8"/>
                </a:solidFill>
                <a:latin typeface="Georgia" pitchFamily="34" charset="0"/>
                <a:ea typeface="Georgia" pitchFamily="34" charset="-122"/>
                <a:cs typeface="Georgia" pitchFamily="34" charset="-120"/>
              </a:rPr>
              <a:t>4</a:t>
            </a:r>
            <a:endParaRPr lang="en-US" sz="1700" dirty="0"/>
          </a:p>
        </p:txBody>
      </p:sp>
      <p:sp>
        <p:nvSpPr>
          <p:cNvPr id="21" name="Text 19"/>
          <p:cNvSpPr/>
          <p:nvPr/>
        </p:nvSpPr>
        <p:spPr>
          <a:xfrm>
            <a:off x="7543800"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Keep the unused possibility.</a:t>
            </a:r>
            <a:endParaRPr lang="en-US" sz="700" dirty="0"/>
          </a:p>
        </p:txBody>
      </p:sp>
      <p:sp>
        <p:nvSpPr>
          <p:cNvPr id="22" name="Shape 20"/>
          <p:cNvSpPr/>
          <p:nvPr/>
        </p:nvSpPr>
        <p:spPr>
          <a:xfrm>
            <a:off x="9070848" y="1307592"/>
            <a:ext cx="1819656" cy="448056"/>
          </a:xfrm>
          <a:prstGeom prst="rect">
            <a:avLst/>
          </a:prstGeom>
          <a:solidFill>
            <a:srgbClr val="182D2C"/>
          </a:solidFill>
          <a:ln w="8890">
            <a:solidFill>
              <a:srgbClr val="6D5768"/>
            </a:solidFill>
            <a:prstDash val="solid"/>
          </a:ln>
        </p:spPr>
      </p:sp>
      <p:sp>
        <p:nvSpPr>
          <p:cNvPr id="23" name="Text 21"/>
          <p:cNvSpPr/>
          <p:nvPr/>
        </p:nvSpPr>
        <p:spPr>
          <a:xfrm>
            <a:off x="9144000"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9BC4A8"/>
                </a:solidFill>
                <a:latin typeface="Georgia" pitchFamily="34" charset="0"/>
                <a:ea typeface="Georgia" pitchFamily="34" charset="-122"/>
                <a:cs typeface="Georgia" pitchFamily="34" charset="-120"/>
              </a:rPr>
              <a:t>5</a:t>
            </a:r>
            <a:endParaRPr lang="en-US" sz="1700" dirty="0"/>
          </a:p>
        </p:txBody>
      </p:sp>
      <p:sp>
        <p:nvSpPr>
          <p:cNvPr id="24" name="Text 22"/>
          <p:cNvSpPr/>
          <p:nvPr/>
        </p:nvSpPr>
        <p:spPr>
          <a:xfrm>
            <a:off x="9436608"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Return to the story’s boundary.</a:t>
            </a:r>
            <a:endParaRPr lang="en-US" sz="700" dirty="0"/>
          </a:p>
        </p:txBody>
      </p:sp>
      <p:sp>
        <p:nvSpPr>
          <p:cNvPr id="25" name="Shape 23"/>
          <p:cNvSpPr/>
          <p:nvPr/>
        </p:nvSpPr>
        <p:spPr>
          <a:xfrm>
            <a:off x="10963656" y="1307592"/>
            <a:ext cx="1819656" cy="448056"/>
          </a:xfrm>
          <a:prstGeom prst="rect">
            <a:avLst/>
          </a:prstGeom>
          <a:solidFill>
            <a:srgbClr val="182D2C"/>
          </a:solidFill>
          <a:ln w="8890">
            <a:solidFill>
              <a:srgbClr val="9BC4A8"/>
            </a:solidFill>
            <a:prstDash val="solid"/>
          </a:ln>
        </p:spPr>
      </p:sp>
      <p:sp>
        <p:nvSpPr>
          <p:cNvPr id="26" name="Text 24"/>
          <p:cNvSpPr/>
          <p:nvPr/>
        </p:nvSpPr>
        <p:spPr>
          <a:xfrm>
            <a:off x="11036808"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9BC4A8"/>
                </a:solidFill>
                <a:latin typeface="Georgia" pitchFamily="34" charset="0"/>
                <a:ea typeface="Georgia" pitchFamily="34" charset="-122"/>
                <a:cs typeface="Georgia" pitchFamily="34" charset="-120"/>
              </a:rPr>
              <a:t>6</a:t>
            </a:r>
            <a:endParaRPr lang="en-US" sz="1700" dirty="0"/>
          </a:p>
        </p:txBody>
      </p:sp>
      <p:sp>
        <p:nvSpPr>
          <p:cNvPr id="27" name="Text 25"/>
          <p:cNvSpPr/>
          <p:nvPr/>
        </p:nvSpPr>
        <p:spPr>
          <a:xfrm>
            <a:off x="11329416"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Choose a revision question.</a:t>
            </a:r>
            <a:endParaRPr lang="en-US" sz="700" dirty="0"/>
          </a:p>
        </p:txBody>
      </p:sp>
      <p:pic>
        <p:nvPicPr>
          <p:cNvPr id="28" name="Image 0" descr="/home/user/design-buddy/design-buddy-home/public/atelier/afterglow/images/12.jpg">    </p:cNvPr>
          <p:cNvPicPr>
            <a:picLocks noChangeAspect="1"/>
          </p:cNvPicPr>
          <p:nvPr/>
        </p:nvPicPr>
        <p:blipFill>
          <a:blip r:embed="rId1"/>
          <a:srcRect l="0" r="0" t="0" b="0"/>
          <a:stretch/>
        </p:blipFill>
        <p:spPr>
          <a:xfrm>
            <a:off x="1499616" y="2066544"/>
            <a:ext cx="6949440" cy="3840480"/>
          </a:xfrm>
          <a:prstGeom prst="rect">
            <a:avLst/>
          </a:prstGeom>
        </p:spPr>
      </p:pic>
      <p:sp>
        <p:nvSpPr>
          <p:cNvPr id="29" name="Text 26"/>
          <p:cNvSpPr/>
          <p:nvPr/>
        </p:nvSpPr>
        <p:spPr>
          <a:xfrm>
            <a:off x="1499616" y="6007608"/>
            <a:ext cx="6949440" cy="164592"/>
          </a:xfrm>
          <a:prstGeom prst="rect">
            <a:avLst/>
          </a:prstGeom>
          <a:noFill/>
          <a:ln/>
        </p:spPr>
        <p:txBody>
          <a:bodyPr wrap="square" lIns="0" tIns="0" rIns="0" bIns="0" rtlCol="0" anchor="t">
            <a:normAutofit/>
          </a:bodyPr>
          <a:lstStyle/>
          <a:p>
            <a:pPr indent="0" marL="0">
              <a:buNone/>
            </a:pPr>
            <a:r>
              <a:rPr lang="en-US" sz="650" dirty="0">
                <a:solidFill>
                  <a:srgbClr val="C0AAB9"/>
                </a:solidFill>
                <a:latin typeface="Arial" pitchFamily="34" charset="0"/>
                <a:ea typeface="Arial" pitchFamily="34" charset="-122"/>
                <a:cs typeface="Arial" pitchFamily="34" charset="-120"/>
              </a:rPr>
              <a:t>Watercolour 12 / invented setting and adults / not production evidence</a:t>
            </a:r>
            <a:endParaRPr lang="en-US" sz="650" dirty="0"/>
          </a:p>
        </p:txBody>
      </p:sp>
      <p:sp>
        <p:nvSpPr>
          <p:cNvPr id="30" name="Text 27"/>
          <p:cNvSpPr/>
          <p:nvPr/>
        </p:nvSpPr>
        <p:spPr>
          <a:xfrm>
            <a:off x="8705088" y="2139696"/>
            <a:ext cx="4133088" cy="164592"/>
          </a:xfrm>
          <a:prstGeom prst="rect">
            <a:avLst/>
          </a:prstGeom>
          <a:noFill/>
          <a:ln/>
        </p:spPr>
        <p:txBody>
          <a:bodyPr wrap="square" lIns="0" tIns="0" rIns="0" bIns="0" rtlCol="0" anchor="t">
            <a:normAutofit/>
          </a:bodyPr>
          <a:lstStyle/>
          <a:p>
            <a:pPr indent="0" marL="0">
              <a:buNone/>
            </a:pPr>
            <a:r>
              <a:rPr lang="en-US" sz="700" spc="110" kern="0" dirty="0">
                <a:solidFill>
                  <a:srgbClr val="9BC4A8"/>
                </a:solidFill>
                <a:latin typeface="Arial" pitchFamily="34" charset="0"/>
                <a:ea typeface="Arial" pitchFamily="34" charset="-122"/>
                <a:cs typeface="Arial" pitchFamily="34" charset="-120"/>
              </a:rPr>
              <a:t>STORY INTENTION</a:t>
            </a:r>
            <a:endParaRPr lang="en-US" sz="700" dirty="0"/>
          </a:p>
        </p:txBody>
      </p:sp>
      <p:sp>
        <p:nvSpPr>
          <p:cNvPr id="31" name="Text 28"/>
          <p:cNvSpPr/>
          <p:nvPr/>
        </p:nvSpPr>
        <p:spPr>
          <a:xfrm>
            <a:off x="8705088" y="2514600"/>
            <a:ext cx="4133088" cy="1828800"/>
          </a:xfrm>
          <a:prstGeom prst="rect">
            <a:avLst/>
          </a:prstGeom>
          <a:noFill/>
          <a:ln/>
        </p:spPr>
        <p:txBody>
          <a:bodyPr wrap="square" lIns="0" tIns="0" rIns="0" bIns="0" rtlCol="0" anchor="t">
            <a:normAutofit/>
          </a:bodyPr>
          <a:lstStyle/>
          <a:p>
            <a:pPr indent="0" marL="0">
              <a:buNone/>
            </a:pPr>
            <a:r>
              <a:rPr lang="en-US" sz="1575" dirty="0">
                <a:solidFill>
                  <a:srgbClr val="ECDED6"/>
                </a:solidFill>
                <a:latin typeface="Georgia" pitchFamily="34" charset="0"/>
                <a:ea typeface="Georgia" pitchFamily="34" charset="-122"/>
                <a:cs typeface="Georgia" pitchFamily="34" charset="-120"/>
              </a:rPr>
              <a:t>Gather the open creative notes without turning them into a promise that the story is ready for a real stage. Choose one question to carry into the handoff act. Keep unresolved alternatives visible.</a:t>
            </a:r>
            <a:endParaRPr lang="en-US" sz="1575" dirty="0"/>
          </a:p>
        </p:txBody>
      </p:sp>
      <p:sp>
        <p:nvSpPr>
          <p:cNvPr id="32" name="Text 29"/>
          <p:cNvSpPr/>
          <p:nvPr/>
        </p:nvSpPr>
        <p:spPr>
          <a:xfrm>
            <a:off x="8705088" y="4572000"/>
            <a:ext cx="4133088" cy="164592"/>
          </a:xfrm>
          <a:prstGeom prst="rect">
            <a:avLst/>
          </a:prstGeom>
          <a:noFill/>
          <a:ln/>
        </p:spPr>
        <p:txBody>
          <a:bodyPr wrap="square" lIns="0" tIns="0" rIns="0" bIns="0" rtlCol="0" anchor="t">
            <a:normAutofit/>
          </a:bodyPr>
          <a:lstStyle/>
          <a:p>
            <a:pPr indent="0" marL="0">
              <a:buNone/>
            </a:pPr>
            <a:r>
              <a:rPr lang="en-US" sz="700" spc="110" kern="0" dirty="0">
                <a:solidFill>
                  <a:srgbClr val="9BC4A8"/>
                </a:solidFill>
                <a:latin typeface="Arial" pitchFamily="34" charset="0"/>
                <a:ea typeface="Arial" pitchFamily="34" charset="-122"/>
                <a:cs typeface="Arial" pitchFamily="34" charset="-120"/>
              </a:rPr>
              <a:t>LEAVE A QUESTION</a:t>
            </a:r>
            <a:endParaRPr lang="en-US" sz="700" dirty="0"/>
          </a:p>
        </p:txBody>
      </p:sp>
      <p:sp>
        <p:nvSpPr>
          <p:cNvPr id="33" name="Text 30"/>
          <p:cNvSpPr/>
          <p:nvPr/>
        </p:nvSpPr>
        <p:spPr>
          <a:xfrm>
            <a:off x="8705088" y="4910328"/>
            <a:ext cx="4133088" cy="822960"/>
          </a:xfrm>
          <a:prstGeom prst="rect">
            <a:avLst/>
          </a:prstGeom>
          <a:noFill/>
          <a:ln/>
        </p:spPr>
        <p:txBody>
          <a:bodyPr wrap="square" lIns="0" tIns="0" rIns="0" bIns="0" rtlCol="0" anchor="t">
            <a:normAutofit/>
          </a:bodyPr>
          <a:lstStyle/>
          <a:p>
            <a:pPr indent="0" marL="0">
              <a:buNone/>
            </a:pPr>
            <a:r>
              <a:rPr lang="en-US" sz="1875" i="1" dirty="0">
                <a:solidFill>
                  <a:srgbClr val="9BC4A8"/>
                </a:solidFill>
                <a:latin typeface="Georgia" pitchFamily="34" charset="0"/>
                <a:ea typeface="Georgia" pitchFamily="34" charset="-122"/>
                <a:cs typeface="Georgia" pitchFamily="34" charset="-120"/>
              </a:rPr>
              <a:t>Which question would help another writer respond usefully?</a:t>
            </a:r>
            <a:endParaRPr lang="en-US" sz="1875" dirty="0"/>
          </a:p>
        </p:txBody>
      </p:sp>
      <p:sp>
        <p:nvSpPr>
          <p:cNvPr id="34" name="Text 31"/>
          <p:cNvSpPr/>
          <p:nvPr/>
        </p:nvSpPr>
        <p:spPr>
          <a:xfrm>
            <a:off x="8705088" y="5806440"/>
            <a:ext cx="4133088" cy="292608"/>
          </a:xfrm>
          <a:prstGeom prst="rect">
            <a:avLst/>
          </a:prstGeom>
          <a:noFill/>
          <a:ln/>
        </p:spPr>
        <p:txBody>
          <a:bodyPr wrap="square" lIns="0" tIns="0" rIns="0" bIns="0" rtlCol="0" anchor="t">
            <a:normAutofit/>
          </a:bodyPr>
          <a:lstStyle/>
          <a:p>
            <a:pPr indent="0" marL="0">
              <a:buNone/>
            </a:pPr>
            <a:r>
              <a:rPr lang="en-US" sz="700" dirty="0">
                <a:solidFill>
                  <a:srgbClr val="C0AAB9"/>
                </a:solidFill>
                <a:latin typeface="Arial" pitchFamily="34" charset="0"/>
                <a:ea typeface="Arial" pitchFamily="34" charset="-122"/>
                <a:cs typeface="Arial" pitchFamily="34" charset="-120"/>
              </a:rPr>
              <a:t>Beat order is not timing, a technical call or a show schedule.</a:t>
            </a:r>
            <a:endParaRPr lang="en-US" sz="700" dirty="0"/>
          </a:p>
        </p:txBody>
      </p:sp>
      <p:sp>
        <p:nvSpPr>
          <p:cNvPr id="35" name="Shape 32"/>
          <p:cNvSpPr/>
          <p:nvPr/>
        </p:nvSpPr>
        <p:spPr>
          <a:xfrm>
            <a:off x="1499616" y="6583680"/>
            <a:ext cx="3675888" cy="1481328"/>
          </a:xfrm>
          <a:prstGeom prst="rect">
            <a:avLst/>
          </a:prstGeom>
          <a:solidFill>
            <a:srgbClr val="182D2C"/>
          </a:solidFill>
          <a:ln w="8890">
            <a:solidFill>
              <a:srgbClr val="735D6D"/>
            </a:solidFill>
            <a:prstDash val="solid"/>
          </a:ln>
        </p:spPr>
      </p:sp>
      <p:sp>
        <p:nvSpPr>
          <p:cNvPr id="36" name="Text 33"/>
          <p:cNvSpPr/>
          <p:nvPr/>
        </p:nvSpPr>
        <p:spPr>
          <a:xfrm>
            <a:off x="1682496"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9BC4A8"/>
                </a:solidFill>
                <a:latin typeface="Arial" pitchFamily="34" charset="0"/>
                <a:ea typeface="Arial" pitchFamily="34" charset="-122"/>
                <a:cs typeface="Arial" pitchFamily="34" charset="-120"/>
              </a:rPr>
              <a:t>01 / NOTICE</a:t>
            </a:r>
            <a:endParaRPr lang="en-US" sz="700" dirty="0"/>
          </a:p>
        </p:txBody>
      </p:sp>
      <p:sp>
        <p:nvSpPr>
          <p:cNvPr id="37" name="Text 34"/>
          <p:cNvSpPr/>
          <p:nvPr/>
        </p:nvSpPr>
        <p:spPr>
          <a:xfrm>
            <a:off x="1682496"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A handoff can be ready for discussion, not for production.</a:t>
            </a:r>
            <a:endParaRPr lang="en-US" sz="1500" dirty="0"/>
          </a:p>
        </p:txBody>
      </p:sp>
      <p:sp>
        <p:nvSpPr>
          <p:cNvPr id="38" name="Shape 35"/>
          <p:cNvSpPr/>
          <p:nvPr/>
        </p:nvSpPr>
        <p:spPr>
          <a:xfrm>
            <a:off x="5321808" y="6583680"/>
            <a:ext cx="3675888" cy="1481328"/>
          </a:xfrm>
          <a:prstGeom prst="rect">
            <a:avLst/>
          </a:prstGeom>
          <a:solidFill>
            <a:srgbClr val="182D2C"/>
          </a:solidFill>
          <a:ln w="8890">
            <a:solidFill>
              <a:srgbClr val="735D6D"/>
            </a:solidFill>
            <a:prstDash val="solid"/>
          </a:ln>
        </p:spPr>
      </p:sp>
      <p:sp>
        <p:nvSpPr>
          <p:cNvPr id="39" name="Text 36"/>
          <p:cNvSpPr/>
          <p:nvPr/>
        </p:nvSpPr>
        <p:spPr>
          <a:xfrm>
            <a:off x="5504688"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9BC4A8"/>
                </a:solidFill>
                <a:latin typeface="Arial" pitchFamily="34" charset="0"/>
                <a:ea typeface="Arial" pitchFamily="34" charset="-122"/>
                <a:cs typeface="Arial" pitchFamily="34" charset="-120"/>
              </a:rPr>
              <a:t>02 / TRY IN WORDS</a:t>
            </a:r>
            <a:endParaRPr lang="en-US" sz="700" dirty="0"/>
          </a:p>
        </p:txBody>
      </p:sp>
      <p:sp>
        <p:nvSpPr>
          <p:cNvPr id="40" name="Text 37"/>
          <p:cNvSpPr/>
          <p:nvPr/>
        </p:nvSpPr>
        <p:spPr>
          <a:xfrm>
            <a:off x="5504688"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Write a question that another reader can answer from the draft.</a:t>
            </a:r>
            <a:endParaRPr lang="en-US" sz="1500" dirty="0"/>
          </a:p>
        </p:txBody>
      </p:sp>
      <p:sp>
        <p:nvSpPr>
          <p:cNvPr id="41" name="Shape 38"/>
          <p:cNvSpPr/>
          <p:nvPr/>
        </p:nvSpPr>
        <p:spPr>
          <a:xfrm>
            <a:off x="9144000" y="6583680"/>
            <a:ext cx="3675888" cy="1481328"/>
          </a:xfrm>
          <a:prstGeom prst="rect">
            <a:avLst/>
          </a:prstGeom>
          <a:solidFill>
            <a:srgbClr val="182D2C"/>
          </a:solidFill>
          <a:ln w="8890">
            <a:solidFill>
              <a:srgbClr val="735D6D"/>
            </a:solidFill>
            <a:prstDash val="solid"/>
          </a:ln>
        </p:spPr>
      </p:sp>
      <p:sp>
        <p:nvSpPr>
          <p:cNvPr id="42" name="Text 39"/>
          <p:cNvSpPr/>
          <p:nvPr/>
        </p:nvSpPr>
        <p:spPr>
          <a:xfrm>
            <a:off x="9326880"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9BC4A8"/>
                </a:solidFill>
                <a:latin typeface="Arial" pitchFamily="34" charset="0"/>
                <a:ea typeface="Arial" pitchFamily="34" charset="-122"/>
                <a:cs typeface="Arial" pitchFamily="34" charset="-120"/>
              </a:rPr>
              <a:t>03 / KEEP VISIBLE</a:t>
            </a:r>
            <a:endParaRPr lang="en-US" sz="700" dirty="0"/>
          </a:p>
        </p:txBody>
      </p:sp>
      <p:sp>
        <p:nvSpPr>
          <p:cNvPr id="43" name="Text 40"/>
          <p:cNvSpPr/>
          <p:nvPr/>
        </p:nvSpPr>
        <p:spPr>
          <a:xfrm>
            <a:off x="9326880"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Name what the reader would need that is not supplied.</a:t>
            </a:r>
            <a:endParaRPr lang="en-US" sz="1500" dirty="0"/>
          </a:p>
        </p:txBody>
      </p:sp>
      <p:sp>
        <p:nvSpPr>
          <p:cNvPr id="44" name="Shape 41"/>
          <p:cNvSpPr/>
          <p:nvPr/>
        </p:nvSpPr>
        <p:spPr>
          <a:xfrm>
            <a:off x="1499616" y="8211312"/>
            <a:ext cx="11338560" cy="0"/>
          </a:xfrm>
          <a:prstGeom prst="line">
            <a:avLst/>
          </a:prstGeom>
          <a:noFill/>
          <a:ln w="8890">
            <a:solidFill>
              <a:srgbClr val="796170"/>
            </a:solidFill>
            <a:prstDash val="solid"/>
          </a:ln>
        </p:spPr>
      </p:sp>
      <p:sp>
        <p:nvSpPr>
          <p:cNvPr id="45" name="Text 42"/>
          <p:cNvSpPr/>
          <p:nvPr/>
        </p:nvSpPr>
        <p:spPr>
          <a:xfrm>
            <a:off x="1499616" y="8339328"/>
            <a:ext cx="8229600" cy="118872"/>
          </a:xfrm>
          <a:prstGeom prst="rect">
            <a:avLst/>
          </a:prstGeom>
          <a:noFill/>
          <a:ln/>
        </p:spPr>
        <p:txBody>
          <a:bodyPr wrap="square" lIns="0" tIns="0" rIns="0" bIns="0" rtlCol="0" anchor="t">
            <a:normAutofit/>
          </a:bodyPr>
          <a:lstStyle/>
          <a:p>
            <a:pPr indent="0" marL="0">
              <a:buNone/>
            </a:pPr>
            <a:r>
              <a:rPr lang="en-US" sz="650" dirty="0">
                <a:solidFill>
                  <a:srgbClr val="C0AAB9"/>
                </a:solidFill>
                <a:latin typeface="Arial" pitchFamily="34" charset="0"/>
                <a:ea typeface="Arial" pitchFamily="34" charset="-122"/>
                <a:cs typeface="Arial" pitchFamily="34" charset="-120"/>
              </a:rPr>
              <a:t>FICTIONAL WRITING WORKSHOP / NOT A STAGING OR APPROVAL PLAN</a:t>
            </a:r>
            <a:endParaRPr lang="en-US" sz="650" dirty="0"/>
          </a:p>
        </p:txBody>
      </p:sp>
      <p:sp>
        <p:nvSpPr>
          <p:cNvPr id="46" name="Text 43"/>
          <p:cNvSpPr/>
          <p:nvPr/>
        </p:nvSpPr>
        <p:spPr>
          <a:xfrm>
            <a:off x="9729216" y="8339328"/>
            <a:ext cx="3108960" cy="118872"/>
          </a:xfrm>
          <a:prstGeom prst="rect">
            <a:avLst/>
          </a:prstGeom>
          <a:noFill/>
          <a:ln/>
        </p:spPr>
        <p:txBody>
          <a:bodyPr wrap="square" lIns="0" tIns="0" rIns="0" bIns="0" rtlCol="0" anchor="t">
            <a:normAutofit/>
          </a:bodyPr>
          <a:lstStyle/>
          <a:p>
            <a:pPr algn="r" indent="0" marL="0">
              <a:buNone/>
            </a:pPr>
            <a:r>
              <a:rPr lang="en-US" sz="650" dirty="0">
                <a:solidFill>
                  <a:srgbClr val="C0AAB9"/>
                </a:solidFill>
                <a:latin typeface="Arial" pitchFamily="34" charset="0"/>
                <a:ea typeface="Arial" pitchFamily="34" charset="-122"/>
                <a:cs typeface="Arial" pitchFamily="34" charset="-120"/>
              </a:rPr>
              <a:t>DRAFT / 14 OF 15 ARTWORKS / 24 OF 30</a:t>
            </a:r>
            <a:endParaRPr lang="en-US" sz="6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292039"/>
        </a:solidFill>
      </p:bgPr>
    </p:bg>
    <p:spTree>
      <p:nvGrpSpPr>
        <p:cNvPr id="1" name=""/>
        <p:cNvGrpSpPr/>
        <p:nvPr/>
      </p:nvGrpSpPr>
      <p:grpSpPr>
        <a:xfrm>
          <a:off x="0" y="0"/>
          <a:ext cx="0" cy="0"/>
          <a:chOff x="0" y="0"/>
          <a:chExt cx="0" cy="0"/>
        </a:xfrm>
      </p:grpSpPr>
      <p:sp>
        <p:nvSpPr>
          <p:cNvPr id="2" name="Shape 0"/>
          <p:cNvSpPr/>
          <p:nvPr/>
        </p:nvSpPr>
        <p:spPr>
          <a:xfrm>
            <a:off x="1243584" y="329184"/>
            <a:ext cx="0" cy="8119872"/>
          </a:xfrm>
          <a:prstGeom prst="line">
            <a:avLst/>
          </a:prstGeom>
          <a:noFill/>
          <a:ln w="10160">
            <a:solidFill>
              <a:srgbClr val="776072"/>
            </a:solidFill>
            <a:prstDash val="solid"/>
          </a:ln>
        </p:spPr>
      </p:sp>
      <p:sp>
        <p:nvSpPr>
          <p:cNvPr id="3" name="Text 1"/>
          <p:cNvSpPr/>
          <p:nvPr/>
        </p:nvSpPr>
        <p:spPr>
          <a:xfrm>
            <a:off x="393192" y="457200"/>
            <a:ext cx="685800" cy="457200"/>
          </a:xfrm>
          <a:prstGeom prst="rect">
            <a:avLst/>
          </a:prstGeom>
          <a:noFill/>
          <a:ln/>
        </p:spPr>
        <p:txBody>
          <a:bodyPr wrap="square" lIns="0" tIns="0" rIns="0" bIns="0" rtlCol="0" anchor="t">
            <a:normAutofit/>
          </a:bodyPr>
          <a:lstStyle/>
          <a:p>
            <a:pPr indent="0" marL="0">
              <a:buNone/>
            </a:pPr>
            <a:r>
              <a:rPr lang="en-US" sz="600" dirty="0">
                <a:solidFill>
                  <a:srgbClr val="C0AAB9"/>
                </a:solidFill>
                <a:latin typeface="Arial" pitchFamily="34" charset="0"/>
                <a:ea typeface="Arial" pitchFamily="34" charset="-122"/>
                <a:cs typeface="Arial" pitchFamily="34" charset="-120"/>
              </a:rPr>
              <a:t>DESIGN BUDDY</a:t>
            </a:r>
            <a:endParaRPr lang="en-US" sz="600" dirty="0"/>
          </a:p>
          <a:p>
            <a:pPr indent="0" marL="0">
              <a:buNone/>
            </a:pPr>
            <a:r>
              <a:rPr lang="en-US" sz="600" dirty="0">
                <a:solidFill>
                  <a:srgbClr val="C0AAB9"/>
                </a:solidFill>
                <a:latin typeface="Arial" pitchFamily="34" charset="0"/>
                <a:ea typeface="Arial" pitchFamily="34" charset="-122"/>
                <a:cs typeface="Arial" pitchFamily="34" charset="-120"/>
              </a:rPr>
              <a:t>CREATIVE EXERCISE</a:t>
            </a:r>
            <a:endParaRPr lang="en-US" sz="600" dirty="0"/>
          </a:p>
        </p:txBody>
      </p:sp>
      <p:sp>
        <p:nvSpPr>
          <p:cNvPr id="4" name="Text 2"/>
          <p:cNvSpPr/>
          <p:nvPr/>
        </p:nvSpPr>
        <p:spPr>
          <a:xfrm>
            <a:off x="502920" y="1920240"/>
            <a:ext cx="502920" cy="4480560"/>
          </a:xfrm>
          <a:prstGeom prst="rect">
            <a:avLst/>
          </a:prstGeom>
          <a:noFill/>
          <a:ln/>
        </p:spPr>
        <p:txBody>
          <a:bodyPr wrap="square" lIns="0" tIns="0" rIns="0" bIns="0" rtlCol="0" anchor="t">
            <a:normAutofit/>
          </a:bodyPr>
          <a:lstStyle/>
          <a:p>
            <a:pPr algn="ctr" indent="0" marL="0">
              <a:buNone/>
            </a:pPr>
            <a:r>
              <a:rPr lang="en-US" sz="2500" dirty="0">
                <a:solidFill>
                  <a:srgbClr val="C3ACE5"/>
                </a:solidFill>
                <a:latin typeface="Georgia" pitchFamily="34" charset="0"/>
                <a:ea typeface="Georgia" pitchFamily="34" charset="-122"/>
                <a:cs typeface="Georgia" pitchFamily="34" charset="-120"/>
              </a:rPr>
              <a:t>A</a:t>
            </a:r>
            <a:endParaRPr lang="en-US" sz="2500" dirty="0"/>
          </a:p>
          <a:p>
            <a:pPr algn="ctr" indent="0" marL="0">
              <a:buNone/>
            </a:pPr>
            <a:r>
              <a:rPr lang="en-US" sz="2500" dirty="0">
                <a:solidFill>
                  <a:srgbClr val="C3ACE5"/>
                </a:solidFill>
                <a:latin typeface="Georgia" pitchFamily="34" charset="0"/>
                <a:ea typeface="Georgia" pitchFamily="34" charset="-122"/>
                <a:cs typeface="Georgia" pitchFamily="34" charset="-120"/>
              </a:rPr>
              <a:t>F</a:t>
            </a:r>
            <a:endParaRPr lang="en-US" sz="2500" dirty="0"/>
          </a:p>
          <a:p>
            <a:pPr algn="ctr" indent="0" marL="0">
              <a:buNone/>
            </a:pPr>
            <a:r>
              <a:rPr lang="en-US" sz="2500" dirty="0">
                <a:solidFill>
                  <a:srgbClr val="C3ACE5"/>
                </a:solidFill>
                <a:latin typeface="Georgia" pitchFamily="34" charset="0"/>
                <a:ea typeface="Georgia" pitchFamily="34" charset="-122"/>
                <a:cs typeface="Georgia" pitchFamily="34" charset="-120"/>
              </a:rPr>
              <a:t>T</a:t>
            </a:r>
            <a:endParaRPr lang="en-US" sz="2500" dirty="0"/>
          </a:p>
          <a:p>
            <a:pPr algn="ctr" indent="0" marL="0">
              <a:buNone/>
            </a:pPr>
            <a:r>
              <a:rPr lang="en-US" sz="2500" dirty="0">
                <a:solidFill>
                  <a:srgbClr val="C3ACE5"/>
                </a:solidFill>
                <a:latin typeface="Georgia" pitchFamily="34" charset="0"/>
                <a:ea typeface="Georgia" pitchFamily="34" charset="-122"/>
                <a:cs typeface="Georgia" pitchFamily="34" charset="-120"/>
              </a:rPr>
              <a:t>E</a:t>
            </a:r>
            <a:endParaRPr lang="en-US" sz="2500" dirty="0"/>
          </a:p>
          <a:p>
            <a:pPr algn="ctr" indent="0" marL="0">
              <a:buNone/>
            </a:pPr>
            <a:r>
              <a:rPr lang="en-US" sz="2500" dirty="0">
                <a:solidFill>
                  <a:srgbClr val="C3ACE5"/>
                </a:solidFill>
                <a:latin typeface="Georgia" pitchFamily="34" charset="0"/>
                <a:ea typeface="Georgia" pitchFamily="34" charset="-122"/>
                <a:cs typeface="Georgia" pitchFamily="34" charset="-120"/>
              </a:rPr>
              <a:t>R</a:t>
            </a:r>
            <a:endParaRPr lang="en-US" sz="2500" dirty="0"/>
          </a:p>
          <a:p>
            <a:pPr algn="ctr" indent="0" marL="0">
              <a:buNone/>
            </a:pPr>
            <a:r>
              <a:rPr lang="en-US" sz="2500" dirty="0">
                <a:solidFill>
                  <a:srgbClr val="C3ACE5"/>
                </a:solidFill>
                <a:latin typeface="Georgia" pitchFamily="34" charset="0"/>
                <a:ea typeface="Georgia" pitchFamily="34" charset="-122"/>
                <a:cs typeface="Georgia" pitchFamily="34" charset="-120"/>
              </a:rPr>
              <a:t>G</a:t>
            </a:r>
            <a:endParaRPr lang="en-US" sz="2500" dirty="0"/>
          </a:p>
          <a:p>
            <a:pPr algn="ctr" indent="0" marL="0">
              <a:buNone/>
            </a:pPr>
            <a:r>
              <a:rPr lang="en-US" sz="2500" dirty="0">
                <a:solidFill>
                  <a:srgbClr val="C3ACE5"/>
                </a:solidFill>
                <a:latin typeface="Georgia" pitchFamily="34" charset="0"/>
                <a:ea typeface="Georgia" pitchFamily="34" charset="-122"/>
                <a:cs typeface="Georgia" pitchFamily="34" charset="-120"/>
              </a:rPr>
              <a:t>L</a:t>
            </a:r>
            <a:endParaRPr lang="en-US" sz="2500" dirty="0"/>
          </a:p>
          <a:p>
            <a:pPr algn="ctr" indent="0" marL="0">
              <a:buNone/>
            </a:pPr>
            <a:r>
              <a:rPr lang="en-US" sz="2500" dirty="0">
                <a:solidFill>
                  <a:srgbClr val="C3ACE5"/>
                </a:solidFill>
                <a:latin typeface="Georgia" pitchFamily="34" charset="0"/>
                <a:ea typeface="Georgia" pitchFamily="34" charset="-122"/>
                <a:cs typeface="Georgia" pitchFamily="34" charset="-120"/>
              </a:rPr>
              <a:t>O</a:t>
            </a:r>
            <a:endParaRPr lang="en-US" sz="2500" dirty="0"/>
          </a:p>
          <a:p>
            <a:pPr algn="ctr" indent="0" marL="0">
              <a:buNone/>
            </a:pPr>
            <a:r>
              <a:rPr lang="en-US" sz="2500" dirty="0">
                <a:solidFill>
                  <a:srgbClr val="C3ACE5"/>
                </a:solidFill>
                <a:latin typeface="Georgia" pitchFamily="34" charset="0"/>
                <a:ea typeface="Georgia" pitchFamily="34" charset="-122"/>
                <a:cs typeface="Georgia" pitchFamily="34" charset="-120"/>
              </a:rPr>
              <a:t>W</a:t>
            </a:r>
            <a:endParaRPr lang="en-US" sz="2500" dirty="0"/>
          </a:p>
        </p:txBody>
      </p:sp>
      <p:sp>
        <p:nvSpPr>
          <p:cNvPr id="5" name="Text 3"/>
          <p:cNvSpPr/>
          <p:nvPr/>
        </p:nvSpPr>
        <p:spPr>
          <a:xfrm>
            <a:off x="402336" y="7022592"/>
            <a:ext cx="731520" cy="594360"/>
          </a:xfrm>
          <a:prstGeom prst="rect">
            <a:avLst/>
          </a:prstGeom>
          <a:noFill/>
          <a:ln/>
        </p:spPr>
        <p:txBody>
          <a:bodyPr wrap="square" lIns="0" tIns="0" rIns="0" bIns="0" rtlCol="0" anchor="t">
            <a:normAutofit/>
          </a:bodyPr>
          <a:lstStyle/>
          <a:p>
            <a:pPr indent="0" marL="0">
              <a:buNone/>
            </a:pPr>
            <a:r>
              <a:rPr lang="en-US" sz="4200" dirty="0">
                <a:solidFill>
                  <a:srgbClr val="C3ACE5"/>
                </a:solidFill>
                <a:latin typeface="Georgia" pitchFamily="34" charset="0"/>
                <a:ea typeface="Georgia" pitchFamily="34" charset="-122"/>
                <a:cs typeface="Georgia" pitchFamily="34" charset="-120"/>
              </a:rPr>
              <a:t>25</a:t>
            </a:r>
            <a:endParaRPr lang="en-US" sz="4200" dirty="0"/>
          </a:p>
        </p:txBody>
      </p:sp>
      <p:sp>
        <p:nvSpPr>
          <p:cNvPr id="6" name="Text 4"/>
          <p:cNvSpPr/>
          <p:nvPr/>
        </p:nvSpPr>
        <p:spPr>
          <a:xfrm>
            <a:off x="402336" y="7818120"/>
            <a:ext cx="731520" cy="411480"/>
          </a:xfrm>
          <a:prstGeom prst="rect">
            <a:avLst/>
          </a:prstGeom>
          <a:noFill/>
          <a:ln/>
        </p:spPr>
        <p:txBody>
          <a:bodyPr wrap="square" lIns="0" tIns="0" rIns="0" bIns="0" rtlCol="0" anchor="t">
            <a:normAutofit/>
          </a:bodyPr>
          <a:lstStyle/>
          <a:p>
            <a:pPr indent="0" marL="0">
              <a:buNone/>
            </a:pPr>
            <a:r>
              <a:rPr lang="en-US" sz="700" dirty="0">
                <a:solidFill>
                  <a:srgbClr val="C0AAB9"/>
                </a:solidFill>
                <a:latin typeface="Arial" pitchFamily="34" charset="0"/>
                <a:ea typeface="Arial" pitchFamily="34" charset="-122"/>
                <a:cs typeface="Arial" pitchFamily="34" charset="-120"/>
              </a:rPr>
              <a:t>ACT 5 / 5</a:t>
            </a:r>
            <a:endParaRPr lang="en-US" sz="700" dirty="0"/>
          </a:p>
          <a:p>
            <a:pPr indent="0" marL="0">
              <a:buNone/>
            </a:pPr>
            <a:r>
              <a:rPr lang="en-US" sz="700" dirty="0">
                <a:solidFill>
                  <a:srgbClr val="C0AAB9"/>
                </a:solidFill>
                <a:latin typeface="Arial" pitchFamily="34" charset="0"/>
                <a:ea typeface="Arial" pitchFamily="34" charset="-122"/>
                <a:cs typeface="Arial" pitchFamily="34" charset="-120"/>
              </a:rPr>
              <a:t>BEAT 1 / 6</a:t>
            </a:r>
            <a:endParaRPr lang="en-US" sz="700" dirty="0"/>
          </a:p>
        </p:txBody>
      </p:sp>
      <p:sp>
        <p:nvSpPr>
          <p:cNvPr id="7" name="Text 5"/>
          <p:cNvSpPr/>
          <p:nvPr/>
        </p:nvSpPr>
        <p:spPr>
          <a:xfrm>
            <a:off x="1499616" y="347472"/>
            <a:ext cx="9144000" cy="164592"/>
          </a:xfrm>
          <a:prstGeom prst="rect">
            <a:avLst/>
          </a:prstGeom>
          <a:noFill/>
          <a:ln/>
        </p:spPr>
        <p:txBody>
          <a:bodyPr wrap="square" lIns="0" tIns="0" rIns="0" bIns="0" rtlCol="0" anchor="t">
            <a:normAutofit/>
          </a:bodyPr>
          <a:lstStyle/>
          <a:p>
            <a:pPr indent="0" marL="0">
              <a:buNone/>
            </a:pPr>
            <a:r>
              <a:rPr lang="en-US" sz="700" spc="120" kern="0" dirty="0">
                <a:solidFill>
                  <a:srgbClr val="C3ACE5"/>
                </a:solidFill>
                <a:latin typeface="Arial" pitchFamily="34" charset="0"/>
                <a:ea typeface="Arial" pitchFamily="34" charset="-122"/>
                <a:cs typeface="Arial" pitchFamily="34" charset="-120"/>
              </a:rPr>
              <a:t>ACT 5 / HANDOFF</a:t>
            </a:r>
            <a:endParaRPr lang="en-US" sz="700" dirty="0"/>
          </a:p>
        </p:txBody>
      </p:sp>
      <p:sp>
        <p:nvSpPr>
          <p:cNvPr id="8" name="Text 6"/>
          <p:cNvSpPr/>
          <p:nvPr/>
        </p:nvSpPr>
        <p:spPr>
          <a:xfrm>
            <a:off x="1499616" y="612648"/>
            <a:ext cx="9692640" cy="594360"/>
          </a:xfrm>
          <a:prstGeom prst="rect">
            <a:avLst/>
          </a:prstGeom>
          <a:noFill/>
          <a:ln/>
        </p:spPr>
        <p:txBody>
          <a:bodyPr wrap="square" lIns="0" tIns="0" rIns="0" bIns="0" rtlCol="0" anchor="t">
            <a:normAutofit/>
          </a:bodyPr>
          <a:lstStyle/>
          <a:p>
            <a:pPr indent="0" marL="0">
              <a:buNone/>
            </a:pPr>
            <a:r>
              <a:rPr lang="en-US" sz="2800" dirty="0">
                <a:solidFill>
                  <a:srgbClr val="ECDED6"/>
                </a:solidFill>
                <a:latin typeface="Georgia" pitchFamily="34" charset="0"/>
                <a:ea typeface="Georgia" pitchFamily="34" charset="-122"/>
                <a:cs typeface="Georgia" pitchFamily="34" charset="-120"/>
              </a:rPr>
              <a:t>Introduce the draft honestly.</a:t>
            </a:r>
            <a:endParaRPr lang="en-US" sz="2800" dirty="0"/>
          </a:p>
        </p:txBody>
      </p:sp>
      <p:sp>
        <p:nvSpPr>
          <p:cNvPr id="9" name="Text 7"/>
          <p:cNvSpPr/>
          <p:nvPr/>
        </p:nvSpPr>
        <p:spPr>
          <a:xfrm>
            <a:off x="11475720" y="438912"/>
            <a:ext cx="1325880" cy="182880"/>
          </a:xfrm>
          <a:prstGeom prst="rect">
            <a:avLst/>
          </a:prstGeom>
          <a:noFill/>
          <a:ln/>
        </p:spPr>
        <p:txBody>
          <a:bodyPr wrap="square" lIns="0" tIns="0" rIns="0" bIns="0" rtlCol="0" anchor="t">
            <a:normAutofit/>
          </a:bodyPr>
          <a:lstStyle/>
          <a:p>
            <a:pPr algn="r" indent="0" marL="0">
              <a:buNone/>
            </a:pPr>
            <a:r>
              <a:rPr lang="en-US" sz="700" dirty="0">
                <a:solidFill>
                  <a:srgbClr val="C3ACE5"/>
                </a:solidFill>
                <a:latin typeface="Arial" pitchFamily="34" charset="0"/>
                <a:ea typeface="Arial" pitchFamily="34" charset="-122"/>
                <a:cs typeface="Arial" pitchFamily="34" charset="-120"/>
              </a:rPr>
              <a:t>LOCAL / UNMARKED</a:t>
            </a:r>
            <a:endParaRPr lang="en-US" sz="700" dirty="0"/>
          </a:p>
        </p:txBody>
      </p:sp>
      <p:sp>
        <p:nvSpPr>
          <p:cNvPr id="10" name="Shape 8"/>
          <p:cNvSpPr/>
          <p:nvPr/>
        </p:nvSpPr>
        <p:spPr>
          <a:xfrm>
            <a:off x="1499616" y="1307592"/>
            <a:ext cx="1819656" cy="448056"/>
          </a:xfrm>
          <a:prstGeom prst="rect">
            <a:avLst/>
          </a:prstGeom>
          <a:solidFill>
            <a:srgbClr val="292039"/>
          </a:solidFill>
          <a:ln w="8890">
            <a:solidFill>
              <a:srgbClr val="C3ACE5"/>
            </a:solidFill>
            <a:prstDash val="solid"/>
          </a:ln>
        </p:spPr>
      </p:sp>
      <p:sp>
        <p:nvSpPr>
          <p:cNvPr id="11" name="Text 9"/>
          <p:cNvSpPr/>
          <p:nvPr/>
        </p:nvSpPr>
        <p:spPr>
          <a:xfrm>
            <a:off x="1572768"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C3ACE5"/>
                </a:solidFill>
                <a:latin typeface="Georgia" pitchFamily="34" charset="0"/>
                <a:ea typeface="Georgia" pitchFamily="34" charset="-122"/>
                <a:cs typeface="Georgia" pitchFamily="34" charset="-120"/>
              </a:rPr>
              <a:t>1</a:t>
            </a:r>
            <a:endParaRPr lang="en-US" sz="1700" dirty="0"/>
          </a:p>
        </p:txBody>
      </p:sp>
      <p:sp>
        <p:nvSpPr>
          <p:cNvPr id="12" name="Text 10"/>
          <p:cNvSpPr/>
          <p:nvPr/>
        </p:nvSpPr>
        <p:spPr>
          <a:xfrm>
            <a:off x="1865376"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Introduce the draft honestly.</a:t>
            </a:r>
            <a:endParaRPr lang="en-US" sz="700" dirty="0"/>
          </a:p>
        </p:txBody>
      </p:sp>
      <p:sp>
        <p:nvSpPr>
          <p:cNvPr id="13" name="Shape 11"/>
          <p:cNvSpPr/>
          <p:nvPr/>
        </p:nvSpPr>
        <p:spPr>
          <a:xfrm>
            <a:off x="3392424" y="1307592"/>
            <a:ext cx="1819656" cy="448056"/>
          </a:xfrm>
          <a:prstGeom prst="rect">
            <a:avLst/>
          </a:prstGeom>
          <a:solidFill>
            <a:srgbClr val="292039"/>
          </a:solidFill>
          <a:ln w="8890">
            <a:solidFill>
              <a:srgbClr val="6D5768"/>
            </a:solidFill>
            <a:prstDash val="solid"/>
          </a:ln>
        </p:spPr>
      </p:sp>
      <p:sp>
        <p:nvSpPr>
          <p:cNvPr id="14" name="Text 12"/>
          <p:cNvSpPr/>
          <p:nvPr/>
        </p:nvSpPr>
        <p:spPr>
          <a:xfrm>
            <a:off x="3465576"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C3ACE5"/>
                </a:solidFill>
                <a:latin typeface="Georgia" pitchFamily="34" charset="0"/>
                <a:ea typeface="Georgia" pitchFamily="34" charset="-122"/>
                <a:cs typeface="Georgia" pitchFamily="34" charset="-120"/>
              </a:rPr>
              <a:t>2</a:t>
            </a:r>
            <a:endParaRPr lang="en-US" sz="1700" dirty="0"/>
          </a:p>
        </p:txBody>
      </p:sp>
      <p:sp>
        <p:nvSpPr>
          <p:cNvPr id="15" name="Text 13"/>
          <p:cNvSpPr/>
          <p:nvPr/>
        </p:nvSpPr>
        <p:spPr>
          <a:xfrm>
            <a:off x="3758184"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Separate a choice from a promise.</a:t>
            </a:r>
            <a:endParaRPr lang="en-US" sz="700" dirty="0"/>
          </a:p>
        </p:txBody>
      </p:sp>
      <p:sp>
        <p:nvSpPr>
          <p:cNvPr id="16" name="Shape 14"/>
          <p:cNvSpPr/>
          <p:nvPr/>
        </p:nvSpPr>
        <p:spPr>
          <a:xfrm>
            <a:off x="5285232" y="1307592"/>
            <a:ext cx="1819656" cy="448056"/>
          </a:xfrm>
          <a:prstGeom prst="rect">
            <a:avLst/>
          </a:prstGeom>
          <a:solidFill>
            <a:srgbClr val="292039"/>
          </a:solidFill>
          <a:ln w="8890">
            <a:solidFill>
              <a:srgbClr val="6D5768"/>
            </a:solidFill>
            <a:prstDash val="solid"/>
          </a:ln>
        </p:spPr>
      </p:sp>
      <p:sp>
        <p:nvSpPr>
          <p:cNvPr id="17" name="Text 15"/>
          <p:cNvSpPr/>
          <p:nvPr/>
        </p:nvSpPr>
        <p:spPr>
          <a:xfrm>
            <a:off x="5358384"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C3ACE5"/>
                </a:solidFill>
                <a:latin typeface="Georgia" pitchFamily="34" charset="0"/>
                <a:ea typeface="Georgia" pitchFamily="34" charset="-122"/>
                <a:cs typeface="Georgia" pitchFamily="34" charset="-120"/>
              </a:rPr>
              <a:t>3</a:t>
            </a:r>
            <a:endParaRPr lang="en-US" sz="1700" dirty="0"/>
          </a:p>
        </p:txBody>
      </p:sp>
      <p:sp>
        <p:nvSpPr>
          <p:cNvPr id="18" name="Text 16"/>
          <p:cNvSpPr/>
          <p:nvPr/>
        </p:nvSpPr>
        <p:spPr>
          <a:xfrm>
            <a:off x="5650992"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Send the version you mean.</a:t>
            </a:r>
            <a:endParaRPr lang="en-US" sz="700" dirty="0"/>
          </a:p>
        </p:txBody>
      </p:sp>
      <p:sp>
        <p:nvSpPr>
          <p:cNvPr id="19" name="Shape 17"/>
          <p:cNvSpPr/>
          <p:nvPr/>
        </p:nvSpPr>
        <p:spPr>
          <a:xfrm>
            <a:off x="7178040" y="1307592"/>
            <a:ext cx="1819656" cy="448056"/>
          </a:xfrm>
          <a:prstGeom prst="rect">
            <a:avLst/>
          </a:prstGeom>
          <a:solidFill>
            <a:srgbClr val="292039"/>
          </a:solidFill>
          <a:ln w="8890">
            <a:solidFill>
              <a:srgbClr val="6D5768"/>
            </a:solidFill>
            <a:prstDash val="solid"/>
          </a:ln>
        </p:spPr>
      </p:sp>
      <p:sp>
        <p:nvSpPr>
          <p:cNvPr id="20" name="Text 18"/>
          <p:cNvSpPr/>
          <p:nvPr/>
        </p:nvSpPr>
        <p:spPr>
          <a:xfrm>
            <a:off x="7251192"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C3ACE5"/>
                </a:solidFill>
                <a:latin typeface="Georgia" pitchFamily="34" charset="0"/>
                <a:ea typeface="Georgia" pitchFamily="34" charset="-122"/>
                <a:cs typeface="Georgia" pitchFamily="34" charset="-120"/>
              </a:rPr>
              <a:t>4</a:t>
            </a:r>
            <a:endParaRPr lang="en-US" sz="1700" dirty="0"/>
          </a:p>
        </p:txBody>
      </p:sp>
      <p:sp>
        <p:nvSpPr>
          <p:cNvPr id="21" name="Text 19"/>
          <p:cNvSpPr/>
          <p:nvPr/>
        </p:nvSpPr>
        <p:spPr>
          <a:xfrm>
            <a:off x="7543800"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Leave a useful open question.</a:t>
            </a:r>
            <a:endParaRPr lang="en-US" sz="700" dirty="0"/>
          </a:p>
        </p:txBody>
      </p:sp>
      <p:sp>
        <p:nvSpPr>
          <p:cNvPr id="22" name="Shape 20"/>
          <p:cNvSpPr/>
          <p:nvPr/>
        </p:nvSpPr>
        <p:spPr>
          <a:xfrm>
            <a:off x="9070848" y="1307592"/>
            <a:ext cx="1819656" cy="448056"/>
          </a:xfrm>
          <a:prstGeom prst="rect">
            <a:avLst/>
          </a:prstGeom>
          <a:solidFill>
            <a:srgbClr val="292039"/>
          </a:solidFill>
          <a:ln w="8890">
            <a:solidFill>
              <a:srgbClr val="6D5768"/>
            </a:solidFill>
            <a:prstDash val="solid"/>
          </a:ln>
        </p:spPr>
      </p:sp>
      <p:sp>
        <p:nvSpPr>
          <p:cNvPr id="23" name="Text 21"/>
          <p:cNvSpPr/>
          <p:nvPr/>
        </p:nvSpPr>
        <p:spPr>
          <a:xfrm>
            <a:off x="9144000"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C3ACE5"/>
                </a:solidFill>
                <a:latin typeface="Georgia" pitchFamily="34" charset="0"/>
                <a:ea typeface="Georgia" pitchFamily="34" charset="-122"/>
                <a:cs typeface="Georgia" pitchFamily="34" charset="-120"/>
              </a:rPr>
              <a:t>5</a:t>
            </a:r>
            <a:endParaRPr lang="en-US" sz="1700" dirty="0"/>
          </a:p>
        </p:txBody>
      </p:sp>
      <p:sp>
        <p:nvSpPr>
          <p:cNvPr id="24" name="Text 22"/>
          <p:cNvSpPr/>
          <p:nvPr/>
        </p:nvSpPr>
        <p:spPr>
          <a:xfrm>
            <a:off x="9436608"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Keep the workshop fictional.</a:t>
            </a:r>
            <a:endParaRPr lang="en-US" sz="700" dirty="0"/>
          </a:p>
        </p:txBody>
      </p:sp>
      <p:sp>
        <p:nvSpPr>
          <p:cNvPr id="25" name="Shape 23"/>
          <p:cNvSpPr/>
          <p:nvPr/>
        </p:nvSpPr>
        <p:spPr>
          <a:xfrm>
            <a:off x="10963656" y="1307592"/>
            <a:ext cx="1819656" cy="448056"/>
          </a:xfrm>
          <a:prstGeom prst="rect">
            <a:avLst/>
          </a:prstGeom>
          <a:solidFill>
            <a:srgbClr val="292039"/>
          </a:solidFill>
          <a:ln w="8890">
            <a:solidFill>
              <a:srgbClr val="6D5768"/>
            </a:solidFill>
            <a:prstDash val="solid"/>
          </a:ln>
        </p:spPr>
      </p:sp>
      <p:sp>
        <p:nvSpPr>
          <p:cNvPr id="26" name="Text 24"/>
          <p:cNvSpPr/>
          <p:nvPr/>
        </p:nvSpPr>
        <p:spPr>
          <a:xfrm>
            <a:off x="11036808"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C3ACE5"/>
                </a:solidFill>
                <a:latin typeface="Georgia" pitchFamily="34" charset="0"/>
                <a:ea typeface="Georgia" pitchFamily="34" charset="-122"/>
                <a:cs typeface="Georgia" pitchFamily="34" charset="-120"/>
              </a:rPr>
              <a:t>6</a:t>
            </a:r>
            <a:endParaRPr lang="en-US" sz="1700" dirty="0"/>
          </a:p>
        </p:txBody>
      </p:sp>
      <p:sp>
        <p:nvSpPr>
          <p:cNvPr id="27" name="Text 25"/>
          <p:cNvSpPr/>
          <p:nvPr/>
        </p:nvSpPr>
        <p:spPr>
          <a:xfrm>
            <a:off x="11329416"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Close with another possibility.</a:t>
            </a:r>
            <a:endParaRPr lang="en-US" sz="700" dirty="0"/>
          </a:p>
        </p:txBody>
      </p:sp>
      <p:pic>
        <p:nvPicPr>
          <p:cNvPr id="28" name="Image 0" descr="/home/user/design-buddy/design-buddy-home/public/atelier/afterglow/images/13.jpg">    </p:cNvPr>
          <p:cNvPicPr>
            <a:picLocks noChangeAspect="1"/>
          </p:cNvPicPr>
          <p:nvPr/>
        </p:nvPicPr>
        <p:blipFill>
          <a:blip r:embed="rId1"/>
          <a:srcRect l="0" r="0" t="0" b="0"/>
          <a:stretch/>
        </p:blipFill>
        <p:spPr>
          <a:xfrm>
            <a:off x="1499616" y="2066544"/>
            <a:ext cx="6949440" cy="3840480"/>
          </a:xfrm>
          <a:prstGeom prst="rect">
            <a:avLst/>
          </a:prstGeom>
        </p:spPr>
      </p:pic>
      <p:sp>
        <p:nvSpPr>
          <p:cNvPr id="29" name="Text 26"/>
          <p:cNvSpPr/>
          <p:nvPr/>
        </p:nvSpPr>
        <p:spPr>
          <a:xfrm>
            <a:off x="1499616" y="6007608"/>
            <a:ext cx="6949440" cy="164592"/>
          </a:xfrm>
          <a:prstGeom prst="rect">
            <a:avLst/>
          </a:prstGeom>
          <a:noFill/>
          <a:ln/>
        </p:spPr>
        <p:txBody>
          <a:bodyPr wrap="square" lIns="0" tIns="0" rIns="0" bIns="0" rtlCol="0" anchor="t">
            <a:normAutofit/>
          </a:bodyPr>
          <a:lstStyle/>
          <a:p>
            <a:pPr indent="0" marL="0">
              <a:buNone/>
            </a:pPr>
            <a:r>
              <a:rPr lang="en-US" sz="650" dirty="0">
                <a:solidFill>
                  <a:srgbClr val="C0AAB9"/>
                </a:solidFill>
                <a:latin typeface="Arial" pitchFamily="34" charset="0"/>
                <a:ea typeface="Arial" pitchFamily="34" charset="-122"/>
                <a:cs typeface="Arial" pitchFamily="34" charset="-120"/>
              </a:rPr>
              <a:t>Watercolour 13 / invented setting and adults / not production evidence</a:t>
            </a:r>
            <a:endParaRPr lang="en-US" sz="650" dirty="0"/>
          </a:p>
        </p:txBody>
      </p:sp>
      <p:sp>
        <p:nvSpPr>
          <p:cNvPr id="30" name="Text 27"/>
          <p:cNvSpPr/>
          <p:nvPr/>
        </p:nvSpPr>
        <p:spPr>
          <a:xfrm>
            <a:off x="8705088" y="2139696"/>
            <a:ext cx="4133088" cy="164592"/>
          </a:xfrm>
          <a:prstGeom prst="rect">
            <a:avLst/>
          </a:prstGeom>
          <a:noFill/>
          <a:ln/>
        </p:spPr>
        <p:txBody>
          <a:bodyPr wrap="square" lIns="0" tIns="0" rIns="0" bIns="0" rtlCol="0" anchor="t">
            <a:normAutofit/>
          </a:bodyPr>
          <a:lstStyle/>
          <a:p>
            <a:pPr indent="0" marL="0">
              <a:buNone/>
            </a:pPr>
            <a:r>
              <a:rPr lang="en-US" sz="700" spc="110" kern="0" dirty="0">
                <a:solidFill>
                  <a:srgbClr val="C3ACE5"/>
                </a:solidFill>
                <a:latin typeface="Arial" pitchFamily="34" charset="0"/>
                <a:ea typeface="Arial" pitchFamily="34" charset="-122"/>
                <a:cs typeface="Arial" pitchFamily="34" charset="-120"/>
              </a:rPr>
              <a:t>STORY INTENTION</a:t>
            </a:r>
            <a:endParaRPr lang="en-US" sz="700" dirty="0"/>
          </a:p>
        </p:txBody>
      </p:sp>
      <p:sp>
        <p:nvSpPr>
          <p:cNvPr id="31" name="Text 28"/>
          <p:cNvSpPr/>
          <p:nvPr/>
        </p:nvSpPr>
        <p:spPr>
          <a:xfrm>
            <a:off x="8705088" y="2514600"/>
            <a:ext cx="4133088" cy="1828800"/>
          </a:xfrm>
          <a:prstGeom prst="rect">
            <a:avLst/>
          </a:prstGeom>
          <a:noFill/>
          <a:ln/>
        </p:spPr>
        <p:txBody>
          <a:bodyPr wrap="square" lIns="0" tIns="0" rIns="0" bIns="0" rtlCol="0" anchor="t">
            <a:normAutofit/>
          </a:bodyPr>
          <a:lstStyle/>
          <a:p>
            <a:pPr indent="0" marL="0">
              <a:buNone/>
            </a:pPr>
            <a:r>
              <a:rPr lang="en-US" sz="1575" dirty="0">
                <a:solidFill>
                  <a:srgbClr val="ECDED6"/>
                </a:solidFill>
                <a:latin typeface="Georgia" pitchFamily="34" charset="0"/>
                <a:ea typeface="Georgia" pitchFamily="34" charset="-122"/>
                <a:cs typeface="Georgia" pitchFamily="34" charset="-120"/>
              </a:rPr>
              <a:t>Tell the next reader what this fictional exercise explores and what remains undecided. State that the pictures are illustrations and the beat order is a reading sequence. No actual event or production is announced.</a:t>
            </a:r>
            <a:endParaRPr lang="en-US" sz="1575" dirty="0"/>
          </a:p>
        </p:txBody>
      </p:sp>
      <p:sp>
        <p:nvSpPr>
          <p:cNvPr id="32" name="Text 29"/>
          <p:cNvSpPr/>
          <p:nvPr/>
        </p:nvSpPr>
        <p:spPr>
          <a:xfrm>
            <a:off x="8705088" y="4572000"/>
            <a:ext cx="4133088" cy="164592"/>
          </a:xfrm>
          <a:prstGeom prst="rect">
            <a:avLst/>
          </a:prstGeom>
          <a:noFill/>
          <a:ln/>
        </p:spPr>
        <p:txBody>
          <a:bodyPr wrap="square" lIns="0" tIns="0" rIns="0" bIns="0" rtlCol="0" anchor="t">
            <a:normAutofit/>
          </a:bodyPr>
          <a:lstStyle/>
          <a:p>
            <a:pPr indent="0" marL="0">
              <a:buNone/>
            </a:pPr>
            <a:r>
              <a:rPr lang="en-US" sz="700" spc="110" kern="0" dirty="0">
                <a:solidFill>
                  <a:srgbClr val="C3ACE5"/>
                </a:solidFill>
                <a:latin typeface="Arial" pitchFamily="34" charset="0"/>
                <a:ea typeface="Arial" pitchFamily="34" charset="-122"/>
                <a:cs typeface="Arial" pitchFamily="34" charset="-120"/>
              </a:rPr>
              <a:t>LEAVE A QUESTION</a:t>
            </a:r>
            <a:endParaRPr lang="en-US" sz="700" dirty="0"/>
          </a:p>
        </p:txBody>
      </p:sp>
      <p:sp>
        <p:nvSpPr>
          <p:cNvPr id="33" name="Text 30"/>
          <p:cNvSpPr/>
          <p:nvPr/>
        </p:nvSpPr>
        <p:spPr>
          <a:xfrm>
            <a:off x="8705088" y="4910328"/>
            <a:ext cx="4133088" cy="822960"/>
          </a:xfrm>
          <a:prstGeom prst="rect">
            <a:avLst/>
          </a:prstGeom>
          <a:noFill/>
          <a:ln/>
        </p:spPr>
        <p:txBody>
          <a:bodyPr wrap="square" lIns="0" tIns="0" rIns="0" bIns="0" rtlCol="0" anchor="t">
            <a:normAutofit/>
          </a:bodyPr>
          <a:lstStyle/>
          <a:p>
            <a:pPr indent="0" marL="0">
              <a:buNone/>
            </a:pPr>
            <a:r>
              <a:rPr lang="en-US" sz="1875" i="1" dirty="0">
                <a:solidFill>
                  <a:srgbClr val="C3ACE5"/>
                </a:solidFill>
                <a:latin typeface="Georgia" pitchFamily="34" charset="0"/>
                <a:ea typeface="Georgia" pitchFamily="34" charset="-122"/>
                <a:cs typeface="Georgia" pitchFamily="34" charset="-120"/>
              </a:rPr>
              <a:t>What should the reader know before opening the folio?</a:t>
            </a:r>
            <a:endParaRPr lang="en-US" sz="1875" dirty="0"/>
          </a:p>
        </p:txBody>
      </p:sp>
      <p:sp>
        <p:nvSpPr>
          <p:cNvPr id="34" name="Text 31"/>
          <p:cNvSpPr/>
          <p:nvPr/>
        </p:nvSpPr>
        <p:spPr>
          <a:xfrm>
            <a:off x="8705088" y="5806440"/>
            <a:ext cx="4133088" cy="292608"/>
          </a:xfrm>
          <a:prstGeom prst="rect">
            <a:avLst/>
          </a:prstGeom>
          <a:noFill/>
          <a:ln/>
        </p:spPr>
        <p:txBody>
          <a:bodyPr wrap="square" lIns="0" tIns="0" rIns="0" bIns="0" rtlCol="0" anchor="t">
            <a:normAutofit/>
          </a:bodyPr>
          <a:lstStyle/>
          <a:p>
            <a:pPr indent="0" marL="0">
              <a:buNone/>
            </a:pPr>
            <a:r>
              <a:rPr lang="en-US" sz="700" dirty="0">
                <a:solidFill>
                  <a:srgbClr val="C0AAB9"/>
                </a:solidFill>
                <a:latin typeface="Arial" pitchFamily="34" charset="0"/>
                <a:ea typeface="Arial" pitchFamily="34" charset="-122"/>
                <a:cs typeface="Arial" pitchFamily="34" charset="-120"/>
              </a:rPr>
              <a:t>Beat order is not timing, a technical call or a show schedule.</a:t>
            </a:r>
            <a:endParaRPr lang="en-US" sz="700" dirty="0"/>
          </a:p>
        </p:txBody>
      </p:sp>
      <p:sp>
        <p:nvSpPr>
          <p:cNvPr id="35" name="Shape 32"/>
          <p:cNvSpPr/>
          <p:nvPr/>
        </p:nvSpPr>
        <p:spPr>
          <a:xfrm>
            <a:off x="1499616" y="6583680"/>
            <a:ext cx="3675888" cy="1481328"/>
          </a:xfrm>
          <a:prstGeom prst="rect">
            <a:avLst/>
          </a:prstGeom>
          <a:solidFill>
            <a:srgbClr val="292039"/>
          </a:solidFill>
          <a:ln w="8890">
            <a:solidFill>
              <a:srgbClr val="735D6D"/>
            </a:solidFill>
            <a:prstDash val="solid"/>
          </a:ln>
        </p:spPr>
      </p:sp>
      <p:sp>
        <p:nvSpPr>
          <p:cNvPr id="36" name="Text 33"/>
          <p:cNvSpPr/>
          <p:nvPr/>
        </p:nvSpPr>
        <p:spPr>
          <a:xfrm>
            <a:off x="1682496"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C3ACE5"/>
                </a:solidFill>
                <a:latin typeface="Arial" pitchFamily="34" charset="0"/>
                <a:ea typeface="Arial" pitchFamily="34" charset="-122"/>
                <a:cs typeface="Arial" pitchFamily="34" charset="-120"/>
              </a:rPr>
              <a:t>01 / NOTICE</a:t>
            </a:r>
            <a:endParaRPr lang="en-US" sz="700" dirty="0"/>
          </a:p>
        </p:txBody>
      </p:sp>
      <p:sp>
        <p:nvSpPr>
          <p:cNvPr id="37" name="Text 34"/>
          <p:cNvSpPr/>
          <p:nvPr/>
        </p:nvSpPr>
        <p:spPr>
          <a:xfrm>
            <a:off x="1682496"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Context belongs with the draft, not only in a conversation.</a:t>
            </a:r>
            <a:endParaRPr lang="en-US" sz="1500" dirty="0"/>
          </a:p>
        </p:txBody>
      </p:sp>
      <p:sp>
        <p:nvSpPr>
          <p:cNvPr id="38" name="Shape 35"/>
          <p:cNvSpPr/>
          <p:nvPr/>
        </p:nvSpPr>
        <p:spPr>
          <a:xfrm>
            <a:off x="5321808" y="6583680"/>
            <a:ext cx="3675888" cy="1481328"/>
          </a:xfrm>
          <a:prstGeom prst="rect">
            <a:avLst/>
          </a:prstGeom>
          <a:solidFill>
            <a:srgbClr val="292039"/>
          </a:solidFill>
          <a:ln w="8890">
            <a:solidFill>
              <a:srgbClr val="735D6D"/>
            </a:solidFill>
            <a:prstDash val="solid"/>
          </a:ln>
        </p:spPr>
      </p:sp>
      <p:sp>
        <p:nvSpPr>
          <p:cNvPr id="39" name="Text 36"/>
          <p:cNvSpPr/>
          <p:nvPr/>
        </p:nvSpPr>
        <p:spPr>
          <a:xfrm>
            <a:off x="5504688"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C3ACE5"/>
                </a:solidFill>
                <a:latin typeface="Arial" pitchFamily="34" charset="0"/>
                <a:ea typeface="Arial" pitchFamily="34" charset="-122"/>
                <a:cs typeface="Arial" pitchFamily="34" charset="-120"/>
              </a:rPr>
              <a:t>02 / TRY IN WORDS</a:t>
            </a:r>
            <a:endParaRPr lang="en-US" sz="700" dirty="0"/>
          </a:p>
        </p:txBody>
      </p:sp>
      <p:sp>
        <p:nvSpPr>
          <p:cNvPr id="40" name="Text 37"/>
          <p:cNvSpPr/>
          <p:nvPr/>
        </p:nvSpPr>
        <p:spPr>
          <a:xfrm>
            <a:off x="5504688"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Write a two-sentence introduction including one limitation.</a:t>
            </a:r>
            <a:endParaRPr lang="en-US" sz="1500" dirty="0"/>
          </a:p>
        </p:txBody>
      </p:sp>
      <p:sp>
        <p:nvSpPr>
          <p:cNvPr id="41" name="Shape 38"/>
          <p:cNvSpPr/>
          <p:nvPr/>
        </p:nvSpPr>
        <p:spPr>
          <a:xfrm>
            <a:off x="9144000" y="6583680"/>
            <a:ext cx="3675888" cy="1481328"/>
          </a:xfrm>
          <a:prstGeom prst="rect">
            <a:avLst/>
          </a:prstGeom>
          <a:solidFill>
            <a:srgbClr val="292039"/>
          </a:solidFill>
          <a:ln w="8890">
            <a:solidFill>
              <a:srgbClr val="735D6D"/>
            </a:solidFill>
            <a:prstDash val="solid"/>
          </a:ln>
        </p:spPr>
      </p:sp>
      <p:sp>
        <p:nvSpPr>
          <p:cNvPr id="42" name="Text 39"/>
          <p:cNvSpPr/>
          <p:nvPr/>
        </p:nvSpPr>
        <p:spPr>
          <a:xfrm>
            <a:off x="9326880"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C3ACE5"/>
                </a:solidFill>
                <a:latin typeface="Arial" pitchFamily="34" charset="0"/>
                <a:ea typeface="Arial" pitchFamily="34" charset="-122"/>
                <a:cs typeface="Arial" pitchFamily="34" charset="-120"/>
              </a:rPr>
              <a:t>03 / KEEP VISIBLE</a:t>
            </a:r>
            <a:endParaRPr lang="en-US" sz="700" dirty="0"/>
          </a:p>
        </p:txBody>
      </p:sp>
      <p:sp>
        <p:nvSpPr>
          <p:cNvPr id="43" name="Text 40"/>
          <p:cNvSpPr/>
          <p:nvPr/>
        </p:nvSpPr>
        <p:spPr>
          <a:xfrm>
            <a:off x="9326880"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Keep fictional status visible in shared exports.</a:t>
            </a:r>
            <a:endParaRPr lang="en-US" sz="1500" dirty="0"/>
          </a:p>
        </p:txBody>
      </p:sp>
      <p:sp>
        <p:nvSpPr>
          <p:cNvPr id="44" name="Shape 41"/>
          <p:cNvSpPr/>
          <p:nvPr/>
        </p:nvSpPr>
        <p:spPr>
          <a:xfrm>
            <a:off x="1499616" y="8211312"/>
            <a:ext cx="11338560" cy="0"/>
          </a:xfrm>
          <a:prstGeom prst="line">
            <a:avLst/>
          </a:prstGeom>
          <a:noFill/>
          <a:ln w="8890">
            <a:solidFill>
              <a:srgbClr val="796170"/>
            </a:solidFill>
            <a:prstDash val="solid"/>
          </a:ln>
        </p:spPr>
      </p:sp>
      <p:sp>
        <p:nvSpPr>
          <p:cNvPr id="45" name="Text 42"/>
          <p:cNvSpPr/>
          <p:nvPr/>
        </p:nvSpPr>
        <p:spPr>
          <a:xfrm>
            <a:off x="1499616" y="8339328"/>
            <a:ext cx="8229600" cy="118872"/>
          </a:xfrm>
          <a:prstGeom prst="rect">
            <a:avLst/>
          </a:prstGeom>
          <a:noFill/>
          <a:ln/>
        </p:spPr>
        <p:txBody>
          <a:bodyPr wrap="square" lIns="0" tIns="0" rIns="0" bIns="0" rtlCol="0" anchor="t">
            <a:normAutofit/>
          </a:bodyPr>
          <a:lstStyle/>
          <a:p>
            <a:pPr indent="0" marL="0">
              <a:buNone/>
            </a:pPr>
            <a:r>
              <a:rPr lang="en-US" sz="650" dirty="0">
                <a:solidFill>
                  <a:srgbClr val="C0AAB9"/>
                </a:solidFill>
                <a:latin typeface="Arial" pitchFamily="34" charset="0"/>
                <a:ea typeface="Arial" pitchFamily="34" charset="-122"/>
                <a:cs typeface="Arial" pitchFamily="34" charset="-120"/>
              </a:rPr>
              <a:t>FICTIONAL WRITING WORKSHOP / NOT A STAGING OR APPROVAL PLAN</a:t>
            </a:r>
            <a:endParaRPr lang="en-US" sz="650" dirty="0"/>
          </a:p>
        </p:txBody>
      </p:sp>
      <p:sp>
        <p:nvSpPr>
          <p:cNvPr id="46" name="Text 43"/>
          <p:cNvSpPr/>
          <p:nvPr/>
        </p:nvSpPr>
        <p:spPr>
          <a:xfrm>
            <a:off x="9729216" y="8339328"/>
            <a:ext cx="3108960" cy="118872"/>
          </a:xfrm>
          <a:prstGeom prst="rect">
            <a:avLst/>
          </a:prstGeom>
          <a:noFill/>
          <a:ln/>
        </p:spPr>
        <p:txBody>
          <a:bodyPr wrap="square" lIns="0" tIns="0" rIns="0" bIns="0" rtlCol="0" anchor="t">
            <a:normAutofit/>
          </a:bodyPr>
          <a:lstStyle/>
          <a:p>
            <a:pPr algn="r" indent="0" marL="0">
              <a:buNone/>
            </a:pPr>
            <a:r>
              <a:rPr lang="en-US" sz="650" dirty="0">
                <a:solidFill>
                  <a:srgbClr val="C0AAB9"/>
                </a:solidFill>
                <a:latin typeface="Arial" pitchFamily="34" charset="0"/>
                <a:ea typeface="Arial" pitchFamily="34" charset="-122"/>
                <a:cs typeface="Arial" pitchFamily="34" charset="-120"/>
              </a:rPr>
              <a:t>DRAFT / 14 OF 15 ARTWORKS / 25 OF 30</a:t>
            </a:r>
            <a:endParaRPr lang="en-US" sz="6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292039"/>
        </a:solidFill>
      </p:bgPr>
    </p:bg>
    <p:spTree>
      <p:nvGrpSpPr>
        <p:cNvPr id="1" name=""/>
        <p:cNvGrpSpPr/>
        <p:nvPr/>
      </p:nvGrpSpPr>
      <p:grpSpPr>
        <a:xfrm>
          <a:off x="0" y="0"/>
          <a:ext cx="0" cy="0"/>
          <a:chOff x="0" y="0"/>
          <a:chExt cx="0" cy="0"/>
        </a:xfrm>
      </p:grpSpPr>
      <p:sp>
        <p:nvSpPr>
          <p:cNvPr id="2" name="Shape 0"/>
          <p:cNvSpPr/>
          <p:nvPr/>
        </p:nvSpPr>
        <p:spPr>
          <a:xfrm>
            <a:off x="1243584" y="329184"/>
            <a:ext cx="0" cy="8119872"/>
          </a:xfrm>
          <a:prstGeom prst="line">
            <a:avLst/>
          </a:prstGeom>
          <a:noFill/>
          <a:ln w="10160">
            <a:solidFill>
              <a:srgbClr val="776072"/>
            </a:solidFill>
            <a:prstDash val="solid"/>
          </a:ln>
        </p:spPr>
      </p:sp>
      <p:sp>
        <p:nvSpPr>
          <p:cNvPr id="3" name="Text 1"/>
          <p:cNvSpPr/>
          <p:nvPr/>
        </p:nvSpPr>
        <p:spPr>
          <a:xfrm>
            <a:off x="393192" y="457200"/>
            <a:ext cx="685800" cy="457200"/>
          </a:xfrm>
          <a:prstGeom prst="rect">
            <a:avLst/>
          </a:prstGeom>
          <a:noFill/>
          <a:ln/>
        </p:spPr>
        <p:txBody>
          <a:bodyPr wrap="square" lIns="0" tIns="0" rIns="0" bIns="0" rtlCol="0" anchor="t">
            <a:normAutofit/>
          </a:bodyPr>
          <a:lstStyle/>
          <a:p>
            <a:pPr indent="0" marL="0">
              <a:buNone/>
            </a:pPr>
            <a:r>
              <a:rPr lang="en-US" sz="600" dirty="0">
                <a:solidFill>
                  <a:srgbClr val="C0AAB9"/>
                </a:solidFill>
                <a:latin typeface="Arial" pitchFamily="34" charset="0"/>
                <a:ea typeface="Arial" pitchFamily="34" charset="-122"/>
                <a:cs typeface="Arial" pitchFamily="34" charset="-120"/>
              </a:rPr>
              <a:t>DESIGN BUDDY</a:t>
            </a:r>
            <a:endParaRPr lang="en-US" sz="600" dirty="0"/>
          </a:p>
          <a:p>
            <a:pPr indent="0" marL="0">
              <a:buNone/>
            </a:pPr>
            <a:r>
              <a:rPr lang="en-US" sz="600" dirty="0">
                <a:solidFill>
                  <a:srgbClr val="C0AAB9"/>
                </a:solidFill>
                <a:latin typeface="Arial" pitchFamily="34" charset="0"/>
                <a:ea typeface="Arial" pitchFamily="34" charset="-122"/>
                <a:cs typeface="Arial" pitchFamily="34" charset="-120"/>
              </a:rPr>
              <a:t>CREATIVE EXERCISE</a:t>
            </a:r>
            <a:endParaRPr lang="en-US" sz="600" dirty="0"/>
          </a:p>
        </p:txBody>
      </p:sp>
      <p:sp>
        <p:nvSpPr>
          <p:cNvPr id="4" name="Text 2"/>
          <p:cNvSpPr/>
          <p:nvPr/>
        </p:nvSpPr>
        <p:spPr>
          <a:xfrm>
            <a:off x="502920" y="1920240"/>
            <a:ext cx="502920" cy="4480560"/>
          </a:xfrm>
          <a:prstGeom prst="rect">
            <a:avLst/>
          </a:prstGeom>
          <a:noFill/>
          <a:ln/>
        </p:spPr>
        <p:txBody>
          <a:bodyPr wrap="square" lIns="0" tIns="0" rIns="0" bIns="0" rtlCol="0" anchor="t">
            <a:normAutofit/>
          </a:bodyPr>
          <a:lstStyle/>
          <a:p>
            <a:pPr algn="ctr" indent="0" marL="0">
              <a:buNone/>
            </a:pPr>
            <a:r>
              <a:rPr lang="en-US" sz="2500" dirty="0">
                <a:solidFill>
                  <a:srgbClr val="C3ACE5"/>
                </a:solidFill>
                <a:latin typeface="Georgia" pitchFamily="34" charset="0"/>
                <a:ea typeface="Georgia" pitchFamily="34" charset="-122"/>
                <a:cs typeface="Georgia" pitchFamily="34" charset="-120"/>
              </a:rPr>
              <a:t>A</a:t>
            </a:r>
            <a:endParaRPr lang="en-US" sz="2500" dirty="0"/>
          </a:p>
          <a:p>
            <a:pPr algn="ctr" indent="0" marL="0">
              <a:buNone/>
            </a:pPr>
            <a:r>
              <a:rPr lang="en-US" sz="2500" dirty="0">
                <a:solidFill>
                  <a:srgbClr val="C3ACE5"/>
                </a:solidFill>
                <a:latin typeface="Georgia" pitchFamily="34" charset="0"/>
                <a:ea typeface="Georgia" pitchFamily="34" charset="-122"/>
                <a:cs typeface="Georgia" pitchFamily="34" charset="-120"/>
              </a:rPr>
              <a:t>F</a:t>
            </a:r>
            <a:endParaRPr lang="en-US" sz="2500" dirty="0"/>
          </a:p>
          <a:p>
            <a:pPr algn="ctr" indent="0" marL="0">
              <a:buNone/>
            </a:pPr>
            <a:r>
              <a:rPr lang="en-US" sz="2500" dirty="0">
                <a:solidFill>
                  <a:srgbClr val="C3ACE5"/>
                </a:solidFill>
                <a:latin typeface="Georgia" pitchFamily="34" charset="0"/>
                <a:ea typeface="Georgia" pitchFamily="34" charset="-122"/>
                <a:cs typeface="Georgia" pitchFamily="34" charset="-120"/>
              </a:rPr>
              <a:t>T</a:t>
            </a:r>
            <a:endParaRPr lang="en-US" sz="2500" dirty="0"/>
          </a:p>
          <a:p>
            <a:pPr algn="ctr" indent="0" marL="0">
              <a:buNone/>
            </a:pPr>
            <a:r>
              <a:rPr lang="en-US" sz="2500" dirty="0">
                <a:solidFill>
                  <a:srgbClr val="C3ACE5"/>
                </a:solidFill>
                <a:latin typeface="Georgia" pitchFamily="34" charset="0"/>
                <a:ea typeface="Georgia" pitchFamily="34" charset="-122"/>
                <a:cs typeface="Georgia" pitchFamily="34" charset="-120"/>
              </a:rPr>
              <a:t>E</a:t>
            </a:r>
            <a:endParaRPr lang="en-US" sz="2500" dirty="0"/>
          </a:p>
          <a:p>
            <a:pPr algn="ctr" indent="0" marL="0">
              <a:buNone/>
            </a:pPr>
            <a:r>
              <a:rPr lang="en-US" sz="2500" dirty="0">
                <a:solidFill>
                  <a:srgbClr val="C3ACE5"/>
                </a:solidFill>
                <a:latin typeface="Georgia" pitchFamily="34" charset="0"/>
                <a:ea typeface="Georgia" pitchFamily="34" charset="-122"/>
                <a:cs typeface="Georgia" pitchFamily="34" charset="-120"/>
              </a:rPr>
              <a:t>R</a:t>
            </a:r>
            <a:endParaRPr lang="en-US" sz="2500" dirty="0"/>
          </a:p>
          <a:p>
            <a:pPr algn="ctr" indent="0" marL="0">
              <a:buNone/>
            </a:pPr>
            <a:r>
              <a:rPr lang="en-US" sz="2500" dirty="0">
                <a:solidFill>
                  <a:srgbClr val="C3ACE5"/>
                </a:solidFill>
                <a:latin typeface="Georgia" pitchFamily="34" charset="0"/>
                <a:ea typeface="Georgia" pitchFamily="34" charset="-122"/>
                <a:cs typeface="Georgia" pitchFamily="34" charset="-120"/>
              </a:rPr>
              <a:t>G</a:t>
            </a:r>
            <a:endParaRPr lang="en-US" sz="2500" dirty="0"/>
          </a:p>
          <a:p>
            <a:pPr algn="ctr" indent="0" marL="0">
              <a:buNone/>
            </a:pPr>
            <a:r>
              <a:rPr lang="en-US" sz="2500" dirty="0">
                <a:solidFill>
                  <a:srgbClr val="C3ACE5"/>
                </a:solidFill>
                <a:latin typeface="Georgia" pitchFamily="34" charset="0"/>
                <a:ea typeface="Georgia" pitchFamily="34" charset="-122"/>
                <a:cs typeface="Georgia" pitchFamily="34" charset="-120"/>
              </a:rPr>
              <a:t>L</a:t>
            </a:r>
            <a:endParaRPr lang="en-US" sz="2500" dirty="0"/>
          </a:p>
          <a:p>
            <a:pPr algn="ctr" indent="0" marL="0">
              <a:buNone/>
            </a:pPr>
            <a:r>
              <a:rPr lang="en-US" sz="2500" dirty="0">
                <a:solidFill>
                  <a:srgbClr val="C3ACE5"/>
                </a:solidFill>
                <a:latin typeface="Georgia" pitchFamily="34" charset="0"/>
                <a:ea typeface="Georgia" pitchFamily="34" charset="-122"/>
                <a:cs typeface="Georgia" pitchFamily="34" charset="-120"/>
              </a:rPr>
              <a:t>O</a:t>
            </a:r>
            <a:endParaRPr lang="en-US" sz="2500" dirty="0"/>
          </a:p>
          <a:p>
            <a:pPr algn="ctr" indent="0" marL="0">
              <a:buNone/>
            </a:pPr>
            <a:r>
              <a:rPr lang="en-US" sz="2500" dirty="0">
                <a:solidFill>
                  <a:srgbClr val="C3ACE5"/>
                </a:solidFill>
                <a:latin typeface="Georgia" pitchFamily="34" charset="0"/>
                <a:ea typeface="Georgia" pitchFamily="34" charset="-122"/>
                <a:cs typeface="Georgia" pitchFamily="34" charset="-120"/>
              </a:rPr>
              <a:t>W</a:t>
            </a:r>
            <a:endParaRPr lang="en-US" sz="2500" dirty="0"/>
          </a:p>
        </p:txBody>
      </p:sp>
      <p:sp>
        <p:nvSpPr>
          <p:cNvPr id="5" name="Text 3"/>
          <p:cNvSpPr/>
          <p:nvPr/>
        </p:nvSpPr>
        <p:spPr>
          <a:xfrm>
            <a:off x="402336" y="7022592"/>
            <a:ext cx="731520" cy="594360"/>
          </a:xfrm>
          <a:prstGeom prst="rect">
            <a:avLst/>
          </a:prstGeom>
          <a:noFill/>
          <a:ln/>
        </p:spPr>
        <p:txBody>
          <a:bodyPr wrap="square" lIns="0" tIns="0" rIns="0" bIns="0" rtlCol="0" anchor="t">
            <a:normAutofit/>
          </a:bodyPr>
          <a:lstStyle/>
          <a:p>
            <a:pPr indent="0" marL="0">
              <a:buNone/>
            </a:pPr>
            <a:r>
              <a:rPr lang="en-US" sz="4200" dirty="0">
                <a:solidFill>
                  <a:srgbClr val="C3ACE5"/>
                </a:solidFill>
                <a:latin typeface="Georgia" pitchFamily="34" charset="0"/>
                <a:ea typeface="Georgia" pitchFamily="34" charset="-122"/>
                <a:cs typeface="Georgia" pitchFamily="34" charset="-120"/>
              </a:rPr>
              <a:t>26</a:t>
            </a:r>
            <a:endParaRPr lang="en-US" sz="4200" dirty="0"/>
          </a:p>
        </p:txBody>
      </p:sp>
      <p:sp>
        <p:nvSpPr>
          <p:cNvPr id="6" name="Text 4"/>
          <p:cNvSpPr/>
          <p:nvPr/>
        </p:nvSpPr>
        <p:spPr>
          <a:xfrm>
            <a:off x="402336" y="7818120"/>
            <a:ext cx="731520" cy="411480"/>
          </a:xfrm>
          <a:prstGeom prst="rect">
            <a:avLst/>
          </a:prstGeom>
          <a:noFill/>
          <a:ln/>
        </p:spPr>
        <p:txBody>
          <a:bodyPr wrap="square" lIns="0" tIns="0" rIns="0" bIns="0" rtlCol="0" anchor="t">
            <a:normAutofit/>
          </a:bodyPr>
          <a:lstStyle/>
          <a:p>
            <a:pPr indent="0" marL="0">
              <a:buNone/>
            </a:pPr>
            <a:r>
              <a:rPr lang="en-US" sz="700" dirty="0">
                <a:solidFill>
                  <a:srgbClr val="C0AAB9"/>
                </a:solidFill>
                <a:latin typeface="Arial" pitchFamily="34" charset="0"/>
                <a:ea typeface="Arial" pitchFamily="34" charset="-122"/>
                <a:cs typeface="Arial" pitchFamily="34" charset="-120"/>
              </a:rPr>
              <a:t>ACT 5 / 5</a:t>
            </a:r>
            <a:endParaRPr lang="en-US" sz="700" dirty="0"/>
          </a:p>
          <a:p>
            <a:pPr indent="0" marL="0">
              <a:buNone/>
            </a:pPr>
            <a:r>
              <a:rPr lang="en-US" sz="700" dirty="0">
                <a:solidFill>
                  <a:srgbClr val="C0AAB9"/>
                </a:solidFill>
                <a:latin typeface="Arial" pitchFamily="34" charset="0"/>
                <a:ea typeface="Arial" pitchFamily="34" charset="-122"/>
                <a:cs typeface="Arial" pitchFamily="34" charset="-120"/>
              </a:rPr>
              <a:t>BEAT 2 / 6</a:t>
            </a:r>
            <a:endParaRPr lang="en-US" sz="700" dirty="0"/>
          </a:p>
        </p:txBody>
      </p:sp>
      <p:sp>
        <p:nvSpPr>
          <p:cNvPr id="7" name="Text 5"/>
          <p:cNvSpPr/>
          <p:nvPr/>
        </p:nvSpPr>
        <p:spPr>
          <a:xfrm>
            <a:off x="1499616" y="347472"/>
            <a:ext cx="9144000" cy="164592"/>
          </a:xfrm>
          <a:prstGeom prst="rect">
            <a:avLst/>
          </a:prstGeom>
          <a:noFill/>
          <a:ln/>
        </p:spPr>
        <p:txBody>
          <a:bodyPr wrap="square" lIns="0" tIns="0" rIns="0" bIns="0" rtlCol="0" anchor="t">
            <a:normAutofit/>
          </a:bodyPr>
          <a:lstStyle/>
          <a:p>
            <a:pPr indent="0" marL="0">
              <a:buNone/>
            </a:pPr>
            <a:r>
              <a:rPr lang="en-US" sz="700" spc="120" kern="0" dirty="0">
                <a:solidFill>
                  <a:srgbClr val="C3ACE5"/>
                </a:solidFill>
                <a:latin typeface="Arial" pitchFamily="34" charset="0"/>
                <a:ea typeface="Arial" pitchFamily="34" charset="-122"/>
                <a:cs typeface="Arial" pitchFamily="34" charset="-120"/>
              </a:rPr>
              <a:t>ACT 5 / HANDOFF</a:t>
            </a:r>
            <a:endParaRPr lang="en-US" sz="700" dirty="0"/>
          </a:p>
        </p:txBody>
      </p:sp>
      <p:sp>
        <p:nvSpPr>
          <p:cNvPr id="8" name="Text 6"/>
          <p:cNvSpPr/>
          <p:nvPr/>
        </p:nvSpPr>
        <p:spPr>
          <a:xfrm>
            <a:off x="1499616" y="612648"/>
            <a:ext cx="9692640" cy="594360"/>
          </a:xfrm>
          <a:prstGeom prst="rect">
            <a:avLst/>
          </a:prstGeom>
          <a:noFill/>
          <a:ln/>
        </p:spPr>
        <p:txBody>
          <a:bodyPr wrap="square" lIns="0" tIns="0" rIns="0" bIns="0" rtlCol="0" anchor="t">
            <a:normAutofit/>
          </a:bodyPr>
          <a:lstStyle/>
          <a:p>
            <a:pPr indent="0" marL="0">
              <a:buNone/>
            </a:pPr>
            <a:r>
              <a:rPr lang="en-US" sz="2800" dirty="0">
                <a:solidFill>
                  <a:srgbClr val="ECDED6"/>
                </a:solidFill>
                <a:latin typeface="Georgia" pitchFamily="34" charset="0"/>
                <a:ea typeface="Georgia" pitchFamily="34" charset="-122"/>
                <a:cs typeface="Georgia" pitchFamily="34" charset="-120"/>
              </a:rPr>
              <a:t>Separate a choice from a promise.</a:t>
            </a:r>
            <a:endParaRPr lang="en-US" sz="2800" dirty="0"/>
          </a:p>
        </p:txBody>
      </p:sp>
      <p:sp>
        <p:nvSpPr>
          <p:cNvPr id="9" name="Text 7"/>
          <p:cNvSpPr/>
          <p:nvPr/>
        </p:nvSpPr>
        <p:spPr>
          <a:xfrm>
            <a:off x="11475720" y="438912"/>
            <a:ext cx="1325880" cy="182880"/>
          </a:xfrm>
          <a:prstGeom prst="rect">
            <a:avLst/>
          </a:prstGeom>
          <a:noFill/>
          <a:ln/>
        </p:spPr>
        <p:txBody>
          <a:bodyPr wrap="square" lIns="0" tIns="0" rIns="0" bIns="0" rtlCol="0" anchor="t">
            <a:normAutofit/>
          </a:bodyPr>
          <a:lstStyle/>
          <a:p>
            <a:pPr algn="r" indent="0" marL="0">
              <a:buNone/>
            </a:pPr>
            <a:r>
              <a:rPr lang="en-US" sz="700" dirty="0">
                <a:solidFill>
                  <a:srgbClr val="C3ACE5"/>
                </a:solidFill>
                <a:latin typeface="Arial" pitchFamily="34" charset="0"/>
                <a:ea typeface="Arial" pitchFamily="34" charset="-122"/>
                <a:cs typeface="Arial" pitchFamily="34" charset="-120"/>
              </a:rPr>
              <a:t>LOCAL / UNMARKED</a:t>
            </a:r>
            <a:endParaRPr lang="en-US" sz="700" dirty="0"/>
          </a:p>
        </p:txBody>
      </p:sp>
      <p:sp>
        <p:nvSpPr>
          <p:cNvPr id="10" name="Shape 8"/>
          <p:cNvSpPr/>
          <p:nvPr/>
        </p:nvSpPr>
        <p:spPr>
          <a:xfrm>
            <a:off x="1499616" y="1307592"/>
            <a:ext cx="1819656" cy="448056"/>
          </a:xfrm>
          <a:prstGeom prst="rect">
            <a:avLst/>
          </a:prstGeom>
          <a:solidFill>
            <a:srgbClr val="292039"/>
          </a:solidFill>
          <a:ln w="8890">
            <a:solidFill>
              <a:srgbClr val="6D5768"/>
            </a:solidFill>
            <a:prstDash val="solid"/>
          </a:ln>
        </p:spPr>
      </p:sp>
      <p:sp>
        <p:nvSpPr>
          <p:cNvPr id="11" name="Text 9"/>
          <p:cNvSpPr/>
          <p:nvPr/>
        </p:nvSpPr>
        <p:spPr>
          <a:xfrm>
            <a:off x="1572768"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C3ACE5"/>
                </a:solidFill>
                <a:latin typeface="Georgia" pitchFamily="34" charset="0"/>
                <a:ea typeface="Georgia" pitchFamily="34" charset="-122"/>
                <a:cs typeface="Georgia" pitchFamily="34" charset="-120"/>
              </a:rPr>
              <a:t>1</a:t>
            </a:r>
            <a:endParaRPr lang="en-US" sz="1700" dirty="0"/>
          </a:p>
        </p:txBody>
      </p:sp>
      <p:sp>
        <p:nvSpPr>
          <p:cNvPr id="12" name="Text 10"/>
          <p:cNvSpPr/>
          <p:nvPr/>
        </p:nvSpPr>
        <p:spPr>
          <a:xfrm>
            <a:off x="1865376"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Introduce the draft honestly.</a:t>
            </a:r>
            <a:endParaRPr lang="en-US" sz="700" dirty="0"/>
          </a:p>
        </p:txBody>
      </p:sp>
      <p:sp>
        <p:nvSpPr>
          <p:cNvPr id="13" name="Shape 11"/>
          <p:cNvSpPr/>
          <p:nvPr/>
        </p:nvSpPr>
        <p:spPr>
          <a:xfrm>
            <a:off x="3392424" y="1307592"/>
            <a:ext cx="1819656" cy="448056"/>
          </a:xfrm>
          <a:prstGeom prst="rect">
            <a:avLst/>
          </a:prstGeom>
          <a:solidFill>
            <a:srgbClr val="292039"/>
          </a:solidFill>
          <a:ln w="8890">
            <a:solidFill>
              <a:srgbClr val="C3ACE5"/>
            </a:solidFill>
            <a:prstDash val="solid"/>
          </a:ln>
        </p:spPr>
      </p:sp>
      <p:sp>
        <p:nvSpPr>
          <p:cNvPr id="14" name="Text 12"/>
          <p:cNvSpPr/>
          <p:nvPr/>
        </p:nvSpPr>
        <p:spPr>
          <a:xfrm>
            <a:off x="3465576"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C3ACE5"/>
                </a:solidFill>
                <a:latin typeface="Georgia" pitchFamily="34" charset="0"/>
                <a:ea typeface="Georgia" pitchFamily="34" charset="-122"/>
                <a:cs typeface="Georgia" pitchFamily="34" charset="-120"/>
              </a:rPr>
              <a:t>2</a:t>
            </a:r>
            <a:endParaRPr lang="en-US" sz="1700" dirty="0"/>
          </a:p>
        </p:txBody>
      </p:sp>
      <p:sp>
        <p:nvSpPr>
          <p:cNvPr id="15" name="Text 13"/>
          <p:cNvSpPr/>
          <p:nvPr/>
        </p:nvSpPr>
        <p:spPr>
          <a:xfrm>
            <a:off x="3758184"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Separate a choice from a promise.</a:t>
            </a:r>
            <a:endParaRPr lang="en-US" sz="700" dirty="0"/>
          </a:p>
        </p:txBody>
      </p:sp>
      <p:sp>
        <p:nvSpPr>
          <p:cNvPr id="16" name="Shape 14"/>
          <p:cNvSpPr/>
          <p:nvPr/>
        </p:nvSpPr>
        <p:spPr>
          <a:xfrm>
            <a:off x="5285232" y="1307592"/>
            <a:ext cx="1819656" cy="448056"/>
          </a:xfrm>
          <a:prstGeom prst="rect">
            <a:avLst/>
          </a:prstGeom>
          <a:solidFill>
            <a:srgbClr val="292039"/>
          </a:solidFill>
          <a:ln w="8890">
            <a:solidFill>
              <a:srgbClr val="6D5768"/>
            </a:solidFill>
            <a:prstDash val="solid"/>
          </a:ln>
        </p:spPr>
      </p:sp>
      <p:sp>
        <p:nvSpPr>
          <p:cNvPr id="17" name="Text 15"/>
          <p:cNvSpPr/>
          <p:nvPr/>
        </p:nvSpPr>
        <p:spPr>
          <a:xfrm>
            <a:off x="5358384"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C3ACE5"/>
                </a:solidFill>
                <a:latin typeface="Georgia" pitchFamily="34" charset="0"/>
                <a:ea typeface="Georgia" pitchFamily="34" charset="-122"/>
                <a:cs typeface="Georgia" pitchFamily="34" charset="-120"/>
              </a:rPr>
              <a:t>3</a:t>
            </a:r>
            <a:endParaRPr lang="en-US" sz="1700" dirty="0"/>
          </a:p>
        </p:txBody>
      </p:sp>
      <p:sp>
        <p:nvSpPr>
          <p:cNvPr id="18" name="Text 16"/>
          <p:cNvSpPr/>
          <p:nvPr/>
        </p:nvSpPr>
        <p:spPr>
          <a:xfrm>
            <a:off x="5650992"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Send the version you mean.</a:t>
            </a:r>
            <a:endParaRPr lang="en-US" sz="700" dirty="0"/>
          </a:p>
        </p:txBody>
      </p:sp>
      <p:sp>
        <p:nvSpPr>
          <p:cNvPr id="19" name="Shape 17"/>
          <p:cNvSpPr/>
          <p:nvPr/>
        </p:nvSpPr>
        <p:spPr>
          <a:xfrm>
            <a:off x="7178040" y="1307592"/>
            <a:ext cx="1819656" cy="448056"/>
          </a:xfrm>
          <a:prstGeom prst="rect">
            <a:avLst/>
          </a:prstGeom>
          <a:solidFill>
            <a:srgbClr val="292039"/>
          </a:solidFill>
          <a:ln w="8890">
            <a:solidFill>
              <a:srgbClr val="6D5768"/>
            </a:solidFill>
            <a:prstDash val="solid"/>
          </a:ln>
        </p:spPr>
      </p:sp>
      <p:sp>
        <p:nvSpPr>
          <p:cNvPr id="20" name="Text 18"/>
          <p:cNvSpPr/>
          <p:nvPr/>
        </p:nvSpPr>
        <p:spPr>
          <a:xfrm>
            <a:off x="7251192"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C3ACE5"/>
                </a:solidFill>
                <a:latin typeface="Georgia" pitchFamily="34" charset="0"/>
                <a:ea typeface="Georgia" pitchFamily="34" charset="-122"/>
                <a:cs typeface="Georgia" pitchFamily="34" charset="-120"/>
              </a:rPr>
              <a:t>4</a:t>
            </a:r>
            <a:endParaRPr lang="en-US" sz="1700" dirty="0"/>
          </a:p>
        </p:txBody>
      </p:sp>
      <p:sp>
        <p:nvSpPr>
          <p:cNvPr id="21" name="Text 19"/>
          <p:cNvSpPr/>
          <p:nvPr/>
        </p:nvSpPr>
        <p:spPr>
          <a:xfrm>
            <a:off x="7543800"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Leave a useful open question.</a:t>
            </a:r>
            <a:endParaRPr lang="en-US" sz="700" dirty="0"/>
          </a:p>
        </p:txBody>
      </p:sp>
      <p:sp>
        <p:nvSpPr>
          <p:cNvPr id="22" name="Shape 20"/>
          <p:cNvSpPr/>
          <p:nvPr/>
        </p:nvSpPr>
        <p:spPr>
          <a:xfrm>
            <a:off x="9070848" y="1307592"/>
            <a:ext cx="1819656" cy="448056"/>
          </a:xfrm>
          <a:prstGeom prst="rect">
            <a:avLst/>
          </a:prstGeom>
          <a:solidFill>
            <a:srgbClr val="292039"/>
          </a:solidFill>
          <a:ln w="8890">
            <a:solidFill>
              <a:srgbClr val="6D5768"/>
            </a:solidFill>
            <a:prstDash val="solid"/>
          </a:ln>
        </p:spPr>
      </p:sp>
      <p:sp>
        <p:nvSpPr>
          <p:cNvPr id="23" name="Text 21"/>
          <p:cNvSpPr/>
          <p:nvPr/>
        </p:nvSpPr>
        <p:spPr>
          <a:xfrm>
            <a:off x="9144000"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C3ACE5"/>
                </a:solidFill>
                <a:latin typeface="Georgia" pitchFamily="34" charset="0"/>
                <a:ea typeface="Georgia" pitchFamily="34" charset="-122"/>
                <a:cs typeface="Georgia" pitchFamily="34" charset="-120"/>
              </a:rPr>
              <a:t>5</a:t>
            </a:r>
            <a:endParaRPr lang="en-US" sz="1700" dirty="0"/>
          </a:p>
        </p:txBody>
      </p:sp>
      <p:sp>
        <p:nvSpPr>
          <p:cNvPr id="24" name="Text 22"/>
          <p:cNvSpPr/>
          <p:nvPr/>
        </p:nvSpPr>
        <p:spPr>
          <a:xfrm>
            <a:off x="9436608"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Keep the workshop fictional.</a:t>
            </a:r>
            <a:endParaRPr lang="en-US" sz="700" dirty="0"/>
          </a:p>
        </p:txBody>
      </p:sp>
      <p:sp>
        <p:nvSpPr>
          <p:cNvPr id="25" name="Shape 23"/>
          <p:cNvSpPr/>
          <p:nvPr/>
        </p:nvSpPr>
        <p:spPr>
          <a:xfrm>
            <a:off x="10963656" y="1307592"/>
            <a:ext cx="1819656" cy="448056"/>
          </a:xfrm>
          <a:prstGeom prst="rect">
            <a:avLst/>
          </a:prstGeom>
          <a:solidFill>
            <a:srgbClr val="292039"/>
          </a:solidFill>
          <a:ln w="8890">
            <a:solidFill>
              <a:srgbClr val="6D5768"/>
            </a:solidFill>
            <a:prstDash val="solid"/>
          </a:ln>
        </p:spPr>
      </p:sp>
      <p:sp>
        <p:nvSpPr>
          <p:cNvPr id="26" name="Text 24"/>
          <p:cNvSpPr/>
          <p:nvPr/>
        </p:nvSpPr>
        <p:spPr>
          <a:xfrm>
            <a:off x="11036808"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C3ACE5"/>
                </a:solidFill>
                <a:latin typeface="Georgia" pitchFamily="34" charset="0"/>
                <a:ea typeface="Georgia" pitchFamily="34" charset="-122"/>
                <a:cs typeface="Georgia" pitchFamily="34" charset="-120"/>
              </a:rPr>
              <a:t>6</a:t>
            </a:r>
            <a:endParaRPr lang="en-US" sz="1700" dirty="0"/>
          </a:p>
        </p:txBody>
      </p:sp>
      <p:sp>
        <p:nvSpPr>
          <p:cNvPr id="27" name="Text 25"/>
          <p:cNvSpPr/>
          <p:nvPr/>
        </p:nvSpPr>
        <p:spPr>
          <a:xfrm>
            <a:off x="11329416"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Close with another possibility.</a:t>
            </a:r>
            <a:endParaRPr lang="en-US" sz="700" dirty="0"/>
          </a:p>
        </p:txBody>
      </p:sp>
      <p:pic>
        <p:nvPicPr>
          <p:cNvPr id="28" name="Image 0" descr="/home/user/design-buddy/design-buddy-home/public/atelier/afterglow/images/13.jpg">    </p:cNvPr>
          <p:cNvPicPr>
            <a:picLocks noChangeAspect="1"/>
          </p:cNvPicPr>
          <p:nvPr/>
        </p:nvPicPr>
        <p:blipFill>
          <a:blip r:embed="rId1"/>
          <a:srcRect l="0" r="0" t="0" b="0"/>
          <a:stretch/>
        </p:blipFill>
        <p:spPr>
          <a:xfrm>
            <a:off x="1499616" y="2066544"/>
            <a:ext cx="6949440" cy="3840480"/>
          </a:xfrm>
          <a:prstGeom prst="rect">
            <a:avLst/>
          </a:prstGeom>
        </p:spPr>
      </p:pic>
      <p:sp>
        <p:nvSpPr>
          <p:cNvPr id="29" name="Text 26"/>
          <p:cNvSpPr/>
          <p:nvPr/>
        </p:nvSpPr>
        <p:spPr>
          <a:xfrm>
            <a:off x="1499616" y="6007608"/>
            <a:ext cx="6949440" cy="164592"/>
          </a:xfrm>
          <a:prstGeom prst="rect">
            <a:avLst/>
          </a:prstGeom>
          <a:noFill/>
          <a:ln/>
        </p:spPr>
        <p:txBody>
          <a:bodyPr wrap="square" lIns="0" tIns="0" rIns="0" bIns="0" rtlCol="0" anchor="t">
            <a:normAutofit/>
          </a:bodyPr>
          <a:lstStyle/>
          <a:p>
            <a:pPr indent="0" marL="0">
              <a:buNone/>
            </a:pPr>
            <a:r>
              <a:rPr lang="en-US" sz="650" dirty="0">
                <a:solidFill>
                  <a:srgbClr val="C0AAB9"/>
                </a:solidFill>
                <a:latin typeface="Arial" pitchFamily="34" charset="0"/>
                <a:ea typeface="Arial" pitchFamily="34" charset="-122"/>
                <a:cs typeface="Arial" pitchFamily="34" charset="-120"/>
              </a:rPr>
              <a:t>Watercolour 13 / invented setting and adults / not production evidence</a:t>
            </a:r>
            <a:endParaRPr lang="en-US" sz="650" dirty="0"/>
          </a:p>
        </p:txBody>
      </p:sp>
      <p:sp>
        <p:nvSpPr>
          <p:cNvPr id="30" name="Text 27"/>
          <p:cNvSpPr/>
          <p:nvPr/>
        </p:nvSpPr>
        <p:spPr>
          <a:xfrm>
            <a:off x="8705088" y="2139696"/>
            <a:ext cx="4133088" cy="164592"/>
          </a:xfrm>
          <a:prstGeom prst="rect">
            <a:avLst/>
          </a:prstGeom>
          <a:noFill/>
          <a:ln/>
        </p:spPr>
        <p:txBody>
          <a:bodyPr wrap="square" lIns="0" tIns="0" rIns="0" bIns="0" rtlCol="0" anchor="t">
            <a:normAutofit/>
          </a:bodyPr>
          <a:lstStyle/>
          <a:p>
            <a:pPr indent="0" marL="0">
              <a:buNone/>
            </a:pPr>
            <a:r>
              <a:rPr lang="en-US" sz="700" spc="110" kern="0" dirty="0">
                <a:solidFill>
                  <a:srgbClr val="C3ACE5"/>
                </a:solidFill>
                <a:latin typeface="Arial" pitchFamily="34" charset="0"/>
                <a:ea typeface="Arial" pitchFamily="34" charset="-122"/>
                <a:cs typeface="Arial" pitchFamily="34" charset="-120"/>
              </a:rPr>
              <a:t>STORY INTENTION</a:t>
            </a:r>
            <a:endParaRPr lang="en-US" sz="700" dirty="0"/>
          </a:p>
        </p:txBody>
      </p:sp>
      <p:sp>
        <p:nvSpPr>
          <p:cNvPr id="31" name="Text 28"/>
          <p:cNvSpPr/>
          <p:nvPr/>
        </p:nvSpPr>
        <p:spPr>
          <a:xfrm>
            <a:off x="8705088" y="2514600"/>
            <a:ext cx="4133088" cy="1828800"/>
          </a:xfrm>
          <a:prstGeom prst="rect">
            <a:avLst/>
          </a:prstGeom>
          <a:noFill/>
          <a:ln/>
        </p:spPr>
        <p:txBody>
          <a:bodyPr wrap="square" lIns="0" tIns="0" rIns="0" bIns="0" rtlCol="0" anchor="t">
            <a:normAutofit/>
          </a:bodyPr>
          <a:lstStyle/>
          <a:p>
            <a:pPr indent="0" marL="0">
              <a:buNone/>
            </a:pPr>
            <a:r>
              <a:rPr lang="en-US" sz="1575" dirty="0">
                <a:solidFill>
                  <a:srgbClr val="ECDED6"/>
                </a:solidFill>
                <a:latin typeface="Georgia" pitchFamily="34" charset="0"/>
                <a:ea typeface="Georgia" pitchFamily="34" charset="-122"/>
                <a:cs typeface="Georgia" pitchFamily="34" charset="-120"/>
              </a:rPr>
              <a:t>A provisional creative choice is not a booking, contract, funding commitment or accessibility approval. Describe a preferred story direction without implying that real arrangements have been made.</a:t>
            </a:r>
            <a:endParaRPr lang="en-US" sz="1575" dirty="0"/>
          </a:p>
        </p:txBody>
      </p:sp>
      <p:sp>
        <p:nvSpPr>
          <p:cNvPr id="32" name="Text 29"/>
          <p:cNvSpPr/>
          <p:nvPr/>
        </p:nvSpPr>
        <p:spPr>
          <a:xfrm>
            <a:off x="8705088" y="4572000"/>
            <a:ext cx="4133088" cy="164592"/>
          </a:xfrm>
          <a:prstGeom prst="rect">
            <a:avLst/>
          </a:prstGeom>
          <a:noFill/>
          <a:ln/>
        </p:spPr>
        <p:txBody>
          <a:bodyPr wrap="square" lIns="0" tIns="0" rIns="0" bIns="0" rtlCol="0" anchor="t">
            <a:normAutofit/>
          </a:bodyPr>
          <a:lstStyle/>
          <a:p>
            <a:pPr indent="0" marL="0">
              <a:buNone/>
            </a:pPr>
            <a:r>
              <a:rPr lang="en-US" sz="700" spc="110" kern="0" dirty="0">
                <a:solidFill>
                  <a:srgbClr val="C3ACE5"/>
                </a:solidFill>
                <a:latin typeface="Arial" pitchFamily="34" charset="0"/>
                <a:ea typeface="Arial" pitchFamily="34" charset="-122"/>
                <a:cs typeface="Arial" pitchFamily="34" charset="-120"/>
              </a:rPr>
              <a:t>LEAVE A QUESTION</a:t>
            </a:r>
            <a:endParaRPr lang="en-US" sz="700" dirty="0"/>
          </a:p>
        </p:txBody>
      </p:sp>
      <p:sp>
        <p:nvSpPr>
          <p:cNvPr id="33" name="Text 30"/>
          <p:cNvSpPr/>
          <p:nvPr/>
        </p:nvSpPr>
        <p:spPr>
          <a:xfrm>
            <a:off x="8705088" y="4910328"/>
            <a:ext cx="4133088" cy="822960"/>
          </a:xfrm>
          <a:prstGeom prst="rect">
            <a:avLst/>
          </a:prstGeom>
          <a:noFill/>
          <a:ln/>
        </p:spPr>
        <p:txBody>
          <a:bodyPr wrap="square" lIns="0" tIns="0" rIns="0" bIns="0" rtlCol="0" anchor="t">
            <a:normAutofit/>
          </a:bodyPr>
          <a:lstStyle/>
          <a:p>
            <a:pPr indent="0" marL="0">
              <a:buNone/>
            </a:pPr>
            <a:r>
              <a:rPr lang="en-US" sz="1875" i="1" dirty="0">
                <a:solidFill>
                  <a:srgbClr val="C3ACE5"/>
                </a:solidFill>
                <a:latin typeface="Georgia" pitchFamily="34" charset="0"/>
                <a:ea typeface="Georgia" pitchFamily="34" charset="-122"/>
                <a:cs typeface="Georgia" pitchFamily="34" charset="-120"/>
              </a:rPr>
              <a:t>Which word could accidentally imply an external commitment?</a:t>
            </a:r>
            <a:endParaRPr lang="en-US" sz="1875" dirty="0"/>
          </a:p>
        </p:txBody>
      </p:sp>
      <p:sp>
        <p:nvSpPr>
          <p:cNvPr id="34" name="Text 31"/>
          <p:cNvSpPr/>
          <p:nvPr/>
        </p:nvSpPr>
        <p:spPr>
          <a:xfrm>
            <a:off x="8705088" y="5806440"/>
            <a:ext cx="4133088" cy="292608"/>
          </a:xfrm>
          <a:prstGeom prst="rect">
            <a:avLst/>
          </a:prstGeom>
          <a:noFill/>
          <a:ln/>
        </p:spPr>
        <p:txBody>
          <a:bodyPr wrap="square" lIns="0" tIns="0" rIns="0" bIns="0" rtlCol="0" anchor="t">
            <a:normAutofit/>
          </a:bodyPr>
          <a:lstStyle/>
          <a:p>
            <a:pPr indent="0" marL="0">
              <a:buNone/>
            </a:pPr>
            <a:r>
              <a:rPr lang="en-US" sz="700" dirty="0">
                <a:solidFill>
                  <a:srgbClr val="C0AAB9"/>
                </a:solidFill>
                <a:latin typeface="Arial" pitchFamily="34" charset="0"/>
                <a:ea typeface="Arial" pitchFamily="34" charset="-122"/>
                <a:cs typeface="Arial" pitchFamily="34" charset="-120"/>
              </a:rPr>
              <a:t>Beat order is not timing, a technical call or a show schedule.</a:t>
            </a:r>
            <a:endParaRPr lang="en-US" sz="700" dirty="0"/>
          </a:p>
        </p:txBody>
      </p:sp>
      <p:sp>
        <p:nvSpPr>
          <p:cNvPr id="35" name="Shape 32"/>
          <p:cNvSpPr/>
          <p:nvPr/>
        </p:nvSpPr>
        <p:spPr>
          <a:xfrm>
            <a:off x="1499616" y="6583680"/>
            <a:ext cx="3675888" cy="1481328"/>
          </a:xfrm>
          <a:prstGeom prst="rect">
            <a:avLst/>
          </a:prstGeom>
          <a:solidFill>
            <a:srgbClr val="292039"/>
          </a:solidFill>
          <a:ln w="8890">
            <a:solidFill>
              <a:srgbClr val="735D6D"/>
            </a:solidFill>
            <a:prstDash val="solid"/>
          </a:ln>
        </p:spPr>
      </p:sp>
      <p:sp>
        <p:nvSpPr>
          <p:cNvPr id="36" name="Text 33"/>
          <p:cNvSpPr/>
          <p:nvPr/>
        </p:nvSpPr>
        <p:spPr>
          <a:xfrm>
            <a:off x="1682496"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C3ACE5"/>
                </a:solidFill>
                <a:latin typeface="Arial" pitchFamily="34" charset="0"/>
                <a:ea typeface="Arial" pitchFamily="34" charset="-122"/>
                <a:cs typeface="Arial" pitchFamily="34" charset="-120"/>
              </a:rPr>
              <a:t>01 / NOTICE</a:t>
            </a:r>
            <a:endParaRPr lang="en-US" sz="700" dirty="0"/>
          </a:p>
        </p:txBody>
      </p:sp>
      <p:sp>
        <p:nvSpPr>
          <p:cNvPr id="37" name="Text 34"/>
          <p:cNvSpPr/>
          <p:nvPr/>
        </p:nvSpPr>
        <p:spPr>
          <a:xfrm>
            <a:off x="1682496"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Creative intention and external permission are different.</a:t>
            </a:r>
            <a:endParaRPr lang="en-US" sz="1500" dirty="0"/>
          </a:p>
        </p:txBody>
      </p:sp>
      <p:sp>
        <p:nvSpPr>
          <p:cNvPr id="38" name="Shape 35"/>
          <p:cNvSpPr/>
          <p:nvPr/>
        </p:nvSpPr>
        <p:spPr>
          <a:xfrm>
            <a:off x="5321808" y="6583680"/>
            <a:ext cx="3675888" cy="1481328"/>
          </a:xfrm>
          <a:prstGeom prst="rect">
            <a:avLst/>
          </a:prstGeom>
          <a:solidFill>
            <a:srgbClr val="292039"/>
          </a:solidFill>
          <a:ln w="8890">
            <a:solidFill>
              <a:srgbClr val="735D6D"/>
            </a:solidFill>
            <a:prstDash val="solid"/>
          </a:ln>
        </p:spPr>
      </p:sp>
      <p:sp>
        <p:nvSpPr>
          <p:cNvPr id="39" name="Text 36"/>
          <p:cNvSpPr/>
          <p:nvPr/>
        </p:nvSpPr>
        <p:spPr>
          <a:xfrm>
            <a:off x="5504688"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C3ACE5"/>
                </a:solidFill>
                <a:latin typeface="Arial" pitchFamily="34" charset="0"/>
                <a:ea typeface="Arial" pitchFamily="34" charset="-122"/>
                <a:cs typeface="Arial" pitchFamily="34" charset="-120"/>
              </a:rPr>
              <a:t>02 / TRY IN WORDS</a:t>
            </a:r>
            <a:endParaRPr lang="en-US" sz="700" dirty="0"/>
          </a:p>
        </p:txBody>
      </p:sp>
      <p:sp>
        <p:nvSpPr>
          <p:cNvPr id="40" name="Text 37"/>
          <p:cNvSpPr/>
          <p:nvPr/>
        </p:nvSpPr>
        <p:spPr>
          <a:xfrm>
            <a:off x="5504688"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Replace a promise with a bounded provisional statement.</a:t>
            </a:r>
            <a:endParaRPr lang="en-US" sz="1500" dirty="0"/>
          </a:p>
        </p:txBody>
      </p:sp>
      <p:sp>
        <p:nvSpPr>
          <p:cNvPr id="41" name="Shape 38"/>
          <p:cNvSpPr/>
          <p:nvPr/>
        </p:nvSpPr>
        <p:spPr>
          <a:xfrm>
            <a:off x="9144000" y="6583680"/>
            <a:ext cx="3675888" cy="1481328"/>
          </a:xfrm>
          <a:prstGeom prst="rect">
            <a:avLst/>
          </a:prstGeom>
          <a:solidFill>
            <a:srgbClr val="292039"/>
          </a:solidFill>
          <a:ln w="8890">
            <a:solidFill>
              <a:srgbClr val="735D6D"/>
            </a:solidFill>
            <a:prstDash val="solid"/>
          </a:ln>
        </p:spPr>
      </p:sp>
      <p:sp>
        <p:nvSpPr>
          <p:cNvPr id="42" name="Text 39"/>
          <p:cNvSpPr/>
          <p:nvPr/>
        </p:nvSpPr>
        <p:spPr>
          <a:xfrm>
            <a:off x="9326880"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C3ACE5"/>
                </a:solidFill>
                <a:latin typeface="Arial" pitchFamily="34" charset="0"/>
                <a:ea typeface="Arial" pitchFamily="34" charset="-122"/>
                <a:cs typeface="Arial" pitchFamily="34" charset="-120"/>
              </a:rPr>
              <a:t>03 / KEEP VISIBLE</a:t>
            </a:r>
            <a:endParaRPr lang="en-US" sz="700" dirty="0"/>
          </a:p>
        </p:txBody>
      </p:sp>
      <p:sp>
        <p:nvSpPr>
          <p:cNvPr id="43" name="Text 40"/>
          <p:cNvSpPr/>
          <p:nvPr/>
        </p:nvSpPr>
        <p:spPr>
          <a:xfrm>
            <a:off x="9326880"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Leave operational decisions to a separate real process.</a:t>
            </a:r>
            <a:endParaRPr lang="en-US" sz="1500" dirty="0"/>
          </a:p>
        </p:txBody>
      </p:sp>
      <p:sp>
        <p:nvSpPr>
          <p:cNvPr id="44" name="Shape 41"/>
          <p:cNvSpPr/>
          <p:nvPr/>
        </p:nvSpPr>
        <p:spPr>
          <a:xfrm>
            <a:off x="1499616" y="8211312"/>
            <a:ext cx="11338560" cy="0"/>
          </a:xfrm>
          <a:prstGeom prst="line">
            <a:avLst/>
          </a:prstGeom>
          <a:noFill/>
          <a:ln w="8890">
            <a:solidFill>
              <a:srgbClr val="796170"/>
            </a:solidFill>
            <a:prstDash val="solid"/>
          </a:ln>
        </p:spPr>
      </p:sp>
      <p:sp>
        <p:nvSpPr>
          <p:cNvPr id="45" name="Text 42"/>
          <p:cNvSpPr/>
          <p:nvPr/>
        </p:nvSpPr>
        <p:spPr>
          <a:xfrm>
            <a:off x="1499616" y="8339328"/>
            <a:ext cx="8229600" cy="118872"/>
          </a:xfrm>
          <a:prstGeom prst="rect">
            <a:avLst/>
          </a:prstGeom>
          <a:noFill/>
          <a:ln/>
        </p:spPr>
        <p:txBody>
          <a:bodyPr wrap="square" lIns="0" tIns="0" rIns="0" bIns="0" rtlCol="0" anchor="t">
            <a:normAutofit/>
          </a:bodyPr>
          <a:lstStyle/>
          <a:p>
            <a:pPr indent="0" marL="0">
              <a:buNone/>
            </a:pPr>
            <a:r>
              <a:rPr lang="en-US" sz="650" dirty="0">
                <a:solidFill>
                  <a:srgbClr val="C0AAB9"/>
                </a:solidFill>
                <a:latin typeface="Arial" pitchFamily="34" charset="0"/>
                <a:ea typeface="Arial" pitchFamily="34" charset="-122"/>
                <a:cs typeface="Arial" pitchFamily="34" charset="-120"/>
              </a:rPr>
              <a:t>FICTIONAL WRITING WORKSHOP / NOT A STAGING OR APPROVAL PLAN</a:t>
            </a:r>
            <a:endParaRPr lang="en-US" sz="650" dirty="0"/>
          </a:p>
        </p:txBody>
      </p:sp>
      <p:sp>
        <p:nvSpPr>
          <p:cNvPr id="46" name="Text 43"/>
          <p:cNvSpPr/>
          <p:nvPr/>
        </p:nvSpPr>
        <p:spPr>
          <a:xfrm>
            <a:off x="9729216" y="8339328"/>
            <a:ext cx="3108960" cy="118872"/>
          </a:xfrm>
          <a:prstGeom prst="rect">
            <a:avLst/>
          </a:prstGeom>
          <a:noFill/>
          <a:ln/>
        </p:spPr>
        <p:txBody>
          <a:bodyPr wrap="square" lIns="0" tIns="0" rIns="0" bIns="0" rtlCol="0" anchor="t">
            <a:normAutofit/>
          </a:bodyPr>
          <a:lstStyle/>
          <a:p>
            <a:pPr algn="r" indent="0" marL="0">
              <a:buNone/>
            </a:pPr>
            <a:r>
              <a:rPr lang="en-US" sz="650" dirty="0">
                <a:solidFill>
                  <a:srgbClr val="C0AAB9"/>
                </a:solidFill>
                <a:latin typeface="Arial" pitchFamily="34" charset="0"/>
                <a:ea typeface="Arial" pitchFamily="34" charset="-122"/>
                <a:cs typeface="Arial" pitchFamily="34" charset="-120"/>
              </a:rPr>
              <a:t>DRAFT / 14 OF 15 ARTWORKS / 26 OF 30</a:t>
            </a:r>
            <a:endParaRPr lang="en-US" sz="6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292039"/>
        </a:solidFill>
      </p:bgPr>
    </p:bg>
    <p:spTree>
      <p:nvGrpSpPr>
        <p:cNvPr id="1" name=""/>
        <p:cNvGrpSpPr/>
        <p:nvPr/>
      </p:nvGrpSpPr>
      <p:grpSpPr>
        <a:xfrm>
          <a:off x="0" y="0"/>
          <a:ext cx="0" cy="0"/>
          <a:chOff x="0" y="0"/>
          <a:chExt cx="0" cy="0"/>
        </a:xfrm>
      </p:grpSpPr>
      <p:sp>
        <p:nvSpPr>
          <p:cNvPr id="2" name="Shape 0"/>
          <p:cNvSpPr/>
          <p:nvPr/>
        </p:nvSpPr>
        <p:spPr>
          <a:xfrm>
            <a:off x="1243584" y="329184"/>
            <a:ext cx="0" cy="8119872"/>
          </a:xfrm>
          <a:prstGeom prst="line">
            <a:avLst/>
          </a:prstGeom>
          <a:noFill/>
          <a:ln w="10160">
            <a:solidFill>
              <a:srgbClr val="776072"/>
            </a:solidFill>
            <a:prstDash val="solid"/>
          </a:ln>
        </p:spPr>
      </p:sp>
      <p:sp>
        <p:nvSpPr>
          <p:cNvPr id="3" name="Text 1"/>
          <p:cNvSpPr/>
          <p:nvPr/>
        </p:nvSpPr>
        <p:spPr>
          <a:xfrm>
            <a:off x="393192" y="457200"/>
            <a:ext cx="685800" cy="457200"/>
          </a:xfrm>
          <a:prstGeom prst="rect">
            <a:avLst/>
          </a:prstGeom>
          <a:noFill/>
          <a:ln/>
        </p:spPr>
        <p:txBody>
          <a:bodyPr wrap="square" lIns="0" tIns="0" rIns="0" bIns="0" rtlCol="0" anchor="t">
            <a:normAutofit/>
          </a:bodyPr>
          <a:lstStyle/>
          <a:p>
            <a:pPr indent="0" marL="0">
              <a:buNone/>
            </a:pPr>
            <a:r>
              <a:rPr lang="en-US" sz="600" dirty="0">
                <a:solidFill>
                  <a:srgbClr val="C0AAB9"/>
                </a:solidFill>
                <a:latin typeface="Arial" pitchFamily="34" charset="0"/>
                <a:ea typeface="Arial" pitchFamily="34" charset="-122"/>
                <a:cs typeface="Arial" pitchFamily="34" charset="-120"/>
              </a:rPr>
              <a:t>DESIGN BUDDY</a:t>
            </a:r>
            <a:endParaRPr lang="en-US" sz="600" dirty="0"/>
          </a:p>
          <a:p>
            <a:pPr indent="0" marL="0">
              <a:buNone/>
            </a:pPr>
            <a:r>
              <a:rPr lang="en-US" sz="600" dirty="0">
                <a:solidFill>
                  <a:srgbClr val="C0AAB9"/>
                </a:solidFill>
                <a:latin typeface="Arial" pitchFamily="34" charset="0"/>
                <a:ea typeface="Arial" pitchFamily="34" charset="-122"/>
                <a:cs typeface="Arial" pitchFamily="34" charset="-120"/>
              </a:rPr>
              <a:t>CREATIVE EXERCISE</a:t>
            </a:r>
            <a:endParaRPr lang="en-US" sz="600" dirty="0"/>
          </a:p>
        </p:txBody>
      </p:sp>
      <p:sp>
        <p:nvSpPr>
          <p:cNvPr id="4" name="Text 2"/>
          <p:cNvSpPr/>
          <p:nvPr/>
        </p:nvSpPr>
        <p:spPr>
          <a:xfrm>
            <a:off x="502920" y="1920240"/>
            <a:ext cx="502920" cy="4480560"/>
          </a:xfrm>
          <a:prstGeom prst="rect">
            <a:avLst/>
          </a:prstGeom>
          <a:noFill/>
          <a:ln/>
        </p:spPr>
        <p:txBody>
          <a:bodyPr wrap="square" lIns="0" tIns="0" rIns="0" bIns="0" rtlCol="0" anchor="t">
            <a:normAutofit/>
          </a:bodyPr>
          <a:lstStyle/>
          <a:p>
            <a:pPr algn="ctr" indent="0" marL="0">
              <a:buNone/>
            </a:pPr>
            <a:r>
              <a:rPr lang="en-US" sz="2500" dirty="0">
                <a:solidFill>
                  <a:srgbClr val="C3ACE5"/>
                </a:solidFill>
                <a:latin typeface="Georgia" pitchFamily="34" charset="0"/>
                <a:ea typeface="Georgia" pitchFamily="34" charset="-122"/>
                <a:cs typeface="Georgia" pitchFamily="34" charset="-120"/>
              </a:rPr>
              <a:t>A</a:t>
            </a:r>
            <a:endParaRPr lang="en-US" sz="2500" dirty="0"/>
          </a:p>
          <a:p>
            <a:pPr algn="ctr" indent="0" marL="0">
              <a:buNone/>
            </a:pPr>
            <a:r>
              <a:rPr lang="en-US" sz="2500" dirty="0">
                <a:solidFill>
                  <a:srgbClr val="C3ACE5"/>
                </a:solidFill>
                <a:latin typeface="Georgia" pitchFamily="34" charset="0"/>
                <a:ea typeface="Georgia" pitchFamily="34" charset="-122"/>
                <a:cs typeface="Georgia" pitchFamily="34" charset="-120"/>
              </a:rPr>
              <a:t>F</a:t>
            </a:r>
            <a:endParaRPr lang="en-US" sz="2500" dirty="0"/>
          </a:p>
          <a:p>
            <a:pPr algn="ctr" indent="0" marL="0">
              <a:buNone/>
            </a:pPr>
            <a:r>
              <a:rPr lang="en-US" sz="2500" dirty="0">
                <a:solidFill>
                  <a:srgbClr val="C3ACE5"/>
                </a:solidFill>
                <a:latin typeface="Georgia" pitchFamily="34" charset="0"/>
                <a:ea typeface="Georgia" pitchFamily="34" charset="-122"/>
                <a:cs typeface="Georgia" pitchFamily="34" charset="-120"/>
              </a:rPr>
              <a:t>T</a:t>
            </a:r>
            <a:endParaRPr lang="en-US" sz="2500" dirty="0"/>
          </a:p>
          <a:p>
            <a:pPr algn="ctr" indent="0" marL="0">
              <a:buNone/>
            </a:pPr>
            <a:r>
              <a:rPr lang="en-US" sz="2500" dirty="0">
                <a:solidFill>
                  <a:srgbClr val="C3ACE5"/>
                </a:solidFill>
                <a:latin typeface="Georgia" pitchFamily="34" charset="0"/>
                <a:ea typeface="Georgia" pitchFamily="34" charset="-122"/>
                <a:cs typeface="Georgia" pitchFamily="34" charset="-120"/>
              </a:rPr>
              <a:t>E</a:t>
            </a:r>
            <a:endParaRPr lang="en-US" sz="2500" dirty="0"/>
          </a:p>
          <a:p>
            <a:pPr algn="ctr" indent="0" marL="0">
              <a:buNone/>
            </a:pPr>
            <a:r>
              <a:rPr lang="en-US" sz="2500" dirty="0">
                <a:solidFill>
                  <a:srgbClr val="C3ACE5"/>
                </a:solidFill>
                <a:latin typeface="Georgia" pitchFamily="34" charset="0"/>
                <a:ea typeface="Georgia" pitchFamily="34" charset="-122"/>
                <a:cs typeface="Georgia" pitchFamily="34" charset="-120"/>
              </a:rPr>
              <a:t>R</a:t>
            </a:r>
            <a:endParaRPr lang="en-US" sz="2500" dirty="0"/>
          </a:p>
          <a:p>
            <a:pPr algn="ctr" indent="0" marL="0">
              <a:buNone/>
            </a:pPr>
            <a:r>
              <a:rPr lang="en-US" sz="2500" dirty="0">
                <a:solidFill>
                  <a:srgbClr val="C3ACE5"/>
                </a:solidFill>
                <a:latin typeface="Georgia" pitchFamily="34" charset="0"/>
                <a:ea typeface="Georgia" pitchFamily="34" charset="-122"/>
                <a:cs typeface="Georgia" pitchFamily="34" charset="-120"/>
              </a:rPr>
              <a:t>G</a:t>
            </a:r>
            <a:endParaRPr lang="en-US" sz="2500" dirty="0"/>
          </a:p>
          <a:p>
            <a:pPr algn="ctr" indent="0" marL="0">
              <a:buNone/>
            </a:pPr>
            <a:r>
              <a:rPr lang="en-US" sz="2500" dirty="0">
                <a:solidFill>
                  <a:srgbClr val="C3ACE5"/>
                </a:solidFill>
                <a:latin typeface="Georgia" pitchFamily="34" charset="0"/>
                <a:ea typeface="Georgia" pitchFamily="34" charset="-122"/>
                <a:cs typeface="Georgia" pitchFamily="34" charset="-120"/>
              </a:rPr>
              <a:t>L</a:t>
            </a:r>
            <a:endParaRPr lang="en-US" sz="2500" dirty="0"/>
          </a:p>
          <a:p>
            <a:pPr algn="ctr" indent="0" marL="0">
              <a:buNone/>
            </a:pPr>
            <a:r>
              <a:rPr lang="en-US" sz="2500" dirty="0">
                <a:solidFill>
                  <a:srgbClr val="C3ACE5"/>
                </a:solidFill>
                <a:latin typeface="Georgia" pitchFamily="34" charset="0"/>
                <a:ea typeface="Georgia" pitchFamily="34" charset="-122"/>
                <a:cs typeface="Georgia" pitchFamily="34" charset="-120"/>
              </a:rPr>
              <a:t>O</a:t>
            </a:r>
            <a:endParaRPr lang="en-US" sz="2500" dirty="0"/>
          </a:p>
          <a:p>
            <a:pPr algn="ctr" indent="0" marL="0">
              <a:buNone/>
            </a:pPr>
            <a:r>
              <a:rPr lang="en-US" sz="2500" dirty="0">
                <a:solidFill>
                  <a:srgbClr val="C3ACE5"/>
                </a:solidFill>
                <a:latin typeface="Georgia" pitchFamily="34" charset="0"/>
                <a:ea typeface="Georgia" pitchFamily="34" charset="-122"/>
                <a:cs typeface="Georgia" pitchFamily="34" charset="-120"/>
              </a:rPr>
              <a:t>W</a:t>
            </a:r>
            <a:endParaRPr lang="en-US" sz="2500" dirty="0"/>
          </a:p>
        </p:txBody>
      </p:sp>
      <p:sp>
        <p:nvSpPr>
          <p:cNvPr id="5" name="Text 3"/>
          <p:cNvSpPr/>
          <p:nvPr/>
        </p:nvSpPr>
        <p:spPr>
          <a:xfrm>
            <a:off x="402336" y="7022592"/>
            <a:ext cx="731520" cy="594360"/>
          </a:xfrm>
          <a:prstGeom prst="rect">
            <a:avLst/>
          </a:prstGeom>
          <a:noFill/>
          <a:ln/>
        </p:spPr>
        <p:txBody>
          <a:bodyPr wrap="square" lIns="0" tIns="0" rIns="0" bIns="0" rtlCol="0" anchor="t">
            <a:normAutofit/>
          </a:bodyPr>
          <a:lstStyle/>
          <a:p>
            <a:pPr indent="0" marL="0">
              <a:buNone/>
            </a:pPr>
            <a:r>
              <a:rPr lang="en-US" sz="4200" dirty="0">
                <a:solidFill>
                  <a:srgbClr val="C3ACE5"/>
                </a:solidFill>
                <a:latin typeface="Georgia" pitchFamily="34" charset="0"/>
                <a:ea typeface="Georgia" pitchFamily="34" charset="-122"/>
                <a:cs typeface="Georgia" pitchFamily="34" charset="-120"/>
              </a:rPr>
              <a:t>27</a:t>
            </a:r>
            <a:endParaRPr lang="en-US" sz="4200" dirty="0"/>
          </a:p>
        </p:txBody>
      </p:sp>
      <p:sp>
        <p:nvSpPr>
          <p:cNvPr id="6" name="Text 4"/>
          <p:cNvSpPr/>
          <p:nvPr/>
        </p:nvSpPr>
        <p:spPr>
          <a:xfrm>
            <a:off x="402336" y="7818120"/>
            <a:ext cx="731520" cy="411480"/>
          </a:xfrm>
          <a:prstGeom prst="rect">
            <a:avLst/>
          </a:prstGeom>
          <a:noFill/>
          <a:ln/>
        </p:spPr>
        <p:txBody>
          <a:bodyPr wrap="square" lIns="0" tIns="0" rIns="0" bIns="0" rtlCol="0" anchor="t">
            <a:normAutofit/>
          </a:bodyPr>
          <a:lstStyle/>
          <a:p>
            <a:pPr indent="0" marL="0">
              <a:buNone/>
            </a:pPr>
            <a:r>
              <a:rPr lang="en-US" sz="700" dirty="0">
                <a:solidFill>
                  <a:srgbClr val="C0AAB9"/>
                </a:solidFill>
                <a:latin typeface="Arial" pitchFamily="34" charset="0"/>
                <a:ea typeface="Arial" pitchFamily="34" charset="-122"/>
                <a:cs typeface="Arial" pitchFamily="34" charset="-120"/>
              </a:rPr>
              <a:t>ACT 5 / 5</a:t>
            </a:r>
            <a:endParaRPr lang="en-US" sz="700" dirty="0"/>
          </a:p>
          <a:p>
            <a:pPr indent="0" marL="0">
              <a:buNone/>
            </a:pPr>
            <a:r>
              <a:rPr lang="en-US" sz="700" dirty="0">
                <a:solidFill>
                  <a:srgbClr val="C0AAB9"/>
                </a:solidFill>
                <a:latin typeface="Arial" pitchFamily="34" charset="0"/>
                <a:ea typeface="Arial" pitchFamily="34" charset="-122"/>
                <a:cs typeface="Arial" pitchFamily="34" charset="-120"/>
              </a:rPr>
              <a:t>BEAT 3 / 6</a:t>
            </a:r>
            <a:endParaRPr lang="en-US" sz="700" dirty="0"/>
          </a:p>
        </p:txBody>
      </p:sp>
      <p:sp>
        <p:nvSpPr>
          <p:cNvPr id="7" name="Text 5"/>
          <p:cNvSpPr/>
          <p:nvPr/>
        </p:nvSpPr>
        <p:spPr>
          <a:xfrm>
            <a:off x="1499616" y="347472"/>
            <a:ext cx="9144000" cy="164592"/>
          </a:xfrm>
          <a:prstGeom prst="rect">
            <a:avLst/>
          </a:prstGeom>
          <a:noFill/>
          <a:ln/>
        </p:spPr>
        <p:txBody>
          <a:bodyPr wrap="square" lIns="0" tIns="0" rIns="0" bIns="0" rtlCol="0" anchor="t">
            <a:normAutofit/>
          </a:bodyPr>
          <a:lstStyle/>
          <a:p>
            <a:pPr indent="0" marL="0">
              <a:buNone/>
            </a:pPr>
            <a:r>
              <a:rPr lang="en-US" sz="700" spc="120" kern="0" dirty="0">
                <a:solidFill>
                  <a:srgbClr val="C3ACE5"/>
                </a:solidFill>
                <a:latin typeface="Arial" pitchFamily="34" charset="0"/>
                <a:ea typeface="Arial" pitchFamily="34" charset="-122"/>
                <a:cs typeface="Arial" pitchFamily="34" charset="-120"/>
              </a:rPr>
              <a:t>ACT 5 / HANDOFF</a:t>
            </a:r>
            <a:endParaRPr lang="en-US" sz="700" dirty="0"/>
          </a:p>
        </p:txBody>
      </p:sp>
      <p:sp>
        <p:nvSpPr>
          <p:cNvPr id="8" name="Text 6"/>
          <p:cNvSpPr/>
          <p:nvPr/>
        </p:nvSpPr>
        <p:spPr>
          <a:xfrm>
            <a:off x="1499616" y="612648"/>
            <a:ext cx="9692640" cy="594360"/>
          </a:xfrm>
          <a:prstGeom prst="rect">
            <a:avLst/>
          </a:prstGeom>
          <a:noFill/>
          <a:ln/>
        </p:spPr>
        <p:txBody>
          <a:bodyPr wrap="square" lIns="0" tIns="0" rIns="0" bIns="0" rtlCol="0" anchor="t">
            <a:normAutofit/>
          </a:bodyPr>
          <a:lstStyle/>
          <a:p>
            <a:pPr indent="0" marL="0">
              <a:buNone/>
            </a:pPr>
            <a:r>
              <a:rPr lang="en-US" sz="2800" dirty="0">
                <a:solidFill>
                  <a:srgbClr val="ECDED6"/>
                </a:solidFill>
                <a:latin typeface="Georgia" pitchFamily="34" charset="0"/>
                <a:ea typeface="Georgia" pitchFamily="34" charset="-122"/>
                <a:cs typeface="Georgia" pitchFamily="34" charset="-120"/>
              </a:rPr>
              <a:t>Send the version you mean.</a:t>
            </a:r>
            <a:endParaRPr lang="en-US" sz="2800" dirty="0"/>
          </a:p>
        </p:txBody>
      </p:sp>
      <p:sp>
        <p:nvSpPr>
          <p:cNvPr id="9" name="Text 7"/>
          <p:cNvSpPr/>
          <p:nvPr/>
        </p:nvSpPr>
        <p:spPr>
          <a:xfrm>
            <a:off x="11475720" y="438912"/>
            <a:ext cx="1325880" cy="182880"/>
          </a:xfrm>
          <a:prstGeom prst="rect">
            <a:avLst/>
          </a:prstGeom>
          <a:noFill/>
          <a:ln/>
        </p:spPr>
        <p:txBody>
          <a:bodyPr wrap="square" lIns="0" tIns="0" rIns="0" bIns="0" rtlCol="0" anchor="t">
            <a:normAutofit/>
          </a:bodyPr>
          <a:lstStyle/>
          <a:p>
            <a:pPr algn="r" indent="0" marL="0">
              <a:buNone/>
            </a:pPr>
            <a:r>
              <a:rPr lang="en-US" sz="700" dirty="0">
                <a:solidFill>
                  <a:srgbClr val="C3ACE5"/>
                </a:solidFill>
                <a:latin typeface="Arial" pitchFamily="34" charset="0"/>
                <a:ea typeface="Arial" pitchFamily="34" charset="-122"/>
                <a:cs typeface="Arial" pitchFamily="34" charset="-120"/>
              </a:rPr>
              <a:t>LOCAL / UNMARKED</a:t>
            </a:r>
            <a:endParaRPr lang="en-US" sz="700" dirty="0"/>
          </a:p>
        </p:txBody>
      </p:sp>
      <p:sp>
        <p:nvSpPr>
          <p:cNvPr id="10" name="Shape 8"/>
          <p:cNvSpPr/>
          <p:nvPr/>
        </p:nvSpPr>
        <p:spPr>
          <a:xfrm>
            <a:off x="1499616" y="1307592"/>
            <a:ext cx="1819656" cy="448056"/>
          </a:xfrm>
          <a:prstGeom prst="rect">
            <a:avLst/>
          </a:prstGeom>
          <a:solidFill>
            <a:srgbClr val="292039"/>
          </a:solidFill>
          <a:ln w="8890">
            <a:solidFill>
              <a:srgbClr val="6D5768"/>
            </a:solidFill>
            <a:prstDash val="solid"/>
          </a:ln>
        </p:spPr>
      </p:sp>
      <p:sp>
        <p:nvSpPr>
          <p:cNvPr id="11" name="Text 9"/>
          <p:cNvSpPr/>
          <p:nvPr/>
        </p:nvSpPr>
        <p:spPr>
          <a:xfrm>
            <a:off x="1572768"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C3ACE5"/>
                </a:solidFill>
                <a:latin typeface="Georgia" pitchFamily="34" charset="0"/>
                <a:ea typeface="Georgia" pitchFamily="34" charset="-122"/>
                <a:cs typeface="Georgia" pitchFamily="34" charset="-120"/>
              </a:rPr>
              <a:t>1</a:t>
            </a:r>
            <a:endParaRPr lang="en-US" sz="1700" dirty="0"/>
          </a:p>
        </p:txBody>
      </p:sp>
      <p:sp>
        <p:nvSpPr>
          <p:cNvPr id="12" name="Text 10"/>
          <p:cNvSpPr/>
          <p:nvPr/>
        </p:nvSpPr>
        <p:spPr>
          <a:xfrm>
            <a:off x="1865376"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Introduce the draft honestly.</a:t>
            </a:r>
            <a:endParaRPr lang="en-US" sz="700" dirty="0"/>
          </a:p>
        </p:txBody>
      </p:sp>
      <p:sp>
        <p:nvSpPr>
          <p:cNvPr id="13" name="Shape 11"/>
          <p:cNvSpPr/>
          <p:nvPr/>
        </p:nvSpPr>
        <p:spPr>
          <a:xfrm>
            <a:off x="3392424" y="1307592"/>
            <a:ext cx="1819656" cy="448056"/>
          </a:xfrm>
          <a:prstGeom prst="rect">
            <a:avLst/>
          </a:prstGeom>
          <a:solidFill>
            <a:srgbClr val="292039"/>
          </a:solidFill>
          <a:ln w="8890">
            <a:solidFill>
              <a:srgbClr val="6D5768"/>
            </a:solidFill>
            <a:prstDash val="solid"/>
          </a:ln>
        </p:spPr>
      </p:sp>
      <p:sp>
        <p:nvSpPr>
          <p:cNvPr id="14" name="Text 12"/>
          <p:cNvSpPr/>
          <p:nvPr/>
        </p:nvSpPr>
        <p:spPr>
          <a:xfrm>
            <a:off x="3465576"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C3ACE5"/>
                </a:solidFill>
                <a:latin typeface="Georgia" pitchFamily="34" charset="0"/>
                <a:ea typeface="Georgia" pitchFamily="34" charset="-122"/>
                <a:cs typeface="Georgia" pitchFamily="34" charset="-120"/>
              </a:rPr>
              <a:t>2</a:t>
            </a:r>
            <a:endParaRPr lang="en-US" sz="1700" dirty="0"/>
          </a:p>
        </p:txBody>
      </p:sp>
      <p:sp>
        <p:nvSpPr>
          <p:cNvPr id="15" name="Text 13"/>
          <p:cNvSpPr/>
          <p:nvPr/>
        </p:nvSpPr>
        <p:spPr>
          <a:xfrm>
            <a:off x="3758184"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Separate a choice from a promise.</a:t>
            </a:r>
            <a:endParaRPr lang="en-US" sz="700" dirty="0"/>
          </a:p>
        </p:txBody>
      </p:sp>
      <p:sp>
        <p:nvSpPr>
          <p:cNvPr id="16" name="Shape 14"/>
          <p:cNvSpPr/>
          <p:nvPr/>
        </p:nvSpPr>
        <p:spPr>
          <a:xfrm>
            <a:off x="5285232" y="1307592"/>
            <a:ext cx="1819656" cy="448056"/>
          </a:xfrm>
          <a:prstGeom prst="rect">
            <a:avLst/>
          </a:prstGeom>
          <a:solidFill>
            <a:srgbClr val="292039"/>
          </a:solidFill>
          <a:ln w="8890">
            <a:solidFill>
              <a:srgbClr val="C3ACE5"/>
            </a:solidFill>
            <a:prstDash val="solid"/>
          </a:ln>
        </p:spPr>
      </p:sp>
      <p:sp>
        <p:nvSpPr>
          <p:cNvPr id="17" name="Text 15"/>
          <p:cNvSpPr/>
          <p:nvPr/>
        </p:nvSpPr>
        <p:spPr>
          <a:xfrm>
            <a:off x="5358384"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C3ACE5"/>
                </a:solidFill>
                <a:latin typeface="Georgia" pitchFamily="34" charset="0"/>
                <a:ea typeface="Georgia" pitchFamily="34" charset="-122"/>
                <a:cs typeface="Georgia" pitchFamily="34" charset="-120"/>
              </a:rPr>
              <a:t>3</a:t>
            </a:r>
            <a:endParaRPr lang="en-US" sz="1700" dirty="0"/>
          </a:p>
        </p:txBody>
      </p:sp>
      <p:sp>
        <p:nvSpPr>
          <p:cNvPr id="18" name="Text 16"/>
          <p:cNvSpPr/>
          <p:nvPr/>
        </p:nvSpPr>
        <p:spPr>
          <a:xfrm>
            <a:off x="5650992"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Send the version you mean.</a:t>
            </a:r>
            <a:endParaRPr lang="en-US" sz="700" dirty="0"/>
          </a:p>
        </p:txBody>
      </p:sp>
      <p:sp>
        <p:nvSpPr>
          <p:cNvPr id="19" name="Shape 17"/>
          <p:cNvSpPr/>
          <p:nvPr/>
        </p:nvSpPr>
        <p:spPr>
          <a:xfrm>
            <a:off x="7178040" y="1307592"/>
            <a:ext cx="1819656" cy="448056"/>
          </a:xfrm>
          <a:prstGeom prst="rect">
            <a:avLst/>
          </a:prstGeom>
          <a:solidFill>
            <a:srgbClr val="292039"/>
          </a:solidFill>
          <a:ln w="8890">
            <a:solidFill>
              <a:srgbClr val="6D5768"/>
            </a:solidFill>
            <a:prstDash val="solid"/>
          </a:ln>
        </p:spPr>
      </p:sp>
      <p:sp>
        <p:nvSpPr>
          <p:cNvPr id="20" name="Text 18"/>
          <p:cNvSpPr/>
          <p:nvPr/>
        </p:nvSpPr>
        <p:spPr>
          <a:xfrm>
            <a:off x="7251192"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C3ACE5"/>
                </a:solidFill>
                <a:latin typeface="Georgia" pitchFamily="34" charset="0"/>
                <a:ea typeface="Georgia" pitchFamily="34" charset="-122"/>
                <a:cs typeface="Georgia" pitchFamily="34" charset="-120"/>
              </a:rPr>
              <a:t>4</a:t>
            </a:r>
            <a:endParaRPr lang="en-US" sz="1700" dirty="0"/>
          </a:p>
        </p:txBody>
      </p:sp>
      <p:sp>
        <p:nvSpPr>
          <p:cNvPr id="21" name="Text 19"/>
          <p:cNvSpPr/>
          <p:nvPr/>
        </p:nvSpPr>
        <p:spPr>
          <a:xfrm>
            <a:off x="7543800"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Leave a useful open question.</a:t>
            </a:r>
            <a:endParaRPr lang="en-US" sz="700" dirty="0"/>
          </a:p>
        </p:txBody>
      </p:sp>
      <p:sp>
        <p:nvSpPr>
          <p:cNvPr id="22" name="Shape 20"/>
          <p:cNvSpPr/>
          <p:nvPr/>
        </p:nvSpPr>
        <p:spPr>
          <a:xfrm>
            <a:off x="9070848" y="1307592"/>
            <a:ext cx="1819656" cy="448056"/>
          </a:xfrm>
          <a:prstGeom prst="rect">
            <a:avLst/>
          </a:prstGeom>
          <a:solidFill>
            <a:srgbClr val="292039"/>
          </a:solidFill>
          <a:ln w="8890">
            <a:solidFill>
              <a:srgbClr val="6D5768"/>
            </a:solidFill>
            <a:prstDash val="solid"/>
          </a:ln>
        </p:spPr>
      </p:sp>
      <p:sp>
        <p:nvSpPr>
          <p:cNvPr id="23" name="Text 21"/>
          <p:cNvSpPr/>
          <p:nvPr/>
        </p:nvSpPr>
        <p:spPr>
          <a:xfrm>
            <a:off x="9144000"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C3ACE5"/>
                </a:solidFill>
                <a:latin typeface="Georgia" pitchFamily="34" charset="0"/>
                <a:ea typeface="Georgia" pitchFamily="34" charset="-122"/>
                <a:cs typeface="Georgia" pitchFamily="34" charset="-120"/>
              </a:rPr>
              <a:t>5</a:t>
            </a:r>
            <a:endParaRPr lang="en-US" sz="1700" dirty="0"/>
          </a:p>
        </p:txBody>
      </p:sp>
      <p:sp>
        <p:nvSpPr>
          <p:cNvPr id="24" name="Text 22"/>
          <p:cNvSpPr/>
          <p:nvPr/>
        </p:nvSpPr>
        <p:spPr>
          <a:xfrm>
            <a:off x="9436608"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Keep the workshop fictional.</a:t>
            </a:r>
            <a:endParaRPr lang="en-US" sz="700" dirty="0"/>
          </a:p>
        </p:txBody>
      </p:sp>
      <p:sp>
        <p:nvSpPr>
          <p:cNvPr id="25" name="Shape 23"/>
          <p:cNvSpPr/>
          <p:nvPr/>
        </p:nvSpPr>
        <p:spPr>
          <a:xfrm>
            <a:off x="10963656" y="1307592"/>
            <a:ext cx="1819656" cy="448056"/>
          </a:xfrm>
          <a:prstGeom prst="rect">
            <a:avLst/>
          </a:prstGeom>
          <a:solidFill>
            <a:srgbClr val="292039"/>
          </a:solidFill>
          <a:ln w="8890">
            <a:solidFill>
              <a:srgbClr val="6D5768"/>
            </a:solidFill>
            <a:prstDash val="solid"/>
          </a:ln>
        </p:spPr>
      </p:sp>
      <p:sp>
        <p:nvSpPr>
          <p:cNvPr id="26" name="Text 24"/>
          <p:cNvSpPr/>
          <p:nvPr/>
        </p:nvSpPr>
        <p:spPr>
          <a:xfrm>
            <a:off x="11036808"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C3ACE5"/>
                </a:solidFill>
                <a:latin typeface="Georgia" pitchFamily="34" charset="0"/>
                <a:ea typeface="Georgia" pitchFamily="34" charset="-122"/>
                <a:cs typeface="Georgia" pitchFamily="34" charset="-120"/>
              </a:rPr>
              <a:t>6</a:t>
            </a:r>
            <a:endParaRPr lang="en-US" sz="1700" dirty="0"/>
          </a:p>
        </p:txBody>
      </p:sp>
      <p:sp>
        <p:nvSpPr>
          <p:cNvPr id="27" name="Text 25"/>
          <p:cNvSpPr/>
          <p:nvPr/>
        </p:nvSpPr>
        <p:spPr>
          <a:xfrm>
            <a:off x="11329416"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Close with another possibility.</a:t>
            </a:r>
            <a:endParaRPr lang="en-US" sz="700" dirty="0"/>
          </a:p>
        </p:txBody>
      </p:sp>
      <p:pic>
        <p:nvPicPr>
          <p:cNvPr id="28" name="Image 0" descr="/home/user/design-buddy/design-buddy-home/public/atelier/afterglow/images/14.jpg">    </p:cNvPr>
          <p:cNvPicPr>
            <a:picLocks noChangeAspect="1"/>
          </p:cNvPicPr>
          <p:nvPr/>
        </p:nvPicPr>
        <p:blipFill>
          <a:blip r:embed="rId1"/>
          <a:srcRect l="0" r="0" t="0" b="0"/>
          <a:stretch/>
        </p:blipFill>
        <p:spPr>
          <a:xfrm>
            <a:off x="1499616" y="2066544"/>
            <a:ext cx="6949440" cy="3840480"/>
          </a:xfrm>
          <a:prstGeom prst="rect">
            <a:avLst/>
          </a:prstGeom>
        </p:spPr>
      </p:pic>
      <p:sp>
        <p:nvSpPr>
          <p:cNvPr id="29" name="Text 26"/>
          <p:cNvSpPr/>
          <p:nvPr/>
        </p:nvSpPr>
        <p:spPr>
          <a:xfrm>
            <a:off x="1499616" y="6007608"/>
            <a:ext cx="6949440" cy="164592"/>
          </a:xfrm>
          <a:prstGeom prst="rect">
            <a:avLst/>
          </a:prstGeom>
          <a:noFill/>
          <a:ln/>
        </p:spPr>
        <p:txBody>
          <a:bodyPr wrap="square" lIns="0" tIns="0" rIns="0" bIns="0" rtlCol="0" anchor="t">
            <a:normAutofit/>
          </a:bodyPr>
          <a:lstStyle/>
          <a:p>
            <a:pPr indent="0" marL="0">
              <a:buNone/>
            </a:pPr>
            <a:r>
              <a:rPr lang="en-US" sz="650" dirty="0">
                <a:solidFill>
                  <a:srgbClr val="C0AAB9"/>
                </a:solidFill>
                <a:latin typeface="Arial" pitchFamily="34" charset="0"/>
                <a:ea typeface="Arial" pitchFamily="34" charset="-122"/>
                <a:cs typeface="Arial" pitchFamily="34" charset="-120"/>
              </a:rPr>
              <a:t>Watercolour 14 / invented setting and adults / not production evidence</a:t>
            </a:r>
            <a:endParaRPr lang="en-US" sz="650" dirty="0"/>
          </a:p>
        </p:txBody>
      </p:sp>
      <p:sp>
        <p:nvSpPr>
          <p:cNvPr id="30" name="Text 27"/>
          <p:cNvSpPr/>
          <p:nvPr/>
        </p:nvSpPr>
        <p:spPr>
          <a:xfrm>
            <a:off x="8705088" y="2139696"/>
            <a:ext cx="4133088" cy="164592"/>
          </a:xfrm>
          <a:prstGeom prst="rect">
            <a:avLst/>
          </a:prstGeom>
          <a:noFill/>
          <a:ln/>
        </p:spPr>
        <p:txBody>
          <a:bodyPr wrap="square" lIns="0" tIns="0" rIns="0" bIns="0" rtlCol="0" anchor="t">
            <a:normAutofit/>
          </a:bodyPr>
          <a:lstStyle/>
          <a:p>
            <a:pPr indent="0" marL="0">
              <a:buNone/>
            </a:pPr>
            <a:r>
              <a:rPr lang="en-US" sz="700" spc="110" kern="0" dirty="0">
                <a:solidFill>
                  <a:srgbClr val="C3ACE5"/>
                </a:solidFill>
                <a:latin typeface="Arial" pitchFamily="34" charset="0"/>
                <a:ea typeface="Arial" pitchFamily="34" charset="-122"/>
                <a:cs typeface="Arial" pitchFamily="34" charset="-120"/>
              </a:rPr>
              <a:t>STORY INTENTION</a:t>
            </a:r>
            <a:endParaRPr lang="en-US" sz="700" dirty="0"/>
          </a:p>
        </p:txBody>
      </p:sp>
      <p:sp>
        <p:nvSpPr>
          <p:cNvPr id="31" name="Text 28"/>
          <p:cNvSpPr/>
          <p:nvPr/>
        </p:nvSpPr>
        <p:spPr>
          <a:xfrm>
            <a:off x="8705088" y="2514600"/>
            <a:ext cx="4133088" cy="1828800"/>
          </a:xfrm>
          <a:prstGeom prst="rect">
            <a:avLst/>
          </a:prstGeom>
          <a:noFill/>
          <a:ln/>
        </p:spPr>
        <p:txBody>
          <a:bodyPr wrap="square" lIns="0" tIns="0" rIns="0" bIns="0" rtlCol="0" anchor="t">
            <a:normAutofit/>
          </a:bodyPr>
          <a:lstStyle/>
          <a:p>
            <a:pPr indent="0" marL="0">
              <a:buNone/>
            </a:pPr>
            <a:r>
              <a:rPr lang="en-US" sz="1575" dirty="0">
                <a:solidFill>
                  <a:srgbClr val="ECDED6"/>
                </a:solidFill>
                <a:latin typeface="Georgia" pitchFamily="34" charset="0"/>
                <a:ea typeface="Georgia" pitchFamily="34" charset="-122"/>
                <a:cs typeface="Georgia" pitchFamily="34" charset="-120"/>
              </a:rPr>
              <a:t>Current HTML includes your edited text, local marks and private note. JSON records the editable state. Original PDF/PPTX are fixed exports, not automatically revised by this browser.</a:t>
            </a:r>
            <a:endParaRPr lang="en-US" sz="1575" dirty="0"/>
          </a:p>
        </p:txBody>
      </p:sp>
      <p:sp>
        <p:nvSpPr>
          <p:cNvPr id="32" name="Text 29"/>
          <p:cNvSpPr/>
          <p:nvPr/>
        </p:nvSpPr>
        <p:spPr>
          <a:xfrm>
            <a:off x="8705088" y="4572000"/>
            <a:ext cx="4133088" cy="164592"/>
          </a:xfrm>
          <a:prstGeom prst="rect">
            <a:avLst/>
          </a:prstGeom>
          <a:noFill/>
          <a:ln/>
        </p:spPr>
        <p:txBody>
          <a:bodyPr wrap="square" lIns="0" tIns="0" rIns="0" bIns="0" rtlCol="0" anchor="t">
            <a:normAutofit/>
          </a:bodyPr>
          <a:lstStyle/>
          <a:p>
            <a:pPr indent="0" marL="0">
              <a:buNone/>
            </a:pPr>
            <a:r>
              <a:rPr lang="en-US" sz="700" spc="110" kern="0" dirty="0">
                <a:solidFill>
                  <a:srgbClr val="C3ACE5"/>
                </a:solidFill>
                <a:latin typeface="Arial" pitchFamily="34" charset="0"/>
                <a:ea typeface="Arial" pitchFamily="34" charset="-122"/>
                <a:cs typeface="Arial" pitchFamily="34" charset="-120"/>
              </a:rPr>
              <a:t>LEAVE A QUESTION</a:t>
            </a:r>
            <a:endParaRPr lang="en-US" sz="700" dirty="0"/>
          </a:p>
        </p:txBody>
      </p:sp>
      <p:sp>
        <p:nvSpPr>
          <p:cNvPr id="33" name="Text 30"/>
          <p:cNvSpPr/>
          <p:nvPr/>
        </p:nvSpPr>
        <p:spPr>
          <a:xfrm>
            <a:off x="8705088" y="4910328"/>
            <a:ext cx="4133088" cy="822960"/>
          </a:xfrm>
          <a:prstGeom prst="rect">
            <a:avLst/>
          </a:prstGeom>
          <a:noFill/>
          <a:ln/>
        </p:spPr>
        <p:txBody>
          <a:bodyPr wrap="square" lIns="0" tIns="0" rIns="0" bIns="0" rtlCol="0" anchor="t">
            <a:normAutofit/>
          </a:bodyPr>
          <a:lstStyle/>
          <a:p>
            <a:pPr indent="0" marL="0">
              <a:buNone/>
            </a:pPr>
            <a:r>
              <a:rPr lang="en-US" sz="1875" i="1" dirty="0">
                <a:solidFill>
                  <a:srgbClr val="C3ACE5"/>
                </a:solidFill>
                <a:latin typeface="Georgia" pitchFamily="34" charset="0"/>
                <a:ea typeface="Georgia" pitchFamily="34" charset="-122"/>
                <a:cs typeface="Georgia" pitchFamily="34" charset="-120"/>
              </a:rPr>
              <a:t>Which export matches the state you intend to share?</a:t>
            </a:r>
            <a:endParaRPr lang="en-US" sz="1875" dirty="0"/>
          </a:p>
        </p:txBody>
      </p:sp>
      <p:sp>
        <p:nvSpPr>
          <p:cNvPr id="34" name="Text 31"/>
          <p:cNvSpPr/>
          <p:nvPr/>
        </p:nvSpPr>
        <p:spPr>
          <a:xfrm>
            <a:off x="8705088" y="5806440"/>
            <a:ext cx="4133088" cy="292608"/>
          </a:xfrm>
          <a:prstGeom prst="rect">
            <a:avLst/>
          </a:prstGeom>
          <a:noFill/>
          <a:ln/>
        </p:spPr>
        <p:txBody>
          <a:bodyPr wrap="square" lIns="0" tIns="0" rIns="0" bIns="0" rtlCol="0" anchor="t">
            <a:normAutofit/>
          </a:bodyPr>
          <a:lstStyle/>
          <a:p>
            <a:pPr indent="0" marL="0">
              <a:buNone/>
            </a:pPr>
            <a:r>
              <a:rPr lang="en-US" sz="700" dirty="0">
                <a:solidFill>
                  <a:srgbClr val="C0AAB9"/>
                </a:solidFill>
                <a:latin typeface="Arial" pitchFamily="34" charset="0"/>
                <a:ea typeface="Arial" pitchFamily="34" charset="-122"/>
                <a:cs typeface="Arial" pitchFamily="34" charset="-120"/>
              </a:rPr>
              <a:t>Beat order is not timing, a technical call or a show schedule.</a:t>
            </a:r>
            <a:endParaRPr lang="en-US" sz="700" dirty="0"/>
          </a:p>
        </p:txBody>
      </p:sp>
      <p:sp>
        <p:nvSpPr>
          <p:cNvPr id="35" name="Shape 32"/>
          <p:cNvSpPr/>
          <p:nvPr/>
        </p:nvSpPr>
        <p:spPr>
          <a:xfrm>
            <a:off x="1499616" y="6583680"/>
            <a:ext cx="3675888" cy="1481328"/>
          </a:xfrm>
          <a:prstGeom prst="rect">
            <a:avLst/>
          </a:prstGeom>
          <a:solidFill>
            <a:srgbClr val="292039"/>
          </a:solidFill>
          <a:ln w="8890">
            <a:solidFill>
              <a:srgbClr val="735D6D"/>
            </a:solidFill>
            <a:prstDash val="solid"/>
          </a:ln>
        </p:spPr>
      </p:sp>
      <p:sp>
        <p:nvSpPr>
          <p:cNvPr id="36" name="Text 33"/>
          <p:cNvSpPr/>
          <p:nvPr/>
        </p:nvSpPr>
        <p:spPr>
          <a:xfrm>
            <a:off x="1682496"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C3ACE5"/>
                </a:solidFill>
                <a:latin typeface="Arial" pitchFamily="34" charset="0"/>
                <a:ea typeface="Arial" pitchFamily="34" charset="-122"/>
                <a:cs typeface="Arial" pitchFamily="34" charset="-120"/>
              </a:rPr>
              <a:t>01 / NOTICE</a:t>
            </a:r>
            <a:endParaRPr lang="en-US" sz="700" dirty="0"/>
          </a:p>
        </p:txBody>
      </p:sp>
      <p:sp>
        <p:nvSpPr>
          <p:cNvPr id="37" name="Text 34"/>
          <p:cNvSpPr/>
          <p:nvPr/>
        </p:nvSpPr>
        <p:spPr>
          <a:xfrm>
            <a:off x="1682496"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Current exports and original downloads are different versions.</a:t>
            </a:r>
            <a:endParaRPr lang="en-US" sz="1500" dirty="0"/>
          </a:p>
        </p:txBody>
      </p:sp>
      <p:sp>
        <p:nvSpPr>
          <p:cNvPr id="38" name="Shape 35"/>
          <p:cNvSpPr/>
          <p:nvPr/>
        </p:nvSpPr>
        <p:spPr>
          <a:xfrm>
            <a:off x="5321808" y="6583680"/>
            <a:ext cx="3675888" cy="1481328"/>
          </a:xfrm>
          <a:prstGeom prst="rect">
            <a:avLst/>
          </a:prstGeom>
          <a:solidFill>
            <a:srgbClr val="292039"/>
          </a:solidFill>
          <a:ln w="8890">
            <a:solidFill>
              <a:srgbClr val="735D6D"/>
            </a:solidFill>
            <a:prstDash val="solid"/>
          </a:ln>
        </p:spPr>
      </p:sp>
      <p:sp>
        <p:nvSpPr>
          <p:cNvPr id="39" name="Text 36"/>
          <p:cNvSpPr/>
          <p:nvPr/>
        </p:nvSpPr>
        <p:spPr>
          <a:xfrm>
            <a:off x="5504688"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C3ACE5"/>
                </a:solidFill>
                <a:latin typeface="Arial" pitchFamily="34" charset="0"/>
                <a:ea typeface="Arial" pitchFamily="34" charset="-122"/>
                <a:cs typeface="Arial" pitchFamily="34" charset="-120"/>
              </a:rPr>
              <a:t>02 / TRY IN WORDS</a:t>
            </a:r>
            <a:endParaRPr lang="en-US" sz="700" dirty="0"/>
          </a:p>
        </p:txBody>
      </p:sp>
      <p:sp>
        <p:nvSpPr>
          <p:cNvPr id="40" name="Text 37"/>
          <p:cNvSpPr/>
          <p:nvPr/>
        </p:nvSpPr>
        <p:spPr>
          <a:xfrm>
            <a:off x="5504688"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Check the title and local mark before exporting.</a:t>
            </a:r>
            <a:endParaRPr lang="en-US" sz="1500" dirty="0"/>
          </a:p>
        </p:txBody>
      </p:sp>
      <p:sp>
        <p:nvSpPr>
          <p:cNvPr id="41" name="Shape 38"/>
          <p:cNvSpPr/>
          <p:nvPr/>
        </p:nvSpPr>
        <p:spPr>
          <a:xfrm>
            <a:off x="9144000" y="6583680"/>
            <a:ext cx="3675888" cy="1481328"/>
          </a:xfrm>
          <a:prstGeom prst="rect">
            <a:avLst/>
          </a:prstGeom>
          <a:solidFill>
            <a:srgbClr val="292039"/>
          </a:solidFill>
          <a:ln w="8890">
            <a:solidFill>
              <a:srgbClr val="735D6D"/>
            </a:solidFill>
            <a:prstDash val="solid"/>
          </a:ln>
        </p:spPr>
      </p:sp>
      <p:sp>
        <p:nvSpPr>
          <p:cNvPr id="42" name="Text 39"/>
          <p:cNvSpPr/>
          <p:nvPr/>
        </p:nvSpPr>
        <p:spPr>
          <a:xfrm>
            <a:off x="9326880"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C3ACE5"/>
                </a:solidFill>
                <a:latin typeface="Arial" pitchFamily="34" charset="0"/>
                <a:ea typeface="Arial" pitchFamily="34" charset="-122"/>
                <a:cs typeface="Arial" pitchFamily="34" charset="-120"/>
              </a:rPr>
              <a:t>03 / KEEP VISIBLE</a:t>
            </a:r>
            <a:endParaRPr lang="en-US" sz="700" dirty="0"/>
          </a:p>
        </p:txBody>
      </p:sp>
      <p:sp>
        <p:nvSpPr>
          <p:cNvPr id="43" name="Text 40"/>
          <p:cNvSpPr/>
          <p:nvPr/>
        </p:nvSpPr>
        <p:spPr>
          <a:xfrm>
            <a:off x="9326880"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Do not include private notes you do not intend to share.</a:t>
            </a:r>
            <a:endParaRPr lang="en-US" sz="1500" dirty="0"/>
          </a:p>
        </p:txBody>
      </p:sp>
      <p:sp>
        <p:nvSpPr>
          <p:cNvPr id="44" name="Shape 41"/>
          <p:cNvSpPr/>
          <p:nvPr/>
        </p:nvSpPr>
        <p:spPr>
          <a:xfrm>
            <a:off x="1499616" y="8211312"/>
            <a:ext cx="11338560" cy="0"/>
          </a:xfrm>
          <a:prstGeom prst="line">
            <a:avLst/>
          </a:prstGeom>
          <a:noFill/>
          <a:ln w="8890">
            <a:solidFill>
              <a:srgbClr val="796170"/>
            </a:solidFill>
            <a:prstDash val="solid"/>
          </a:ln>
        </p:spPr>
      </p:sp>
      <p:sp>
        <p:nvSpPr>
          <p:cNvPr id="45" name="Text 42"/>
          <p:cNvSpPr/>
          <p:nvPr/>
        </p:nvSpPr>
        <p:spPr>
          <a:xfrm>
            <a:off x="1499616" y="8339328"/>
            <a:ext cx="8229600" cy="118872"/>
          </a:xfrm>
          <a:prstGeom prst="rect">
            <a:avLst/>
          </a:prstGeom>
          <a:noFill/>
          <a:ln/>
        </p:spPr>
        <p:txBody>
          <a:bodyPr wrap="square" lIns="0" tIns="0" rIns="0" bIns="0" rtlCol="0" anchor="t">
            <a:normAutofit/>
          </a:bodyPr>
          <a:lstStyle/>
          <a:p>
            <a:pPr indent="0" marL="0">
              <a:buNone/>
            </a:pPr>
            <a:r>
              <a:rPr lang="en-US" sz="650" dirty="0">
                <a:solidFill>
                  <a:srgbClr val="C0AAB9"/>
                </a:solidFill>
                <a:latin typeface="Arial" pitchFamily="34" charset="0"/>
                <a:ea typeface="Arial" pitchFamily="34" charset="-122"/>
                <a:cs typeface="Arial" pitchFamily="34" charset="-120"/>
              </a:rPr>
              <a:t>FICTIONAL WRITING WORKSHOP / NOT A STAGING OR APPROVAL PLAN</a:t>
            </a:r>
            <a:endParaRPr lang="en-US" sz="650" dirty="0"/>
          </a:p>
        </p:txBody>
      </p:sp>
      <p:sp>
        <p:nvSpPr>
          <p:cNvPr id="46" name="Text 43"/>
          <p:cNvSpPr/>
          <p:nvPr/>
        </p:nvSpPr>
        <p:spPr>
          <a:xfrm>
            <a:off x="9729216" y="8339328"/>
            <a:ext cx="3108960" cy="118872"/>
          </a:xfrm>
          <a:prstGeom prst="rect">
            <a:avLst/>
          </a:prstGeom>
          <a:noFill/>
          <a:ln/>
        </p:spPr>
        <p:txBody>
          <a:bodyPr wrap="square" lIns="0" tIns="0" rIns="0" bIns="0" rtlCol="0" anchor="t">
            <a:normAutofit/>
          </a:bodyPr>
          <a:lstStyle/>
          <a:p>
            <a:pPr algn="r" indent="0" marL="0">
              <a:buNone/>
            </a:pPr>
            <a:r>
              <a:rPr lang="en-US" sz="650" dirty="0">
                <a:solidFill>
                  <a:srgbClr val="C0AAB9"/>
                </a:solidFill>
                <a:latin typeface="Arial" pitchFamily="34" charset="0"/>
                <a:ea typeface="Arial" pitchFamily="34" charset="-122"/>
                <a:cs typeface="Arial" pitchFamily="34" charset="-120"/>
              </a:rPr>
              <a:t>DRAFT / 14 OF 15 ARTWORKS / 27 OF 30</a:t>
            </a:r>
            <a:endParaRPr lang="en-US" sz="6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292039"/>
        </a:solidFill>
      </p:bgPr>
    </p:bg>
    <p:spTree>
      <p:nvGrpSpPr>
        <p:cNvPr id="1" name=""/>
        <p:cNvGrpSpPr/>
        <p:nvPr/>
      </p:nvGrpSpPr>
      <p:grpSpPr>
        <a:xfrm>
          <a:off x="0" y="0"/>
          <a:ext cx="0" cy="0"/>
          <a:chOff x="0" y="0"/>
          <a:chExt cx="0" cy="0"/>
        </a:xfrm>
      </p:grpSpPr>
      <p:sp>
        <p:nvSpPr>
          <p:cNvPr id="2" name="Shape 0"/>
          <p:cNvSpPr/>
          <p:nvPr/>
        </p:nvSpPr>
        <p:spPr>
          <a:xfrm>
            <a:off x="1243584" y="329184"/>
            <a:ext cx="0" cy="8119872"/>
          </a:xfrm>
          <a:prstGeom prst="line">
            <a:avLst/>
          </a:prstGeom>
          <a:noFill/>
          <a:ln w="10160">
            <a:solidFill>
              <a:srgbClr val="776072"/>
            </a:solidFill>
            <a:prstDash val="solid"/>
          </a:ln>
        </p:spPr>
      </p:sp>
      <p:sp>
        <p:nvSpPr>
          <p:cNvPr id="3" name="Text 1"/>
          <p:cNvSpPr/>
          <p:nvPr/>
        </p:nvSpPr>
        <p:spPr>
          <a:xfrm>
            <a:off x="393192" y="457200"/>
            <a:ext cx="685800" cy="457200"/>
          </a:xfrm>
          <a:prstGeom prst="rect">
            <a:avLst/>
          </a:prstGeom>
          <a:noFill/>
          <a:ln/>
        </p:spPr>
        <p:txBody>
          <a:bodyPr wrap="square" lIns="0" tIns="0" rIns="0" bIns="0" rtlCol="0" anchor="t">
            <a:normAutofit/>
          </a:bodyPr>
          <a:lstStyle/>
          <a:p>
            <a:pPr indent="0" marL="0">
              <a:buNone/>
            </a:pPr>
            <a:r>
              <a:rPr lang="en-US" sz="600" dirty="0">
                <a:solidFill>
                  <a:srgbClr val="C0AAB9"/>
                </a:solidFill>
                <a:latin typeface="Arial" pitchFamily="34" charset="0"/>
                <a:ea typeface="Arial" pitchFamily="34" charset="-122"/>
                <a:cs typeface="Arial" pitchFamily="34" charset="-120"/>
              </a:rPr>
              <a:t>DESIGN BUDDY</a:t>
            </a:r>
            <a:endParaRPr lang="en-US" sz="600" dirty="0"/>
          </a:p>
          <a:p>
            <a:pPr indent="0" marL="0">
              <a:buNone/>
            </a:pPr>
            <a:r>
              <a:rPr lang="en-US" sz="600" dirty="0">
                <a:solidFill>
                  <a:srgbClr val="C0AAB9"/>
                </a:solidFill>
                <a:latin typeface="Arial" pitchFamily="34" charset="0"/>
                <a:ea typeface="Arial" pitchFamily="34" charset="-122"/>
                <a:cs typeface="Arial" pitchFamily="34" charset="-120"/>
              </a:rPr>
              <a:t>CREATIVE EXERCISE</a:t>
            </a:r>
            <a:endParaRPr lang="en-US" sz="600" dirty="0"/>
          </a:p>
        </p:txBody>
      </p:sp>
      <p:sp>
        <p:nvSpPr>
          <p:cNvPr id="4" name="Text 2"/>
          <p:cNvSpPr/>
          <p:nvPr/>
        </p:nvSpPr>
        <p:spPr>
          <a:xfrm>
            <a:off x="502920" y="1920240"/>
            <a:ext cx="502920" cy="4480560"/>
          </a:xfrm>
          <a:prstGeom prst="rect">
            <a:avLst/>
          </a:prstGeom>
          <a:noFill/>
          <a:ln/>
        </p:spPr>
        <p:txBody>
          <a:bodyPr wrap="square" lIns="0" tIns="0" rIns="0" bIns="0" rtlCol="0" anchor="t">
            <a:normAutofit/>
          </a:bodyPr>
          <a:lstStyle/>
          <a:p>
            <a:pPr algn="ctr" indent="0" marL="0">
              <a:buNone/>
            </a:pPr>
            <a:r>
              <a:rPr lang="en-US" sz="2500" dirty="0">
                <a:solidFill>
                  <a:srgbClr val="C3ACE5"/>
                </a:solidFill>
                <a:latin typeface="Georgia" pitchFamily="34" charset="0"/>
                <a:ea typeface="Georgia" pitchFamily="34" charset="-122"/>
                <a:cs typeface="Georgia" pitchFamily="34" charset="-120"/>
              </a:rPr>
              <a:t>A</a:t>
            </a:r>
            <a:endParaRPr lang="en-US" sz="2500" dirty="0"/>
          </a:p>
          <a:p>
            <a:pPr algn="ctr" indent="0" marL="0">
              <a:buNone/>
            </a:pPr>
            <a:r>
              <a:rPr lang="en-US" sz="2500" dirty="0">
                <a:solidFill>
                  <a:srgbClr val="C3ACE5"/>
                </a:solidFill>
                <a:latin typeface="Georgia" pitchFamily="34" charset="0"/>
                <a:ea typeface="Georgia" pitchFamily="34" charset="-122"/>
                <a:cs typeface="Georgia" pitchFamily="34" charset="-120"/>
              </a:rPr>
              <a:t>F</a:t>
            </a:r>
            <a:endParaRPr lang="en-US" sz="2500" dirty="0"/>
          </a:p>
          <a:p>
            <a:pPr algn="ctr" indent="0" marL="0">
              <a:buNone/>
            </a:pPr>
            <a:r>
              <a:rPr lang="en-US" sz="2500" dirty="0">
                <a:solidFill>
                  <a:srgbClr val="C3ACE5"/>
                </a:solidFill>
                <a:latin typeface="Georgia" pitchFamily="34" charset="0"/>
                <a:ea typeface="Georgia" pitchFamily="34" charset="-122"/>
                <a:cs typeface="Georgia" pitchFamily="34" charset="-120"/>
              </a:rPr>
              <a:t>T</a:t>
            </a:r>
            <a:endParaRPr lang="en-US" sz="2500" dirty="0"/>
          </a:p>
          <a:p>
            <a:pPr algn="ctr" indent="0" marL="0">
              <a:buNone/>
            </a:pPr>
            <a:r>
              <a:rPr lang="en-US" sz="2500" dirty="0">
                <a:solidFill>
                  <a:srgbClr val="C3ACE5"/>
                </a:solidFill>
                <a:latin typeface="Georgia" pitchFamily="34" charset="0"/>
                <a:ea typeface="Georgia" pitchFamily="34" charset="-122"/>
                <a:cs typeface="Georgia" pitchFamily="34" charset="-120"/>
              </a:rPr>
              <a:t>E</a:t>
            </a:r>
            <a:endParaRPr lang="en-US" sz="2500" dirty="0"/>
          </a:p>
          <a:p>
            <a:pPr algn="ctr" indent="0" marL="0">
              <a:buNone/>
            </a:pPr>
            <a:r>
              <a:rPr lang="en-US" sz="2500" dirty="0">
                <a:solidFill>
                  <a:srgbClr val="C3ACE5"/>
                </a:solidFill>
                <a:latin typeface="Georgia" pitchFamily="34" charset="0"/>
                <a:ea typeface="Georgia" pitchFamily="34" charset="-122"/>
                <a:cs typeface="Georgia" pitchFamily="34" charset="-120"/>
              </a:rPr>
              <a:t>R</a:t>
            </a:r>
            <a:endParaRPr lang="en-US" sz="2500" dirty="0"/>
          </a:p>
          <a:p>
            <a:pPr algn="ctr" indent="0" marL="0">
              <a:buNone/>
            </a:pPr>
            <a:r>
              <a:rPr lang="en-US" sz="2500" dirty="0">
                <a:solidFill>
                  <a:srgbClr val="C3ACE5"/>
                </a:solidFill>
                <a:latin typeface="Georgia" pitchFamily="34" charset="0"/>
                <a:ea typeface="Georgia" pitchFamily="34" charset="-122"/>
                <a:cs typeface="Georgia" pitchFamily="34" charset="-120"/>
              </a:rPr>
              <a:t>G</a:t>
            </a:r>
            <a:endParaRPr lang="en-US" sz="2500" dirty="0"/>
          </a:p>
          <a:p>
            <a:pPr algn="ctr" indent="0" marL="0">
              <a:buNone/>
            </a:pPr>
            <a:r>
              <a:rPr lang="en-US" sz="2500" dirty="0">
                <a:solidFill>
                  <a:srgbClr val="C3ACE5"/>
                </a:solidFill>
                <a:latin typeface="Georgia" pitchFamily="34" charset="0"/>
                <a:ea typeface="Georgia" pitchFamily="34" charset="-122"/>
                <a:cs typeface="Georgia" pitchFamily="34" charset="-120"/>
              </a:rPr>
              <a:t>L</a:t>
            </a:r>
            <a:endParaRPr lang="en-US" sz="2500" dirty="0"/>
          </a:p>
          <a:p>
            <a:pPr algn="ctr" indent="0" marL="0">
              <a:buNone/>
            </a:pPr>
            <a:r>
              <a:rPr lang="en-US" sz="2500" dirty="0">
                <a:solidFill>
                  <a:srgbClr val="C3ACE5"/>
                </a:solidFill>
                <a:latin typeface="Georgia" pitchFamily="34" charset="0"/>
                <a:ea typeface="Georgia" pitchFamily="34" charset="-122"/>
                <a:cs typeface="Georgia" pitchFamily="34" charset="-120"/>
              </a:rPr>
              <a:t>O</a:t>
            </a:r>
            <a:endParaRPr lang="en-US" sz="2500" dirty="0"/>
          </a:p>
          <a:p>
            <a:pPr algn="ctr" indent="0" marL="0">
              <a:buNone/>
            </a:pPr>
            <a:r>
              <a:rPr lang="en-US" sz="2500" dirty="0">
                <a:solidFill>
                  <a:srgbClr val="C3ACE5"/>
                </a:solidFill>
                <a:latin typeface="Georgia" pitchFamily="34" charset="0"/>
                <a:ea typeface="Georgia" pitchFamily="34" charset="-122"/>
                <a:cs typeface="Georgia" pitchFamily="34" charset="-120"/>
              </a:rPr>
              <a:t>W</a:t>
            </a:r>
            <a:endParaRPr lang="en-US" sz="2500" dirty="0"/>
          </a:p>
        </p:txBody>
      </p:sp>
      <p:sp>
        <p:nvSpPr>
          <p:cNvPr id="5" name="Text 3"/>
          <p:cNvSpPr/>
          <p:nvPr/>
        </p:nvSpPr>
        <p:spPr>
          <a:xfrm>
            <a:off x="402336" y="7022592"/>
            <a:ext cx="731520" cy="594360"/>
          </a:xfrm>
          <a:prstGeom prst="rect">
            <a:avLst/>
          </a:prstGeom>
          <a:noFill/>
          <a:ln/>
        </p:spPr>
        <p:txBody>
          <a:bodyPr wrap="square" lIns="0" tIns="0" rIns="0" bIns="0" rtlCol="0" anchor="t">
            <a:normAutofit/>
          </a:bodyPr>
          <a:lstStyle/>
          <a:p>
            <a:pPr indent="0" marL="0">
              <a:buNone/>
            </a:pPr>
            <a:r>
              <a:rPr lang="en-US" sz="4200" dirty="0">
                <a:solidFill>
                  <a:srgbClr val="C3ACE5"/>
                </a:solidFill>
                <a:latin typeface="Georgia" pitchFamily="34" charset="0"/>
                <a:ea typeface="Georgia" pitchFamily="34" charset="-122"/>
                <a:cs typeface="Georgia" pitchFamily="34" charset="-120"/>
              </a:rPr>
              <a:t>28</a:t>
            </a:r>
            <a:endParaRPr lang="en-US" sz="4200" dirty="0"/>
          </a:p>
        </p:txBody>
      </p:sp>
      <p:sp>
        <p:nvSpPr>
          <p:cNvPr id="6" name="Text 4"/>
          <p:cNvSpPr/>
          <p:nvPr/>
        </p:nvSpPr>
        <p:spPr>
          <a:xfrm>
            <a:off x="402336" y="7818120"/>
            <a:ext cx="731520" cy="411480"/>
          </a:xfrm>
          <a:prstGeom prst="rect">
            <a:avLst/>
          </a:prstGeom>
          <a:noFill/>
          <a:ln/>
        </p:spPr>
        <p:txBody>
          <a:bodyPr wrap="square" lIns="0" tIns="0" rIns="0" bIns="0" rtlCol="0" anchor="t">
            <a:normAutofit/>
          </a:bodyPr>
          <a:lstStyle/>
          <a:p>
            <a:pPr indent="0" marL="0">
              <a:buNone/>
            </a:pPr>
            <a:r>
              <a:rPr lang="en-US" sz="700" dirty="0">
                <a:solidFill>
                  <a:srgbClr val="C0AAB9"/>
                </a:solidFill>
                <a:latin typeface="Arial" pitchFamily="34" charset="0"/>
                <a:ea typeface="Arial" pitchFamily="34" charset="-122"/>
                <a:cs typeface="Arial" pitchFamily="34" charset="-120"/>
              </a:rPr>
              <a:t>ACT 5 / 5</a:t>
            </a:r>
            <a:endParaRPr lang="en-US" sz="700" dirty="0"/>
          </a:p>
          <a:p>
            <a:pPr indent="0" marL="0">
              <a:buNone/>
            </a:pPr>
            <a:r>
              <a:rPr lang="en-US" sz="700" dirty="0">
                <a:solidFill>
                  <a:srgbClr val="C0AAB9"/>
                </a:solidFill>
                <a:latin typeface="Arial" pitchFamily="34" charset="0"/>
                <a:ea typeface="Arial" pitchFamily="34" charset="-122"/>
                <a:cs typeface="Arial" pitchFamily="34" charset="-120"/>
              </a:rPr>
              <a:t>BEAT 4 / 6</a:t>
            </a:r>
            <a:endParaRPr lang="en-US" sz="700" dirty="0"/>
          </a:p>
        </p:txBody>
      </p:sp>
      <p:sp>
        <p:nvSpPr>
          <p:cNvPr id="7" name="Text 5"/>
          <p:cNvSpPr/>
          <p:nvPr/>
        </p:nvSpPr>
        <p:spPr>
          <a:xfrm>
            <a:off x="1499616" y="347472"/>
            <a:ext cx="9144000" cy="164592"/>
          </a:xfrm>
          <a:prstGeom prst="rect">
            <a:avLst/>
          </a:prstGeom>
          <a:noFill/>
          <a:ln/>
        </p:spPr>
        <p:txBody>
          <a:bodyPr wrap="square" lIns="0" tIns="0" rIns="0" bIns="0" rtlCol="0" anchor="t">
            <a:normAutofit/>
          </a:bodyPr>
          <a:lstStyle/>
          <a:p>
            <a:pPr indent="0" marL="0">
              <a:buNone/>
            </a:pPr>
            <a:r>
              <a:rPr lang="en-US" sz="700" spc="120" kern="0" dirty="0">
                <a:solidFill>
                  <a:srgbClr val="C3ACE5"/>
                </a:solidFill>
                <a:latin typeface="Arial" pitchFamily="34" charset="0"/>
                <a:ea typeface="Arial" pitchFamily="34" charset="-122"/>
                <a:cs typeface="Arial" pitchFamily="34" charset="-120"/>
              </a:rPr>
              <a:t>ACT 5 / HANDOFF</a:t>
            </a:r>
            <a:endParaRPr lang="en-US" sz="700" dirty="0"/>
          </a:p>
        </p:txBody>
      </p:sp>
      <p:sp>
        <p:nvSpPr>
          <p:cNvPr id="8" name="Text 6"/>
          <p:cNvSpPr/>
          <p:nvPr/>
        </p:nvSpPr>
        <p:spPr>
          <a:xfrm>
            <a:off x="1499616" y="612648"/>
            <a:ext cx="9692640" cy="594360"/>
          </a:xfrm>
          <a:prstGeom prst="rect">
            <a:avLst/>
          </a:prstGeom>
          <a:noFill/>
          <a:ln/>
        </p:spPr>
        <p:txBody>
          <a:bodyPr wrap="square" lIns="0" tIns="0" rIns="0" bIns="0" rtlCol="0" anchor="t">
            <a:normAutofit/>
          </a:bodyPr>
          <a:lstStyle/>
          <a:p>
            <a:pPr indent="0" marL="0">
              <a:buNone/>
            </a:pPr>
            <a:r>
              <a:rPr lang="en-US" sz="2800" dirty="0">
                <a:solidFill>
                  <a:srgbClr val="ECDED6"/>
                </a:solidFill>
                <a:latin typeface="Georgia" pitchFamily="34" charset="0"/>
                <a:ea typeface="Georgia" pitchFamily="34" charset="-122"/>
                <a:cs typeface="Georgia" pitchFamily="34" charset="-120"/>
              </a:rPr>
              <a:t>Leave a useful open question.</a:t>
            </a:r>
            <a:endParaRPr lang="en-US" sz="2800" dirty="0"/>
          </a:p>
        </p:txBody>
      </p:sp>
      <p:sp>
        <p:nvSpPr>
          <p:cNvPr id="9" name="Text 7"/>
          <p:cNvSpPr/>
          <p:nvPr/>
        </p:nvSpPr>
        <p:spPr>
          <a:xfrm>
            <a:off x="11475720" y="438912"/>
            <a:ext cx="1325880" cy="182880"/>
          </a:xfrm>
          <a:prstGeom prst="rect">
            <a:avLst/>
          </a:prstGeom>
          <a:noFill/>
          <a:ln/>
        </p:spPr>
        <p:txBody>
          <a:bodyPr wrap="square" lIns="0" tIns="0" rIns="0" bIns="0" rtlCol="0" anchor="t">
            <a:normAutofit/>
          </a:bodyPr>
          <a:lstStyle/>
          <a:p>
            <a:pPr algn="r" indent="0" marL="0">
              <a:buNone/>
            </a:pPr>
            <a:r>
              <a:rPr lang="en-US" sz="700" dirty="0">
                <a:solidFill>
                  <a:srgbClr val="C3ACE5"/>
                </a:solidFill>
                <a:latin typeface="Arial" pitchFamily="34" charset="0"/>
                <a:ea typeface="Arial" pitchFamily="34" charset="-122"/>
                <a:cs typeface="Arial" pitchFamily="34" charset="-120"/>
              </a:rPr>
              <a:t>LOCAL / UNMARKED</a:t>
            </a:r>
            <a:endParaRPr lang="en-US" sz="700" dirty="0"/>
          </a:p>
        </p:txBody>
      </p:sp>
      <p:sp>
        <p:nvSpPr>
          <p:cNvPr id="10" name="Shape 8"/>
          <p:cNvSpPr/>
          <p:nvPr/>
        </p:nvSpPr>
        <p:spPr>
          <a:xfrm>
            <a:off x="1499616" y="1307592"/>
            <a:ext cx="1819656" cy="448056"/>
          </a:xfrm>
          <a:prstGeom prst="rect">
            <a:avLst/>
          </a:prstGeom>
          <a:solidFill>
            <a:srgbClr val="292039"/>
          </a:solidFill>
          <a:ln w="8890">
            <a:solidFill>
              <a:srgbClr val="6D5768"/>
            </a:solidFill>
            <a:prstDash val="solid"/>
          </a:ln>
        </p:spPr>
      </p:sp>
      <p:sp>
        <p:nvSpPr>
          <p:cNvPr id="11" name="Text 9"/>
          <p:cNvSpPr/>
          <p:nvPr/>
        </p:nvSpPr>
        <p:spPr>
          <a:xfrm>
            <a:off x="1572768"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C3ACE5"/>
                </a:solidFill>
                <a:latin typeface="Georgia" pitchFamily="34" charset="0"/>
                <a:ea typeface="Georgia" pitchFamily="34" charset="-122"/>
                <a:cs typeface="Georgia" pitchFamily="34" charset="-120"/>
              </a:rPr>
              <a:t>1</a:t>
            </a:r>
            <a:endParaRPr lang="en-US" sz="1700" dirty="0"/>
          </a:p>
        </p:txBody>
      </p:sp>
      <p:sp>
        <p:nvSpPr>
          <p:cNvPr id="12" name="Text 10"/>
          <p:cNvSpPr/>
          <p:nvPr/>
        </p:nvSpPr>
        <p:spPr>
          <a:xfrm>
            <a:off x="1865376"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Introduce the draft honestly.</a:t>
            </a:r>
            <a:endParaRPr lang="en-US" sz="700" dirty="0"/>
          </a:p>
        </p:txBody>
      </p:sp>
      <p:sp>
        <p:nvSpPr>
          <p:cNvPr id="13" name="Shape 11"/>
          <p:cNvSpPr/>
          <p:nvPr/>
        </p:nvSpPr>
        <p:spPr>
          <a:xfrm>
            <a:off x="3392424" y="1307592"/>
            <a:ext cx="1819656" cy="448056"/>
          </a:xfrm>
          <a:prstGeom prst="rect">
            <a:avLst/>
          </a:prstGeom>
          <a:solidFill>
            <a:srgbClr val="292039"/>
          </a:solidFill>
          <a:ln w="8890">
            <a:solidFill>
              <a:srgbClr val="6D5768"/>
            </a:solidFill>
            <a:prstDash val="solid"/>
          </a:ln>
        </p:spPr>
      </p:sp>
      <p:sp>
        <p:nvSpPr>
          <p:cNvPr id="14" name="Text 12"/>
          <p:cNvSpPr/>
          <p:nvPr/>
        </p:nvSpPr>
        <p:spPr>
          <a:xfrm>
            <a:off x="3465576"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C3ACE5"/>
                </a:solidFill>
                <a:latin typeface="Georgia" pitchFamily="34" charset="0"/>
                <a:ea typeface="Georgia" pitchFamily="34" charset="-122"/>
                <a:cs typeface="Georgia" pitchFamily="34" charset="-120"/>
              </a:rPr>
              <a:t>2</a:t>
            </a:r>
            <a:endParaRPr lang="en-US" sz="1700" dirty="0"/>
          </a:p>
        </p:txBody>
      </p:sp>
      <p:sp>
        <p:nvSpPr>
          <p:cNvPr id="15" name="Text 13"/>
          <p:cNvSpPr/>
          <p:nvPr/>
        </p:nvSpPr>
        <p:spPr>
          <a:xfrm>
            <a:off x="3758184"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Separate a choice from a promise.</a:t>
            </a:r>
            <a:endParaRPr lang="en-US" sz="700" dirty="0"/>
          </a:p>
        </p:txBody>
      </p:sp>
      <p:sp>
        <p:nvSpPr>
          <p:cNvPr id="16" name="Shape 14"/>
          <p:cNvSpPr/>
          <p:nvPr/>
        </p:nvSpPr>
        <p:spPr>
          <a:xfrm>
            <a:off x="5285232" y="1307592"/>
            <a:ext cx="1819656" cy="448056"/>
          </a:xfrm>
          <a:prstGeom prst="rect">
            <a:avLst/>
          </a:prstGeom>
          <a:solidFill>
            <a:srgbClr val="292039"/>
          </a:solidFill>
          <a:ln w="8890">
            <a:solidFill>
              <a:srgbClr val="6D5768"/>
            </a:solidFill>
            <a:prstDash val="solid"/>
          </a:ln>
        </p:spPr>
      </p:sp>
      <p:sp>
        <p:nvSpPr>
          <p:cNvPr id="17" name="Text 15"/>
          <p:cNvSpPr/>
          <p:nvPr/>
        </p:nvSpPr>
        <p:spPr>
          <a:xfrm>
            <a:off x="5358384"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C3ACE5"/>
                </a:solidFill>
                <a:latin typeface="Georgia" pitchFamily="34" charset="0"/>
                <a:ea typeface="Georgia" pitchFamily="34" charset="-122"/>
                <a:cs typeface="Georgia" pitchFamily="34" charset="-120"/>
              </a:rPr>
              <a:t>3</a:t>
            </a:r>
            <a:endParaRPr lang="en-US" sz="1700" dirty="0"/>
          </a:p>
        </p:txBody>
      </p:sp>
      <p:sp>
        <p:nvSpPr>
          <p:cNvPr id="18" name="Text 16"/>
          <p:cNvSpPr/>
          <p:nvPr/>
        </p:nvSpPr>
        <p:spPr>
          <a:xfrm>
            <a:off x="5650992"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Send the version you mean.</a:t>
            </a:r>
            <a:endParaRPr lang="en-US" sz="700" dirty="0"/>
          </a:p>
        </p:txBody>
      </p:sp>
      <p:sp>
        <p:nvSpPr>
          <p:cNvPr id="19" name="Shape 17"/>
          <p:cNvSpPr/>
          <p:nvPr/>
        </p:nvSpPr>
        <p:spPr>
          <a:xfrm>
            <a:off x="7178040" y="1307592"/>
            <a:ext cx="1819656" cy="448056"/>
          </a:xfrm>
          <a:prstGeom prst="rect">
            <a:avLst/>
          </a:prstGeom>
          <a:solidFill>
            <a:srgbClr val="292039"/>
          </a:solidFill>
          <a:ln w="8890">
            <a:solidFill>
              <a:srgbClr val="C3ACE5"/>
            </a:solidFill>
            <a:prstDash val="solid"/>
          </a:ln>
        </p:spPr>
      </p:sp>
      <p:sp>
        <p:nvSpPr>
          <p:cNvPr id="20" name="Text 18"/>
          <p:cNvSpPr/>
          <p:nvPr/>
        </p:nvSpPr>
        <p:spPr>
          <a:xfrm>
            <a:off x="7251192"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C3ACE5"/>
                </a:solidFill>
                <a:latin typeface="Georgia" pitchFamily="34" charset="0"/>
                <a:ea typeface="Georgia" pitchFamily="34" charset="-122"/>
                <a:cs typeface="Georgia" pitchFamily="34" charset="-120"/>
              </a:rPr>
              <a:t>4</a:t>
            </a:r>
            <a:endParaRPr lang="en-US" sz="1700" dirty="0"/>
          </a:p>
        </p:txBody>
      </p:sp>
      <p:sp>
        <p:nvSpPr>
          <p:cNvPr id="21" name="Text 19"/>
          <p:cNvSpPr/>
          <p:nvPr/>
        </p:nvSpPr>
        <p:spPr>
          <a:xfrm>
            <a:off x="7543800"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Leave a useful open question.</a:t>
            </a:r>
            <a:endParaRPr lang="en-US" sz="700" dirty="0"/>
          </a:p>
        </p:txBody>
      </p:sp>
      <p:sp>
        <p:nvSpPr>
          <p:cNvPr id="22" name="Shape 20"/>
          <p:cNvSpPr/>
          <p:nvPr/>
        </p:nvSpPr>
        <p:spPr>
          <a:xfrm>
            <a:off x="9070848" y="1307592"/>
            <a:ext cx="1819656" cy="448056"/>
          </a:xfrm>
          <a:prstGeom prst="rect">
            <a:avLst/>
          </a:prstGeom>
          <a:solidFill>
            <a:srgbClr val="292039"/>
          </a:solidFill>
          <a:ln w="8890">
            <a:solidFill>
              <a:srgbClr val="6D5768"/>
            </a:solidFill>
            <a:prstDash val="solid"/>
          </a:ln>
        </p:spPr>
      </p:sp>
      <p:sp>
        <p:nvSpPr>
          <p:cNvPr id="23" name="Text 21"/>
          <p:cNvSpPr/>
          <p:nvPr/>
        </p:nvSpPr>
        <p:spPr>
          <a:xfrm>
            <a:off x="9144000"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C3ACE5"/>
                </a:solidFill>
                <a:latin typeface="Georgia" pitchFamily="34" charset="0"/>
                <a:ea typeface="Georgia" pitchFamily="34" charset="-122"/>
                <a:cs typeface="Georgia" pitchFamily="34" charset="-120"/>
              </a:rPr>
              <a:t>5</a:t>
            </a:r>
            <a:endParaRPr lang="en-US" sz="1700" dirty="0"/>
          </a:p>
        </p:txBody>
      </p:sp>
      <p:sp>
        <p:nvSpPr>
          <p:cNvPr id="24" name="Text 22"/>
          <p:cNvSpPr/>
          <p:nvPr/>
        </p:nvSpPr>
        <p:spPr>
          <a:xfrm>
            <a:off x="9436608"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Keep the workshop fictional.</a:t>
            </a:r>
            <a:endParaRPr lang="en-US" sz="700" dirty="0"/>
          </a:p>
        </p:txBody>
      </p:sp>
      <p:sp>
        <p:nvSpPr>
          <p:cNvPr id="25" name="Shape 23"/>
          <p:cNvSpPr/>
          <p:nvPr/>
        </p:nvSpPr>
        <p:spPr>
          <a:xfrm>
            <a:off x="10963656" y="1307592"/>
            <a:ext cx="1819656" cy="448056"/>
          </a:xfrm>
          <a:prstGeom prst="rect">
            <a:avLst/>
          </a:prstGeom>
          <a:solidFill>
            <a:srgbClr val="292039"/>
          </a:solidFill>
          <a:ln w="8890">
            <a:solidFill>
              <a:srgbClr val="6D5768"/>
            </a:solidFill>
            <a:prstDash val="solid"/>
          </a:ln>
        </p:spPr>
      </p:sp>
      <p:sp>
        <p:nvSpPr>
          <p:cNvPr id="26" name="Text 24"/>
          <p:cNvSpPr/>
          <p:nvPr/>
        </p:nvSpPr>
        <p:spPr>
          <a:xfrm>
            <a:off x="11036808"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C3ACE5"/>
                </a:solidFill>
                <a:latin typeface="Georgia" pitchFamily="34" charset="0"/>
                <a:ea typeface="Georgia" pitchFamily="34" charset="-122"/>
                <a:cs typeface="Georgia" pitchFamily="34" charset="-120"/>
              </a:rPr>
              <a:t>6</a:t>
            </a:r>
            <a:endParaRPr lang="en-US" sz="1700" dirty="0"/>
          </a:p>
        </p:txBody>
      </p:sp>
      <p:sp>
        <p:nvSpPr>
          <p:cNvPr id="27" name="Text 25"/>
          <p:cNvSpPr/>
          <p:nvPr/>
        </p:nvSpPr>
        <p:spPr>
          <a:xfrm>
            <a:off x="11329416"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Close with another possibility.</a:t>
            </a:r>
            <a:endParaRPr lang="en-US" sz="700" dirty="0"/>
          </a:p>
        </p:txBody>
      </p:sp>
      <p:pic>
        <p:nvPicPr>
          <p:cNvPr id="28" name="Image 0" descr="/home/user/design-buddy/design-buddy-home/public/atelier/afterglow/images/14.jpg">    </p:cNvPr>
          <p:cNvPicPr>
            <a:picLocks noChangeAspect="1"/>
          </p:cNvPicPr>
          <p:nvPr/>
        </p:nvPicPr>
        <p:blipFill>
          <a:blip r:embed="rId1"/>
          <a:srcRect l="0" r="0" t="0" b="0"/>
          <a:stretch/>
        </p:blipFill>
        <p:spPr>
          <a:xfrm>
            <a:off x="1499616" y="2066544"/>
            <a:ext cx="6949440" cy="3840480"/>
          </a:xfrm>
          <a:prstGeom prst="rect">
            <a:avLst/>
          </a:prstGeom>
        </p:spPr>
      </p:pic>
      <p:sp>
        <p:nvSpPr>
          <p:cNvPr id="29" name="Text 26"/>
          <p:cNvSpPr/>
          <p:nvPr/>
        </p:nvSpPr>
        <p:spPr>
          <a:xfrm>
            <a:off x="1499616" y="6007608"/>
            <a:ext cx="6949440" cy="164592"/>
          </a:xfrm>
          <a:prstGeom prst="rect">
            <a:avLst/>
          </a:prstGeom>
          <a:noFill/>
          <a:ln/>
        </p:spPr>
        <p:txBody>
          <a:bodyPr wrap="square" lIns="0" tIns="0" rIns="0" bIns="0" rtlCol="0" anchor="t">
            <a:normAutofit/>
          </a:bodyPr>
          <a:lstStyle/>
          <a:p>
            <a:pPr indent="0" marL="0">
              <a:buNone/>
            </a:pPr>
            <a:r>
              <a:rPr lang="en-US" sz="650" dirty="0">
                <a:solidFill>
                  <a:srgbClr val="C0AAB9"/>
                </a:solidFill>
                <a:latin typeface="Arial" pitchFamily="34" charset="0"/>
                <a:ea typeface="Arial" pitchFamily="34" charset="-122"/>
                <a:cs typeface="Arial" pitchFamily="34" charset="-120"/>
              </a:rPr>
              <a:t>Watercolour 14 / invented setting and adults / not production evidence</a:t>
            </a:r>
            <a:endParaRPr lang="en-US" sz="650" dirty="0"/>
          </a:p>
        </p:txBody>
      </p:sp>
      <p:sp>
        <p:nvSpPr>
          <p:cNvPr id="30" name="Text 27"/>
          <p:cNvSpPr/>
          <p:nvPr/>
        </p:nvSpPr>
        <p:spPr>
          <a:xfrm>
            <a:off x="8705088" y="2139696"/>
            <a:ext cx="4133088" cy="164592"/>
          </a:xfrm>
          <a:prstGeom prst="rect">
            <a:avLst/>
          </a:prstGeom>
          <a:noFill/>
          <a:ln/>
        </p:spPr>
        <p:txBody>
          <a:bodyPr wrap="square" lIns="0" tIns="0" rIns="0" bIns="0" rtlCol="0" anchor="t">
            <a:normAutofit/>
          </a:bodyPr>
          <a:lstStyle/>
          <a:p>
            <a:pPr indent="0" marL="0">
              <a:buNone/>
            </a:pPr>
            <a:r>
              <a:rPr lang="en-US" sz="700" spc="110" kern="0" dirty="0">
                <a:solidFill>
                  <a:srgbClr val="C3ACE5"/>
                </a:solidFill>
                <a:latin typeface="Arial" pitchFamily="34" charset="0"/>
                <a:ea typeface="Arial" pitchFamily="34" charset="-122"/>
                <a:cs typeface="Arial" pitchFamily="34" charset="-120"/>
              </a:rPr>
              <a:t>STORY INTENTION</a:t>
            </a:r>
            <a:endParaRPr lang="en-US" sz="700" dirty="0"/>
          </a:p>
        </p:txBody>
      </p:sp>
      <p:sp>
        <p:nvSpPr>
          <p:cNvPr id="31" name="Text 28"/>
          <p:cNvSpPr/>
          <p:nvPr/>
        </p:nvSpPr>
        <p:spPr>
          <a:xfrm>
            <a:off x="8705088" y="2514600"/>
            <a:ext cx="4133088" cy="1828800"/>
          </a:xfrm>
          <a:prstGeom prst="rect">
            <a:avLst/>
          </a:prstGeom>
          <a:noFill/>
          <a:ln/>
        </p:spPr>
        <p:txBody>
          <a:bodyPr wrap="square" lIns="0" tIns="0" rIns="0" bIns="0" rtlCol="0" anchor="t">
            <a:normAutofit/>
          </a:bodyPr>
          <a:lstStyle/>
          <a:p>
            <a:pPr indent="0" marL="0">
              <a:buNone/>
            </a:pPr>
            <a:r>
              <a:rPr lang="en-US" sz="1575" dirty="0">
                <a:solidFill>
                  <a:srgbClr val="ECDED6"/>
                </a:solidFill>
                <a:latin typeface="Georgia" pitchFamily="34" charset="0"/>
                <a:ea typeface="Georgia" pitchFamily="34" charset="-122"/>
                <a:cs typeface="Georgia" pitchFamily="34" charset="-120"/>
              </a:rPr>
              <a:t>A good handoff invites a response without asking the next reader to guess the intention. Connect a specific passage to a specific question, and explain what kind of creative response would help.</a:t>
            </a:r>
            <a:endParaRPr lang="en-US" sz="1575" dirty="0"/>
          </a:p>
        </p:txBody>
      </p:sp>
      <p:sp>
        <p:nvSpPr>
          <p:cNvPr id="32" name="Text 29"/>
          <p:cNvSpPr/>
          <p:nvPr/>
        </p:nvSpPr>
        <p:spPr>
          <a:xfrm>
            <a:off x="8705088" y="4572000"/>
            <a:ext cx="4133088" cy="164592"/>
          </a:xfrm>
          <a:prstGeom prst="rect">
            <a:avLst/>
          </a:prstGeom>
          <a:noFill/>
          <a:ln/>
        </p:spPr>
        <p:txBody>
          <a:bodyPr wrap="square" lIns="0" tIns="0" rIns="0" bIns="0" rtlCol="0" anchor="t">
            <a:normAutofit/>
          </a:bodyPr>
          <a:lstStyle/>
          <a:p>
            <a:pPr indent="0" marL="0">
              <a:buNone/>
            </a:pPr>
            <a:r>
              <a:rPr lang="en-US" sz="700" spc="110" kern="0" dirty="0">
                <a:solidFill>
                  <a:srgbClr val="C3ACE5"/>
                </a:solidFill>
                <a:latin typeface="Arial" pitchFamily="34" charset="0"/>
                <a:ea typeface="Arial" pitchFamily="34" charset="-122"/>
                <a:cs typeface="Arial" pitchFamily="34" charset="-120"/>
              </a:rPr>
              <a:t>LEAVE A QUESTION</a:t>
            </a:r>
            <a:endParaRPr lang="en-US" sz="700" dirty="0"/>
          </a:p>
        </p:txBody>
      </p:sp>
      <p:sp>
        <p:nvSpPr>
          <p:cNvPr id="33" name="Text 30"/>
          <p:cNvSpPr/>
          <p:nvPr/>
        </p:nvSpPr>
        <p:spPr>
          <a:xfrm>
            <a:off x="8705088" y="4910328"/>
            <a:ext cx="4133088" cy="822960"/>
          </a:xfrm>
          <a:prstGeom prst="rect">
            <a:avLst/>
          </a:prstGeom>
          <a:noFill/>
          <a:ln/>
        </p:spPr>
        <p:txBody>
          <a:bodyPr wrap="square" lIns="0" tIns="0" rIns="0" bIns="0" rtlCol="0" anchor="t">
            <a:normAutofit/>
          </a:bodyPr>
          <a:lstStyle/>
          <a:p>
            <a:pPr indent="0" marL="0">
              <a:buNone/>
            </a:pPr>
            <a:r>
              <a:rPr lang="en-US" sz="1875" i="1" dirty="0">
                <a:solidFill>
                  <a:srgbClr val="C3ACE5"/>
                </a:solidFill>
                <a:latin typeface="Georgia" pitchFamily="34" charset="0"/>
                <a:ea typeface="Georgia" pitchFamily="34" charset="-122"/>
                <a:cs typeface="Georgia" pitchFamily="34" charset="-120"/>
              </a:rPr>
              <a:t>What response would help you write the next version?</a:t>
            </a:r>
            <a:endParaRPr lang="en-US" sz="1875" dirty="0"/>
          </a:p>
        </p:txBody>
      </p:sp>
      <p:sp>
        <p:nvSpPr>
          <p:cNvPr id="34" name="Text 31"/>
          <p:cNvSpPr/>
          <p:nvPr/>
        </p:nvSpPr>
        <p:spPr>
          <a:xfrm>
            <a:off x="8705088" y="5806440"/>
            <a:ext cx="4133088" cy="292608"/>
          </a:xfrm>
          <a:prstGeom prst="rect">
            <a:avLst/>
          </a:prstGeom>
          <a:noFill/>
          <a:ln/>
        </p:spPr>
        <p:txBody>
          <a:bodyPr wrap="square" lIns="0" tIns="0" rIns="0" bIns="0" rtlCol="0" anchor="t">
            <a:normAutofit/>
          </a:bodyPr>
          <a:lstStyle/>
          <a:p>
            <a:pPr indent="0" marL="0">
              <a:buNone/>
            </a:pPr>
            <a:r>
              <a:rPr lang="en-US" sz="700" dirty="0">
                <a:solidFill>
                  <a:srgbClr val="C0AAB9"/>
                </a:solidFill>
                <a:latin typeface="Arial" pitchFamily="34" charset="0"/>
                <a:ea typeface="Arial" pitchFamily="34" charset="-122"/>
                <a:cs typeface="Arial" pitchFamily="34" charset="-120"/>
              </a:rPr>
              <a:t>Beat order is not timing, a technical call or a show schedule.</a:t>
            </a:r>
            <a:endParaRPr lang="en-US" sz="700" dirty="0"/>
          </a:p>
        </p:txBody>
      </p:sp>
      <p:sp>
        <p:nvSpPr>
          <p:cNvPr id="35" name="Shape 32"/>
          <p:cNvSpPr/>
          <p:nvPr/>
        </p:nvSpPr>
        <p:spPr>
          <a:xfrm>
            <a:off x="1499616" y="6583680"/>
            <a:ext cx="3675888" cy="1481328"/>
          </a:xfrm>
          <a:prstGeom prst="rect">
            <a:avLst/>
          </a:prstGeom>
          <a:solidFill>
            <a:srgbClr val="292039"/>
          </a:solidFill>
          <a:ln w="8890">
            <a:solidFill>
              <a:srgbClr val="735D6D"/>
            </a:solidFill>
            <a:prstDash val="solid"/>
          </a:ln>
        </p:spPr>
      </p:sp>
      <p:sp>
        <p:nvSpPr>
          <p:cNvPr id="36" name="Text 33"/>
          <p:cNvSpPr/>
          <p:nvPr/>
        </p:nvSpPr>
        <p:spPr>
          <a:xfrm>
            <a:off x="1682496"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C3ACE5"/>
                </a:solidFill>
                <a:latin typeface="Arial" pitchFamily="34" charset="0"/>
                <a:ea typeface="Arial" pitchFamily="34" charset="-122"/>
                <a:cs typeface="Arial" pitchFamily="34" charset="-120"/>
              </a:rPr>
              <a:t>01 / NOTICE</a:t>
            </a:r>
            <a:endParaRPr lang="en-US" sz="700" dirty="0"/>
          </a:p>
        </p:txBody>
      </p:sp>
      <p:sp>
        <p:nvSpPr>
          <p:cNvPr id="37" name="Text 34"/>
          <p:cNvSpPr/>
          <p:nvPr/>
        </p:nvSpPr>
        <p:spPr>
          <a:xfrm>
            <a:off x="1682496"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A bounded question is easier to answer than Is it good?</a:t>
            </a:r>
            <a:endParaRPr lang="en-US" sz="1500" dirty="0"/>
          </a:p>
        </p:txBody>
      </p:sp>
      <p:sp>
        <p:nvSpPr>
          <p:cNvPr id="38" name="Shape 35"/>
          <p:cNvSpPr/>
          <p:nvPr/>
        </p:nvSpPr>
        <p:spPr>
          <a:xfrm>
            <a:off x="5321808" y="6583680"/>
            <a:ext cx="3675888" cy="1481328"/>
          </a:xfrm>
          <a:prstGeom prst="rect">
            <a:avLst/>
          </a:prstGeom>
          <a:solidFill>
            <a:srgbClr val="292039"/>
          </a:solidFill>
          <a:ln w="8890">
            <a:solidFill>
              <a:srgbClr val="735D6D"/>
            </a:solidFill>
            <a:prstDash val="solid"/>
          </a:ln>
        </p:spPr>
      </p:sp>
      <p:sp>
        <p:nvSpPr>
          <p:cNvPr id="39" name="Text 36"/>
          <p:cNvSpPr/>
          <p:nvPr/>
        </p:nvSpPr>
        <p:spPr>
          <a:xfrm>
            <a:off x="5504688"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C3ACE5"/>
                </a:solidFill>
                <a:latin typeface="Arial" pitchFamily="34" charset="0"/>
                <a:ea typeface="Arial" pitchFamily="34" charset="-122"/>
                <a:cs typeface="Arial" pitchFamily="34" charset="-120"/>
              </a:rPr>
              <a:t>02 / TRY IN WORDS</a:t>
            </a:r>
            <a:endParaRPr lang="en-US" sz="700" dirty="0"/>
          </a:p>
        </p:txBody>
      </p:sp>
      <p:sp>
        <p:nvSpPr>
          <p:cNvPr id="40" name="Text 37"/>
          <p:cNvSpPr/>
          <p:nvPr/>
        </p:nvSpPr>
        <p:spPr>
          <a:xfrm>
            <a:off x="5504688"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Ask about one moment of clarity or one plausible alternative.</a:t>
            </a:r>
            <a:endParaRPr lang="en-US" sz="1500" dirty="0"/>
          </a:p>
        </p:txBody>
      </p:sp>
      <p:sp>
        <p:nvSpPr>
          <p:cNvPr id="41" name="Shape 38"/>
          <p:cNvSpPr/>
          <p:nvPr/>
        </p:nvSpPr>
        <p:spPr>
          <a:xfrm>
            <a:off x="9144000" y="6583680"/>
            <a:ext cx="3675888" cy="1481328"/>
          </a:xfrm>
          <a:prstGeom prst="rect">
            <a:avLst/>
          </a:prstGeom>
          <a:solidFill>
            <a:srgbClr val="292039"/>
          </a:solidFill>
          <a:ln w="8890">
            <a:solidFill>
              <a:srgbClr val="735D6D"/>
            </a:solidFill>
            <a:prstDash val="solid"/>
          </a:ln>
        </p:spPr>
      </p:sp>
      <p:sp>
        <p:nvSpPr>
          <p:cNvPr id="42" name="Text 39"/>
          <p:cNvSpPr/>
          <p:nvPr/>
        </p:nvSpPr>
        <p:spPr>
          <a:xfrm>
            <a:off x="9326880"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C3ACE5"/>
                </a:solidFill>
                <a:latin typeface="Arial" pitchFamily="34" charset="0"/>
                <a:ea typeface="Arial" pitchFamily="34" charset="-122"/>
                <a:cs typeface="Arial" pitchFamily="34" charset="-120"/>
              </a:rPr>
              <a:t>03 / KEEP VISIBLE</a:t>
            </a:r>
            <a:endParaRPr lang="en-US" sz="700" dirty="0"/>
          </a:p>
        </p:txBody>
      </p:sp>
      <p:sp>
        <p:nvSpPr>
          <p:cNvPr id="43" name="Text 40"/>
          <p:cNvSpPr/>
          <p:nvPr/>
        </p:nvSpPr>
        <p:spPr>
          <a:xfrm>
            <a:off x="9326880"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Keep the request about the draft, not the reader’s identity.</a:t>
            </a:r>
            <a:endParaRPr lang="en-US" sz="1500" dirty="0"/>
          </a:p>
        </p:txBody>
      </p:sp>
      <p:sp>
        <p:nvSpPr>
          <p:cNvPr id="44" name="Shape 41"/>
          <p:cNvSpPr/>
          <p:nvPr/>
        </p:nvSpPr>
        <p:spPr>
          <a:xfrm>
            <a:off x="1499616" y="8211312"/>
            <a:ext cx="11338560" cy="0"/>
          </a:xfrm>
          <a:prstGeom prst="line">
            <a:avLst/>
          </a:prstGeom>
          <a:noFill/>
          <a:ln w="8890">
            <a:solidFill>
              <a:srgbClr val="796170"/>
            </a:solidFill>
            <a:prstDash val="solid"/>
          </a:ln>
        </p:spPr>
      </p:sp>
      <p:sp>
        <p:nvSpPr>
          <p:cNvPr id="45" name="Text 42"/>
          <p:cNvSpPr/>
          <p:nvPr/>
        </p:nvSpPr>
        <p:spPr>
          <a:xfrm>
            <a:off x="1499616" y="8339328"/>
            <a:ext cx="8229600" cy="118872"/>
          </a:xfrm>
          <a:prstGeom prst="rect">
            <a:avLst/>
          </a:prstGeom>
          <a:noFill/>
          <a:ln/>
        </p:spPr>
        <p:txBody>
          <a:bodyPr wrap="square" lIns="0" tIns="0" rIns="0" bIns="0" rtlCol="0" anchor="t">
            <a:normAutofit/>
          </a:bodyPr>
          <a:lstStyle/>
          <a:p>
            <a:pPr indent="0" marL="0">
              <a:buNone/>
            </a:pPr>
            <a:r>
              <a:rPr lang="en-US" sz="650" dirty="0">
                <a:solidFill>
                  <a:srgbClr val="C0AAB9"/>
                </a:solidFill>
                <a:latin typeface="Arial" pitchFamily="34" charset="0"/>
                <a:ea typeface="Arial" pitchFamily="34" charset="-122"/>
                <a:cs typeface="Arial" pitchFamily="34" charset="-120"/>
              </a:rPr>
              <a:t>FICTIONAL WRITING WORKSHOP / NOT A STAGING OR APPROVAL PLAN</a:t>
            </a:r>
            <a:endParaRPr lang="en-US" sz="650" dirty="0"/>
          </a:p>
        </p:txBody>
      </p:sp>
      <p:sp>
        <p:nvSpPr>
          <p:cNvPr id="46" name="Text 43"/>
          <p:cNvSpPr/>
          <p:nvPr/>
        </p:nvSpPr>
        <p:spPr>
          <a:xfrm>
            <a:off x="9729216" y="8339328"/>
            <a:ext cx="3108960" cy="118872"/>
          </a:xfrm>
          <a:prstGeom prst="rect">
            <a:avLst/>
          </a:prstGeom>
          <a:noFill/>
          <a:ln/>
        </p:spPr>
        <p:txBody>
          <a:bodyPr wrap="square" lIns="0" tIns="0" rIns="0" bIns="0" rtlCol="0" anchor="t">
            <a:normAutofit/>
          </a:bodyPr>
          <a:lstStyle/>
          <a:p>
            <a:pPr algn="r" indent="0" marL="0">
              <a:buNone/>
            </a:pPr>
            <a:r>
              <a:rPr lang="en-US" sz="650" dirty="0">
                <a:solidFill>
                  <a:srgbClr val="C0AAB9"/>
                </a:solidFill>
                <a:latin typeface="Arial" pitchFamily="34" charset="0"/>
                <a:ea typeface="Arial" pitchFamily="34" charset="-122"/>
                <a:cs typeface="Arial" pitchFamily="34" charset="-120"/>
              </a:rPr>
              <a:t>DRAFT / 14 OF 15 ARTWORKS / 28 OF 30</a:t>
            </a:r>
            <a:endParaRPr lang="en-US" sz="6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292039"/>
        </a:solidFill>
      </p:bgPr>
    </p:bg>
    <p:spTree>
      <p:nvGrpSpPr>
        <p:cNvPr id="1" name=""/>
        <p:cNvGrpSpPr/>
        <p:nvPr/>
      </p:nvGrpSpPr>
      <p:grpSpPr>
        <a:xfrm>
          <a:off x="0" y="0"/>
          <a:ext cx="0" cy="0"/>
          <a:chOff x="0" y="0"/>
          <a:chExt cx="0" cy="0"/>
        </a:xfrm>
      </p:grpSpPr>
      <p:sp>
        <p:nvSpPr>
          <p:cNvPr id="2" name="Shape 0"/>
          <p:cNvSpPr/>
          <p:nvPr/>
        </p:nvSpPr>
        <p:spPr>
          <a:xfrm>
            <a:off x="1243584" y="329184"/>
            <a:ext cx="0" cy="8119872"/>
          </a:xfrm>
          <a:prstGeom prst="line">
            <a:avLst/>
          </a:prstGeom>
          <a:noFill/>
          <a:ln w="10160">
            <a:solidFill>
              <a:srgbClr val="776072"/>
            </a:solidFill>
            <a:prstDash val="solid"/>
          </a:ln>
        </p:spPr>
      </p:sp>
      <p:sp>
        <p:nvSpPr>
          <p:cNvPr id="3" name="Text 1"/>
          <p:cNvSpPr/>
          <p:nvPr/>
        </p:nvSpPr>
        <p:spPr>
          <a:xfrm>
            <a:off x="393192" y="457200"/>
            <a:ext cx="685800" cy="457200"/>
          </a:xfrm>
          <a:prstGeom prst="rect">
            <a:avLst/>
          </a:prstGeom>
          <a:noFill/>
          <a:ln/>
        </p:spPr>
        <p:txBody>
          <a:bodyPr wrap="square" lIns="0" tIns="0" rIns="0" bIns="0" rtlCol="0" anchor="t">
            <a:normAutofit/>
          </a:bodyPr>
          <a:lstStyle/>
          <a:p>
            <a:pPr indent="0" marL="0">
              <a:buNone/>
            </a:pPr>
            <a:r>
              <a:rPr lang="en-US" sz="600" dirty="0">
                <a:solidFill>
                  <a:srgbClr val="C0AAB9"/>
                </a:solidFill>
                <a:latin typeface="Arial" pitchFamily="34" charset="0"/>
                <a:ea typeface="Arial" pitchFamily="34" charset="-122"/>
                <a:cs typeface="Arial" pitchFamily="34" charset="-120"/>
              </a:rPr>
              <a:t>DESIGN BUDDY</a:t>
            </a:r>
            <a:endParaRPr lang="en-US" sz="600" dirty="0"/>
          </a:p>
          <a:p>
            <a:pPr indent="0" marL="0">
              <a:buNone/>
            </a:pPr>
            <a:r>
              <a:rPr lang="en-US" sz="600" dirty="0">
                <a:solidFill>
                  <a:srgbClr val="C0AAB9"/>
                </a:solidFill>
                <a:latin typeface="Arial" pitchFamily="34" charset="0"/>
                <a:ea typeface="Arial" pitchFamily="34" charset="-122"/>
                <a:cs typeface="Arial" pitchFamily="34" charset="-120"/>
              </a:rPr>
              <a:t>CREATIVE EXERCISE</a:t>
            </a:r>
            <a:endParaRPr lang="en-US" sz="600" dirty="0"/>
          </a:p>
        </p:txBody>
      </p:sp>
      <p:sp>
        <p:nvSpPr>
          <p:cNvPr id="4" name="Text 2"/>
          <p:cNvSpPr/>
          <p:nvPr/>
        </p:nvSpPr>
        <p:spPr>
          <a:xfrm>
            <a:off x="502920" y="1920240"/>
            <a:ext cx="502920" cy="4480560"/>
          </a:xfrm>
          <a:prstGeom prst="rect">
            <a:avLst/>
          </a:prstGeom>
          <a:noFill/>
          <a:ln/>
        </p:spPr>
        <p:txBody>
          <a:bodyPr wrap="square" lIns="0" tIns="0" rIns="0" bIns="0" rtlCol="0" anchor="t">
            <a:normAutofit/>
          </a:bodyPr>
          <a:lstStyle/>
          <a:p>
            <a:pPr algn="ctr" indent="0" marL="0">
              <a:buNone/>
            </a:pPr>
            <a:r>
              <a:rPr lang="en-US" sz="2500" dirty="0">
                <a:solidFill>
                  <a:srgbClr val="C3ACE5"/>
                </a:solidFill>
                <a:latin typeface="Georgia" pitchFamily="34" charset="0"/>
                <a:ea typeface="Georgia" pitchFamily="34" charset="-122"/>
                <a:cs typeface="Georgia" pitchFamily="34" charset="-120"/>
              </a:rPr>
              <a:t>A</a:t>
            </a:r>
            <a:endParaRPr lang="en-US" sz="2500" dirty="0"/>
          </a:p>
          <a:p>
            <a:pPr algn="ctr" indent="0" marL="0">
              <a:buNone/>
            </a:pPr>
            <a:r>
              <a:rPr lang="en-US" sz="2500" dirty="0">
                <a:solidFill>
                  <a:srgbClr val="C3ACE5"/>
                </a:solidFill>
                <a:latin typeface="Georgia" pitchFamily="34" charset="0"/>
                <a:ea typeface="Georgia" pitchFamily="34" charset="-122"/>
                <a:cs typeface="Georgia" pitchFamily="34" charset="-120"/>
              </a:rPr>
              <a:t>F</a:t>
            </a:r>
            <a:endParaRPr lang="en-US" sz="2500" dirty="0"/>
          </a:p>
          <a:p>
            <a:pPr algn="ctr" indent="0" marL="0">
              <a:buNone/>
            </a:pPr>
            <a:r>
              <a:rPr lang="en-US" sz="2500" dirty="0">
                <a:solidFill>
                  <a:srgbClr val="C3ACE5"/>
                </a:solidFill>
                <a:latin typeface="Georgia" pitchFamily="34" charset="0"/>
                <a:ea typeface="Georgia" pitchFamily="34" charset="-122"/>
                <a:cs typeface="Georgia" pitchFamily="34" charset="-120"/>
              </a:rPr>
              <a:t>T</a:t>
            </a:r>
            <a:endParaRPr lang="en-US" sz="2500" dirty="0"/>
          </a:p>
          <a:p>
            <a:pPr algn="ctr" indent="0" marL="0">
              <a:buNone/>
            </a:pPr>
            <a:r>
              <a:rPr lang="en-US" sz="2500" dirty="0">
                <a:solidFill>
                  <a:srgbClr val="C3ACE5"/>
                </a:solidFill>
                <a:latin typeface="Georgia" pitchFamily="34" charset="0"/>
                <a:ea typeface="Georgia" pitchFamily="34" charset="-122"/>
                <a:cs typeface="Georgia" pitchFamily="34" charset="-120"/>
              </a:rPr>
              <a:t>E</a:t>
            </a:r>
            <a:endParaRPr lang="en-US" sz="2500" dirty="0"/>
          </a:p>
          <a:p>
            <a:pPr algn="ctr" indent="0" marL="0">
              <a:buNone/>
            </a:pPr>
            <a:r>
              <a:rPr lang="en-US" sz="2500" dirty="0">
                <a:solidFill>
                  <a:srgbClr val="C3ACE5"/>
                </a:solidFill>
                <a:latin typeface="Georgia" pitchFamily="34" charset="0"/>
                <a:ea typeface="Georgia" pitchFamily="34" charset="-122"/>
                <a:cs typeface="Georgia" pitchFamily="34" charset="-120"/>
              </a:rPr>
              <a:t>R</a:t>
            </a:r>
            <a:endParaRPr lang="en-US" sz="2500" dirty="0"/>
          </a:p>
          <a:p>
            <a:pPr algn="ctr" indent="0" marL="0">
              <a:buNone/>
            </a:pPr>
            <a:r>
              <a:rPr lang="en-US" sz="2500" dirty="0">
                <a:solidFill>
                  <a:srgbClr val="C3ACE5"/>
                </a:solidFill>
                <a:latin typeface="Georgia" pitchFamily="34" charset="0"/>
                <a:ea typeface="Georgia" pitchFamily="34" charset="-122"/>
                <a:cs typeface="Georgia" pitchFamily="34" charset="-120"/>
              </a:rPr>
              <a:t>G</a:t>
            </a:r>
            <a:endParaRPr lang="en-US" sz="2500" dirty="0"/>
          </a:p>
          <a:p>
            <a:pPr algn="ctr" indent="0" marL="0">
              <a:buNone/>
            </a:pPr>
            <a:r>
              <a:rPr lang="en-US" sz="2500" dirty="0">
                <a:solidFill>
                  <a:srgbClr val="C3ACE5"/>
                </a:solidFill>
                <a:latin typeface="Georgia" pitchFamily="34" charset="0"/>
                <a:ea typeface="Georgia" pitchFamily="34" charset="-122"/>
                <a:cs typeface="Georgia" pitchFamily="34" charset="-120"/>
              </a:rPr>
              <a:t>L</a:t>
            </a:r>
            <a:endParaRPr lang="en-US" sz="2500" dirty="0"/>
          </a:p>
          <a:p>
            <a:pPr algn="ctr" indent="0" marL="0">
              <a:buNone/>
            </a:pPr>
            <a:r>
              <a:rPr lang="en-US" sz="2500" dirty="0">
                <a:solidFill>
                  <a:srgbClr val="C3ACE5"/>
                </a:solidFill>
                <a:latin typeface="Georgia" pitchFamily="34" charset="0"/>
                <a:ea typeface="Georgia" pitchFamily="34" charset="-122"/>
                <a:cs typeface="Georgia" pitchFamily="34" charset="-120"/>
              </a:rPr>
              <a:t>O</a:t>
            </a:r>
            <a:endParaRPr lang="en-US" sz="2500" dirty="0"/>
          </a:p>
          <a:p>
            <a:pPr algn="ctr" indent="0" marL="0">
              <a:buNone/>
            </a:pPr>
            <a:r>
              <a:rPr lang="en-US" sz="2500" dirty="0">
                <a:solidFill>
                  <a:srgbClr val="C3ACE5"/>
                </a:solidFill>
                <a:latin typeface="Georgia" pitchFamily="34" charset="0"/>
                <a:ea typeface="Georgia" pitchFamily="34" charset="-122"/>
                <a:cs typeface="Georgia" pitchFamily="34" charset="-120"/>
              </a:rPr>
              <a:t>W</a:t>
            </a:r>
            <a:endParaRPr lang="en-US" sz="2500" dirty="0"/>
          </a:p>
        </p:txBody>
      </p:sp>
      <p:sp>
        <p:nvSpPr>
          <p:cNvPr id="5" name="Text 3"/>
          <p:cNvSpPr/>
          <p:nvPr/>
        </p:nvSpPr>
        <p:spPr>
          <a:xfrm>
            <a:off x="402336" y="7022592"/>
            <a:ext cx="731520" cy="594360"/>
          </a:xfrm>
          <a:prstGeom prst="rect">
            <a:avLst/>
          </a:prstGeom>
          <a:noFill/>
          <a:ln/>
        </p:spPr>
        <p:txBody>
          <a:bodyPr wrap="square" lIns="0" tIns="0" rIns="0" bIns="0" rtlCol="0" anchor="t">
            <a:normAutofit/>
          </a:bodyPr>
          <a:lstStyle/>
          <a:p>
            <a:pPr indent="0" marL="0">
              <a:buNone/>
            </a:pPr>
            <a:r>
              <a:rPr lang="en-US" sz="4200" dirty="0">
                <a:solidFill>
                  <a:srgbClr val="C3ACE5"/>
                </a:solidFill>
                <a:latin typeface="Georgia" pitchFamily="34" charset="0"/>
                <a:ea typeface="Georgia" pitchFamily="34" charset="-122"/>
                <a:cs typeface="Georgia" pitchFamily="34" charset="-120"/>
              </a:rPr>
              <a:t>29</a:t>
            </a:r>
            <a:endParaRPr lang="en-US" sz="4200" dirty="0"/>
          </a:p>
        </p:txBody>
      </p:sp>
      <p:sp>
        <p:nvSpPr>
          <p:cNvPr id="6" name="Text 4"/>
          <p:cNvSpPr/>
          <p:nvPr/>
        </p:nvSpPr>
        <p:spPr>
          <a:xfrm>
            <a:off x="402336" y="7818120"/>
            <a:ext cx="731520" cy="411480"/>
          </a:xfrm>
          <a:prstGeom prst="rect">
            <a:avLst/>
          </a:prstGeom>
          <a:noFill/>
          <a:ln/>
        </p:spPr>
        <p:txBody>
          <a:bodyPr wrap="square" lIns="0" tIns="0" rIns="0" bIns="0" rtlCol="0" anchor="t">
            <a:normAutofit/>
          </a:bodyPr>
          <a:lstStyle/>
          <a:p>
            <a:pPr indent="0" marL="0">
              <a:buNone/>
            </a:pPr>
            <a:r>
              <a:rPr lang="en-US" sz="700" dirty="0">
                <a:solidFill>
                  <a:srgbClr val="C0AAB9"/>
                </a:solidFill>
                <a:latin typeface="Arial" pitchFamily="34" charset="0"/>
                <a:ea typeface="Arial" pitchFamily="34" charset="-122"/>
                <a:cs typeface="Arial" pitchFamily="34" charset="-120"/>
              </a:rPr>
              <a:t>ACT 5 / 5</a:t>
            </a:r>
            <a:endParaRPr lang="en-US" sz="700" dirty="0"/>
          </a:p>
          <a:p>
            <a:pPr indent="0" marL="0">
              <a:buNone/>
            </a:pPr>
            <a:r>
              <a:rPr lang="en-US" sz="700" dirty="0">
                <a:solidFill>
                  <a:srgbClr val="C0AAB9"/>
                </a:solidFill>
                <a:latin typeface="Arial" pitchFamily="34" charset="0"/>
                <a:ea typeface="Arial" pitchFamily="34" charset="-122"/>
                <a:cs typeface="Arial" pitchFamily="34" charset="-120"/>
              </a:rPr>
              <a:t>BEAT 5 / 6</a:t>
            </a:r>
            <a:endParaRPr lang="en-US" sz="700" dirty="0"/>
          </a:p>
        </p:txBody>
      </p:sp>
      <p:sp>
        <p:nvSpPr>
          <p:cNvPr id="7" name="Text 5"/>
          <p:cNvSpPr/>
          <p:nvPr/>
        </p:nvSpPr>
        <p:spPr>
          <a:xfrm>
            <a:off x="1499616" y="347472"/>
            <a:ext cx="9144000" cy="164592"/>
          </a:xfrm>
          <a:prstGeom prst="rect">
            <a:avLst/>
          </a:prstGeom>
          <a:noFill/>
          <a:ln/>
        </p:spPr>
        <p:txBody>
          <a:bodyPr wrap="square" lIns="0" tIns="0" rIns="0" bIns="0" rtlCol="0" anchor="t">
            <a:normAutofit/>
          </a:bodyPr>
          <a:lstStyle/>
          <a:p>
            <a:pPr indent="0" marL="0">
              <a:buNone/>
            </a:pPr>
            <a:r>
              <a:rPr lang="en-US" sz="700" spc="120" kern="0" dirty="0">
                <a:solidFill>
                  <a:srgbClr val="C3ACE5"/>
                </a:solidFill>
                <a:latin typeface="Arial" pitchFamily="34" charset="0"/>
                <a:ea typeface="Arial" pitchFamily="34" charset="-122"/>
                <a:cs typeface="Arial" pitchFamily="34" charset="-120"/>
              </a:rPr>
              <a:t>ACT 5 / HANDOFF</a:t>
            </a:r>
            <a:endParaRPr lang="en-US" sz="700" dirty="0"/>
          </a:p>
        </p:txBody>
      </p:sp>
      <p:sp>
        <p:nvSpPr>
          <p:cNvPr id="8" name="Text 6"/>
          <p:cNvSpPr/>
          <p:nvPr/>
        </p:nvSpPr>
        <p:spPr>
          <a:xfrm>
            <a:off x="1499616" y="612648"/>
            <a:ext cx="9692640" cy="594360"/>
          </a:xfrm>
          <a:prstGeom prst="rect">
            <a:avLst/>
          </a:prstGeom>
          <a:noFill/>
          <a:ln/>
        </p:spPr>
        <p:txBody>
          <a:bodyPr wrap="square" lIns="0" tIns="0" rIns="0" bIns="0" rtlCol="0" anchor="t">
            <a:normAutofit/>
          </a:bodyPr>
          <a:lstStyle/>
          <a:p>
            <a:pPr indent="0" marL="0">
              <a:buNone/>
            </a:pPr>
            <a:r>
              <a:rPr lang="en-US" sz="2800" dirty="0">
                <a:solidFill>
                  <a:srgbClr val="ECDED6"/>
                </a:solidFill>
                <a:latin typeface="Georgia" pitchFamily="34" charset="0"/>
                <a:ea typeface="Georgia" pitchFamily="34" charset="-122"/>
                <a:cs typeface="Georgia" pitchFamily="34" charset="-120"/>
              </a:rPr>
              <a:t>Keep the workshop fictional.</a:t>
            </a:r>
            <a:endParaRPr lang="en-US" sz="2800" dirty="0"/>
          </a:p>
        </p:txBody>
      </p:sp>
      <p:sp>
        <p:nvSpPr>
          <p:cNvPr id="9" name="Text 7"/>
          <p:cNvSpPr/>
          <p:nvPr/>
        </p:nvSpPr>
        <p:spPr>
          <a:xfrm>
            <a:off x="11475720" y="438912"/>
            <a:ext cx="1325880" cy="182880"/>
          </a:xfrm>
          <a:prstGeom prst="rect">
            <a:avLst/>
          </a:prstGeom>
          <a:noFill/>
          <a:ln/>
        </p:spPr>
        <p:txBody>
          <a:bodyPr wrap="square" lIns="0" tIns="0" rIns="0" bIns="0" rtlCol="0" anchor="t">
            <a:normAutofit/>
          </a:bodyPr>
          <a:lstStyle/>
          <a:p>
            <a:pPr algn="r" indent="0" marL="0">
              <a:buNone/>
            </a:pPr>
            <a:r>
              <a:rPr lang="en-US" sz="700" dirty="0">
                <a:solidFill>
                  <a:srgbClr val="C3ACE5"/>
                </a:solidFill>
                <a:latin typeface="Arial" pitchFamily="34" charset="0"/>
                <a:ea typeface="Arial" pitchFamily="34" charset="-122"/>
                <a:cs typeface="Arial" pitchFamily="34" charset="-120"/>
              </a:rPr>
              <a:t>LOCAL / UNMARKED</a:t>
            </a:r>
            <a:endParaRPr lang="en-US" sz="700" dirty="0"/>
          </a:p>
        </p:txBody>
      </p:sp>
      <p:sp>
        <p:nvSpPr>
          <p:cNvPr id="10" name="Shape 8"/>
          <p:cNvSpPr/>
          <p:nvPr/>
        </p:nvSpPr>
        <p:spPr>
          <a:xfrm>
            <a:off x="1499616" y="1307592"/>
            <a:ext cx="1819656" cy="448056"/>
          </a:xfrm>
          <a:prstGeom prst="rect">
            <a:avLst/>
          </a:prstGeom>
          <a:solidFill>
            <a:srgbClr val="292039"/>
          </a:solidFill>
          <a:ln w="8890">
            <a:solidFill>
              <a:srgbClr val="6D5768"/>
            </a:solidFill>
            <a:prstDash val="solid"/>
          </a:ln>
        </p:spPr>
      </p:sp>
      <p:sp>
        <p:nvSpPr>
          <p:cNvPr id="11" name="Text 9"/>
          <p:cNvSpPr/>
          <p:nvPr/>
        </p:nvSpPr>
        <p:spPr>
          <a:xfrm>
            <a:off x="1572768"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C3ACE5"/>
                </a:solidFill>
                <a:latin typeface="Georgia" pitchFamily="34" charset="0"/>
                <a:ea typeface="Georgia" pitchFamily="34" charset="-122"/>
                <a:cs typeface="Georgia" pitchFamily="34" charset="-120"/>
              </a:rPr>
              <a:t>1</a:t>
            </a:r>
            <a:endParaRPr lang="en-US" sz="1700" dirty="0"/>
          </a:p>
        </p:txBody>
      </p:sp>
      <p:sp>
        <p:nvSpPr>
          <p:cNvPr id="12" name="Text 10"/>
          <p:cNvSpPr/>
          <p:nvPr/>
        </p:nvSpPr>
        <p:spPr>
          <a:xfrm>
            <a:off x="1865376"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Introduce the draft honestly.</a:t>
            </a:r>
            <a:endParaRPr lang="en-US" sz="700" dirty="0"/>
          </a:p>
        </p:txBody>
      </p:sp>
      <p:sp>
        <p:nvSpPr>
          <p:cNvPr id="13" name="Shape 11"/>
          <p:cNvSpPr/>
          <p:nvPr/>
        </p:nvSpPr>
        <p:spPr>
          <a:xfrm>
            <a:off x="3392424" y="1307592"/>
            <a:ext cx="1819656" cy="448056"/>
          </a:xfrm>
          <a:prstGeom prst="rect">
            <a:avLst/>
          </a:prstGeom>
          <a:solidFill>
            <a:srgbClr val="292039"/>
          </a:solidFill>
          <a:ln w="8890">
            <a:solidFill>
              <a:srgbClr val="6D5768"/>
            </a:solidFill>
            <a:prstDash val="solid"/>
          </a:ln>
        </p:spPr>
      </p:sp>
      <p:sp>
        <p:nvSpPr>
          <p:cNvPr id="14" name="Text 12"/>
          <p:cNvSpPr/>
          <p:nvPr/>
        </p:nvSpPr>
        <p:spPr>
          <a:xfrm>
            <a:off x="3465576"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C3ACE5"/>
                </a:solidFill>
                <a:latin typeface="Georgia" pitchFamily="34" charset="0"/>
                <a:ea typeface="Georgia" pitchFamily="34" charset="-122"/>
                <a:cs typeface="Georgia" pitchFamily="34" charset="-120"/>
              </a:rPr>
              <a:t>2</a:t>
            </a:r>
            <a:endParaRPr lang="en-US" sz="1700" dirty="0"/>
          </a:p>
        </p:txBody>
      </p:sp>
      <p:sp>
        <p:nvSpPr>
          <p:cNvPr id="15" name="Text 13"/>
          <p:cNvSpPr/>
          <p:nvPr/>
        </p:nvSpPr>
        <p:spPr>
          <a:xfrm>
            <a:off x="3758184"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Separate a choice from a promise.</a:t>
            </a:r>
            <a:endParaRPr lang="en-US" sz="700" dirty="0"/>
          </a:p>
        </p:txBody>
      </p:sp>
      <p:sp>
        <p:nvSpPr>
          <p:cNvPr id="16" name="Shape 14"/>
          <p:cNvSpPr/>
          <p:nvPr/>
        </p:nvSpPr>
        <p:spPr>
          <a:xfrm>
            <a:off x="5285232" y="1307592"/>
            <a:ext cx="1819656" cy="448056"/>
          </a:xfrm>
          <a:prstGeom prst="rect">
            <a:avLst/>
          </a:prstGeom>
          <a:solidFill>
            <a:srgbClr val="292039"/>
          </a:solidFill>
          <a:ln w="8890">
            <a:solidFill>
              <a:srgbClr val="6D5768"/>
            </a:solidFill>
            <a:prstDash val="solid"/>
          </a:ln>
        </p:spPr>
      </p:sp>
      <p:sp>
        <p:nvSpPr>
          <p:cNvPr id="17" name="Text 15"/>
          <p:cNvSpPr/>
          <p:nvPr/>
        </p:nvSpPr>
        <p:spPr>
          <a:xfrm>
            <a:off x="5358384"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C3ACE5"/>
                </a:solidFill>
                <a:latin typeface="Georgia" pitchFamily="34" charset="0"/>
                <a:ea typeface="Georgia" pitchFamily="34" charset="-122"/>
                <a:cs typeface="Georgia" pitchFamily="34" charset="-120"/>
              </a:rPr>
              <a:t>3</a:t>
            </a:r>
            <a:endParaRPr lang="en-US" sz="1700" dirty="0"/>
          </a:p>
        </p:txBody>
      </p:sp>
      <p:sp>
        <p:nvSpPr>
          <p:cNvPr id="18" name="Text 16"/>
          <p:cNvSpPr/>
          <p:nvPr/>
        </p:nvSpPr>
        <p:spPr>
          <a:xfrm>
            <a:off x="5650992"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Send the version you mean.</a:t>
            </a:r>
            <a:endParaRPr lang="en-US" sz="700" dirty="0"/>
          </a:p>
        </p:txBody>
      </p:sp>
      <p:sp>
        <p:nvSpPr>
          <p:cNvPr id="19" name="Shape 17"/>
          <p:cNvSpPr/>
          <p:nvPr/>
        </p:nvSpPr>
        <p:spPr>
          <a:xfrm>
            <a:off x="7178040" y="1307592"/>
            <a:ext cx="1819656" cy="448056"/>
          </a:xfrm>
          <a:prstGeom prst="rect">
            <a:avLst/>
          </a:prstGeom>
          <a:solidFill>
            <a:srgbClr val="292039"/>
          </a:solidFill>
          <a:ln w="8890">
            <a:solidFill>
              <a:srgbClr val="6D5768"/>
            </a:solidFill>
            <a:prstDash val="solid"/>
          </a:ln>
        </p:spPr>
      </p:sp>
      <p:sp>
        <p:nvSpPr>
          <p:cNvPr id="20" name="Text 18"/>
          <p:cNvSpPr/>
          <p:nvPr/>
        </p:nvSpPr>
        <p:spPr>
          <a:xfrm>
            <a:off x="7251192"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C3ACE5"/>
                </a:solidFill>
                <a:latin typeface="Georgia" pitchFamily="34" charset="0"/>
                <a:ea typeface="Georgia" pitchFamily="34" charset="-122"/>
                <a:cs typeface="Georgia" pitchFamily="34" charset="-120"/>
              </a:rPr>
              <a:t>4</a:t>
            </a:r>
            <a:endParaRPr lang="en-US" sz="1700" dirty="0"/>
          </a:p>
        </p:txBody>
      </p:sp>
      <p:sp>
        <p:nvSpPr>
          <p:cNvPr id="21" name="Text 19"/>
          <p:cNvSpPr/>
          <p:nvPr/>
        </p:nvSpPr>
        <p:spPr>
          <a:xfrm>
            <a:off x="7543800"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Leave a useful open question.</a:t>
            </a:r>
            <a:endParaRPr lang="en-US" sz="700" dirty="0"/>
          </a:p>
        </p:txBody>
      </p:sp>
      <p:sp>
        <p:nvSpPr>
          <p:cNvPr id="22" name="Shape 20"/>
          <p:cNvSpPr/>
          <p:nvPr/>
        </p:nvSpPr>
        <p:spPr>
          <a:xfrm>
            <a:off x="9070848" y="1307592"/>
            <a:ext cx="1819656" cy="448056"/>
          </a:xfrm>
          <a:prstGeom prst="rect">
            <a:avLst/>
          </a:prstGeom>
          <a:solidFill>
            <a:srgbClr val="292039"/>
          </a:solidFill>
          <a:ln w="8890">
            <a:solidFill>
              <a:srgbClr val="C3ACE5"/>
            </a:solidFill>
            <a:prstDash val="solid"/>
          </a:ln>
        </p:spPr>
      </p:sp>
      <p:sp>
        <p:nvSpPr>
          <p:cNvPr id="23" name="Text 21"/>
          <p:cNvSpPr/>
          <p:nvPr/>
        </p:nvSpPr>
        <p:spPr>
          <a:xfrm>
            <a:off x="9144000"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C3ACE5"/>
                </a:solidFill>
                <a:latin typeface="Georgia" pitchFamily="34" charset="0"/>
                <a:ea typeface="Georgia" pitchFamily="34" charset="-122"/>
                <a:cs typeface="Georgia" pitchFamily="34" charset="-120"/>
              </a:rPr>
              <a:t>5</a:t>
            </a:r>
            <a:endParaRPr lang="en-US" sz="1700" dirty="0"/>
          </a:p>
        </p:txBody>
      </p:sp>
      <p:sp>
        <p:nvSpPr>
          <p:cNvPr id="24" name="Text 22"/>
          <p:cNvSpPr/>
          <p:nvPr/>
        </p:nvSpPr>
        <p:spPr>
          <a:xfrm>
            <a:off x="9436608"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Keep the workshop fictional.</a:t>
            </a:r>
            <a:endParaRPr lang="en-US" sz="700" dirty="0"/>
          </a:p>
        </p:txBody>
      </p:sp>
      <p:sp>
        <p:nvSpPr>
          <p:cNvPr id="25" name="Shape 23"/>
          <p:cNvSpPr/>
          <p:nvPr/>
        </p:nvSpPr>
        <p:spPr>
          <a:xfrm>
            <a:off x="10963656" y="1307592"/>
            <a:ext cx="1819656" cy="448056"/>
          </a:xfrm>
          <a:prstGeom prst="rect">
            <a:avLst/>
          </a:prstGeom>
          <a:solidFill>
            <a:srgbClr val="292039"/>
          </a:solidFill>
          <a:ln w="8890">
            <a:solidFill>
              <a:srgbClr val="6D5768"/>
            </a:solidFill>
            <a:prstDash val="solid"/>
          </a:ln>
        </p:spPr>
      </p:sp>
      <p:sp>
        <p:nvSpPr>
          <p:cNvPr id="26" name="Text 24"/>
          <p:cNvSpPr/>
          <p:nvPr/>
        </p:nvSpPr>
        <p:spPr>
          <a:xfrm>
            <a:off x="11036808"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C3ACE5"/>
                </a:solidFill>
                <a:latin typeface="Georgia" pitchFamily="34" charset="0"/>
                <a:ea typeface="Georgia" pitchFamily="34" charset="-122"/>
                <a:cs typeface="Georgia" pitchFamily="34" charset="-120"/>
              </a:rPr>
              <a:t>6</a:t>
            </a:r>
            <a:endParaRPr lang="en-US" sz="1700" dirty="0"/>
          </a:p>
        </p:txBody>
      </p:sp>
      <p:sp>
        <p:nvSpPr>
          <p:cNvPr id="27" name="Text 25"/>
          <p:cNvSpPr/>
          <p:nvPr/>
        </p:nvSpPr>
        <p:spPr>
          <a:xfrm>
            <a:off x="11329416"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Close with another possibility.</a:t>
            </a:r>
            <a:endParaRPr lang="en-US" sz="700" dirty="0"/>
          </a:p>
        </p:txBody>
      </p:sp>
      <p:sp>
        <p:nvSpPr>
          <p:cNvPr id="28" name="Shape 26"/>
          <p:cNvSpPr/>
          <p:nvPr/>
        </p:nvSpPr>
        <p:spPr>
          <a:xfrm>
            <a:off x="1499616" y="2066544"/>
            <a:ext cx="6949440" cy="3840480"/>
          </a:xfrm>
          <a:prstGeom prst="rect">
            <a:avLst/>
          </a:prstGeom>
          <a:solidFill>
            <a:srgbClr val="292039"/>
          </a:solidFill>
          <a:ln w="10160">
            <a:solidFill>
              <a:srgbClr val="AC8B99"/>
            </a:solidFill>
            <a:prstDash val="dash"/>
          </a:ln>
        </p:spPr>
      </p:sp>
      <p:sp>
        <p:nvSpPr>
          <p:cNvPr id="29" name="Text 27"/>
          <p:cNvSpPr/>
          <p:nvPr/>
        </p:nvSpPr>
        <p:spPr>
          <a:xfrm>
            <a:off x="1911096" y="3017520"/>
            <a:ext cx="6035040" cy="228600"/>
          </a:xfrm>
          <a:prstGeom prst="rect">
            <a:avLst/>
          </a:prstGeom>
          <a:noFill/>
          <a:ln/>
        </p:spPr>
        <p:txBody>
          <a:bodyPr wrap="square" lIns="0" tIns="0" rIns="0" bIns="0" rtlCol="0" anchor="t">
            <a:normAutofit/>
          </a:bodyPr>
          <a:lstStyle/>
          <a:p>
            <a:pPr indent="0" marL="0">
              <a:buNone/>
            </a:pPr>
            <a:r>
              <a:rPr lang="en-US" sz="900" spc="150" kern="0" dirty="0">
                <a:solidFill>
                  <a:srgbClr val="C3ACE5"/>
                </a:solidFill>
                <a:latin typeface="Arial" pitchFamily="34" charset="0"/>
                <a:ea typeface="Arial" pitchFamily="34" charset="-122"/>
                <a:cs typeface="Arial" pitchFamily="34" charset="-120"/>
              </a:rPr>
              <a:t>MAIN ART 15 PENDING</a:t>
            </a:r>
            <a:endParaRPr lang="en-US" sz="900" dirty="0"/>
          </a:p>
        </p:txBody>
      </p:sp>
      <p:sp>
        <p:nvSpPr>
          <p:cNvPr id="30" name="Text 28"/>
          <p:cNvSpPr/>
          <p:nvPr/>
        </p:nvSpPr>
        <p:spPr>
          <a:xfrm>
            <a:off x="1911096" y="3547872"/>
            <a:ext cx="6035040" cy="548640"/>
          </a:xfrm>
          <a:prstGeom prst="rect">
            <a:avLst/>
          </a:prstGeom>
          <a:noFill/>
          <a:ln/>
        </p:spPr>
        <p:txBody>
          <a:bodyPr wrap="square" lIns="0" tIns="0" rIns="0" bIns="0" rtlCol="0" anchor="t">
            <a:normAutofit/>
          </a:bodyPr>
          <a:lstStyle/>
          <a:p>
            <a:pPr indent="0" marL="0">
              <a:buNone/>
            </a:pPr>
            <a:r>
              <a:rPr lang="en-US" sz="2600" dirty="0">
                <a:solidFill>
                  <a:srgbClr val="ECDED6"/>
                </a:solidFill>
                <a:latin typeface="Georgia" pitchFamily="34" charset="0"/>
                <a:ea typeface="Georgia" pitchFamily="34" charset="-122"/>
                <a:cs typeface="Georgia" pitchFamily="34" charset="-120"/>
              </a:rPr>
              <a:t>A frame for a future illustration.</a:t>
            </a:r>
            <a:endParaRPr lang="en-US" sz="2600" dirty="0"/>
          </a:p>
        </p:txBody>
      </p:sp>
      <p:sp>
        <p:nvSpPr>
          <p:cNvPr id="31" name="Text 29"/>
          <p:cNvSpPr/>
          <p:nvPr/>
        </p:nvSpPr>
        <p:spPr>
          <a:xfrm>
            <a:off x="1911096" y="4343400"/>
            <a:ext cx="6035040" cy="594360"/>
          </a:xfrm>
          <a:prstGeom prst="rect">
            <a:avLst/>
          </a:prstGeom>
          <a:noFill/>
          <a:ln/>
        </p:spPr>
        <p:txBody>
          <a:bodyPr wrap="square" lIns="0" tIns="0" rIns="0" bIns="0" rtlCol="0" anchor="t">
            <a:normAutofit/>
          </a:bodyPr>
          <a:lstStyle/>
          <a:p>
            <a:pPr indent="0" marL="0">
              <a:buNone/>
            </a:pPr>
            <a:r>
              <a:rPr lang="en-US" sz="1100" dirty="0">
                <a:solidFill>
                  <a:srgbClr val="C0AAB9"/>
                </a:solidFill>
                <a:latin typeface="Arial" pitchFamily="34" charset="0"/>
                <a:ea typeface="Arial" pitchFamily="34" charset="-122"/>
                <a:cs typeface="Arial" pitchFamily="34" charset="-120"/>
              </a:rPr>
              <a:t>This typographic placeholder is not a primary artwork. 14 of 15 independent illustrations are present.</a:t>
            </a:r>
            <a:endParaRPr lang="en-US" sz="1100" dirty="0"/>
          </a:p>
        </p:txBody>
      </p:sp>
      <p:sp>
        <p:nvSpPr>
          <p:cNvPr id="32" name="Text 30"/>
          <p:cNvSpPr/>
          <p:nvPr/>
        </p:nvSpPr>
        <p:spPr>
          <a:xfrm>
            <a:off x="1499616" y="6007608"/>
            <a:ext cx="6949440" cy="164592"/>
          </a:xfrm>
          <a:prstGeom prst="rect">
            <a:avLst/>
          </a:prstGeom>
          <a:noFill/>
          <a:ln/>
        </p:spPr>
        <p:txBody>
          <a:bodyPr wrap="square" lIns="0" tIns="0" rIns="0" bIns="0" rtlCol="0" anchor="t">
            <a:normAutofit/>
          </a:bodyPr>
          <a:lstStyle/>
          <a:p>
            <a:pPr indent="0" marL="0">
              <a:buNone/>
            </a:pPr>
            <a:r>
              <a:rPr lang="en-US" sz="650" dirty="0">
                <a:solidFill>
                  <a:srgbClr val="C0AAB9"/>
                </a:solidFill>
                <a:latin typeface="Arial" pitchFamily="34" charset="0"/>
                <a:ea typeface="Arial" pitchFamily="34" charset="-122"/>
                <a:cs typeface="Arial" pitchFamily="34" charset="-120"/>
              </a:rPr>
              <a:t>Missing main illustration / not counted as completed art</a:t>
            </a:r>
            <a:endParaRPr lang="en-US" sz="650" dirty="0"/>
          </a:p>
        </p:txBody>
      </p:sp>
      <p:sp>
        <p:nvSpPr>
          <p:cNvPr id="33" name="Text 31"/>
          <p:cNvSpPr/>
          <p:nvPr/>
        </p:nvSpPr>
        <p:spPr>
          <a:xfrm>
            <a:off x="8705088" y="2139696"/>
            <a:ext cx="4133088" cy="164592"/>
          </a:xfrm>
          <a:prstGeom prst="rect">
            <a:avLst/>
          </a:prstGeom>
          <a:noFill/>
          <a:ln/>
        </p:spPr>
        <p:txBody>
          <a:bodyPr wrap="square" lIns="0" tIns="0" rIns="0" bIns="0" rtlCol="0" anchor="t">
            <a:normAutofit/>
          </a:bodyPr>
          <a:lstStyle/>
          <a:p>
            <a:pPr indent="0" marL="0">
              <a:buNone/>
            </a:pPr>
            <a:r>
              <a:rPr lang="en-US" sz="700" spc="110" kern="0" dirty="0">
                <a:solidFill>
                  <a:srgbClr val="C3ACE5"/>
                </a:solidFill>
                <a:latin typeface="Arial" pitchFamily="34" charset="0"/>
                <a:ea typeface="Arial" pitchFamily="34" charset="-122"/>
                <a:cs typeface="Arial" pitchFamily="34" charset="-120"/>
              </a:rPr>
              <a:t>STORY INTENTION</a:t>
            </a:r>
            <a:endParaRPr lang="en-US" sz="700" dirty="0"/>
          </a:p>
        </p:txBody>
      </p:sp>
      <p:sp>
        <p:nvSpPr>
          <p:cNvPr id="34" name="Text 32"/>
          <p:cNvSpPr/>
          <p:nvPr/>
        </p:nvSpPr>
        <p:spPr>
          <a:xfrm>
            <a:off x="8705088" y="2514600"/>
            <a:ext cx="4133088" cy="1828800"/>
          </a:xfrm>
          <a:prstGeom prst="rect">
            <a:avLst/>
          </a:prstGeom>
          <a:noFill/>
          <a:ln/>
        </p:spPr>
        <p:txBody>
          <a:bodyPr wrap="square" lIns="0" tIns="0" rIns="0" bIns="0" rtlCol="0" anchor="t">
            <a:normAutofit/>
          </a:bodyPr>
          <a:lstStyle/>
          <a:p>
            <a:pPr indent="0" marL="0">
              <a:buNone/>
            </a:pPr>
            <a:r>
              <a:rPr lang="en-US" sz="1575" dirty="0">
                <a:solidFill>
                  <a:srgbClr val="ECDED6"/>
                </a:solidFill>
                <a:latin typeface="Georgia" pitchFamily="34" charset="0"/>
                <a:ea typeface="Georgia" pitchFamily="34" charset="-122"/>
                <a:cs typeface="Georgia" pitchFamily="34" charset="-120"/>
              </a:rPr>
              <a:t>The folio can organise a personal writing exercise, but it does not verify consent, permissions, funding, access or a venue’s readiness. No real participant data is needed in its browser-local notes.</a:t>
            </a:r>
            <a:endParaRPr lang="en-US" sz="1575" dirty="0"/>
          </a:p>
        </p:txBody>
      </p:sp>
      <p:sp>
        <p:nvSpPr>
          <p:cNvPr id="35" name="Text 33"/>
          <p:cNvSpPr/>
          <p:nvPr/>
        </p:nvSpPr>
        <p:spPr>
          <a:xfrm>
            <a:off x="8705088" y="4572000"/>
            <a:ext cx="4133088" cy="164592"/>
          </a:xfrm>
          <a:prstGeom prst="rect">
            <a:avLst/>
          </a:prstGeom>
          <a:noFill/>
          <a:ln/>
        </p:spPr>
        <p:txBody>
          <a:bodyPr wrap="square" lIns="0" tIns="0" rIns="0" bIns="0" rtlCol="0" anchor="t">
            <a:normAutofit/>
          </a:bodyPr>
          <a:lstStyle/>
          <a:p>
            <a:pPr indent="0" marL="0">
              <a:buNone/>
            </a:pPr>
            <a:r>
              <a:rPr lang="en-US" sz="700" spc="110" kern="0" dirty="0">
                <a:solidFill>
                  <a:srgbClr val="C3ACE5"/>
                </a:solidFill>
                <a:latin typeface="Arial" pitchFamily="34" charset="0"/>
                <a:ea typeface="Arial" pitchFamily="34" charset="-122"/>
                <a:cs typeface="Arial" pitchFamily="34" charset="-120"/>
              </a:rPr>
              <a:t>LEAVE A QUESTION</a:t>
            </a:r>
            <a:endParaRPr lang="en-US" sz="700" dirty="0"/>
          </a:p>
        </p:txBody>
      </p:sp>
      <p:sp>
        <p:nvSpPr>
          <p:cNvPr id="36" name="Text 34"/>
          <p:cNvSpPr/>
          <p:nvPr/>
        </p:nvSpPr>
        <p:spPr>
          <a:xfrm>
            <a:off x="8705088" y="4910328"/>
            <a:ext cx="4133088" cy="822960"/>
          </a:xfrm>
          <a:prstGeom prst="rect">
            <a:avLst/>
          </a:prstGeom>
          <a:noFill/>
          <a:ln/>
        </p:spPr>
        <p:txBody>
          <a:bodyPr wrap="square" lIns="0" tIns="0" rIns="0" bIns="0" rtlCol="0" anchor="t">
            <a:normAutofit/>
          </a:bodyPr>
          <a:lstStyle/>
          <a:p>
            <a:pPr indent="0" marL="0">
              <a:buNone/>
            </a:pPr>
            <a:r>
              <a:rPr lang="en-US" sz="1875" i="1" dirty="0">
                <a:solidFill>
                  <a:srgbClr val="C3ACE5"/>
                </a:solidFill>
                <a:latin typeface="Georgia" pitchFamily="34" charset="0"/>
                <a:ea typeface="Georgia" pitchFamily="34" charset="-122"/>
                <a:cs typeface="Georgia" pitchFamily="34" charset="-120"/>
              </a:rPr>
              <a:t>What separate responsible work would a real event require?</a:t>
            </a:r>
            <a:endParaRPr lang="en-US" sz="1875" dirty="0"/>
          </a:p>
        </p:txBody>
      </p:sp>
      <p:sp>
        <p:nvSpPr>
          <p:cNvPr id="37" name="Text 35"/>
          <p:cNvSpPr/>
          <p:nvPr/>
        </p:nvSpPr>
        <p:spPr>
          <a:xfrm>
            <a:off x="8705088" y="5806440"/>
            <a:ext cx="4133088" cy="292608"/>
          </a:xfrm>
          <a:prstGeom prst="rect">
            <a:avLst/>
          </a:prstGeom>
          <a:noFill/>
          <a:ln/>
        </p:spPr>
        <p:txBody>
          <a:bodyPr wrap="square" lIns="0" tIns="0" rIns="0" bIns="0" rtlCol="0" anchor="t">
            <a:normAutofit/>
          </a:bodyPr>
          <a:lstStyle/>
          <a:p>
            <a:pPr indent="0" marL="0">
              <a:buNone/>
            </a:pPr>
            <a:r>
              <a:rPr lang="en-US" sz="700" dirty="0">
                <a:solidFill>
                  <a:srgbClr val="C0AAB9"/>
                </a:solidFill>
                <a:latin typeface="Arial" pitchFamily="34" charset="0"/>
                <a:ea typeface="Arial" pitchFamily="34" charset="-122"/>
                <a:cs typeface="Arial" pitchFamily="34" charset="-120"/>
              </a:rPr>
              <a:t>Beat order is not timing, a technical call or a show schedule.</a:t>
            </a:r>
            <a:endParaRPr lang="en-US" sz="700" dirty="0"/>
          </a:p>
        </p:txBody>
      </p:sp>
      <p:sp>
        <p:nvSpPr>
          <p:cNvPr id="38" name="Shape 36"/>
          <p:cNvSpPr/>
          <p:nvPr/>
        </p:nvSpPr>
        <p:spPr>
          <a:xfrm>
            <a:off x="1499616" y="6583680"/>
            <a:ext cx="3675888" cy="1481328"/>
          </a:xfrm>
          <a:prstGeom prst="rect">
            <a:avLst/>
          </a:prstGeom>
          <a:solidFill>
            <a:srgbClr val="292039"/>
          </a:solidFill>
          <a:ln w="8890">
            <a:solidFill>
              <a:srgbClr val="735D6D"/>
            </a:solidFill>
            <a:prstDash val="solid"/>
          </a:ln>
        </p:spPr>
      </p:sp>
      <p:sp>
        <p:nvSpPr>
          <p:cNvPr id="39" name="Text 37"/>
          <p:cNvSpPr/>
          <p:nvPr/>
        </p:nvSpPr>
        <p:spPr>
          <a:xfrm>
            <a:off x="1682496"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C3ACE5"/>
                </a:solidFill>
                <a:latin typeface="Arial" pitchFamily="34" charset="0"/>
                <a:ea typeface="Arial" pitchFamily="34" charset="-122"/>
                <a:cs typeface="Arial" pitchFamily="34" charset="-120"/>
              </a:rPr>
              <a:t>01 / NOTICE</a:t>
            </a:r>
            <a:endParaRPr lang="en-US" sz="700" dirty="0"/>
          </a:p>
        </p:txBody>
      </p:sp>
      <p:sp>
        <p:nvSpPr>
          <p:cNvPr id="40" name="Text 38"/>
          <p:cNvSpPr/>
          <p:nvPr/>
        </p:nvSpPr>
        <p:spPr>
          <a:xfrm>
            <a:off x="1682496"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Creative structure is not a real-world approval system.</a:t>
            </a:r>
            <a:endParaRPr lang="en-US" sz="1500" dirty="0"/>
          </a:p>
        </p:txBody>
      </p:sp>
      <p:sp>
        <p:nvSpPr>
          <p:cNvPr id="41" name="Shape 39"/>
          <p:cNvSpPr/>
          <p:nvPr/>
        </p:nvSpPr>
        <p:spPr>
          <a:xfrm>
            <a:off x="5321808" y="6583680"/>
            <a:ext cx="3675888" cy="1481328"/>
          </a:xfrm>
          <a:prstGeom prst="rect">
            <a:avLst/>
          </a:prstGeom>
          <a:solidFill>
            <a:srgbClr val="292039"/>
          </a:solidFill>
          <a:ln w="8890">
            <a:solidFill>
              <a:srgbClr val="735D6D"/>
            </a:solidFill>
            <a:prstDash val="solid"/>
          </a:ln>
        </p:spPr>
      </p:sp>
      <p:sp>
        <p:nvSpPr>
          <p:cNvPr id="42" name="Text 40"/>
          <p:cNvSpPr/>
          <p:nvPr/>
        </p:nvSpPr>
        <p:spPr>
          <a:xfrm>
            <a:off x="5504688"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C3ACE5"/>
                </a:solidFill>
                <a:latin typeface="Arial" pitchFamily="34" charset="0"/>
                <a:ea typeface="Arial" pitchFamily="34" charset="-122"/>
                <a:cs typeface="Arial" pitchFamily="34" charset="-120"/>
              </a:rPr>
              <a:t>02 / TRY IN WORDS</a:t>
            </a:r>
            <a:endParaRPr lang="en-US" sz="700" dirty="0"/>
          </a:p>
        </p:txBody>
      </p:sp>
      <p:sp>
        <p:nvSpPr>
          <p:cNvPr id="43" name="Text 41"/>
          <p:cNvSpPr/>
          <p:nvPr/>
        </p:nvSpPr>
        <p:spPr>
          <a:xfrm>
            <a:off x="5504688"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State the difference between this exercise and an actual event.</a:t>
            </a:r>
            <a:endParaRPr lang="en-US" sz="1500" dirty="0"/>
          </a:p>
        </p:txBody>
      </p:sp>
      <p:sp>
        <p:nvSpPr>
          <p:cNvPr id="44" name="Shape 42"/>
          <p:cNvSpPr/>
          <p:nvPr/>
        </p:nvSpPr>
        <p:spPr>
          <a:xfrm>
            <a:off x="9144000" y="6583680"/>
            <a:ext cx="3675888" cy="1481328"/>
          </a:xfrm>
          <a:prstGeom prst="rect">
            <a:avLst/>
          </a:prstGeom>
          <a:solidFill>
            <a:srgbClr val="292039"/>
          </a:solidFill>
          <a:ln w="8890">
            <a:solidFill>
              <a:srgbClr val="735D6D"/>
            </a:solidFill>
            <a:prstDash val="solid"/>
          </a:ln>
        </p:spPr>
      </p:sp>
      <p:sp>
        <p:nvSpPr>
          <p:cNvPr id="45" name="Text 43"/>
          <p:cNvSpPr/>
          <p:nvPr/>
        </p:nvSpPr>
        <p:spPr>
          <a:xfrm>
            <a:off x="9326880"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C3ACE5"/>
                </a:solidFill>
                <a:latin typeface="Arial" pitchFamily="34" charset="0"/>
                <a:ea typeface="Arial" pitchFamily="34" charset="-122"/>
                <a:cs typeface="Arial" pitchFamily="34" charset="-120"/>
              </a:rPr>
              <a:t>03 / KEEP VISIBLE</a:t>
            </a:r>
            <a:endParaRPr lang="en-US" sz="700" dirty="0"/>
          </a:p>
        </p:txBody>
      </p:sp>
      <p:sp>
        <p:nvSpPr>
          <p:cNvPr id="46" name="Text 44"/>
          <p:cNvSpPr/>
          <p:nvPr/>
        </p:nvSpPr>
        <p:spPr>
          <a:xfrm>
            <a:off x="9326880"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Use no personal identifiers in the exported note.</a:t>
            </a:r>
            <a:endParaRPr lang="en-US" sz="1500" dirty="0"/>
          </a:p>
        </p:txBody>
      </p:sp>
      <p:sp>
        <p:nvSpPr>
          <p:cNvPr id="47" name="Shape 45"/>
          <p:cNvSpPr/>
          <p:nvPr/>
        </p:nvSpPr>
        <p:spPr>
          <a:xfrm>
            <a:off x="1499616" y="8211312"/>
            <a:ext cx="11338560" cy="0"/>
          </a:xfrm>
          <a:prstGeom prst="line">
            <a:avLst/>
          </a:prstGeom>
          <a:noFill/>
          <a:ln w="8890">
            <a:solidFill>
              <a:srgbClr val="796170"/>
            </a:solidFill>
            <a:prstDash val="solid"/>
          </a:ln>
        </p:spPr>
      </p:sp>
      <p:sp>
        <p:nvSpPr>
          <p:cNvPr id="48" name="Text 46"/>
          <p:cNvSpPr/>
          <p:nvPr/>
        </p:nvSpPr>
        <p:spPr>
          <a:xfrm>
            <a:off x="1499616" y="8339328"/>
            <a:ext cx="8229600" cy="118872"/>
          </a:xfrm>
          <a:prstGeom prst="rect">
            <a:avLst/>
          </a:prstGeom>
          <a:noFill/>
          <a:ln/>
        </p:spPr>
        <p:txBody>
          <a:bodyPr wrap="square" lIns="0" tIns="0" rIns="0" bIns="0" rtlCol="0" anchor="t">
            <a:normAutofit/>
          </a:bodyPr>
          <a:lstStyle/>
          <a:p>
            <a:pPr indent="0" marL="0">
              <a:buNone/>
            </a:pPr>
            <a:r>
              <a:rPr lang="en-US" sz="650" dirty="0">
                <a:solidFill>
                  <a:srgbClr val="C0AAB9"/>
                </a:solidFill>
                <a:latin typeface="Arial" pitchFamily="34" charset="0"/>
                <a:ea typeface="Arial" pitchFamily="34" charset="-122"/>
                <a:cs typeface="Arial" pitchFamily="34" charset="-120"/>
              </a:rPr>
              <a:t>FICTIONAL WRITING WORKSHOP / NOT A STAGING OR APPROVAL PLAN</a:t>
            </a:r>
            <a:endParaRPr lang="en-US" sz="650" dirty="0"/>
          </a:p>
        </p:txBody>
      </p:sp>
      <p:sp>
        <p:nvSpPr>
          <p:cNvPr id="49" name="Text 47"/>
          <p:cNvSpPr/>
          <p:nvPr/>
        </p:nvSpPr>
        <p:spPr>
          <a:xfrm>
            <a:off x="9729216" y="8339328"/>
            <a:ext cx="3108960" cy="118872"/>
          </a:xfrm>
          <a:prstGeom prst="rect">
            <a:avLst/>
          </a:prstGeom>
          <a:noFill/>
          <a:ln/>
        </p:spPr>
        <p:txBody>
          <a:bodyPr wrap="square" lIns="0" tIns="0" rIns="0" bIns="0" rtlCol="0" anchor="t">
            <a:normAutofit/>
          </a:bodyPr>
          <a:lstStyle/>
          <a:p>
            <a:pPr algn="r" indent="0" marL="0">
              <a:buNone/>
            </a:pPr>
            <a:r>
              <a:rPr lang="en-US" sz="650" dirty="0">
                <a:solidFill>
                  <a:srgbClr val="C0AAB9"/>
                </a:solidFill>
                <a:latin typeface="Arial" pitchFamily="34" charset="0"/>
                <a:ea typeface="Arial" pitchFamily="34" charset="-122"/>
                <a:cs typeface="Arial" pitchFamily="34" charset="-120"/>
              </a:rPr>
              <a:t>DRAFT / 14 OF 15 ARTWORKS / 29 OF 30</a:t>
            </a:r>
            <a:endParaRPr lang="en-US" sz="6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292039"/>
        </a:solidFill>
      </p:bgPr>
    </p:bg>
    <p:spTree>
      <p:nvGrpSpPr>
        <p:cNvPr id="1" name=""/>
        <p:cNvGrpSpPr/>
        <p:nvPr/>
      </p:nvGrpSpPr>
      <p:grpSpPr>
        <a:xfrm>
          <a:off x="0" y="0"/>
          <a:ext cx="0" cy="0"/>
          <a:chOff x="0" y="0"/>
          <a:chExt cx="0" cy="0"/>
        </a:xfrm>
      </p:grpSpPr>
      <p:sp>
        <p:nvSpPr>
          <p:cNvPr id="2" name="Shape 0"/>
          <p:cNvSpPr/>
          <p:nvPr/>
        </p:nvSpPr>
        <p:spPr>
          <a:xfrm>
            <a:off x="1243584" y="329184"/>
            <a:ext cx="0" cy="8119872"/>
          </a:xfrm>
          <a:prstGeom prst="line">
            <a:avLst/>
          </a:prstGeom>
          <a:noFill/>
          <a:ln w="10160">
            <a:solidFill>
              <a:srgbClr val="776072"/>
            </a:solidFill>
            <a:prstDash val="solid"/>
          </a:ln>
        </p:spPr>
      </p:sp>
      <p:sp>
        <p:nvSpPr>
          <p:cNvPr id="3" name="Text 1"/>
          <p:cNvSpPr/>
          <p:nvPr/>
        </p:nvSpPr>
        <p:spPr>
          <a:xfrm>
            <a:off x="393192" y="457200"/>
            <a:ext cx="685800" cy="457200"/>
          </a:xfrm>
          <a:prstGeom prst="rect">
            <a:avLst/>
          </a:prstGeom>
          <a:noFill/>
          <a:ln/>
        </p:spPr>
        <p:txBody>
          <a:bodyPr wrap="square" lIns="0" tIns="0" rIns="0" bIns="0" rtlCol="0" anchor="t">
            <a:normAutofit/>
          </a:bodyPr>
          <a:lstStyle/>
          <a:p>
            <a:pPr indent="0" marL="0">
              <a:buNone/>
            </a:pPr>
            <a:r>
              <a:rPr lang="en-US" sz="600" dirty="0">
                <a:solidFill>
                  <a:srgbClr val="C0AAB9"/>
                </a:solidFill>
                <a:latin typeface="Arial" pitchFamily="34" charset="0"/>
                <a:ea typeface="Arial" pitchFamily="34" charset="-122"/>
                <a:cs typeface="Arial" pitchFamily="34" charset="-120"/>
              </a:rPr>
              <a:t>DESIGN BUDDY</a:t>
            </a:r>
            <a:endParaRPr lang="en-US" sz="600" dirty="0"/>
          </a:p>
          <a:p>
            <a:pPr indent="0" marL="0">
              <a:buNone/>
            </a:pPr>
            <a:r>
              <a:rPr lang="en-US" sz="600" dirty="0">
                <a:solidFill>
                  <a:srgbClr val="C0AAB9"/>
                </a:solidFill>
                <a:latin typeface="Arial" pitchFamily="34" charset="0"/>
                <a:ea typeface="Arial" pitchFamily="34" charset="-122"/>
                <a:cs typeface="Arial" pitchFamily="34" charset="-120"/>
              </a:rPr>
              <a:t>CREATIVE EXERCISE</a:t>
            </a:r>
            <a:endParaRPr lang="en-US" sz="600" dirty="0"/>
          </a:p>
        </p:txBody>
      </p:sp>
      <p:sp>
        <p:nvSpPr>
          <p:cNvPr id="4" name="Text 2"/>
          <p:cNvSpPr/>
          <p:nvPr/>
        </p:nvSpPr>
        <p:spPr>
          <a:xfrm>
            <a:off x="502920" y="1920240"/>
            <a:ext cx="502920" cy="4480560"/>
          </a:xfrm>
          <a:prstGeom prst="rect">
            <a:avLst/>
          </a:prstGeom>
          <a:noFill/>
          <a:ln/>
        </p:spPr>
        <p:txBody>
          <a:bodyPr wrap="square" lIns="0" tIns="0" rIns="0" bIns="0" rtlCol="0" anchor="t">
            <a:normAutofit/>
          </a:bodyPr>
          <a:lstStyle/>
          <a:p>
            <a:pPr algn="ctr" indent="0" marL="0">
              <a:buNone/>
            </a:pPr>
            <a:r>
              <a:rPr lang="en-US" sz="2500" dirty="0">
                <a:solidFill>
                  <a:srgbClr val="C3ACE5"/>
                </a:solidFill>
                <a:latin typeface="Georgia" pitchFamily="34" charset="0"/>
                <a:ea typeface="Georgia" pitchFamily="34" charset="-122"/>
                <a:cs typeface="Georgia" pitchFamily="34" charset="-120"/>
              </a:rPr>
              <a:t>A</a:t>
            </a:r>
            <a:endParaRPr lang="en-US" sz="2500" dirty="0"/>
          </a:p>
          <a:p>
            <a:pPr algn="ctr" indent="0" marL="0">
              <a:buNone/>
            </a:pPr>
            <a:r>
              <a:rPr lang="en-US" sz="2500" dirty="0">
                <a:solidFill>
                  <a:srgbClr val="C3ACE5"/>
                </a:solidFill>
                <a:latin typeface="Georgia" pitchFamily="34" charset="0"/>
                <a:ea typeface="Georgia" pitchFamily="34" charset="-122"/>
                <a:cs typeface="Georgia" pitchFamily="34" charset="-120"/>
              </a:rPr>
              <a:t>F</a:t>
            </a:r>
            <a:endParaRPr lang="en-US" sz="2500" dirty="0"/>
          </a:p>
          <a:p>
            <a:pPr algn="ctr" indent="0" marL="0">
              <a:buNone/>
            </a:pPr>
            <a:r>
              <a:rPr lang="en-US" sz="2500" dirty="0">
                <a:solidFill>
                  <a:srgbClr val="C3ACE5"/>
                </a:solidFill>
                <a:latin typeface="Georgia" pitchFamily="34" charset="0"/>
                <a:ea typeface="Georgia" pitchFamily="34" charset="-122"/>
                <a:cs typeface="Georgia" pitchFamily="34" charset="-120"/>
              </a:rPr>
              <a:t>T</a:t>
            </a:r>
            <a:endParaRPr lang="en-US" sz="2500" dirty="0"/>
          </a:p>
          <a:p>
            <a:pPr algn="ctr" indent="0" marL="0">
              <a:buNone/>
            </a:pPr>
            <a:r>
              <a:rPr lang="en-US" sz="2500" dirty="0">
                <a:solidFill>
                  <a:srgbClr val="C3ACE5"/>
                </a:solidFill>
                <a:latin typeface="Georgia" pitchFamily="34" charset="0"/>
                <a:ea typeface="Georgia" pitchFamily="34" charset="-122"/>
                <a:cs typeface="Georgia" pitchFamily="34" charset="-120"/>
              </a:rPr>
              <a:t>E</a:t>
            </a:r>
            <a:endParaRPr lang="en-US" sz="2500" dirty="0"/>
          </a:p>
          <a:p>
            <a:pPr algn="ctr" indent="0" marL="0">
              <a:buNone/>
            </a:pPr>
            <a:r>
              <a:rPr lang="en-US" sz="2500" dirty="0">
                <a:solidFill>
                  <a:srgbClr val="C3ACE5"/>
                </a:solidFill>
                <a:latin typeface="Georgia" pitchFamily="34" charset="0"/>
                <a:ea typeface="Georgia" pitchFamily="34" charset="-122"/>
                <a:cs typeface="Georgia" pitchFamily="34" charset="-120"/>
              </a:rPr>
              <a:t>R</a:t>
            </a:r>
            <a:endParaRPr lang="en-US" sz="2500" dirty="0"/>
          </a:p>
          <a:p>
            <a:pPr algn="ctr" indent="0" marL="0">
              <a:buNone/>
            </a:pPr>
            <a:r>
              <a:rPr lang="en-US" sz="2500" dirty="0">
                <a:solidFill>
                  <a:srgbClr val="C3ACE5"/>
                </a:solidFill>
                <a:latin typeface="Georgia" pitchFamily="34" charset="0"/>
                <a:ea typeface="Georgia" pitchFamily="34" charset="-122"/>
                <a:cs typeface="Georgia" pitchFamily="34" charset="-120"/>
              </a:rPr>
              <a:t>G</a:t>
            </a:r>
            <a:endParaRPr lang="en-US" sz="2500" dirty="0"/>
          </a:p>
          <a:p>
            <a:pPr algn="ctr" indent="0" marL="0">
              <a:buNone/>
            </a:pPr>
            <a:r>
              <a:rPr lang="en-US" sz="2500" dirty="0">
                <a:solidFill>
                  <a:srgbClr val="C3ACE5"/>
                </a:solidFill>
                <a:latin typeface="Georgia" pitchFamily="34" charset="0"/>
                <a:ea typeface="Georgia" pitchFamily="34" charset="-122"/>
                <a:cs typeface="Georgia" pitchFamily="34" charset="-120"/>
              </a:rPr>
              <a:t>L</a:t>
            </a:r>
            <a:endParaRPr lang="en-US" sz="2500" dirty="0"/>
          </a:p>
          <a:p>
            <a:pPr algn="ctr" indent="0" marL="0">
              <a:buNone/>
            </a:pPr>
            <a:r>
              <a:rPr lang="en-US" sz="2500" dirty="0">
                <a:solidFill>
                  <a:srgbClr val="C3ACE5"/>
                </a:solidFill>
                <a:latin typeface="Georgia" pitchFamily="34" charset="0"/>
                <a:ea typeface="Georgia" pitchFamily="34" charset="-122"/>
                <a:cs typeface="Georgia" pitchFamily="34" charset="-120"/>
              </a:rPr>
              <a:t>O</a:t>
            </a:r>
            <a:endParaRPr lang="en-US" sz="2500" dirty="0"/>
          </a:p>
          <a:p>
            <a:pPr algn="ctr" indent="0" marL="0">
              <a:buNone/>
            </a:pPr>
            <a:r>
              <a:rPr lang="en-US" sz="2500" dirty="0">
                <a:solidFill>
                  <a:srgbClr val="C3ACE5"/>
                </a:solidFill>
                <a:latin typeface="Georgia" pitchFamily="34" charset="0"/>
                <a:ea typeface="Georgia" pitchFamily="34" charset="-122"/>
                <a:cs typeface="Georgia" pitchFamily="34" charset="-120"/>
              </a:rPr>
              <a:t>W</a:t>
            </a:r>
            <a:endParaRPr lang="en-US" sz="2500" dirty="0"/>
          </a:p>
        </p:txBody>
      </p:sp>
      <p:sp>
        <p:nvSpPr>
          <p:cNvPr id="5" name="Text 3"/>
          <p:cNvSpPr/>
          <p:nvPr/>
        </p:nvSpPr>
        <p:spPr>
          <a:xfrm>
            <a:off x="402336" y="7022592"/>
            <a:ext cx="731520" cy="594360"/>
          </a:xfrm>
          <a:prstGeom prst="rect">
            <a:avLst/>
          </a:prstGeom>
          <a:noFill/>
          <a:ln/>
        </p:spPr>
        <p:txBody>
          <a:bodyPr wrap="square" lIns="0" tIns="0" rIns="0" bIns="0" rtlCol="0" anchor="t">
            <a:normAutofit/>
          </a:bodyPr>
          <a:lstStyle/>
          <a:p>
            <a:pPr indent="0" marL="0">
              <a:buNone/>
            </a:pPr>
            <a:r>
              <a:rPr lang="en-US" sz="4200" dirty="0">
                <a:solidFill>
                  <a:srgbClr val="C3ACE5"/>
                </a:solidFill>
                <a:latin typeface="Georgia" pitchFamily="34" charset="0"/>
                <a:ea typeface="Georgia" pitchFamily="34" charset="-122"/>
                <a:cs typeface="Georgia" pitchFamily="34" charset="-120"/>
              </a:rPr>
              <a:t>30</a:t>
            </a:r>
            <a:endParaRPr lang="en-US" sz="4200" dirty="0"/>
          </a:p>
        </p:txBody>
      </p:sp>
      <p:sp>
        <p:nvSpPr>
          <p:cNvPr id="6" name="Text 4"/>
          <p:cNvSpPr/>
          <p:nvPr/>
        </p:nvSpPr>
        <p:spPr>
          <a:xfrm>
            <a:off x="402336" y="7818120"/>
            <a:ext cx="731520" cy="411480"/>
          </a:xfrm>
          <a:prstGeom prst="rect">
            <a:avLst/>
          </a:prstGeom>
          <a:noFill/>
          <a:ln/>
        </p:spPr>
        <p:txBody>
          <a:bodyPr wrap="square" lIns="0" tIns="0" rIns="0" bIns="0" rtlCol="0" anchor="t">
            <a:normAutofit/>
          </a:bodyPr>
          <a:lstStyle/>
          <a:p>
            <a:pPr indent="0" marL="0">
              <a:buNone/>
            </a:pPr>
            <a:r>
              <a:rPr lang="en-US" sz="700" dirty="0">
                <a:solidFill>
                  <a:srgbClr val="C0AAB9"/>
                </a:solidFill>
                <a:latin typeface="Arial" pitchFamily="34" charset="0"/>
                <a:ea typeface="Arial" pitchFamily="34" charset="-122"/>
                <a:cs typeface="Arial" pitchFamily="34" charset="-120"/>
              </a:rPr>
              <a:t>ACT 5 / 5</a:t>
            </a:r>
            <a:endParaRPr lang="en-US" sz="700" dirty="0"/>
          </a:p>
          <a:p>
            <a:pPr indent="0" marL="0">
              <a:buNone/>
            </a:pPr>
            <a:r>
              <a:rPr lang="en-US" sz="700" dirty="0">
                <a:solidFill>
                  <a:srgbClr val="C0AAB9"/>
                </a:solidFill>
                <a:latin typeface="Arial" pitchFamily="34" charset="0"/>
                <a:ea typeface="Arial" pitchFamily="34" charset="-122"/>
                <a:cs typeface="Arial" pitchFamily="34" charset="-120"/>
              </a:rPr>
              <a:t>BEAT 6 / 6</a:t>
            </a:r>
            <a:endParaRPr lang="en-US" sz="700" dirty="0"/>
          </a:p>
        </p:txBody>
      </p:sp>
      <p:sp>
        <p:nvSpPr>
          <p:cNvPr id="7" name="Text 5"/>
          <p:cNvSpPr/>
          <p:nvPr/>
        </p:nvSpPr>
        <p:spPr>
          <a:xfrm>
            <a:off x="1499616" y="347472"/>
            <a:ext cx="9144000" cy="164592"/>
          </a:xfrm>
          <a:prstGeom prst="rect">
            <a:avLst/>
          </a:prstGeom>
          <a:noFill/>
          <a:ln/>
        </p:spPr>
        <p:txBody>
          <a:bodyPr wrap="square" lIns="0" tIns="0" rIns="0" bIns="0" rtlCol="0" anchor="t">
            <a:normAutofit/>
          </a:bodyPr>
          <a:lstStyle/>
          <a:p>
            <a:pPr indent="0" marL="0">
              <a:buNone/>
            </a:pPr>
            <a:r>
              <a:rPr lang="en-US" sz="700" spc="120" kern="0" dirty="0">
                <a:solidFill>
                  <a:srgbClr val="C3ACE5"/>
                </a:solidFill>
                <a:latin typeface="Arial" pitchFamily="34" charset="0"/>
                <a:ea typeface="Arial" pitchFamily="34" charset="-122"/>
                <a:cs typeface="Arial" pitchFamily="34" charset="-120"/>
              </a:rPr>
              <a:t>ACT 5 / HANDOFF</a:t>
            </a:r>
            <a:endParaRPr lang="en-US" sz="700" dirty="0"/>
          </a:p>
        </p:txBody>
      </p:sp>
      <p:sp>
        <p:nvSpPr>
          <p:cNvPr id="8" name="Text 6"/>
          <p:cNvSpPr/>
          <p:nvPr/>
        </p:nvSpPr>
        <p:spPr>
          <a:xfrm>
            <a:off x="1499616" y="612648"/>
            <a:ext cx="9692640" cy="594360"/>
          </a:xfrm>
          <a:prstGeom prst="rect">
            <a:avLst/>
          </a:prstGeom>
          <a:noFill/>
          <a:ln/>
        </p:spPr>
        <p:txBody>
          <a:bodyPr wrap="square" lIns="0" tIns="0" rIns="0" bIns="0" rtlCol="0" anchor="t">
            <a:normAutofit/>
          </a:bodyPr>
          <a:lstStyle/>
          <a:p>
            <a:pPr indent="0" marL="0">
              <a:buNone/>
            </a:pPr>
            <a:r>
              <a:rPr lang="en-US" sz="2800" dirty="0">
                <a:solidFill>
                  <a:srgbClr val="ECDED6"/>
                </a:solidFill>
                <a:latin typeface="Georgia" pitchFamily="34" charset="0"/>
                <a:ea typeface="Georgia" pitchFamily="34" charset="-122"/>
                <a:cs typeface="Georgia" pitchFamily="34" charset="-120"/>
              </a:rPr>
              <a:t>Close with another possibility.</a:t>
            </a:r>
            <a:endParaRPr lang="en-US" sz="2800" dirty="0"/>
          </a:p>
        </p:txBody>
      </p:sp>
      <p:sp>
        <p:nvSpPr>
          <p:cNvPr id="9" name="Text 7"/>
          <p:cNvSpPr/>
          <p:nvPr/>
        </p:nvSpPr>
        <p:spPr>
          <a:xfrm>
            <a:off x="11475720" y="438912"/>
            <a:ext cx="1325880" cy="182880"/>
          </a:xfrm>
          <a:prstGeom prst="rect">
            <a:avLst/>
          </a:prstGeom>
          <a:noFill/>
          <a:ln/>
        </p:spPr>
        <p:txBody>
          <a:bodyPr wrap="square" lIns="0" tIns="0" rIns="0" bIns="0" rtlCol="0" anchor="t">
            <a:normAutofit/>
          </a:bodyPr>
          <a:lstStyle/>
          <a:p>
            <a:pPr algn="r" indent="0" marL="0">
              <a:buNone/>
            </a:pPr>
            <a:r>
              <a:rPr lang="en-US" sz="700" dirty="0">
                <a:solidFill>
                  <a:srgbClr val="C3ACE5"/>
                </a:solidFill>
                <a:latin typeface="Arial" pitchFamily="34" charset="0"/>
                <a:ea typeface="Arial" pitchFamily="34" charset="-122"/>
                <a:cs typeface="Arial" pitchFamily="34" charset="-120"/>
              </a:rPr>
              <a:t>LOCAL / UNMARKED</a:t>
            </a:r>
            <a:endParaRPr lang="en-US" sz="700" dirty="0"/>
          </a:p>
        </p:txBody>
      </p:sp>
      <p:sp>
        <p:nvSpPr>
          <p:cNvPr id="10" name="Shape 8"/>
          <p:cNvSpPr/>
          <p:nvPr/>
        </p:nvSpPr>
        <p:spPr>
          <a:xfrm>
            <a:off x="1499616" y="1307592"/>
            <a:ext cx="1819656" cy="448056"/>
          </a:xfrm>
          <a:prstGeom prst="rect">
            <a:avLst/>
          </a:prstGeom>
          <a:solidFill>
            <a:srgbClr val="292039"/>
          </a:solidFill>
          <a:ln w="8890">
            <a:solidFill>
              <a:srgbClr val="6D5768"/>
            </a:solidFill>
            <a:prstDash val="solid"/>
          </a:ln>
        </p:spPr>
      </p:sp>
      <p:sp>
        <p:nvSpPr>
          <p:cNvPr id="11" name="Text 9"/>
          <p:cNvSpPr/>
          <p:nvPr/>
        </p:nvSpPr>
        <p:spPr>
          <a:xfrm>
            <a:off x="1572768"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C3ACE5"/>
                </a:solidFill>
                <a:latin typeface="Georgia" pitchFamily="34" charset="0"/>
                <a:ea typeface="Georgia" pitchFamily="34" charset="-122"/>
                <a:cs typeface="Georgia" pitchFamily="34" charset="-120"/>
              </a:rPr>
              <a:t>1</a:t>
            </a:r>
            <a:endParaRPr lang="en-US" sz="1700" dirty="0"/>
          </a:p>
        </p:txBody>
      </p:sp>
      <p:sp>
        <p:nvSpPr>
          <p:cNvPr id="12" name="Text 10"/>
          <p:cNvSpPr/>
          <p:nvPr/>
        </p:nvSpPr>
        <p:spPr>
          <a:xfrm>
            <a:off x="1865376"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Introduce the draft honestly.</a:t>
            </a:r>
            <a:endParaRPr lang="en-US" sz="700" dirty="0"/>
          </a:p>
        </p:txBody>
      </p:sp>
      <p:sp>
        <p:nvSpPr>
          <p:cNvPr id="13" name="Shape 11"/>
          <p:cNvSpPr/>
          <p:nvPr/>
        </p:nvSpPr>
        <p:spPr>
          <a:xfrm>
            <a:off x="3392424" y="1307592"/>
            <a:ext cx="1819656" cy="448056"/>
          </a:xfrm>
          <a:prstGeom prst="rect">
            <a:avLst/>
          </a:prstGeom>
          <a:solidFill>
            <a:srgbClr val="292039"/>
          </a:solidFill>
          <a:ln w="8890">
            <a:solidFill>
              <a:srgbClr val="6D5768"/>
            </a:solidFill>
            <a:prstDash val="solid"/>
          </a:ln>
        </p:spPr>
      </p:sp>
      <p:sp>
        <p:nvSpPr>
          <p:cNvPr id="14" name="Text 12"/>
          <p:cNvSpPr/>
          <p:nvPr/>
        </p:nvSpPr>
        <p:spPr>
          <a:xfrm>
            <a:off x="3465576"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C3ACE5"/>
                </a:solidFill>
                <a:latin typeface="Georgia" pitchFamily="34" charset="0"/>
                <a:ea typeface="Georgia" pitchFamily="34" charset="-122"/>
                <a:cs typeface="Georgia" pitchFamily="34" charset="-120"/>
              </a:rPr>
              <a:t>2</a:t>
            </a:r>
            <a:endParaRPr lang="en-US" sz="1700" dirty="0"/>
          </a:p>
        </p:txBody>
      </p:sp>
      <p:sp>
        <p:nvSpPr>
          <p:cNvPr id="15" name="Text 13"/>
          <p:cNvSpPr/>
          <p:nvPr/>
        </p:nvSpPr>
        <p:spPr>
          <a:xfrm>
            <a:off x="3758184"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Separate a choice from a promise.</a:t>
            </a:r>
            <a:endParaRPr lang="en-US" sz="700" dirty="0"/>
          </a:p>
        </p:txBody>
      </p:sp>
      <p:sp>
        <p:nvSpPr>
          <p:cNvPr id="16" name="Shape 14"/>
          <p:cNvSpPr/>
          <p:nvPr/>
        </p:nvSpPr>
        <p:spPr>
          <a:xfrm>
            <a:off x="5285232" y="1307592"/>
            <a:ext cx="1819656" cy="448056"/>
          </a:xfrm>
          <a:prstGeom prst="rect">
            <a:avLst/>
          </a:prstGeom>
          <a:solidFill>
            <a:srgbClr val="292039"/>
          </a:solidFill>
          <a:ln w="8890">
            <a:solidFill>
              <a:srgbClr val="6D5768"/>
            </a:solidFill>
            <a:prstDash val="solid"/>
          </a:ln>
        </p:spPr>
      </p:sp>
      <p:sp>
        <p:nvSpPr>
          <p:cNvPr id="17" name="Text 15"/>
          <p:cNvSpPr/>
          <p:nvPr/>
        </p:nvSpPr>
        <p:spPr>
          <a:xfrm>
            <a:off x="5358384"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C3ACE5"/>
                </a:solidFill>
                <a:latin typeface="Georgia" pitchFamily="34" charset="0"/>
                <a:ea typeface="Georgia" pitchFamily="34" charset="-122"/>
                <a:cs typeface="Georgia" pitchFamily="34" charset="-120"/>
              </a:rPr>
              <a:t>3</a:t>
            </a:r>
            <a:endParaRPr lang="en-US" sz="1700" dirty="0"/>
          </a:p>
        </p:txBody>
      </p:sp>
      <p:sp>
        <p:nvSpPr>
          <p:cNvPr id="18" name="Text 16"/>
          <p:cNvSpPr/>
          <p:nvPr/>
        </p:nvSpPr>
        <p:spPr>
          <a:xfrm>
            <a:off x="5650992"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Send the version you mean.</a:t>
            </a:r>
            <a:endParaRPr lang="en-US" sz="700" dirty="0"/>
          </a:p>
        </p:txBody>
      </p:sp>
      <p:sp>
        <p:nvSpPr>
          <p:cNvPr id="19" name="Shape 17"/>
          <p:cNvSpPr/>
          <p:nvPr/>
        </p:nvSpPr>
        <p:spPr>
          <a:xfrm>
            <a:off x="7178040" y="1307592"/>
            <a:ext cx="1819656" cy="448056"/>
          </a:xfrm>
          <a:prstGeom prst="rect">
            <a:avLst/>
          </a:prstGeom>
          <a:solidFill>
            <a:srgbClr val="292039"/>
          </a:solidFill>
          <a:ln w="8890">
            <a:solidFill>
              <a:srgbClr val="6D5768"/>
            </a:solidFill>
            <a:prstDash val="solid"/>
          </a:ln>
        </p:spPr>
      </p:sp>
      <p:sp>
        <p:nvSpPr>
          <p:cNvPr id="20" name="Text 18"/>
          <p:cNvSpPr/>
          <p:nvPr/>
        </p:nvSpPr>
        <p:spPr>
          <a:xfrm>
            <a:off x="7251192"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C3ACE5"/>
                </a:solidFill>
                <a:latin typeface="Georgia" pitchFamily="34" charset="0"/>
                <a:ea typeface="Georgia" pitchFamily="34" charset="-122"/>
                <a:cs typeface="Georgia" pitchFamily="34" charset="-120"/>
              </a:rPr>
              <a:t>4</a:t>
            </a:r>
            <a:endParaRPr lang="en-US" sz="1700" dirty="0"/>
          </a:p>
        </p:txBody>
      </p:sp>
      <p:sp>
        <p:nvSpPr>
          <p:cNvPr id="21" name="Text 19"/>
          <p:cNvSpPr/>
          <p:nvPr/>
        </p:nvSpPr>
        <p:spPr>
          <a:xfrm>
            <a:off x="7543800"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Leave a useful open question.</a:t>
            </a:r>
            <a:endParaRPr lang="en-US" sz="700" dirty="0"/>
          </a:p>
        </p:txBody>
      </p:sp>
      <p:sp>
        <p:nvSpPr>
          <p:cNvPr id="22" name="Shape 20"/>
          <p:cNvSpPr/>
          <p:nvPr/>
        </p:nvSpPr>
        <p:spPr>
          <a:xfrm>
            <a:off x="9070848" y="1307592"/>
            <a:ext cx="1819656" cy="448056"/>
          </a:xfrm>
          <a:prstGeom prst="rect">
            <a:avLst/>
          </a:prstGeom>
          <a:solidFill>
            <a:srgbClr val="292039"/>
          </a:solidFill>
          <a:ln w="8890">
            <a:solidFill>
              <a:srgbClr val="6D5768"/>
            </a:solidFill>
            <a:prstDash val="solid"/>
          </a:ln>
        </p:spPr>
      </p:sp>
      <p:sp>
        <p:nvSpPr>
          <p:cNvPr id="23" name="Text 21"/>
          <p:cNvSpPr/>
          <p:nvPr/>
        </p:nvSpPr>
        <p:spPr>
          <a:xfrm>
            <a:off x="9144000"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C3ACE5"/>
                </a:solidFill>
                <a:latin typeface="Georgia" pitchFamily="34" charset="0"/>
                <a:ea typeface="Georgia" pitchFamily="34" charset="-122"/>
                <a:cs typeface="Georgia" pitchFamily="34" charset="-120"/>
              </a:rPr>
              <a:t>5</a:t>
            </a:r>
            <a:endParaRPr lang="en-US" sz="1700" dirty="0"/>
          </a:p>
        </p:txBody>
      </p:sp>
      <p:sp>
        <p:nvSpPr>
          <p:cNvPr id="24" name="Text 22"/>
          <p:cNvSpPr/>
          <p:nvPr/>
        </p:nvSpPr>
        <p:spPr>
          <a:xfrm>
            <a:off x="9436608"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Keep the workshop fictional.</a:t>
            </a:r>
            <a:endParaRPr lang="en-US" sz="700" dirty="0"/>
          </a:p>
        </p:txBody>
      </p:sp>
      <p:sp>
        <p:nvSpPr>
          <p:cNvPr id="25" name="Shape 23"/>
          <p:cNvSpPr/>
          <p:nvPr/>
        </p:nvSpPr>
        <p:spPr>
          <a:xfrm>
            <a:off x="10963656" y="1307592"/>
            <a:ext cx="1819656" cy="448056"/>
          </a:xfrm>
          <a:prstGeom prst="rect">
            <a:avLst/>
          </a:prstGeom>
          <a:solidFill>
            <a:srgbClr val="292039"/>
          </a:solidFill>
          <a:ln w="8890">
            <a:solidFill>
              <a:srgbClr val="C3ACE5"/>
            </a:solidFill>
            <a:prstDash val="solid"/>
          </a:ln>
        </p:spPr>
      </p:sp>
      <p:sp>
        <p:nvSpPr>
          <p:cNvPr id="26" name="Text 24"/>
          <p:cNvSpPr/>
          <p:nvPr/>
        </p:nvSpPr>
        <p:spPr>
          <a:xfrm>
            <a:off x="11036808" y="1399032"/>
            <a:ext cx="182880" cy="210312"/>
          </a:xfrm>
          <a:prstGeom prst="rect">
            <a:avLst/>
          </a:prstGeom>
          <a:noFill/>
          <a:ln/>
        </p:spPr>
        <p:txBody>
          <a:bodyPr wrap="square" lIns="0" tIns="0" rIns="0" bIns="0" rtlCol="0" anchor="t">
            <a:normAutofit/>
          </a:bodyPr>
          <a:lstStyle/>
          <a:p>
            <a:pPr indent="0" marL="0">
              <a:buNone/>
            </a:pPr>
            <a:r>
              <a:rPr lang="en-US" sz="1700" dirty="0">
                <a:solidFill>
                  <a:srgbClr val="C3ACE5"/>
                </a:solidFill>
                <a:latin typeface="Georgia" pitchFamily="34" charset="0"/>
                <a:ea typeface="Georgia" pitchFamily="34" charset="-122"/>
                <a:cs typeface="Georgia" pitchFamily="34" charset="-120"/>
              </a:rPr>
              <a:t>6</a:t>
            </a:r>
            <a:endParaRPr lang="en-US" sz="1700" dirty="0"/>
          </a:p>
        </p:txBody>
      </p:sp>
      <p:sp>
        <p:nvSpPr>
          <p:cNvPr id="27" name="Text 25"/>
          <p:cNvSpPr/>
          <p:nvPr/>
        </p:nvSpPr>
        <p:spPr>
          <a:xfrm>
            <a:off x="11329416" y="1399032"/>
            <a:ext cx="1371600" cy="274320"/>
          </a:xfrm>
          <a:prstGeom prst="rect">
            <a:avLst/>
          </a:prstGeom>
          <a:noFill/>
          <a:ln/>
        </p:spPr>
        <p:txBody>
          <a:bodyPr wrap="square" lIns="0" tIns="0" rIns="0" bIns="0" rtlCol="0" anchor="t">
            <a:normAutofit/>
          </a:bodyPr>
          <a:lstStyle/>
          <a:p>
            <a:pPr indent="0" marL="0">
              <a:buNone/>
            </a:pPr>
            <a:r>
              <a:rPr lang="en-US" sz="700" dirty="0">
                <a:solidFill>
                  <a:srgbClr val="D3C1C9"/>
                </a:solidFill>
                <a:latin typeface="Arial" pitchFamily="34" charset="0"/>
                <a:ea typeface="Arial" pitchFamily="34" charset="-122"/>
                <a:cs typeface="Arial" pitchFamily="34" charset="-120"/>
              </a:rPr>
              <a:t>Close with another possibility.</a:t>
            </a:r>
            <a:endParaRPr lang="en-US" sz="700" dirty="0"/>
          </a:p>
        </p:txBody>
      </p:sp>
      <p:sp>
        <p:nvSpPr>
          <p:cNvPr id="28" name="Shape 26"/>
          <p:cNvSpPr/>
          <p:nvPr/>
        </p:nvSpPr>
        <p:spPr>
          <a:xfrm>
            <a:off x="1499616" y="2066544"/>
            <a:ext cx="6949440" cy="3840480"/>
          </a:xfrm>
          <a:prstGeom prst="rect">
            <a:avLst/>
          </a:prstGeom>
          <a:solidFill>
            <a:srgbClr val="292039"/>
          </a:solidFill>
          <a:ln w="10160">
            <a:solidFill>
              <a:srgbClr val="AC8B99"/>
            </a:solidFill>
            <a:prstDash val="dash"/>
          </a:ln>
        </p:spPr>
      </p:sp>
      <p:sp>
        <p:nvSpPr>
          <p:cNvPr id="29" name="Text 27"/>
          <p:cNvSpPr/>
          <p:nvPr/>
        </p:nvSpPr>
        <p:spPr>
          <a:xfrm>
            <a:off x="1911096" y="3017520"/>
            <a:ext cx="6035040" cy="228600"/>
          </a:xfrm>
          <a:prstGeom prst="rect">
            <a:avLst/>
          </a:prstGeom>
          <a:noFill/>
          <a:ln/>
        </p:spPr>
        <p:txBody>
          <a:bodyPr wrap="square" lIns="0" tIns="0" rIns="0" bIns="0" rtlCol="0" anchor="t">
            <a:normAutofit/>
          </a:bodyPr>
          <a:lstStyle/>
          <a:p>
            <a:pPr indent="0" marL="0">
              <a:buNone/>
            </a:pPr>
            <a:r>
              <a:rPr lang="en-US" sz="900" spc="150" kern="0" dirty="0">
                <a:solidFill>
                  <a:srgbClr val="C3ACE5"/>
                </a:solidFill>
                <a:latin typeface="Arial" pitchFamily="34" charset="0"/>
                <a:ea typeface="Arial" pitchFamily="34" charset="-122"/>
                <a:cs typeface="Arial" pitchFamily="34" charset="-120"/>
              </a:rPr>
              <a:t>MAIN ART 15 PENDING</a:t>
            </a:r>
            <a:endParaRPr lang="en-US" sz="900" dirty="0"/>
          </a:p>
        </p:txBody>
      </p:sp>
      <p:sp>
        <p:nvSpPr>
          <p:cNvPr id="30" name="Text 28"/>
          <p:cNvSpPr/>
          <p:nvPr/>
        </p:nvSpPr>
        <p:spPr>
          <a:xfrm>
            <a:off x="1911096" y="3547872"/>
            <a:ext cx="6035040" cy="548640"/>
          </a:xfrm>
          <a:prstGeom prst="rect">
            <a:avLst/>
          </a:prstGeom>
          <a:noFill/>
          <a:ln/>
        </p:spPr>
        <p:txBody>
          <a:bodyPr wrap="square" lIns="0" tIns="0" rIns="0" bIns="0" rtlCol="0" anchor="t">
            <a:normAutofit/>
          </a:bodyPr>
          <a:lstStyle/>
          <a:p>
            <a:pPr indent="0" marL="0">
              <a:buNone/>
            </a:pPr>
            <a:r>
              <a:rPr lang="en-US" sz="2600" dirty="0">
                <a:solidFill>
                  <a:srgbClr val="ECDED6"/>
                </a:solidFill>
                <a:latin typeface="Georgia" pitchFamily="34" charset="0"/>
                <a:ea typeface="Georgia" pitchFamily="34" charset="-122"/>
                <a:cs typeface="Georgia" pitchFamily="34" charset="-120"/>
              </a:rPr>
              <a:t>A frame for a future illustration.</a:t>
            </a:r>
            <a:endParaRPr lang="en-US" sz="2600" dirty="0"/>
          </a:p>
        </p:txBody>
      </p:sp>
      <p:sp>
        <p:nvSpPr>
          <p:cNvPr id="31" name="Text 29"/>
          <p:cNvSpPr/>
          <p:nvPr/>
        </p:nvSpPr>
        <p:spPr>
          <a:xfrm>
            <a:off x="1911096" y="4343400"/>
            <a:ext cx="6035040" cy="594360"/>
          </a:xfrm>
          <a:prstGeom prst="rect">
            <a:avLst/>
          </a:prstGeom>
          <a:noFill/>
          <a:ln/>
        </p:spPr>
        <p:txBody>
          <a:bodyPr wrap="square" lIns="0" tIns="0" rIns="0" bIns="0" rtlCol="0" anchor="t">
            <a:normAutofit/>
          </a:bodyPr>
          <a:lstStyle/>
          <a:p>
            <a:pPr indent="0" marL="0">
              <a:buNone/>
            </a:pPr>
            <a:r>
              <a:rPr lang="en-US" sz="1100" dirty="0">
                <a:solidFill>
                  <a:srgbClr val="C0AAB9"/>
                </a:solidFill>
                <a:latin typeface="Arial" pitchFamily="34" charset="0"/>
                <a:ea typeface="Arial" pitchFamily="34" charset="-122"/>
                <a:cs typeface="Arial" pitchFamily="34" charset="-120"/>
              </a:rPr>
              <a:t>This typographic placeholder is not a primary artwork. 14 of 15 independent illustrations are present.</a:t>
            </a:r>
            <a:endParaRPr lang="en-US" sz="1100" dirty="0"/>
          </a:p>
        </p:txBody>
      </p:sp>
      <p:sp>
        <p:nvSpPr>
          <p:cNvPr id="32" name="Text 30"/>
          <p:cNvSpPr/>
          <p:nvPr/>
        </p:nvSpPr>
        <p:spPr>
          <a:xfrm>
            <a:off x="1499616" y="6007608"/>
            <a:ext cx="6949440" cy="164592"/>
          </a:xfrm>
          <a:prstGeom prst="rect">
            <a:avLst/>
          </a:prstGeom>
          <a:noFill/>
          <a:ln/>
        </p:spPr>
        <p:txBody>
          <a:bodyPr wrap="square" lIns="0" tIns="0" rIns="0" bIns="0" rtlCol="0" anchor="t">
            <a:normAutofit/>
          </a:bodyPr>
          <a:lstStyle/>
          <a:p>
            <a:pPr indent="0" marL="0">
              <a:buNone/>
            </a:pPr>
            <a:r>
              <a:rPr lang="en-US" sz="650" dirty="0">
                <a:solidFill>
                  <a:srgbClr val="C0AAB9"/>
                </a:solidFill>
                <a:latin typeface="Arial" pitchFamily="34" charset="0"/>
                <a:ea typeface="Arial" pitchFamily="34" charset="-122"/>
                <a:cs typeface="Arial" pitchFamily="34" charset="-120"/>
              </a:rPr>
              <a:t>Missing main illustration / not counted as completed art</a:t>
            </a:r>
            <a:endParaRPr lang="en-US" sz="650" dirty="0"/>
          </a:p>
        </p:txBody>
      </p:sp>
      <p:sp>
        <p:nvSpPr>
          <p:cNvPr id="33" name="Text 31"/>
          <p:cNvSpPr/>
          <p:nvPr/>
        </p:nvSpPr>
        <p:spPr>
          <a:xfrm>
            <a:off x="8705088" y="2139696"/>
            <a:ext cx="4133088" cy="164592"/>
          </a:xfrm>
          <a:prstGeom prst="rect">
            <a:avLst/>
          </a:prstGeom>
          <a:noFill/>
          <a:ln/>
        </p:spPr>
        <p:txBody>
          <a:bodyPr wrap="square" lIns="0" tIns="0" rIns="0" bIns="0" rtlCol="0" anchor="t">
            <a:normAutofit/>
          </a:bodyPr>
          <a:lstStyle/>
          <a:p>
            <a:pPr indent="0" marL="0">
              <a:buNone/>
            </a:pPr>
            <a:r>
              <a:rPr lang="en-US" sz="700" spc="110" kern="0" dirty="0">
                <a:solidFill>
                  <a:srgbClr val="C3ACE5"/>
                </a:solidFill>
                <a:latin typeface="Arial" pitchFamily="34" charset="0"/>
                <a:ea typeface="Arial" pitchFamily="34" charset="-122"/>
                <a:cs typeface="Arial" pitchFamily="34" charset="-120"/>
              </a:rPr>
              <a:t>STORY INTENTION</a:t>
            </a:r>
            <a:endParaRPr lang="en-US" sz="700" dirty="0"/>
          </a:p>
        </p:txBody>
      </p:sp>
      <p:sp>
        <p:nvSpPr>
          <p:cNvPr id="34" name="Text 32"/>
          <p:cNvSpPr/>
          <p:nvPr/>
        </p:nvSpPr>
        <p:spPr>
          <a:xfrm>
            <a:off x="8705088" y="2514600"/>
            <a:ext cx="4133088" cy="1828800"/>
          </a:xfrm>
          <a:prstGeom prst="rect">
            <a:avLst/>
          </a:prstGeom>
          <a:noFill/>
          <a:ln/>
        </p:spPr>
        <p:txBody>
          <a:bodyPr wrap="square" lIns="0" tIns="0" rIns="0" bIns="0" rtlCol="0" anchor="t">
            <a:normAutofit/>
          </a:bodyPr>
          <a:lstStyle/>
          <a:p>
            <a:pPr indent="0" marL="0">
              <a:buNone/>
            </a:pPr>
            <a:r>
              <a:rPr lang="en-US" sz="1575" dirty="0">
                <a:solidFill>
                  <a:srgbClr val="ECDED6"/>
                </a:solidFill>
                <a:latin typeface="Georgia" pitchFamily="34" charset="0"/>
                <a:ea typeface="Georgia" pitchFamily="34" charset="-122"/>
                <a:cs typeface="Georgia" pitchFamily="34" charset="-120"/>
              </a:rPr>
              <a:t>A story can close while leaving room for another reading. Keep the question that still interests you. This preview contains fourteen of fifteen independent artworks; the final closing illustration remains explicitly pending, not counted as a completed illustration.</a:t>
            </a:r>
            <a:endParaRPr lang="en-US" sz="1575" dirty="0"/>
          </a:p>
        </p:txBody>
      </p:sp>
      <p:sp>
        <p:nvSpPr>
          <p:cNvPr id="35" name="Text 33"/>
          <p:cNvSpPr/>
          <p:nvPr/>
        </p:nvSpPr>
        <p:spPr>
          <a:xfrm>
            <a:off x="8705088" y="4572000"/>
            <a:ext cx="4133088" cy="164592"/>
          </a:xfrm>
          <a:prstGeom prst="rect">
            <a:avLst/>
          </a:prstGeom>
          <a:noFill/>
          <a:ln/>
        </p:spPr>
        <p:txBody>
          <a:bodyPr wrap="square" lIns="0" tIns="0" rIns="0" bIns="0" rtlCol="0" anchor="t">
            <a:normAutofit/>
          </a:bodyPr>
          <a:lstStyle/>
          <a:p>
            <a:pPr indent="0" marL="0">
              <a:buNone/>
            </a:pPr>
            <a:r>
              <a:rPr lang="en-US" sz="700" spc="110" kern="0" dirty="0">
                <a:solidFill>
                  <a:srgbClr val="C3ACE5"/>
                </a:solidFill>
                <a:latin typeface="Arial" pitchFamily="34" charset="0"/>
                <a:ea typeface="Arial" pitchFamily="34" charset="-122"/>
                <a:cs typeface="Arial" pitchFamily="34" charset="-120"/>
              </a:rPr>
              <a:t>LEAVE A QUESTION</a:t>
            </a:r>
            <a:endParaRPr lang="en-US" sz="700" dirty="0"/>
          </a:p>
        </p:txBody>
      </p:sp>
      <p:sp>
        <p:nvSpPr>
          <p:cNvPr id="36" name="Text 34"/>
          <p:cNvSpPr/>
          <p:nvPr/>
        </p:nvSpPr>
        <p:spPr>
          <a:xfrm>
            <a:off x="8705088" y="4910328"/>
            <a:ext cx="4133088" cy="822960"/>
          </a:xfrm>
          <a:prstGeom prst="rect">
            <a:avLst/>
          </a:prstGeom>
          <a:noFill/>
          <a:ln/>
        </p:spPr>
        <p:txBody>
          <a:bodyPr wrap="square" lIns="0" tIns="0" rIns="0" bIns="0" rtlCol="0" anchor="t">
            <a:normAutofit/>
          </a:bodyPr>
          <a:lstStyle/>
          <a:p>
            <a:pPr indent="0" marL="0">
              <a:buNone/>
            </a:pPr>
            <a:r>
              <a:rPr lang="en-US" sz="1875" i="1" dirty="0">
                <a:solidFill>
                  <a:srgbClr val="C3ACE5"/>
                </a:solidFill>
                <a:latin typeface="Georgia" pitchFamily="34" charset="0"/>
                <a:ea typeface="Georgia" pitchFamily="34" charset="-122"/>
                <a:cs typeface="Georgia" pitchFamily="34" charset="-120"/>
              </a:rPr>
              <a:t>Which possibility deserves the next draft?</a:t>
            </a:r>
            <a:endParaRPr lang="en-US" sz="1875" dirty="0"/>
          </a:p>
        </p:txBody>
      </p:sp>
      <p:sp>
        <p:nvSpPr>
          <p:cNvPr id="37" name="Text 35"/>
          <p:cNvSpPr/>
          <p:nvPr/>
        </p:nvSpPr>
        <p:spPr>
          <a:xfrm>
            <a:off x="8705088" y="5806440"/>
            <a:ext cx="4133088" cy="292608"/>
          </a:xfrm>
          <a:prstGeom prst="rect">
            <a:avLst/>
          </a:prstGeom>
          <a:noFill/>
          <a:ln/>
        </p:spPr>
        <p:txBody>
          <a:bodyPr wrap="square" lIns="0" tIns="0" rIns="0" bIns="0" rtlCol="0" anchor="t">
            <a:normAutofit/>
          </a:bodyPr>
          <a:lstStyle/>
          <a:p>
            <a:pPr indent="0" marL="0">
              <a:buNone/>
            </a:pPr>
            <a:r>
              <a:rPr lang="en-US" sz="700" dirty="0">
                <a:solidFill>
                  <a:srgbClr val="C0AAB9"/>
                </a:solidFill>
                <a:latin typeface="Arial" pitchFamily="34" charset="0"/>
                <a:ea typeface="Arial" pitchFamily="34" charset="-122"/>
                <a:cs typeface="Arial" pitchFamily="34" charset="-120"/>
              </a:rPr>
              <a:t>Beat order is not timing, a technical call or a show schedule.</a:t>
            </a:r>
            <a:endParaRPr lang="en-US" sz="700" dirty="0"/>
          </a:p>
        </p:txBody>
      </p:sp>
      <p:sp>
        <p:nvSpPr>
          <p:cNvPr id="38" name="Shape 36"/>
          <p:cNvSpPr/>
          <p:nvPr/>
        </p:nvSpPr>
        <p:spPr>
          <a:xfrm>
            <a:off x="1499616" y="6583680"/>
            <a:ext cx="3675888" cy="1481328"/>
          </a:xfrm>
          <a:prstGeom prst="rect">
            <a:avLst/>
          </a:prstGeom>
          <a:solidFill>
            <a:srgbClr val="292039"/>
          </a:solidFill>
          <a:ln w="8890">
            <a:solidFill>
              <a:srgbClr val="735D6D"/>
            </a:solidFill>
            <a:prstDash val="solid"/>
          </a:ln>
        </p:spPr>
      </p:sp>
      <p:sp>
        <p:nvSpPr>
          <p:cNvPr id="39" name="Text 37"/>
          <p:cNvSpPr/>
          <p:nvPr/>
        </p:nvSpPr>
        <p:spPr>
          <a:xfrm>
            <a:off x="1682496"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C3ACE5"/>
                </a:solidFill>
                <a:latin typeface="Arial" pitchFamily="34" charset="0"/>
                <a:ea typeface="Arial" pitchFamily="34" charset="-122"/>
                <a:cs typeface="Arial" pitchFamily="34" charset="-120"/>
              </a:rPr>
              <a:t>01 / NOTICE</a:t>
            </a:r>
            <a:endParaRPr lang="en-US" sz="700" dirty="0"/>
          </a:p>
        </p:txBody>
      </p:sp>
      <p:sp>
        <p:nvSpPr>
          <p:cNvPr id="40" name="Text 38"/>
          <p:cNvSpPr/>
          <p:nvPr/>
        </p:nvSpPr>
        <p:spPr>
          <a:xfrm>
            <a:off x="1682496"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The reading order ends; the creative enquiry can continue.</a:t>
            </a:r>
            <a:endParaRPr lang="en-US" sz="1500" dirty="0"/>
          </a:p>
        </p:txBody>
      </p:sp>
      <p:sp>
        <p:nvSpPr>
          <p:cNvPr id="41" name="Shape 39"/>
          <p:cNvSpPr/>
          <p:nvPr/>
        </p:nvSpPr>
        <p:spPr>
          <a:xfrm>
            <a:off x="5321808" y="6583680"/>
            <a:ext cx="3675888" cy="1481328"/>
          </a:xfrm>
          <a:prstGeom prst="rect">
            <a:avLst/>
          </a:prstGeom>
          <a:solidFill>
            <a:srgbClr val="292039"/>
          </a:solidFill>
          <a:ln w="8890">
            <a:solidFill>
              <a:srgbClr val="735D6D"/>
            </a:solidFill>
            <a:prstDash val="solid"/>
          </a:ln>
        </p:spPr>
      </p:sp>
      <p:sp>
        <p:nvSpPr>
          <p:cNvPr id="42" name="Text 40"/>
          <p:cNvSpPr/>
          <p:nvPr/>
        </p:nvSpPr>
        <p:spPr>
          <a:xfrm>
            <a:off x="5504688"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C3ACE5"/>
                </a:solidFill>
                <a:latin typeface="Arial" pitchFamily="34" charset="0"/>
                <a:ea typeface="Arial" pitchFamily="34" charset="-122"/>
                <a:cs typeface="Arial" pitchFamily="34" charset="-120"/>
              </a:rPr>
              <a:t>02 / TRY IN WORDS</a:t>
            </a:r>
            <a:endParaRPr lang="en-US" sz="700" dirty="0"/>
          </a:p>
        </p:txBody>
      </p:sp>
      <p:sp>
        <p:nvSpPr>
          <p:cNvPr id="43" name="Text 41"/>
          <p:cNvSpPr/>
          <p:nvPr/>
        </p:nvSpPr>
        <p:spPr>
          <a:xfrm>
            <a:off x="5504688"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Write one closing line and a different line you might try later.</a:t>
            </a:r>
            <a:endParaRPr lang="en-US" sz="1500" dirty="0"/>
          </a:p>
        </p:txBody>
      </p:sp>
      <p:sp>
        <p:nvSpPr>
          <p:cNvPr id="44" name="Shape 42"/>
          <p:cNvSpPr/>
          <p:nvPr/>
        </p:nvSpPr>
        <p:spPr>
          <a:xfrm>
            <a:off x="9144000" y="6583680"/>
            <a:ext cx="3675888" cy="1481328"/>
          </a:xfrm>
          <a:prstGeom prst="rect">
            <a:avLst/>
          </a:prstGeom>
          <a:solidFill>
            <a:srgbClr val="292039"/>
          </a:solidFill>
          <a:ln w="8890">
            <a:solidFill>
              <a:srgbClr val="735D6D"/>
            </a:solidFill>
            <a:prstDash val="solid"/>
          </a:ln>
        </p:spPr>
      </p:sp>
      <p:sp>
        <p:nvSpPr>
          <p:cNvPr id="45" name="Text 43"/>
          <p:cNvSpPr/>
          <p:nvPr/>
        </p:nvSpPr>
        <p:spPr>
          <a:xfrm>
            <a:off x="9326880" y="6766560"/>
            <a:ext cx="3310128" cy="164592"/>
          </a:xfrm>
          <a:prstGeom prst="rect">
            <a:avLst/>
          </a:prstGeom>
          <a:noFill/>
          <a:ln/>
        </p:spPr>
        <p:txBody>
          <a:bodyPr wrap="square" lIns="0" tIns="0" rIns="0" bIns="0" rtlCol="0" anchor="t">
            <a:normAutofit/>
          </a:bodyPr>
          <a:lstStyle/>
          <a:p>
            <a:pPr indent="0" marL="0">
              <a:buNone/>
            </a:pPr>
            <a:r>
              <a:rPr lang="en-US" sz="700" spc="100" kern="0" dirty="0">
                <a:solidFill>
                  <a:srgbClr val="C3ACE5"/>
                </a:solidFill>
                <a:latin typeface="Arial" pitchFamily="34" charset="0"/>
                <a:ea typeface="Arial" pitchFamily="34" charset="-122"/>
                <a:cs typeface="Arial" pitchFamily="34" charset="-120"/>
              </a:rPr>
              <a:t>03 / KEEP VISIBLE</a:t>
            </a:r>
            <a:endParaRPr lang="en-US" sz="700" dirty="0"/>
          </a:p>
        </p:txBody>
      </p:sp>
      <p:sp>
        <p:nvSpPr>
          <p:cNvPr id="46" name="Text 44"/>
          <p:cNvSpPr/>
          <p:nvPr/>
        </p:nvSpPr>
        <p:spPr>
          <a:xfrm>
            <a:off x="9326880" y="7132320"/>
            <a:ext cx="3310128" cy="731520"/>
          </a:xfrm>
          <a:prstGeom prst="rect">
            <a:avLst/>
          </a:prstGeom>
          <a:noFill/>
          <a:ln/>
        </p:spPr>
        <p:txBody>
          <a:bodyPr wrap="square" lIns="0" tIns="0" rIns="0" bIns="0" rtlCol="0" anchor="t">
            <a:normAutofit/>
          </a:bodyPr>
          <a:lstStyle/>
          <a:p>
            <a:pPr indent="0" marL="0">
              <a:buNone/>
            </a:pPr>
            <a:r>
              <a:rPr lang="en-US" sz="1500" dirty="0">
                <a:solidFill>
                  <a:srgbClr val="ECDED6"/>
                </a:solidFill>
                <a:latin typeface="Georgia" pitchFamily="34" charset="0"/>
                <a:ea typeface="Georgia" pitchFamily="34" charset="-122"/>
                <a:cs typeface="Georgia" pitchFamily="34" charset="-120"/>
              </a:rPr>
              <a:t>Preserve the scope, source and current draft status.</a:t>
            </a:r>
            <a:endParaRPr lang="en-US" sz="1500" dirty="0"/>
          </a:p>
        </p:txBody>
      </p:sp>
      <p:sp>
        <p:nvSpPr>
          <p:cNvPr id="47" name="Shape 45"/>
          <p:cNvSpPr/>
          <p:nvPr/>
        </p:nvSpPr>
        <p:spPr>
          <a:xfrm>
            <a:off x="1499616" y="8211312"/>
            <a:ext cx="11338560" cy="0"/>
          </a:xfrm>
          <a:prstGeom prst="line">
            <a:avLst/>
          </a:prstGeom>
          <a:noFill/>
          <a:ln w="8890">
            <a:solidFill>
              <a:srgbClr val="796170"/>
            </a:solidFill>
            <a:prstDash val="solid"/>
          </a:ln>
        </p:spPr>
      </p:sp>
      <p:sp>
        <p:nvSpPr>
          <p:cNvPr id="48" name="Text 46"/>
          <p:cNvSpPr/>
          <p:nvPr/>
        </p:nvSpPr>
        <p:spPr>
          <a:xfrm>
            <a:off x="1499616" y="8339328"/>
            <a:ext cx="8229600" cy="118872"/>
          </a:xfrm>
          <a:prstGeom prst="rect">
            <a:avLst/>
          </a:prstGeom>
          <a:noFill/>
          <a:ln/>
        </p:spPr>
        <p:txBody>
          <a:bodyPr wrap="square" lIns="0" tIns="0" rIns="0" bIns="0" rtlCol="0" anchor="t">
            <a:normAutofit/>
          </a:bodyPr>
          <a:lstStyle/>
          <a:p>
            <a:pPr indent="0" marL="0">
              <a:buNone/>
            </a:pPr>
            <a:r>
              <a:rPr lang="en-US" sz="650" dirty="0">
                <a:solidFill>
                  <a:srgbClr val="C0AAB9"/>
                </a:solidFill>
                <a:latin typeface="Arial" pitchFamily="34" charset="0"/>
                <a:ea typeface="Arial" pitchFamily="34" charset="-122"/>
                <a:cs typeface="Arial" pitchFamily="34" charset="-120"/>
              </a:rPr>
              <a:t>FICTIONAL WRITING WORKSHOP / NOT A STAGING OR APPROVAL PLAN</a:t>
            </a:r>
            <a:endParaRPr lang="en-US" sz="650" dirty="0"/>
          </a:p>
        </p:txBody>
      </p:sp>
      <p:sp>
        <p:nvSpPr>
          <p:cNvPr id="49" name="Text 47"/>
          <p:cNvSpPr/>
          <p:nvPr/>
        </p:nvSpPr>
        <p:spPr>
          <a:xfrm>
            <a:off x="9729216" y="8339328"/>
            <a:ext cx="3108960" cy="118872"/>
          </a:xfrm>
          <a:prstGeom prst="rect">
            <a:avLst/>
          </a:prstGeom>
          <a:noFill/>
          <a:ln/>
        </p:spPr>
        <p:txBody>
          <a:bodyPr wrap="square" lIns="0" tIns="0" rIns="0" bIns="0" rtlCol="0" anchor="t">
            <a:normAutofit/>
          </a:bodyPr>
          <a:lstStyle/>
          <a:p>
            <a:pPr algn="r" indent="0" marL="0">
              <a:buNone/>
            </a:pPr>
            <a:r>
              <a:rPr lang="en-US" sz="650" dirty="0">
                <a:solidFill>
                  <a:srgbClr val="C0AAB9"/>
                </a:solidFill>
                <a:latin typeface="Arial" pitchFamily="34" charset="0"/>
                <a:ea typeface="Arial" pitchFamily="34" charset="-122"/>
                <a:cs typeface="Arial" pitchFamily="34" charset="-120"/>
              </a:rPr>
              <a:t>DRAFT / 14 OF 15 ARTWORKS / 30 OF 30</a:t>
            </a:r>
            <a:endParaRPr lang="en-US" sz="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AFTERGLOW — Fictional writing workshop draft</dc:title>
  <dc:subject>30 pages / 14 of 15 primary illustrations / not a real show call sheet</dc:subject>
  <dc:creator>Design Buddy</dc:creator>
  <cp:lastModifiedBy>Design Buddy</cp:lastModifiedBy>
  <cp:revision>1</cp:revision>
  <dcterms:created xsi:type="dcterms:W3CDTF">2026-10-29T10:36:02Z</dcterms:created>
  <dcterms:modified xsi:type="dcterms:W3CDTF">2026-10-29T10:36:02Z</dcterms:modified>
</cp:coreProperties>
</file>
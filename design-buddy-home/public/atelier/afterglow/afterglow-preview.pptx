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3167360" cy="8778240"/>
  <p:notesSz cx="8778240" cy="1316736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Begin before the curtain.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F0AB8A"/>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Imagine a small theatre with no announced production. Two collaborators arrive with different memories of the same room. Let the first exchange reveal a question rather than announce a finished programme.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does one character notice that the other overlooks?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room can establish mood without establishing a plot.</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two opening lines with different priorities.</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both versions; do not vote for a winner yet.</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 OF 30</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Give the room a point of view.</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F0AB8A"/>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the auditorium through one imagined character’s attention. A worn seat might suggest familiarity to one person and neglect to another. These are narrative choices, not findings about a real venue.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Which detail changes meaning when the observer changes?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The same visible detail can carry two interpretations.</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Rewrite a room description from the second character’s view.</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Separate description from a character’s assumption.</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 OF 30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an object ask a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F0AB8A"/>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Choose a blank notebook, an empty chair or a folded coat. Give it a personal meaning within the invented story. Do not present the illustrated object as a historical artefact or an actual production prop.</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question could a closed notebook leave unanswered?</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ordinary object can hold a story’s uncertainty.</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Invent two incompatible explanations for the object.</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Leave one explanation unresolved for a later page.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3 OF 30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Start with an incomplete want.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F0AB8A"/>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character can want to be heard without knowing what to say. Write a modest desire that could change through conversation. Avoid turning a creative exercise into a diagnosis of a real participant.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would count as a small change for this invented character?</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desire is not the same as a complete plan.</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Describe the want in one sentence without naming a trait.</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character fictional and the stakes bounded.</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4 OF 30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Make an entrance meaningful.</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F0AB8A"/>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An arrival can change what people expect from a room. Imagine a late collaborator entering an otherwise quiet conversation. Explore attention and hesitation in prose, not directions for moving real performers.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expectation shifts when the third voice arrives?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new voice can alter an exchange without raising its volume.</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same entrance as welcome and as interruption.</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Compare meanings, not physical rehearsal instructions.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5 OF 30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Choose an opening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F0AB8A"/>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Look back at the five opening exercises. Select a question that leaves more than one plausible response. This local choice is a creative note, not a confirmed programme, booking or audience commitment.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Which question invites the clearest next scene?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opening can promise exploration rather than an answer.</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one-sentence invitation to the fictional story.</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the uncertainty you intentionally keep.</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6 OF 30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Set two versions side by side.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83BADF"/>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One character remembers a generous room; another remembers a room that never listened. Give each a specific fictional detail. Contrast becomes richer when neither voice is reduced to a slogan.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How can both versions feel internally plausible?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Contrasting memories need not be ranked as measured facts.</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one short memory for each imagined speaker.</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source of each claim inside the story.</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7 OF 30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Change the light in the sentence.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83BADF"/>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the same lobby first with distant violet evening, then with warm amber lamps. Use language to explore mood. The pictures are visual prompts, not a lighting specification or electrical plan.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emotional reading changes while the facts stay the same?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Colour can suggest a mood without proving an emotion.</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Replace three descriptive words, leaving the action unchanged.</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turn a colour association into a universal rule.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8 OF 30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silence have alternatives.</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83BADF"/>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sp>
        <p:nvSpPr>
          <p:cNvPr id="28" name="Shape 26"/>
          <p:cNvSpPr/>
          <p:nvPr/>
        </p:nvSpPr>
        <p:spPr>
          <a:xfrm>
            <a:off x="1499616" y="2066544"/>
            <a:ext cx="6949440" cy="3840480"/>
          </a:xfrm>
          <a:prstGeom prst="rect">
            <a:avLst/>
          </a:prstGeom>
          <a:solidFill>
            <a:srgbClr val="12253B"/>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83BADF"/>
                </a:solidFill>
                <a:latin typeface="Arial" pitchFamily="34" charset="0"/>
                <a:ea typeface="Arial" pitchFamily="34" charset="-122"/>
                <a:cs typeface="Arial" pitchFamily="34" charset="-120"/>
              </a:rPr>
              <a:t>MAIN ART 5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pause may suggest care, doubt, distraction or refusal within fiction. Write more than one reading before choosing one. No pause in this exercise measures an actual person’s intention.</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else could this fictional silence mean?</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2253B"/>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Silence does not have one dependable interpretation.</a:t>
            </a:r>
            <a:endParaRPr lang="en-US" sz="1500" dirty="0"/>
          </a:p>
        </p:txBody>
      </p:sp>
      <p:sp>
        <p:nvSpPr>
          <p:cNvPr id="41" name="Shape 39"/>
          <p:cNvSpPr/>
          <p:nvPr/>
        </p:nvSpPr>
        <p:spPr>
          <a:xfrm>
            <a:off x="5321808" y="6583680"/>
            <a:ext cx="3675888" cy="1481328"/>
          </a:xfrm>
          <a:prstGeom prst="rect">
            <a:avLst/>
          </a:prstGeom>
          <a:solidFill>
            <a:srgbClr val="12253B"/>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Draft three different thoughts beneath the same unsaid line.</a:t>
            </a:r>
            <a:endParaRPr lang="en-US" sz="1500" dirty="0"/>
          </a:p>
        </p:txBody>
      </p:sp>
      <p:sp>
        <p:nvSpPr>
          <p:cNvPr id="44" name="Shape 42"/>
          <p:cNvSpPr/>
          <p:nvPr/>
        </p:nvSpPr>
        <p:spPr>
          <a:xfrm>
            <a:off x="9144000" y="6583680"/>
            <a:ext cx="3675888" cy="1481328"/>
          </a:xfrm>
          <a:prstGeom prst="rect">
            <a:avLst/>
          </a:prstGeom>
          <a:solidFill>
            <a:srgbClr val="12253B"/>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at least two interpretations available.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9 OF 30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Offer a generous disagreement.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83BADF"/>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sp>
        <p:nvSpPr>
          <p:cNvPr id="28" name="Shape 26"/>
          <p:cNvSpPr/>
          <p:nvPr/>
        </p:nvSpPr>
        <p:spPr>
          <a:xfrm>
            <a:off x="1499616" y="2066544"/>
            <a:ext cx="6949440" cy="3840480"/>
          </a:xfrm>
          <a:prstGeom prst="rect">
            <a:avLst/>
          </a:prstGeom>
          <a:solidFill>
            <a:srgbClr val="12253B"/>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83BADF"/>
                </a:solidFill>
                <a:latin typeface="Arial" pitchFamily="34" charset="0"/>
                <a:ea typeface="Arial" pitchFamily="34" charset="-122"/>
                <a:cs typeface="Arial" pitchFamily="34" charset="-120"/>
              </a:rPr>
              <a:t>MAIN ART 5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Give two invented collaborators different priorities for a story ending. Let each acknowledge a useful part of the other’s idea. This explores dialogue rather than a procedure for resolving real workplace disputes.</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Which acknowledgement makes the disagreement more interesting?</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2253B"/>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response can recognise value without agreeing.</a:t>
            </a:r>
            <a:endParaRPr lang="en-US" sz="1500" dirty="0"/>
          </a:p>
        </p:txBody>
      </p:sp>
      <p:sp>
        <p:nvSpPr>
          <p:cNvPr id="41" name="Shape 39"/>
          <p:cNvSpPr/>
          <p:nvPr/>
        </p:nvSpPr>
        <p:spPr>
          <a:xfrm>
            <a:off x="5321808" y="6583680"/>
            <a:ext cx="3675888" cy="1481328"/>
          </a:xfrm>
          <a:prstGeom prst="rect">
            <a:avLst/>
          </a:prstGeom>
          <a:solidFill>
            <a:srgbClr val="12253B"/>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disagreement without using always or never.</a:t>
            </a:r>
            <a:endParaRPr lang="en-US" sz="1500" dirty="0"/>
          </a:p>
        </p:txBody>
      </p:sp>
      <p:sp>
        <p:nvSpPr>
          <p:cNvPr id="44" name="Shape 42"/>
          <p:cNvSpPr/>
          <p:nvPr/>
        </p:nvSpPr>
        <p:spPr>
          <a:xfrm>
            <a:off x="9144000" y="6583680"/>
            <a:ext cx="3675888" cy="1481328"/>
          </a:xfrm>
          <a:prstGeom prst="rect">
            <a:avLst/>
          </a:prstGeom>
          <a:solidFill>
            <a:srgbClr val="12253B"/>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disagreement about the imagined story.</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10 OF 30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Test a reversal of expectation.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83BADF"/>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sp>
        <p:nvSpPr>
          <p:cNvPr id="28" name="Shape 26"/>
          <p:cNvSpPr/>
          <p:nvPr/>
        </p:nvSpPr>
        <p:spPr>
          <a:xfrm>
            <a:off x="1499616" y="2066544"/>
            <a:ext cx="6949440" cy="3840480"/>
          </a:xfrm>
          <a:prstGeom prst="rect">
            <a:avLst/>
          </a:prstGeom>
          <a:solidFill>
            <a:srgbClr val="12253B"/>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83BADF"/>
                </a:solidFill>
                <a:latin typeface="Arial" pitchFamily="34" charset="0"/>
                <a:ea typeface="Arial" pitchFamily="34" charset="-122"/>
                <a:cs typeface="Arial" pitchFamily="34" charset="-120"/>
              </a:rPr>
              <a:t>MAIN ART 6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character who expected to speak finds a reason to listen. Describe a small fictional event that changes the expectation. Avoid treating surprise as a requirement for every narrative.</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new detail makes the change understandable?</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2253B"/>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reversal needs context to feel earned.</a:t>
            </a:r>
            <a:endParaRPr lang="en-US" sz="1500" dirty="0"/>
          </a:p>
        </p:txBody>
      </p:sp>
      <p:sp>
        <p:nvSpPr>
          <p:cNvPr id="41" name="Shape 39"/>
          <p:cNvSpPr/>
          <p:nvPr/>
        </p:nvSpPr>
        <p:spPr>
          <a:xfrm>
            <a:off x="5321808" y="6583680"/>
            <a:ext cx="3675888" cy="1481328"/>
          </a:xfrm>
          <a:prstGeom prst="rect">
            <a:avLst/>
          </a:prstGeom>
          <a:solidFill>
            <a:srgbClr val="12253B"/>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expected response and one plausible alternative.</a:t>
            </a:r>
            <a:endParaRPr lang="en-US" sz="1500" dirty="0"/>
          </a:p>
        </p:txBody>
      </p:sp>
      <p:sp>
        <p:nvSpPr>
          <p:cNvPr id="44" name="Shape 42"/>
          <p:cNvSpPr/>
          <p:nvPr/>
        </p:nvSpPr>
        <p:spPr>
          <a:xfrm>
            <a:off x="9144000" y="6583680"/>
            <a:ext cx="3675888" cy="1481328"/>
          </a:xfrm>
          <a:prstGeom prst="rect">
            <a:avLst/>
          </a:prstGeom>
          <a:solidFill>
            <a:srgbClr val="12253B"/>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Retain the detail connecting both versions.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11 OF 30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Name what contrast reveals.</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83BADF"/>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sp>
        <p:nvSpPr>
          <p:cNvPr id="28" name="Shape 26"/>
          <p:cNvSpPr/>
          <p:nvPr/>
        </p:nvSpPr>
        <p:spPr>
          <a:xfrm>
            <a:off x="1499616" y="2066544"/>
            <a:ext cx="6949440" cy="3840480"/>
          </a:xfrm>
          <a:prstGeom prst="rect">
            <a:avLst/>
          </a:prstGeom>
          <a:solidFill>
            <a:srgbClr val="12253B"/>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83BADF"/>
                </a:solidFill>
                <a:latin typeface="Arial" pitchFamily="34" charset="0"/>
                <a:ea typeface="Arial" pitchFamily="34" charset="-122"/>
                <a:cs typeface="Arial" pitchFamily="34" charset="-120"/>
              </a:rPr>
              <a:t>MAIN ART 6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Review this act’s paired descriptions, memories and responses. Name a tension in ordinary language. A useful creative tension opens possibilities; it does not establish a psychological fact about the people using this template.</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tension could sustain another conversation?</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2253B"/>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theme can emerge from specific choices.</a:t>
            </a:r>
            <a:endParaRPr lang="en-US" sz="1500" dirty="0"/>
          </a:p>
        </p:txBody>
      </p:sp>
      <p:sp>
        <p:nvSpPr>
          <p:cNvPr id="41" name="Shape 39"/>
          <p:cNvSpPr/>
          <p:nvPr/>
        </p:nvSpPr>
        <p:spPr>
          <a:xfrm>
            <a:off x="5321808" y="6583680"/>
            <a:ext cx="3675888" cy="1481328"/>
          </a:xfrm>
          <a:prstGeom prst="rect">
            <a:avLst/>
          </a:prstGeom>
          <a:solidFill>
            <a:srgbClr val="12253B"/>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provisional theme beginning with Perhaps.</a:t>
            </a:r>
            <a:endParaRPr lang="en-US" sz="1500" dirty="0"/>
          </a:p>
        </p:txBody>
      </p:sp>
      <p:sp>
        <p:nvSpPr>
          <p:cNvPr id="44" name="Shape 42"/>
          <p:cNvSpPr/>
          <p:nvPr/>
        </p:nvSpPr>
        <p:spPr>
          <a:xfrm>
            <a:off x="9144000" y="6583680"/>
            <a:ext cx="3675888" cy="1481328"/>
          </a:xfrm>
          <a:prstGeom prst="rect">
            <a:avLst/>
          </a:prstGeom>
          <a:solidFill>
            <a:srgbClr val="12253B"/>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Label it provisional, not the project’s approved message.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12 OF 30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Move an idea, not a person.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E7B66E"/>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7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Trace how a thought changes between two lines of dialogue. The movement here is narrative: from certainty to curiosity, or from haste to attention. The folio does not supply physical blocking or accessibility instructions.</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Which word marks the shift in the imagined exchange?</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Narrative movement is a change of understanding.</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two lines in which a confident claim becomes a question.</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change visible in the language.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13 OF 30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Use a repeated phrase carefully.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E7B66E"/>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7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Give a short phrase a different meaning when it returns. A line such as We can wait may first sound reluctant and later generous. Repetition is an optional writing device, not a guaranteed emotional effect.</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changed around the repeated words?</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Context can transform a familiar phrase.</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Place the same line in two different fictional exchanges.</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both surrounding contexts available.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14 OF 30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Make room for another voice.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E7B66E"/>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8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Introduce a third imagined perspective without asking it to represent a whole community. Give this character a specific concern and a limited view. A fictional voice is not evidence of real audience needs.</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can this new speaker know, and what can they not know?</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No single fictional speaker represents everyone.</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concern that belongs to this particular character.</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Avoid borrowing real participant details.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15 OF 30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an object return changed.</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E7B66E"/>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8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Bring back the ordinary object from the opening act. Its physical description can remain the same while a character’s understanding changes. Explore that difference in a short paragraph.</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does the character now understand differently?</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returning object can connect separate moments.</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before and after descriptions of the same notebook.</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Preserve the detail that lets readers recognise it.</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16 OF 30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a transition readable.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E7B66E"/>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9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what carries the reader from one imagined exchange to the next: a question, a remembered phrase or an unresolved choice. These are reading connections, not a timed running order for a real show.</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Why would a reader want to follow this next exchange?</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transition can connect questions rather than locations.</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Finish one scene with a question the next scene complicates.</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assign invented minutes or technical calls.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17 OF 30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Find the turn without a verdict.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E7B66E"/>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sp>
        <p:nvSpPr>
          <p:cNvPr id="28" name="Shape 26"/>
          <p:cNvSpPr/>
          <p:nvPr/>
        </p:nvSpPr>
        <p:spPr>
          <a:xfrm>
            <a:off x="1499616" y="2066544"/>
            <a:ext cx="6949440" cy="3840480"/>
          </a:xfrm>
          <a:prstGeom prst="rect">
            <a:avLst/>
          </a:prstGeom>
          <a:solidFill>
            <a:srgbClr val="30201E"/>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E7B66E"/>
                </a:solidFill>
                <a:latin typeface="Arial" pitchFamily="34" charset="0"/>
                <a:ea typeface="Arial" pitchFamily="34" charset="-122"/>
                <a:cs typeface="Arial" pitchFamily="34" charset="-120"/>
              </a:rPr>
              <a:t>MAIN ART 9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Review the changes of understanding in this act. Identify a small turning point, while leaving later consequences open. A turn can be useful without declaring that a character or community has been fixed.</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Which choice opens the richest set of consequences?</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30201E"/>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turn changes possibilities, not necessarily outcomes.</a:t>
            </a:r>
            <a:endParaRPr lang="en-US" sz="1500" dirty="0"/>
          </a:p>
        </p:txBody>
      </p:sp>
      <p:sp>
        <p:nvSpPr>
          <p:cNvPr id="41" name="Shape 39"/>
          <p:cNvSpPr/>
          <p:nvPr/>
        </p:nvSpPr>
        <p:spPr>
          <a:xfrm>
            <a:off x="5321808" y="6583680"/>
            <a:ext cx="3675888" cy="1481328"/>
          </a:xfrm>
          <a:prstGeom prst="rect">
            <a:avLst/>
          </a:prstGeom>
          <a:solidFill>
            <a:srgbClr val="30201E"/>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Describe the turn in one sentence and two possible responses.</a:t>
            </a:r>
            <a:endParaRPr lang="en-US" sz="1500" dirty="0"/>
          </a:p>
        </p:txBody>
      </p:sp>
      <p:sp>
        <p:nvSpPr>
          <p:cNvPr id="44" name="Shape 42"/>
          <p:cNvSpPr/>
          <p:nvPr/>
        </p:nvSpPr>
        <p:spPr>
          <a:xfrm>
            <a:off x="9144000" y="6583680"/>
            <a:ext cx="3675888" cy="1481328"/>
          </a:xfrm>
          <a:prstGeom prst="rect">
            <a:avLst/>
          </a:prstGeom>
          <a:solidFill>
            <a:srgbClr val="30201E"/>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alternatives separate from the chosen draft.</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18 OF 30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19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Read a draft as a draft.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9BC4A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10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Return to one earlier passage and mark what is clear, ambiguous or missing. These are local creative observations. They are not an official review, performer assessment or permission to produce a show.</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ambiguity is intentional, and which is accidental?</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local mark records a question, not approval.</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Use try, revise or park to record your own next step.</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reason for a mark in the private note.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19 OF 30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Revise one thing at a time.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9BC4A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10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Choose a single sentence, object detail or reply to change. Compare the before and after versions against a stated creative intention. This is a writing comparison, not a claim that a real audience has responded better.</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What change are you actually testing in this draft?</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narrow revision makes comparison easier to explain.</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intention before changing the sentence.</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Retain the earlier version outside this local page if needed.</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20 OF 30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Distinguish taste from intention.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9BC4A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11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reader can dislike a choice that still serves the intended story, or enjoy a choice that distracts from it. Note the difference without pretending taste is a measured audience verdict.</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Does this note describe preference, clarity or the stated aim?</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Different kinds of feedback call for different questions.</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Rewrite one vague judgement as a specific creative question.</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invent audience survey results.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21 OF 30</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the unused possibility.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9BC4A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11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discarded line can remain useful as an alternative. Park it rather than rewriting the project’s history as though only one version existed. Browser-local marks are a convenience, not a version-control system.</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What future question might make this version useful again?</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unused draft is not necessarily a failed draft.</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brief label explaining why you parked an idea.</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Export your record before clearing local storage.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22 OF 30</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Return to the story’s boundary.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9BC4A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12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Check that the imagined exercise still fits its original scope. The folio supplies no venue permissions, participant consent process, technical staging plan or production budget. Those would require separate responsible work.</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question belongs outside this creative folio?</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evocative illustration is not an operational plan.</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one creative choice and one separate production question.</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record sensitive personal information here.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23 OF 30</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Choose a revision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9BC4A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sp>
        <p:nvSpPr>
          <p:cNvPr id="28" name="Shape 26"/>
          <p:cNvSpPr/>
          <p:nvPr/>
        </p:nvSpPr>
        <p:spPr>
          <a:xfrm>
            <a:off x="1499616" y="2066544"/>
            <a:ext cx="6949440" cy="3840480"/>
          </a:xfrm>
          <a:prstGeom prst="rect">
            <a:avLst/>
          </a:prstGeom>
          <a:solidFill>
            <a:srgbClr val="182D2C"/>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9BC4A8"/>
                </a:solidFill>
                <a:latin typeface="Arial" pitchFamily="34" charset="0"/>
                <a:ea typeface="Arial" pitchFamily="34" charset="-122"/>
                <a:cs typeface="Arial" pitchFamily="34" charset="-120"/>
              </a:rPr>
              <a:t>MAIN ART 12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Gather the open creative notes without turning them into a promise that the story is ready for a real stage. Choose one question to carry into the handoff act. Keep unresolved alternatives visible.</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question would help another writer respond usefully?</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182D2C"/>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handoff can be ready for discussion, not for production.</a:t>
            </a:r>
            <a:endParaRPr lang="en-US" sz="1500" dirty="0"/>
          </a:p>
        </p:txBody>
      </p:sp>
      <p:sp>
        <p:nvSpPr>
          <p:cNvPr id="41" name="Shape 39"/>
          <p:cNvSpPr/>
          <p:nvPr/>
        </p:nvSpPr>
        <p:spPr>
          <a:xfrm>
            <a:off x="5321808" y="6583680"/>
            <a:ext cx="3675888" cy="1481328"/>
          </a:xfrm>
          <a:prstGeom prst="rect">
            <a:avLst/>
          </a:prstGeom>
          <a:solidFill>
            <a:srgbClr val="182D2C"/>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question that another reader can answer from the draft.</a:t>
            </a:r>
            <a:endParaRPr lang="en-US" sz="1500" dirty="0"/>
          </a:p>
        </p:txBody>
      </p:sp>
      <p:sp>
        <p:nvSpPr>
          <p:cNvPr id="44" name="Shape 42"/>
          <p:cNvSpPr/>
          <p:nvPr/>
        </p:nvSpPr>
        <p:spPr>
          <a:xfrm>
            <a:off x="9144000" y="6583680"/>
            <a:ext cx="3675888" cy="1481328"/>
          </a:xfrm>
          <a:prstGeom prst="rect">
            <a:avLst/>
          </a:prstGeom>
          <a:solidFill>
            <a:srgbClr val="182D2C"/>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what the reader would need that is not supplied.</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24 OF 30</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Introduce the draft honestly.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C3ACE5"/>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13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Tell the next reader what this fictional exercise explores and what remains undecided. State that the pictures are illustrations and the beat order is a reading sequence. No actual event or production is announced.</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should the reader know before opening the folio?</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Context belongs with the draft, not only in a conversation.</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two-sentence introduction including one limitation.</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fictional status visible in shared exports.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25 OF 30</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Separate a choice from a promise.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C3ACE5"/>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13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provisional creative choice is not a booking, contract, funding commitment or accessibility approval. Describe a preferred story direction without implying that real arrangements have been made.</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word could accidentally imply an external commitment?</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Creative intention and external permission are different.</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Replace a promise with a bounded provisional statement.</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Leave operational decisions to a separate real process.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26 OF 30</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Send the version you mean.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C3ACE5"/>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14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Current HTML includes your edited text, local marks and private note. JSON records the editable state. Original PDF/PPTX are fixed exports, not automatically revised by this browser.</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export matches the state you intend to share?</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Current exports and original downloads are different versions.</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Check the title and local mark before exporting.</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include private notes you do not intend to share.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27 OF 30</a:t>
            </a:r>
            <a:endParaRPr lang="en-US" sz="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Leave a useful open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C3ACE5"/>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14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good handoff invites a response without asking the next reader to guess the intention. Connect a specific passage to a specific question, and explain what kind of creative response would help.</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response would help you write the next version?</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bounded question is easier to answer than Is it good?</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Ask about one moment of clarity or one plausible alternative.</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request about the draft, not the reader’s identity.</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28 OF 30</a:t>
            </a:r>
            <a:endParaRPr lang="en-US" sz="6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the workshop fictional.</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C3ACE5"/>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15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The folio can organise a personal writing exercise, but it does not verify consent, permissions, funding, access or a venue’s readiness. No real participant data is needed in its browser-local notes.</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separate responsible work would a real event require?</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Creative structure is not a real-world approval system.</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State the difference between this exercise and an actual event.</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Use no personal identifiers in the exported note.</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29 OF 30</a:t>
            </a:r>
            <a:endParaRPr lang="en-US" sz="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30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Close with another possibility.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C3ACE5"/>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sp>
        <p:nvSpPr>
          <p:cNvPr id="28" name="Shape 26"/>
          <p:cNvSpPr/>
          <p:nvPr/>
        </p:nvSpPr>
        <p:spPr>
          <a:xfrm>
            <a:off x="1499616" y="2066544"/>
            <a:ext cx="6949440" cy="3840480"/>
          </a:xfrm>
          <a:prstGeom prst="rect">
            <a:avLst/>
          </a:prstGeom>
          <a:solidFill>
            <a:srgbClr val="292039"/>
          </a:solidFill>
          <a:ln w="10160">
            <a:solidFill>
              <a:srgbClr val="AC8B99"/>
            </a:solidFill>
            <a:prstDash val="dash"/>
          </a:ln>
        </p:spPr>
      </p:sp>
      <p:sp>
        <p:nvSpPr>
          <p:cNvPr id="29" name="Text 27"/>
          <p:cNvSpPr/>
          <p:nvPr/>
        </p:nvSpPr>
        <p:spPr>
          <a:xfrm>
            <a:off x="1911096" y="3017520"/>
            <a:ext cx="6035040" cy="228600"/>
          </a:xfrm>
          <a:prstGeom prst="rect">
            <a:avLst/>
          </a:prstGeom>
          <a:noFill/>
          <a:ln/>
        </p:spPr>
        <p:txBody>
          <a:bodyPr wrap="square" lIns="0" tIns="0" rIns="0" bIns="0" rtlCol="0" anchor="t">
            <a:normAutofit/>
          </a:bodyPr>
          <a:lstStyle/>
          <a:p>
            <a:pPr indent="0" marL="0">
              <a:buNone/>
            </a:pPr>
            <a:r>
              <a:rPr lang="en-US" sz="900" spc="150" kern="0" dirty="0">
                <a:solidFill>
                  <a:srgbClr val="C3ACE5"/>
                </a:solidFill>
                <a:latin typeface="Arial" pitchFamily="34" charset="0"/>
                <a:ea typeface="Arial" pitchFamily="34" charset="-122"/>
                <a:cs typeface="Arial" pitchFamily="34" charset="-120"/>
              </a:rPr>
              <a:t>MAIN ART 15 PENDING</a:t>
            </a:r>
            <a:endParaRPr lang="en-US" sz="900" dirty="0"/>
          </a:p>
        </p:txBody>
      </p:sp>
      <p:sp>
        <p:nvSpPr>
          <p:cNvPr id="30" name="Text 28"/>
          <p:cNvSpPr/>
          <p:nvPr/>
        </p:nvSpPr>
        <p:spPr>
          <a:xfrm>
            <a:off x="1911096" y="3547872"/>
            <a:ext cx="6035040" cy="548640"/>
          </a:xfrm>
          <a:prstGeom prst="rect">
            <a:avLst/>
          </a:prstGeom>
          <a:noFill/>
          <a:ln/>
        </p:spPr>
        <p:txBody>
          <a:bodyPr wrap="square" lIns="0" tIns="0" rIns="0" bIns="0" rtlCol="0" anchor="t">
            <a:normAutofit/>
          </a:bodyPr>
          <a:lstStyle/>
          <a:p>
            <a:pPr indent="0" marL="0">
              <a:buNone/>
            </a:pPr>
            <a:r>
              <a:rPr lang="en-US" sz="2600" dirty="0">
                <a:solidFill>
                  <a:srgbClr val="ECDED6"/>
                </a:solidFill>
                <a:latin typeface="Georgia" pitchFamily="34" charset="0"/>
                <a:ea typeface="Georgia" pitchFamily="34" charset="-122"/>
                <a:cs typeface="Georgia" pitchFamily="34" charset="-120"/>
              </a:rPr>
              <a:t>A frame for a future illustration.</a:t>
            </a:r>
            <a:endParaRPr lang="en-US" sz="2600" dirty="0"/>
          </a:p>
        </p:txBody>
      </p:sp>
      <p:sp>
        <p:nvSpPr>
          <p:cNvPr id="31" name="Text 29"/>
          <p:cNvSpPr/>
          <p:nvPr/>
        </p:nvSpPr>
        <p:spPr>
          <a:xfrm>
            <a:off x="1911096" y="4343400"/>
            <a:ext cx="6035040" cy="594360"/>
          </a:xfrm>
          <a:prstGeom prst="rect">
            <a:avLst/>
          </a:prstGeom>
          <a:noFill/>
          <a:ln/>
        </p:spPr>
        <p:txBody>
          <a:bodyPr wrap="square" lIns="0" tIns="0" rIns="0" bIns="0" rtlCol="0" anchor="t">
            <a:normAutofit/>
          </a:bodyPr>
          <a:lstStyle/>
          <a:p>
            <a:pPr indent="0" marL="0">
              <a:buNone/>
            </a:pPr>
            <a:r>
              <a:rPr lang="en-US" sz="1100" dirty="0">
                <a:solidFill>
                  <a:srgbClr val="C0AAB9"/>
                </a:solidFill>
                <a:latin typeface="Arial" pitchFamily="34" charset="0"/>
                <a:ea typeface="Arial" pitchFamily="34" charset="-122"/>
                <a:cs typeface="Arial" pitchFamily="34" charset="-120"/>
              </a:rPr>
              <a:t>This typographic placeholder is not a primary artwork. Four of fifteen independent illustrations are present.</a:t>
            </a:r>
            <a:endParaRPr lang="en-US" sz="1100" dirty="0"/>
          </a:p>
        </p:txBody>
      </p:sp>
      <p:sp>
        <p:nvSpPr>
          <p:cNvPr id="32" name="Text 30"/>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Missing main illustration / not counted as completed art</a:t>
            </a:r>
            <a:endParaRPr lang="en-US" sz="650" dirty="0"/>
          </a:p>
        </p:txBody>
      </p:sp>
      <p:sp>
        <p:nvSpPr>
          <p:cNvPr id="33" name="Text 31"/>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4" name="Text 32"/>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story can close while leaving room for another reading. Keep the question that still interests you. This preview contains four of fifteen independent artworks; the remaining eleven are explicitly pending, not counted as completed illustrations.</a:t>
            </a:r>
            <a:endParaRPr lang="en-US" sz="1575" dirty="0"/>
          </a:p>
        </p:txBody>
      </p:sp>
      <p:sp>
        <p:nvSpPr>
          <p:cNvPr id="35" name="Text 33"/>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6" name="Text 34"/>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possibility deserves the next draft?</a:t>
            </a:r>
            <a:endParaRPr lang="en-US" sz="1875" dirty="0"/>
          </a:p>
        </p:txBody>
      </p:sp>
      <p:sp>
        <p:nvSpPr>
          <p:cNvPr id="37" name="Text 35"/>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8" name="Shape 36"/>
          <p:cNvSpPr/>
          <p:nvPr/>
        </p:nvSpPr>
        <p:spPr>
          <a:xfrm>
            <a:off x="1499616" y="6583680"/>
            <a:ext cx="3675888" cy="1481328"/>
          </a:xfrm>
          <a:prstGeom prst="rect">
            <a:avLst/>
          </a:prstGeom>
          <a:solidFill>
            <a:srgbClr val="292039"/>
          </a:solidFill>
          <a:ln w="8890">
            <a:solidFill>
              <a:srgbClr val="735D6D"/>
            </a:solidFill>
            <a:prstDash val="solid"/>
          </a:ln>
        </p:spPr>
      </p:sp>
      <p:sp>
        <p:nvSpPr>
          <p:cNvPr id="39" name="Text 37"/>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40" name="Text 38"/>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The reading order ends; the creative enquiry can continue.</a:t>
            </a:r>
            <a:endParaRPr lang="en-US" sz="1500" dirty="0"/>
          </a:p>
        </p:txBody>
      </p:sp>
      <p:sp>
        <p:nvSpPr>
          <p:cNvPr id="41" name="Shape 39"/>
          <p:cNvSpPr/>
          <p:nvPr/>
        </p:nvSpPr>
        <p:spPr>
          <a:xfrm>
            <a:off x="5321808" y="6583680"/>
            <a:ext cx="3675888" cy="1481328"/>
          </a:xfrm>
          <a:prstGeom prst="rect">
            <a:avLst/>
          </a:prstGeom>
          <a:solidFill>
            <a:srgbClr val="292039"/>
          </a:solidFill>
          <a:ln w="8890">
            <a:solidFill>
              <a:srgbClr val="735D6D"/>
            </a:solidFill>
            <a:prstDash val="solid"/>
          </a:ln>
        </p:spPr>
      </p:sp>
      <p:sp>
        <p:nvSpPr>
          <p:cNvPr id="42" name="Text 40"/>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3" name="Text 41"/>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one closing line and a different line you might try later.</a:t>
            </a:r>
            <a:endParaRPr lang="en-US" sz="1500" dirty="0"/>
          </a:p>
        </p:txBody>
      </p:sp>
      <p:sp>
        <p:nvSpPr>
          <p:cNvPr id="44" name="Shape 42"/>
          <p:cNvSpPr/>
          <p:nvPr/>
        </p:nvSpPr>
        <p:spPr>
          <a:xfrm>
            <a:off x="9144000" y="6583680"/>
            <a:ext cx="3675888" cy="1481328"/>
          </a:xfrm>
          <a:prstGeom prst="rect">
            <a:avLst/>
          </a:prstGeom>
          <a:solidFill>
            <a:srgbClr val="292039"/>
          </a:solidFill>
          <a:ln w="8890">
            <a:solidFill>
              <a:srgbClr val="735D6D"/>
            </a:solidFill>
            <a:prstDash val="solid"/>
          </a:ln>
        </p:spPr>
      </p:sp>
      <p:sp>
        <p:nvSpPr>
          <p:cNvPr id="45" name="Text 43"/>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6" name="Text 44"/>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Preserve the scope, source and current draft status.</a:t>
            </a:r>
            <a:endParaRPr lang="en-US" sz="1500" dirty="0"/>
          </a:p>
        </p:txBody>
      </p:sp>
      <p:sp>
        <p:nvSpPr>
          <p:cNvPr id="47" name="Shape 45"/>
          <p:cNvSpPr/>
          <p:nvPr/>
        </p:nvSpPr>
        <p:spPr>
          <a:xfrm>
            <a:off x="1499616" y="8211312"/>
            <a:ext cx="11338560" cy="0"/>
          </a:xfrm>
          <a:prstGeom prst="line">
            <a:avLst/>
          </a:prstGeom>
          <a:noFill/>
          <a:ln w="8890">
            <a:solidFill>
              <a:srgbClr val="796170"/>
            </a:solidFill>
            <a:prstDash val="solid"/>
          </a:ln>
        </p:spPr>
      </p:sp>
      <p:sp>
        <p:nvSpPr>
          <p:cNvPr id="48" name="Text 46"/>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9" name="Text 47"/>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DRAFT / 4 OF 15 ARTWORKS / 30 OF 30</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AFTERGLOW — Fictional writing workshop draft</dc:title>
  <dc:subject>30 pages / 4 of 15 primary illustrations / not a real show call sheet</dc:subject>
  <dc:creator>Design Buddy</dc:creator>
  <cp:lastModifiedBy>Design Buddy</cp:lastModifiedBy>
  <cp:revision>1</cp:revision>
  <dcterms:created xsi:type="dcterms:W3CDTF">2026-10-29T10:20:59Z</dcterms:created>
  <dcterms:modified xsi:type="dcterms:W3CDTF">2026-10-29T10:20:59Z</dcterms:modified>
</cp:coreProperties>
</file>
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8229600" cy="10789920"/>
  <p:notesSz cx="10789920" cy="8229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7F1F3"/>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176B83"/>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01</a:t>
            </a:r>
            <a:endParaRPr lang="en-US" sz="2300" dirty="0"/>
          </a:p>
        </p:txBody>
      </p:sp>
      <p:sp>
        <p:nvSpPr>
          <p:cNvPr id="5" name="Shape 3"/>
          <p:cNvSpPr/>
          <p:nvPr/>
        </p:nvSpPr>
        <p:spPr>
          <a:xfrm>
            <a:off x="292608" y="868680"/>
            <a:ext cx="7644384" cy="0"/>
          </a:xfrm>
          <a:prstGeom prst="line">
            <a:avLst/>
          </a:prstGeom>
          <a:noFill/>
          <a:ln w="25400">
            <a:solidFill>
              <a:srgbClr val="176B83"/>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01 / Read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A coast is a setting, not evidence.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1.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TIDELINE is an illustrated atlas for reading a small synthetic event model. The coastal scenes supply visual context only. No observer visited this fictional setting, and no count was inferred from people drawn in a picture.</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176B83"/>
          </a:solidFill>
          <a:ln w="12700">
            <a:solidFill>
              <a:srgbClr val="176B83"/>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176B83"/>
          </a:solidFill>
          <a:ln w="12700">
            <a:solidFill>
              <a:srgbClr val="176B83"/>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176B83"/>
          </a:solidFill>
          <a:ln w="12700">
            <a:solidFill>
              <a:srgbClr val="176B83"/>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176B83"/>
          </a:solidFill>
          <a:ln w="12700">
            <a:solidFill>
              <a:srgbClr val="176B83"/>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176B83"/>
          </a:solidFill>
          <a:ln w="12700">
            <a:solidFill>
              <a:srgbClr val="176B83"/>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240 invented entry events / five model day labels / three fictional segments.</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claim would exceed the evidence if these pictures were called field photographs?</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 OF 32</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7F1F3"/>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176B83"/>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02</a:t>
            </a:r>
            <a:endParaRPr lang="en-US" sz="2300" dirty="0"/>
          </a:p>
        </p:txBody>
      </p:sp>
      <p:sp>
        <p:nvSpPr>
          <p:cNvPr id="5" name="Shape 3"/>
          <p:cNvSpPr/>
          <p:nvPr/>
        </p:nvSpPr>
        <p:spPr>
          <a:xfrm>
            <a:off x="292608" y="868680"/>
            <a:ext cx="7644384" cy="0"/>
          </a:xfrm>
          <a:prstGeom prst="line">
            <a:avLst/>
          </a:prstGeom>
          <a:noFill/>
          <a:ln w="25400">
            <a:solidFill>
              <a:srgbClr val="176B83"/>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01 / Read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Count events. Do not rename them people.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1.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An entry event is one record in this teaching model. The source has no person identifier or exit record. It cannot establish unique visitors, occupancy, dwell time or whether anyone benefited from a public space.</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176B83"/>
          </a:solidFill>
          <a:ln w="12700">
            <a:solidFill>
              <a:srgbClr val="176B83"/>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176B83"/>
          </a:solidFill>
          <a:ln w="12700">
            <a:solidFill>
              <a:srgbClr val="176B83"/>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176B83"/>
          </a:solidFill>
          <a:ln w="12700">
            <a:solidFill>
              <a:srgbClr val="176B83"/>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176B83"/>
          </a:solidFill>
          <a:ln w="12700">
            <a:solidFill>
              <a:srgbClr val="176B83"/>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176B83"/>
          </a:solidFill>
          <a:ln w="12700">
            <a:solidFill>
              <a:srgbClr val="176B83"/>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Entry events ≠ unique people ≠ live occupancy.</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could the same person contribute more than one event in a real entry-count study?</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 OF 32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F1F3"/>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176B83"/>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03</a:t>
            </a:r>
            <a:endParaRPr lang="en-US" sz="2300" dirty="0"/>
          </a:p>
        </p:txBody>
      </p:sp>
      <p:sp>
        <p:nvSpPr>
          <p:cNvPr id="5" name="Shape 3"/>
          <p:cNvSpPr/>
          <p:nvPr/>
        </p:nvSpPr>
        <p:spPr>
          <a:xfrm>
            <a:off x="292608" y="868680"/>
            <a:ext cx="7644384" cy="0"/>
          </a:xfrm>
          <a:prstGeom prst="line">
            <a:avLst/>
          </a:prstGeom>
          <a:noFill/>
          <a:ln w="25400">
            <a:solidFill>
              <a:srgbClr val="176B83"/>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01 / Read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Three labels are not a real route.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2.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2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Quay, Garden Bend and Overlook are fictional segment labels. The spine diagram has no coordinates, scale, distances or verified connections. It is an index for the model, not a map to follow outdoors.</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176B83"/>
          </a:solidFill>
          <a:ln w="12700">
            <a:solidFill>
              <a:srgbClr val="176B83"/>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176B83"/>
          </a:solidFill>
          <a:ln w="12700">
            <a:solidFill>
              <a:srgbClr val="176B83"/>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176B83"/>
          </a:solidFill>
          <a:ln w="12700">
            <a:solidFill>
              <a:srgbClr val="176B83"/>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Abstract segment index / not navigational or safety information.</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information is absent from an illustrated segment spine?</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3 OF 32</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7F1F3"/>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176B83"/>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04</a:t>
            </a:r>
            <a:endParaRPr lang="en-US" sz="2300" dirty="0"/>
          </a:p>
        </p:txBody>
      </p:sp>
      <p:sp>
        <p:nvSpPr>
          <p:cNvPr id="5" name="Shape 3"/>
          <p:cNvSpPr/>
          <p:nvPr/>
        </p:nvSpPr>
        <p:spPr>
          <a:xfrm>
            <a:off x="292608" y="868680"/>
            <a:ext cx="7644384" cy="0"/>
          </a:xfrm>
          <a:prstGeom prst="line">
            <a:avLst/>
          </a:prstGeom>
          <a:noFill/>
          <a:ln w="25400">
            <a:solidFill>
              <a:srgbClr val="176B83"/>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01 / Read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The weather belongs to the illustration.</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2.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2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Blue water, rain, sunset and night scenes demonstrate varied visual backgrounds. They do not record the model’s weather, time of day or environmental conditions. Those variables are not present in the source rows.</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176B83"/>
          </a:solidFill>
          <a:ln w="12700">
            <a:solidFill>
              <a:srgbClr val="176B83"/>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176B83"/>
          </a:solidFill>
          <a:ln w="12700">
            <a:solidFill>
              <a:srgbClr val="176B83"/>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176B83"/>
          </a:solidFill>
          <a:ln w="12700">
            <a:solidFill>
              <a:srgbClr val="176B83"/>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Image mood is not a measured explanatory variable.</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should a sunset illustration not be used to explain a model count?</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4 OF 32</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4D8"/>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A45B3A"/>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05</a:t>
            </a:r>
            <a:endParaRPr lang="en-US" sz="2300" dirty="0"/>
          </a:p>
        </p:txBody>
      </p:sp>
      <p:sp>
        <p:nvSpPr>
          <p:cNvPr id="5" name="Shape 3"/>
          <p:cNvSpPr/>
          <p:nvPr/>
        </p:nvSpPr>
        <p:spPr>
          <a:xfrm>
            <a:off x="292608" y="868680"/>
            <a:ext cx="7644384" cy="0"/>
          </a:xfrm>
          <a:prstGeom prst="line">
            <a:avLst/>
          </a:prstGeom>
          <a:noFill/>
          <a:ln w="25400">
            <a:solidFill>
              <a:srgbClr val="A45B3A"/>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02 / Open the source</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One row has a small definition.</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3.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3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Each synthetic row contains an event ID, model day, fictional segment, unit and source label. The unique event ID distinguishes records, not people. The source is intentionally limited so the interpretation must stay limited too.</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A45B3A"/>
          </a:solidFill>
          <a:ln w="12700">
            <a:solidFill>
              <a:srgbClr val="A45B3A"/>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A45B3A"/>
          </a:solidFill>
          <a:ln w="12700">
            <a:solidFill>
              <a:srgbClr val="A45B3A"/>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A45B3A"/>
          </a:solidFill>
          <a:ln w="12700">
            <a:solidFill>
              <a:srgbClr val="A45B3A"/>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A45B3A"/>
          </a:solidFill>
          <a:ln w="12700">
            <a:solidFill>
              <a:srgbClr val="A45B3A"/>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A45B3A"/>
          </a:solidFill>
          <a:ln w="12700">
            <a:solidFill>
              <a:srgbClr val="A45B3A"/>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Source fields: event_id / day / segment / unit / source.</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question could not be answered from these five fields?</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5 OF 32</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4D8"/>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A45B3A"/>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06</a:t>
            </a:r>
            <a:endParaRPr lang="en-US" sz="2300" dirty="0"/>
          </a:p>
        </p:txBody>
      </p:sp>
      <p:sp>
        <p:nvSpPr>
          <p:cNvPr id="5" name="Shape 3"/>
          <p:cNvSpPr/>
          <p:nvPr/>
        </p:nvSpPr>
        <p:spPr>
          <a:xfrm>
            <a:off x="292608" y="868680"/>
            <a:ext cx="7644384" cy="0"/>
          </a:xfrm>
          <a:prstGeom prst="line">
            <a:avLst/>
          </a:prstGeom>
          <a:noFill/>
          <a:ln w="25400">
            <a:solidFill>
              <a:srgbClr val="A45B3A"/>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02 / Open the source</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A source label travels with the number.</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3.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3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All 240 rows are deterministically constructed teaching records. They are not observations, estimates of a real town or data obtained from a sensor. Keep that source label visible in charts, tables and exports.</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A45B3A"/>
          </a:solidFill>
          <a:ln w="12700">
            <a:solidFill>
              <a:srgbClr val="A45B3A"/>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A45B3A"/>
          </a:solidFill>
          <a:ln w="12700">
            <a:solidFill>
              <a:srgbClr val="A45B3A"/>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A45B3A"/>
          </a:solidFill>
          <a:ln w="12700">
            <a:solidFill>
              <a:srgbClr val="A45B3A"/>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A45B3A"/>
          </a:solidFill>
          <a:ln w="12700">
            <a:solidFill>
              <a:srgbClr val="A45B3A"/>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A45B3A"/>
          </a:solidFill>
          <a:ln w="12700">
            <a:solidFill>
              <a:srgbClr val="A45B3A"/>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Source: synthetic-teaching-model.</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would be misleading about sharing only the chart and removing its source note?</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6 OF 32</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4D8"/>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A45B3A"/>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07</a:t>
            </a:r>
            <a:endParaRPr lang="en-US" sz="2300" dirty="0"/>
          </a:p>
        </p:txBody>
      </p:sp>
      <p:sp>
        <p:nvSpPr>
          <p:cNvPr id="5" name="Shape 3"/>
          <p:cNvSpPr/>
          <p:nvPr/>
        </p:nvSpPr>
        <p:spPr>
          <a:xfrm>
            <a:off x="292608" y="868680"/>
            <a:ext cx="7644384" cy="0"/>
          </a:xfrm>
          <a:prstGeom prst="line">
            <a:avLst/>
          </a:prstGeom>
          <a:noFill/>
          <a:ln w="25400">
            <a:solidFill>
              <a:srgbClr val="A45B3A"/>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02 / Open the source</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A day label is not a full time window.</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4.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4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model supplies Monday through Friday labels but no real dates, opening hours or observation duration. Equal coverage and hourly rates cannot be verified from these rows. The day totals are invented examples, not a season or forecast.</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A45B3A"/>
          </a:solidFill>
          <a:ln w="12700">
            <a:solidFill>
              <a:srgbClr val="A45B3A"/>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A45B3A"/>
          </a:solidFill>
          <a:ln w="12700">
            <a:solidFill>
              <a:srgbClr val="A45B3A"/>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A45B3A"/>
          </a:solidFill>
          <a:ln w="12700">
            <a:solidFill>
              <a:srgbClr val="A45B3A"/>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No real date range or observation-hours denominator is supplied.</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can this source not support a reliable events-per-hour comparison?</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7 OF 32</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4D8"/>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A45B3A"/>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08</a:t>
            </a:r>
            <a:endParaRPr lang="en-US" sz="2300" dirty="0"/>
          </a:p>
        </p:txBody>
      </p:sp>
      <p:sp>
        <p:nvSpPr>
          <p:cNvPr id="5" name="Shape 3"/>
          <p:cNvSpPr/>
          <p:nvPr/>
        </p:nvSpPr>
        <p:spPr>
          <a:xfrm>
            <a:off x="292608" y="868680"/>
            <a:ext cx="7644384" cy="0"/>
          </a:xfrm>
          <a:prstGeom prst="line">
            <a:avLst/>
          </a:prstGeom>
          <a:noFill/>
          <a:ln w="25400">
            <a:solidFill>
              <a:srgbClr val="A45B3A"/>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02 / Open the source</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Two margins, one set of records.</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4.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4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Daily totals and segment totals both describe the same 240 model events. They are two summaries of one constructed joint allocation, not independent observation campaigns or evidence that day and location are empirically independent.</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A45B3A"/>
          </a:solidFill>
          <a:ln w="12700">
            <a:solidFill>
              <a:srgbClr val="A45B3A"/>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A45B3A"/>
          </a:solidFill>
          <a:ln w="12700">
            <a:solidFill>
              <a:srgbClr val="A45B3A"/>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A45B3A"/>
          </a:solidFill>
          <a:ln w="12700">
            <a:solidFill>
              <a:srgbClr val="A45B3A"/>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42+50+46+58+44 = 70+80+90 = 240.</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mistake would be made by adding the two grand totals together?</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8 OF 32</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EEE9"/>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B56"/>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09</a:t>
            </a:r>
            <a:endParaRPr lang="en-US" sz="2300" dirty="0"/>
          </a:p>
        </p:txBody>
      </p:sp>
      <p:sp>
        <p:nvSpPr>
          <p:cNvPr id="5" name="Shape 3"/>
          <p:cNvSpPr/>
          <p:nvPr/>
        </p:nvSpPr>
        <p:spPr>
          <a:xfrm>
            <a:off x="292608" y="868680"/>
            <a:ext cx="7644384" cy="0"/>
          </a:xfrm>
          <a:prstGeom prst="line">
            <a:avLst/>
          </a:prstGeom>
          <a:noFill/>
          <a:ln w="25400">
            <a:solidFill>
              <a:srgbClr val="2F6B56"/>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03 / Compare model days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Monday starts at 42.</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5.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5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Monday contributes 42 events in the full teaching model. Tuesday contributes 50, a difference of eight events. The source contains no programme, weather or closure variables that explain this invented difference.</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2F6B56"/>
          </a:solidFill>
          <a:ln w="12700">
            <a:solidFill>
              <a:srgbClr val="2F6B56"/>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2F6B56"/>
          </a:solidFill>
          <a:ln w="12700">
            <a:solidFill>
              <a:srgbClr val="2F6B56"/>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2F6B56"/>
          </a:solidFill>
          <a:ln w="12700">
            <a:solidFill>
              <a:srgbClr val="2F6B56"/>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2F6B56"/>
          </a:solidFill>
          <a:ln w="12700">
            <a:solidFill>
              <a:srgbClr val="2F6B56"/>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2F6B56"/>
          </a:solidFill>
          <a:ln w="12700">
            <a:solidFill>
              <a:srgbClr val="2F6B56"/>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50 − 42 = 8 model events; cause not supplied.</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context would a real comparison need before offering an explanation?</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9 OF 32</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3EEE9"/>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B56"/>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10</a:t>
            </a:r>
            <a:endParaRPr lang="en-US" sz="2300" dirty="0"/>
          </a:p>
        </p:txBody>
      </p:sp>
      <p:sp>
        <p:nvSpPr>
          <p:cNvPr id="5" name="Shape 3"/>
          <p:cNvSpPr/>
          <p:nvPr/>
        </p:nvSpPr>
        <p:spPr>
          <a:xfrm>
            <a:off x="292608" y="868680"/>
            <a:ext cx="7644384" cy="0"/>
          </a:xfrm>
          <a:prstGeom prst="line">
            <a:avLst/>
          </a:prstGeom>
          <a:noFill/>
          <a:ln w="25400">
            <a:solidFill>
              <a:srgbClr val="2F6B56"/>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03 / Compare model days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Wednesday is 46, not automatically typical.</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5.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5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A middle-of-week label does not make a day representative. Wednesday contributes 46 invented events. The model does not contain repeated weeks, seasonal variation or a sampling design from which typical demand could be established.</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2F6B56"/>
          </a:solidFill>
          <a:ln w="12700">
            <a:solidFill>
              <a:srgbClr val="2F6B56"/>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2F6B56"/>
          </a:solidFill>
          <a:ln w="12700">
            <a:solidFill>
              <a:srgbClr val="2F6B56"/>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2F6B56"/>
          </a:solidFill>
          <a:ln w="12700">
            <a:solidFill>
              <a:srgbClr val="2F6B56"/>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2F6B56"/>
          </a:solidFill>
          <a:ln w="12700">
            <a:solidFill>
              <a:srgbClr val="2F6B56"/>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2F6B56"/>
          </a:solidFill>
          <a:ln w="12700">
            <a:solidFill>
              <a:srgbClr val="2F6B56"/>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Wednesday / 46 of 240 model events.</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evidence would be needed before calling a real day typical?</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10 OF 32</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EEE9"/>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B56"/>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11</a:t>
            </a:r>
            <a:endParaRPr lang="en-US" sz="2300" dirty="0"/>
          </a:p>
        </p:txBody>
      </p:sp>
      <p:sp>
        <p:nvSpPr>
          <p:cNvPr id="5" name="Shape 3"/>
          <p:cNvSpPr/>
          <p:nvPr/>
        </p:nvSpPr>
        <p:spPr>
          <a:xfrm>
            <a:off x="292608" y="868680"/>
            <a:ext cx="7644384" cy="0"/>
          </a:xfrm>
          <a:prstGeom prst="line">
            <a:avLst/>
          </a:prstGeom>
          <a:noFill/>
          <a:ln w="25400">
            <a:solidFill>
              <a:srgbClr val="2F6B56"/>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03 / Compare model days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Thursday is largest in this set.</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6.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6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Thursday contributes 58 events, the largest of these five model totals. That bounded description does not predict the next Thursday or establish how a venue should staff a real coastal route.</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2F6B56"/>
          </a:solidFill>
          <a:ln w="12700">
            <a:solidFill>
              <a:srgbClr val="2F6B56"/>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2F6B56"/>
          </a:solidFill>
          <a:ln w="12700">
            <a:solidFill>
              <a:srgbClr val="2F6B56"/>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2F6B56"/>
          </a:solidFill>
          <a:ln w="12700">
            <a:solidFill>
              <a:srgbClr val="2F6B56"/>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58 ÷ 240 ≈ 24.17% of the full model.</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is largest in this set not the same as highest expected future demand?</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11 OF 32</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3EEE9"/>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B56"/>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12</a:t>
            </a:r>
            <a:endParaRPr lang="en-US" sz="2300" dirty="0"/>
          </a:p>
        </p:txBody>
      </p:sp>
      <p:sp>
        <p:nvSpPr>
          <p:cNvPr id="5" name="Shape 3"/>
          <p:cNvSpPr/>
          <p:nvPr/>
        </p:nvSpPr>
        <p:spPr>
          <a:xfrm>
            <a:off x="292608" y="868680"/>
            <a:ext cx="7644384" cy="0"/>
          </a:xfrm>
          <a:prstGeom prst="line">
            <a:avLst/>
          </a:prstGeom>
          <a:noFill/>
          <a:ln w="25400">
            <a:solidFill>
              <a:srgbClr val="2F6B56"/>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03 / Compare model days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A mean describes the model.</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6.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6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five full-model totals sum to 240. Dividing by five gives a mean of 48 events per model day label. This arithmetic is not a forecast, a capacity target or a count of distinct people.</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2F6B56"/>
          </a:solidFill>
          <a:ln w="12700">
            <a:solidFill>
              <a:srgbClr val="2F6B56"/>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2F6B56"/>
          </a:solidFill>
          <a:ln w="12700">
            <a:solidFill>
              <a:srgbClr val="2F6B56"/>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2F6B56"/>
          </a:solidFill>
          <a:ln w="12700">
            <a:solidFill>
              <a:srgbClr val="2F6B56"/>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240 ÷ 5 = 48 model events per day label.</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extra assumptions would be hidden by treating 48 as a real operating target?</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12 OF 32</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7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4B627D"/>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13</a:t>
            </a:r>
            <a:endParaRPr lang="en-US" sz="2300" dirty="0"/>
          </a:p>
        </p:txBody>
      </p:sp>
      <p:sp>
        <p:nvSpPr>
          <p:cNvPr id="5" name="Shape 3"/>
          <p:cNvSpPr/>
          <p:nvPr/>
        </p:nvSpPr>
        <p:spPr>
          <a:xfrm>
            <a:off x="292608" y="868680"/>
            <a:ext cx="7644384" cy="0"/>
          </a:xfrm>
          <a:prstGeom prst="line">
            <a:avLst/>
          </a:prstGeom>
          <a:noFill/>
          <a:ln w="25400">
            <a:solidFill>
              <a:srgbClr val="4B627D"/>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04 / Compare segments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Quay has 70 model events.</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7.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7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fictional Quay label contributes 70 events across the five model days. A segment total is a count for this synthetic source, not footfall density, an area-normalised measure or a description of a real path.</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4B627D"/>
          </a:solidFill>
          <a:ln w="12700">
            <a:solidFill>
              <a:srgbClr val="4B627D"/>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4B627D"/>
          </a:solidFill>
          <a:ln w="12700">
            <a:solidFill>
              <a:srgbClr val="4B627D"/>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4B627D"/>
          </a:solidFill>
          <a:ln w="12700">
            <a:solidFill>
              <a:srgbClr val="4B627D"/>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4B627D"/>
          </a:solidFill>
          <a:ln w="12700">
            <a:solidFill>
              <a:srgbClr val="4B627D"/>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4B627D"/>
          </a:solidFill>
          <a:ln w="12700">
            <a:solidFill>
              <a:srgbClr val="4B627D"/>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70 ÷ 240 ≈ 29.17% of the full model.</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denominator would be missing from an events-per-area claim?</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13 OF 32</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7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4B627D"/>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14</a:t>
            </a:r>
            <a:endParaRPr lang="en-US" sz="2300" dirty="0"/>
          </a:p>
        </p:txBody>
      </p:sp>
      <p:sp>
        <p:nvSpPr>
          <p:cNvPr id="5" name="Shape 3"/>
          <p:cNvSpPr/>
          <p:nvPr/>
        </p:nvSpPr>
        <p:spPr>
          <a:xfrm>
            <a:off x="292608" y="868680"/>
            <a:ext cx="7644384" cy="0"/>
          </a:xfrm>
          <a:prstGeom prst="line">
            <a:avLst/>
          </a:prstGeom>
          <a:noFill/>
          <a:ln w="25400">
            <a:solidFill>
              <a:srgbClr val="4B627D"/>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04 / Compare segments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Garden Bend has one third.</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7.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7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Garden Bend contributes 80 of 240 model events, exactly one third. Selecting this segment changes the plotted subset and the detail rows. The explanatory examples below the chart remain explicitly full-model teaching notes.</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4B627D"/>
          </a:solidFill>
          <a:ln w="12700">
            <a:solidFill>
              <a:srgbClr val="4B627D"/>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4B627D"/>
          </a:solidFill>
          <a:ln w="12700">
            <a:solidFill>
              <a:srgbClr val="4B627D"/>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4B627D"/>
          </a:solidFill>
          <a:ln w="12700">
            <a:solidFill>
              <a:srgbClr val="4B627D"/>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4B627D"/>
          </a:solidFill>
          <a:ln w="12700">
            <a:solidFill>
              <a:srgbClr val="4B627D"/>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4B627D"/>
          </a:solidFill>
          <a:ln w="12700">
            <a:solidFill>
              <a:srgbClr val="4B627D"/>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80 ÷ 240 = 1/3 ≈ 33.33%.</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Select Garden Bend and check that the subset total is 80, not 240.</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14 OF 32</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7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4B627D"/>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15</a:t>
            </a:r>
            <a:endParaRPr lang="en-US" sz="2300" dirty="0"/>
          </a:p>
        </p:txBody>
      </p:sp>
      <p:sp>
        <p:nvSpPr>
          <p:cNvPr id="5" name="Shape 3"/>
          <p:cNvSpPr/>
          <p:nvPr/>
        </p:nvSpPr>
        <p:spPr>
          <a:xfrm>
            <a:off x="292608" y="868680"/>
            <a:ext cx="7644384" cy="0"/>
          </a:xfrm>
          <a:prstGeom prst="line">
            <a:avLst/>
          </a:prstGeom>
          <a:noFill/>
          <a:ln w="25400">
            <a:solidFill>
              <a:srgbClr val="4B627D"/>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04 / Compare segments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Overlook is 90, not a recommendation.</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8.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8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Overlook contributes 90 model events. This is the largest of three invented segment totals. It does not establish popularity, accessibility, environmental suitability or a reason to redirect real people to an actual location.</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4B627D"/>
          </a:solidFill>
          <a:ln w="12700">
            <a:solidFill>
              <a:srgbClr val="4B627D"/>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4B627D"/>
          </a:solidFill>
          <a:ln w="12700">
            <a:solidFill>
              <a:srgbClr val="4B627D"/>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4B627D"/>
          </a:solidFill>
          <a:ln w="12700">
            <a:solidFill>
              <a:srgbClr val="4B627D"/>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90 ÷ 240 = 37.5% of the full model.</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claim about a real public space would this total not justify?</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15 OF 32</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7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4B627D"/>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16</a:t>
            </a:r>
            <a:endParaRPr lang="en-US" sz="2300" dirty="0"/>
          </a:p>
        </p:txBody>
      </p:sp>
      <p:sp>
        <p:nvSpPr>
          <p:cNvPr id="5" name="Shape 3"/>
          <p:cNvSpPr/>
          <p:nvPr/>
        </p:nvSpPr>
        <p:spPr>
          <a:xfrm>
            <a:off x="292608" y="868680"/>
            <a:ext cx="7644384" cy="0"/>
          </a:xfrm>
          <a:prstGeom prst="line">
            <a:avLst/>
          </a:prstGeom>
          <a:noFill/>
          <a:ln w="25400">
            <a:solidFill>
              <a:srgbClr val="4B627D"/>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04 / Compare segments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Shares need a visible denominator.</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8.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8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full-model segment shares sum to 100% because the three labels partition the same 240 rows. A selected segment has a different scope. Do not silently use a full-model denominator to describe a subset distribution.</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4B627D"/>
          </a:solidFill>
          <a:ln w="12700">
            <a:solidFill>
              <a:srgbClr val="4B627D"/>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4B627D"/>
          </a:solidFill>
          <a:ln w="12700">
            <a:solidFill>
              <a:srgbClr val="4B627D"/>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4B627D"/>
          </a:solidFill>
          <a:ln w="12700">
            <a:solidFill>
              <a:srgbClr val="4B627D"/>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70 + 80 + 90 = 240; full-model shares sum to 100%.</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would you write beside a percentage to make its denominator clear?</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16 OF 32</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5D5"/>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9C632F"/>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17</a:t>
            </a:r>
            <a:endParaRPr lang="en-US" sz="2300" dirty="0"/>
          </a:p>
        </p:txBody>
      </p:sp>
      <p:sp>
        <p:nvSpPr>
          <p:cNvPr id="5" name="Shape 3"/>
          <p:cNvSpPr/>
          <p:nvPr/>
        </p:nvSpPr>
        <p:spPr>
          <a:xfrm>
            <a:off x="292608" y="868680"/>
            <a:ext cx="7644384" cy="0"/>
          </a:xfrm>
          <a:prstGeom prst="line">
            <a:avLst/>
          </a:prstGeom>
          <a:noFill/>
          <a:ln w="25400">
            <a:solidFill>
              <a:srgbClr val="9C632F"/>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05 / Describe variation</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Order values before naming the middle.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9.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9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Sorting the five day totals gives 42, 44, 46, 50 and 58. The median is 46. Sorting reveals rank but removes calendar order, so keep labels available rather than pretending the ordered sequence is a time trend.</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9C632F"/>
          </a:solidFill>
          <a:ln w="12700">
            <a:solidFill>
              <a:srgbClr val="9C632F"/>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9C632F"/>
          </a:solidFill>
          <a:ln w="12700">
            <a:solidFill>
              <a:srgbClr val="9C632F"/>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9C632F"/>
          </a:solidFill>
          <a:ln w="12700">
            <a:solidFill>
              <a:srgbClr val="9C632F"/>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9C632F"/>
          </a:solidFill>
          <a:ln w="12700">
            <a:solidFill>
              <a:srgbClr val="9C632F"/>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9C632F"/>
          </a:solidFill>
          <a:ln w="12700">
            <a:solidFill>
              <a:srgbClr val="9C632F"/>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Sorted day totals: 42 / 44 / 46 / 50 / 58.</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should a sorted sequence not be drawn as a Monday-to-Friday trend?</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17 OF 32</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E5D5"/>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9C632F"/>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18</a:t>
            </a:r>
            <a:endParaRPr lang="en-US" sz="2300" dirty="0"/>
          </a:p>
        </p:txBody>
      </p:sp>
      <p:sp>
        <p:nvSpPr>
          <p:cNvPr id="5" name="Shape 3"/>
          <p:cNvSpPr/>
          <p:nvPr/>
        </p:nvSpPr>
        <p:spPr>
          <a:xfrm>
            <a:off x="292608" y="868680"/>
            <a:ext cx="7644384" cy="0"/>
          </a:xfrm>
          <a:prstGeom prst="line">
            <a:avLst/>
          </a:prstGeom>
          <a:noFill/>
          <a:ln w="25400">
            <a:solidFill>
              <a:srgbClr val="9C632F"/>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05 / Describe variation</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The range is 16 events.</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09.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9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largest full-model day is 58 and the smallest is 42. Their difference is 16. This five-value range is not a confidence interval, measurement uncertainty or a guaranteed bound on a later real observation.</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9C632F"/>
          </a:solidFill>
          <a:ln w="12700">
            <a:solidFill>
              <a:srgbClr val="9C632F"/>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9C632F"/>
          </a:solidFill>
          <a:ln w="12700">
            <a:solidFill>
              <a:srgbClr val="9C632F"/>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9C632F"/>
          </a:solidFill>
          <a:ln w="12700">
            <a:solidFill>
              <a:srgbClr val="9C632F"/>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9C632F"/>
          </a:solidFill>
          <a:ln w="12700">
            <a:solidFill>
              <a:srgbClr val="9C632F"/>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9C632F"/>
          </a:solidFill>
          <a:ln w="12700">
            <a:solidFill>
              <a:srgbClr val="9C632F"/>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58 − 42 = 16 model events.</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might a future real count fall outside this example’s range?</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18 OF 32</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E5D5"/>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9C632F"/>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19</a:t>
            </a:r>
            <a:endParaRPr lang="en-US" sz="2300" dirty="0"/>
          </a:p>
        </p:txBody>
      </p:sp>
      <p:sp>
        <p:nvSpPr>
          <p:cNvPr id="5" name="Shape 3"/>
          <p:cNvSpPr/>
          <p:nvPr/>
        </p:nvSpPr>
        <p:spPr>
          <a:xfrm>
            <a:off x="292608" y="868680"/>
            <a:ext cx="7644384" cy="0"/>
          </a:xfrm>
          <a:prstGeom prst="line">
            <a:avLst/>
          </a:prstGeom>
          <a:noFill/>
          <a:ln w="25400">
            <a:solidFill>
              <a:srgbClr val="9C632F"/>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05 / Describe variation</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Mean and median answer different summaries.</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0.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10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full-model mean is 48 and the median is 46. Their difference is a property of these invented values, not evidence that one statistic is universally better or that the source represents a real population.</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9C632F"/>
          </a:solidFill>
          <a:ln w="12700">
            <a:solidFill>
              <a:srgbClr val="9C632F"/>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9C632F"/>
          </a:solidFill>
          <a:ln w="12700">
            <a:solidFill>
              <a:srgbClr val="9C632F"/>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9C632F"/>
          </a:solidFill>
          <a:ln w="12700">
            <a:solidFill>
              <a:srgbClr val="9C632F"/>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Mean 48 / median 46 / range 16.</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parts of the original five values disappear in each summary?</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19 OF 32</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E5D5"/>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9C632F"/>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20</a:t>
            </a:r>
            <a:endParaRPr lang="en-US" sz="2300" dirty="0"/>
          </a:p>
        </p:txBody>
      </p:sp>
      <p:sp>
        <p:nvSpPr>
          <p:cNvPr id="5" name="Shape 3"/>
          <p:cNvSpPr/>
          <p:nvPr/>
        </p:nvSpPr>
        <p:spPr>
          <a:xfrm>
            <a:off x="292608" y="868680"/>
            <a:ext cx="7644384" cy="0"/>
          </a:xfrm>
          <a:prstGeom prst="line">
            <a:avLst/>
          </a:prstGeom>
          <a:noFill/>
          <a:ln w="25400">
            <a:solidFill>
              <a:srgbClr val="9C632F"/>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05 / Describe variation</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A filter is a scope change.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0.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10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segment selector recalculates the actual plotted counts, KPI total and source rows. It does not collect new evidence or change the underlying source. Read the chart scope label before comparing a subset with the full model.</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9C632F"/>
          </a:solidFill>
          <a:ln w="12700">
            <a:solidFill>
              <a:srgbClr val="9C632F"/>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9C632F"/>
          </a:solidFill>
          <a:ln w="12700">
            <a:solidFill>
              <a:srgbClr val="9C632F"/>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9C632F"/>
          </a:solidFill>
          <a:ln w="12700">
            <a:solidFill>
              <a:srgbClr val="9C632F"/>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Chart and table follow the selector; prose remains full-model teaching context.</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Select Overlook and verify that its 90 rows reconcile with the chart.</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20 OF 32</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FE9EC"/>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475"/>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21</a:t>
            </a:r>
            <a:endParaRPr lang="en-US" sz="2300" dirty="0"/>
          </a:p>
        </p:txBody>
      </p:sp>
      <p:sp>
        <p:nvSpPr>
          <p:cNvPr id="5" name="Shape 3"/>
          <p:cNvSpPr/>
          <p:nvPr/>
        </p:nvSpPr>
        <p:spPr>
          <a:xfrm>
            <a:off x="292608" y="868680"/>
            <a:ext cx="7644384" cy="0"/>
          </a:xfrm>
          <a:prstGeom prst="line">
            <a:avLst/>
          </a:prstGeom>
          <a:noFill/>
          <a:ln w="25400">
            <a:solidFill>
              <a:srgbClr val="2F6475"/>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06 / Inspect the ledger</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The table is the chart’s source.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1.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11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source dialog displays the selected synthetic rows in pages of 25. Pagination is a viewing aid, not a different dataset. For Overlook, four pages contain 25, 25, 25 and 15 rows.</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2F6475"/>
          </a:solidFill>
          <a:ln w="12700">
            <a:solidFill>
              <a:srgbClr val="2F6475"/>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2F6475"/>
          </a:solidFill>
          <a:ln w="12700">
            <a:solidFill>
              <a:srgbClr val="2F6475"/>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2F6475"/>
          </a:solidFill>
          <a:ln w="12700">
            <a:solidFill>
              <a:srgbClr val="2F6475"/>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2F6475"/>
          </a:solidFill>
          <a:ln w="12700">
            <a:solidFill>
              <a:srgbClr val="2F6475"/>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2F6475"/>
          </a:solidFill>
          <a:ln w="12700">
            <a:solidFill>
              <a:srgbClr val="2F6475"/>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Overlook subset: 90 rows / four pages at 25 rows per page.</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does the final short table page not indicate missing events?</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21 OF 32</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FE9EC"/>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475"/>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22</a:t>
            </a:r>
            <a:endParaRPr lang="en-US" sz="2300" dirty="0"/>
          </a:p>
        </p:txBody>
      </p:sp>
      <p:sp>
        <p:nvSpPr>
          <p:cNvPr id="5" name="Shape 3"/>
          <p:cNvSpPr/>
          <p:nvPr/>
        </p:nvSpPr>
        <p:spPr>
          <a:xfrm>
            <a:off x="292608" y="868680"/>
            <a:ext cx="7644384" cy="0"/>
          </a:xfrm>
          <a:prstGeom prst="line">
            <a:avLst/>
          </a:prstGeom>
          <a:noFill/>
          <a:ln w="25400">
            <a:solidFill>
              <a:srgbClr val="2F6475"/>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06 / Inspect the ledger</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Export the selected rows honestly.</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1.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11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Filtered CSV includes exactly the selected segment’s rows and the same source/unit fields as the full model. It is a portable teaching dataset, not a download of real visitor records or confidential participant data.</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2F6475"/>
          </a:solidFill>
          <a:ln w="12700">
            <a:solidFill>
              <a:srgbClr val="2F6475"/>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2F6475"/>
          </a:solidFill>
          <a:ln w="12700">
            <a:solidFill>
              <a:srgbClr val="2F6475"/>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2F6475"/>
          </a:solidFill>
          <a:ln w="12700">
            <a:solidFill>
              <a:srgbClr val="2F6475"/>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2F6475"/>
          </a:solidFill>
          <a:ln w="12700">
            <a:solidFill>
              <a:srgbClr val="2F6475"/>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2F6475"/>
          </a:solidFill>
          <a:ln w="12700">
            <a:solidFill>
              <a:srgbClr val="2F6475"/>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CSV scope matches the visible segment selector.</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label should stay attached when this CSV is shared separately?</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22 OF 32</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FE9EC"/>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475"/>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23</a:t>
            </a:r>
            <a:endParaRPr lang="en-US" sz="2300" dirty="0"/>
          </a:p>
        </p:txBody>
      </p:sp>
      <p:sp>
        <p:nvSpPr>
          <p:cNvPr id="5" name="Shape 3"/>
          <p:cNvSpPr/>
          <p:nvPr/>
        </p:nvSpPr>
        <p:spPr>
          <a:xfrm>
            <a:off x="292608" y="868680"/>
            <a:ext cx="7644384" cy="0"/>
          </a:xfrm>
          <a:prstGeom prst="line">
            <a:avLst/>
          </a:prstGeom>
          <a:noFill/>
          <a:ln w="25400">
            <a:solidFill>
              <a:srgbClr val="2F6475"/>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06 / Inspect the ledger</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Missing is not observed zero.</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2.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12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source supplies no weekend, hours, exits or identity fields. An absent variable or period is not an observed zero. Keep the boundary explicit instead of filling a table with invented certainty.</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2F6475"/>
          </a:solidFill>
          <a:ln w="12700">
            <a:solidFill>
              <a:srgbClr val="2F6475"/>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2F6475"/>
          </a:solidFill>
          <a:ln w="12700">
            <a:solidFill>
              <a:srgbClr val="2F6475"/>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2F6475"/>
          </a:solidFill>
          <a:ln w="12700">
            <a:solidFill>
              <a:srgbClr val="2F6475"/>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Not supplied ≠ observed zero.</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How would you describe a weekend for which no records are provided?</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23 OF 32</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DFE9EC"/>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2F6475"/>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24</a:t>
            </a:r>
            <a:endParaRPr lang="en-US" sz="2300" dirty="0"/>
          </a:p>
        </p:txBody>
      </p:sp>
      <p:sp>
        <p:nvSpPr>
          <p:cNvPr id="5" name="Shape 3"/>
          <p:cNvSpPr/>
          <p:nvPr/>
        </p:nvSpPr>
        <p:spPr>
          <a:xfrm>
            <a:off x="292608" y="868680"/>
            <a:ext cx="7644384" cy="0"/>
          </a:xfrm>
          <a:prstGeom prst="line">
            <a:avLst/>
          </a:prstGeom>
          <a:noFill/>
          <a:ln w="25400">
            <a:solidFill>
              <a:srgbClr val="2F6475"/>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06 / Inspect the ledger</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Keep the constructed joint allocation visible.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2.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12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rows use a deterministic allocation to reconcile the stated day and segment margins. This is a teaching construction. It does not demonstrate how real locations and days relate or validate a sampling method.</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2F6475"/>
          </a:solidFill>
          <a:ln w="12700">
            <a:solidFill>
              <a:srgbClr val="2F6475"/>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2F6475"/>
          </a:solidFill>
          <a:ln w="12700">
            <a:solidFill>
              <a:srgbClr val="2F6475"/>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2F6475"/>
          </a:solidFill>
          <a:ln w="12700">
            <a:solidFill>
              <a:srgbClr val="2F6475"/>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Constructed margins / no empirical relationship claim.</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Why can the apparent day-by-segment pattern not be used as field evidence?</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24 OF 32</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AE2E6"/>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80545B"/>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25</a:t>
            </a:r>
            <a:endParaRPr lang="en-US" sz="2300" dirty="0"/>
          </a:p>
        </p:txBody>
      </p:sp>
      <p:sp>
        <p:nvSpPr>
          <p:cNvPr id="5" name="Shape 3"/>
          <p:cNvSpPr/>
          <p:nvPr/>
        </p:nvSpPr>
        <p:spPr>
          <a:xfrm>
            <a:off x="292608" y="868680"/>
            <a:ext cx="7644384" cy="0"/>
          </a:xfrm>
          <a:prstGeom prst="line">
            <a:avLst/>
          </a:prstGeom>
          <a:noFill/>
          <a:ln w="25400">
            <a:solidFill>
              <a:srgbClr val="80545B"/>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07 / Guard the claim</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A beautiful scene cannot repair missing data.</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3.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13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illustrations change weather, setting and colour palette, but none adds a measured field to the dataset. A vivid harbor image cannot supply missing duration, routes, accessibility information or a real source study.</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80545B"/>
          </a:solidFill>
          <a:ln w="12700">
            <a:solidFill>
              <a:srgbClr val="80545B"/>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80545B"/>
          </a:solidFill>
          <a:ln w="12700">
            <a:solidFill>
              <a:srgbClr val="80545B"/>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80545B"/>
          </a:solidFill>
          <a:ln w="12700">
            <a:solidFill>
              <a:srgbClr val="80545B"/>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80545B"/>
          </a:solidFill>
          <a:ln w="12700">
            <a:solidFill>
              <a:srgbClr val="80545B"/>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80545B"/>
          </a:solidFill>
          <a:ln w="12700">
            <a:solidFill>
              <a:srgbClr val="80545B"/>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Illustration and evidence serve different purposes.</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tempting story would rely on information supplied only by the artwork?</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25 OF 32</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AE2E6"/>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80545B"/>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26</a:t>
            </a:r>
            <a:endParaRPr lang="en-US" sz="2300" dirty="0"/>
          </a:p>
        </p:txBody>
      </p:sp>
      <p:sp>
        <p:nvSpPr>
          <p:cNvPr id="5" name="Shape 3"/>
          <p:cNvSpPr/>
          <p:nvPr/>
        </p:nvSpPr>
        <p:spPr>
          <a:xfrm>
            <a:off x="292608" y="868680"/>
            <a:ext cx="7644384" cy="0"/>
          </a:xfrm>
          <a:prstGeom prst="line">
            <a:avLst/>
          </a:prstGeom>
          <a:noFill/>
          <a:ln w="25400">
            <a:solidFill>
              <a:srgbClr val="80545B"/>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07 / Guard the claim</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A difference is not a cause.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3.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13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The source contains no intervention, control, randomisation or real contextual observation. Differences between days or segments therefore cannot establish the effect of a design change, programme or environmental condition.</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80545B"/>
          </a:solidFill>
          <a:ln w="12700">
            <a:solidFill>
              <a:srgbClr val="80545B"/>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80545B"/>
          </a:solidFill>
          <a:ln w="12700">
            <a:solidFill>
              <a:srgbClr val="80545B"/>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80545B"/>
          </a:solidFill>
          <a:ln w="12700">
            <a:solidFill>
              <a:srgbClr val="80545B"/>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80545B"/>
          </a:solidFill>
          <a:ln w="12700">
            <a:solidFill>
              <a:srgbClr val="80545B"/>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80545B"/>
          </a:solidFill>
          <a:ln w="12700">
            <a:solidFill>
              <a:srgbClr val="80545B"/>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No causal study or intervention data.</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makes a causal explanation stronger than a difference in counts?</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26 OF 32</a:t>
            </a:r>
            <a:endParaRPr lang="en-US" sz="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AE2E6"/>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80545B"/>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27</a:t>
            </a:r>
            <a:endParaRPr lang="en-US" sz="2300" dirty="0"/>
          </a:p>
        </p:txBody>
      </p:sp>
      <p:sp>
        <p:nvSpPr>
          <p:cNvPr id="5" name="Shape 3"/>
          <p:cNvSpPr/>
          <p:nvPr/>
        </p:nvSpPr>
        <p:spPr>
          <a:xfrm>
            <a:off x="292608" y="868680"/>
            <a:ext cx="7644384" cy="0"/>
          </a:xfrm>
          <a:prstGeom prst="line">
            <a:avLst/>
          </a:prstGeom>
          <a:noFill/>
          <a:ln w="25400">
            <a:solidFill>
              <a:srgbClr val="80545B"/>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07 / Guard the claim</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Record IDs are not person IDs.</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4.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14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MODEL identifiers label synthetic events only. The atlas provides no personal information and requires none in the private note. Browser-local storage is not a secure participant-management system or a compliance guarantee.</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80545B"/>
          </a:solidFill>
          <a:ln w="12700">
            <a:solidFill>
              <a:srgbClr val="80545B"/>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80545B"/>
          </a:solidFill>
          <a:ln w="12700">
            <a:solidFill>
              <a:srgbClr val="80545B"/>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80545B"/>
          </a:solidFill>
          <a:ln w="12700">
            <a:solidFill>
              <a:srgbClr val="80545B"/>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No person identifiers or real participant records.</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How could you write an analytic question without collecting personal details?</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27 OF 32</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E2E6"/>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80545B"/>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28</a:t>
            </a:r>
            <a:endParaRPr lang="en-US" sz="2300" dirty="0"/>
          </a:p>
        </p:txBody>
      </p:sp>
      <p:sp>
        <p:nvSpPr>
          <p:cNvPr id="5" name="Shape 3"/>
          <p:cNvSpPr/>
          <p:nvPr/>
        </p:nvSpPr>
        <p:spPr>
          <a:xfrm>
            <a:off x="292608" y="868680"/>
            <a:ext cx="7644384" cy="0"/>
          </a:xfrm>
          <a:prstGeom prst="line">
            <a:avLst/>
          </a:prstGeom>
          <a:noFill/>
          <a:ln w="25400">
            <a:solidFill>
              <a:srgbClr val="80545B"/>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07 / Guard the claim</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Real studies need a separate method.</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4.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14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A real observation project would require appropriate local review, definitions and responsible people. This template supplies no fieldwork protocol, route instructions, weather advice or permission to collect information about real users.</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80545B"/>
          </a:solidFill>
          <a:ln w="12700">
            <a:solidFill>
              <a:srgbClr val="80545B"/>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80545B"/>
          </a:solidFill>
          <a:ln w="12700">
            <a:solidFill>
              <a:srgbClr val="80545B"/>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80545B"/>
          </a:solidFill>
          <a:ln w="12700">
            <a:solidFill>
              <a:srgbClr val="80545B"/>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Teaching atlas, not an approved collection or outdoor-use plan.</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question should be referred to an appropriate real-world reviewer?</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28 OF 32</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3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385877"/>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29</a:t>
            </a:r>
            <a:endParaRPr lang="en-US" sz="2300" dirty="0"/>
          </a:p>
        </p:txBody>
      </p:sp>
      <p:sp>
        <p:nvSpPr>
          <p:cNvPr id="5" name="Shape 3"/>
          <p:cNvSpPr/>
          <p:nvPr/>
        </p:nvSpPr>
        <p:spPr>
          <a:xfrm>
            <a:off x="292608" y="868680"/>
            <a:ext cx="7644384" cy="0"/>
          </a:xfrm>
          <a:prstGeom prst="line">
            <a:avLst/>
          </a:prstGeom>
          <a:noFill/>
          <a:ln w="25400">
            <a:solidFill>
              <a:srgbClr val="385877"/>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08 / Hand over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Give the next reader the source.</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5.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15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A useful handoff states that the source is synthetic, identifies the selected scope and retains the unit. It separates what the rows show from the stories a reader might imagine from the coastal illustrations.</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385877"/>
          </a:solidFill>
          <a:ln w="12700">
            <a:solidFill>
              <a:srgbClr val="385877"/>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385877"/>
          </a:solidFill>
          <a:ln w="12700">
            <a:solidFill>
              <a:srgbClr val="385877"/>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385877"/>
          </a:solidFill>
          <a:ln w="12700">
            <a:solidFill>
              <a:srgbClr val="385877"/>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385877"/>
          </a:solidFill>
          <a:ln w="12700">
            <a:solidFill>
              <a:srgbClr val="385877"/>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385877"/>
          </a:solidFill>
          <a:ln w="12700">
            <a:solidFill>
              <a:srgbClr val="385877"/>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Source / scope / unit / limitation / next question.</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Which three labels would prevent the most common misreading of this report?</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29 OF 32</a:t>
            </a:r>
            <a:endParaRPr lang="en-US" sz="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3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385877"/>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30</a:t>
            </a:r>
            <a:endParaRPr lang="en-US" sz="2300" dirty="0"/>
          </a:p>
        </p:txBody>
      </p:sp>
      <p:sp>
        <p:nvSpPr>
          <p:cNvPr id="5" name="Shape 3"/>
          <p:cNvSpPr/>
          <p:nvPr/>
        </p:nvSpPr>
        <p:spPr>
          <a:xfrm>
            <a:off x="292608" y="868680"/>
            <a:ext cx="7644384" cy="0"/>
          </a:xfrm>
          <a:prstGeom prst="line">
            <a:avLst/>
          </a:prstGeom>
          <a:noFill/>
          <a:ln w="25400">
            <a:solidFill>
              <a:srgbClr val="385877"/>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08 / Hand over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Correct the note, not the evidence history.</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5.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15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Browser text edits change your copy of the explanation. They do not turn invented rows into observations or rewrite the original source CSV. Keep a correction’s purpose visible when sharing an edited HTML or JSON record.</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MODEL DAY</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775387" y="7964109"/>
            <a:ext cx="583753" cy="695259"/>
          </a:xfrm>
          <a:prstGeom prst="rect">
            <a:avLst/>
          </a:prstGeom>
          <a:solidFill>
            <a:srgbClr val="385877"/>
          </a:solidFill>
          <a:ln w="12700">
            <a:solidFill>
              <a:srgbClr val="385877"/>
            </a:solidFill>
            <a:prstDash val="solid"/>
          </a:ln>
        </p:spPr>
      </p:sp>
      <p:sp>
        <p:nvSpPr>
          <p:cNvPr id="31" name="Text 28"/>
          <p:cNvSpPr/>
          <p:nvPr/>
        </p:nvSpPr>
        <p:spPr>
          <a:xfrm>
            <a:off x="2587752" y="7735509"/>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42</a:t>
            </a:r>
            <a:endParaRPr lang="en-US" sz="900" dirty="0"/>
          </a:p>
        </p:txBody>
      </p:sp>
      <p:sp>
        <p:nvSpPr>
          <p:cNvPr id="32" name="Text 29"/>
          <p:cNvSpPr/>
          <p:nvPr/>
        </p:nvSpPr>
        <p:spPr>
          <a:xfrm>
            <a:off x="2587752"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Mon</a:t>
            </a:r>
            <a:endParaRPr lang="en-US" sz="700" dirty="0"/>
          </a:p>
        </p:txBody>
      </p:sp>
      <p:sp>
        <p:nvSpPr>
          <p:cNvPr id="33" name="Shape 30"/>
          <p:cNvSpPr/>
          <p:nvPr/>
        </p:nvSpPr>
        <p:spPr>
          <a:xfrm>
            <a:off x="3817803" y="7831678"/>
            <a:ext cx="583753" cy="827690"/>
          </a:xfrm>
          <a:prstGeom prst="rect">
            <a:avLst/>
          </a:prstGeom>
          <a:solidFill>
            <a:srgbClr val="385877"/>
          </a:solidFill>
          <a:ln w="12700">
            <a:solidFill>
              <a:srgbClr val="385877"/>
            </a:solidFill>
            <a:prstDash val="solid"/>
          </a:ln>
        </p:spPr>
      </p:sp>
      <p:sp>
        <p:nvSpPr>
          <p:cNvPr id="34" name="Text 31"/>
          <p:cNvSpPr/>
          <p:nvPr/>
        </p:nvSpPr>
        <p:spPr>
          <a:xfrm>
            <a:off x="3630168" y="760307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50</a:t>
            </a:r>
            <a:endParaRPr lang="en-US" sz="900" dirty="0"/>
          </a:p>
        </p:txBody>
      </p:sp>
      <p:sp>
        <p:nvSpPr>
          <p:cNvPr id="35" name="Text 32"/>
          <p:cNvSpPr/>
          <p:nvPr/>
        </p:nvSpPr>
        <p:spPr>
          <a:xfrm>
            <a:off x="3630168"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Tue</a:t>
            </a:r>
            <a:endParaRPr lang="en-US" sz="700" dirty="0"/>
          </a:p>
        </p:txBody>
      </p:sp>
      <p:sp>
        <p:nvSpPr>
          <p:cNvPr id="36" name="Shape 33"/>
          <p:cNvSpPr/>
          <p:nvPr/>
        </p:nvSpPr>
        <p:spPr>
          <a:xfrm>
            <a:off x="4860219" y="7897894"/>
            <a:ext cx="583753" cy="761474"/>
          </a:xfrm>
          <a:prstGeom prst="rect">
            <a:avLst/>
          </a:prstGeom>
          <a:solidFill>
            <a:srgbClr val="385877"/>
          </a:solidFill>
          <a:ln w="12700">
            <a:solidFill>
              <a:srgbClr val="385877"/>
            </a:solidFill>
            <a:prstDash val="solid"/>
          </a:ln>
        </p:spPr>
      </p:sp>
      <p:sp>
        <p:nvSpPr>
          <p:cNvPr id="37" name="Text 34"/>
          <p:cNvSpPr/>
          <p:nvPr/>
        </p:nvSpPr>
        <p:spPr>
          <a:xfrm>
            <a:off x="4672584" y="7669294"/>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46</a:t>
            </a:r>
            <a:endParaRPr lang="en-US" sz="900" dirty="0"/>
          </a:p>
        </p:txBody>
      </p:sp>
      <p:sp>
        <p:nvSpPr>
          <p:cNvPr id="38" name="Text 35"/>
          <p:cNvSpPr/>
          <p:nvPr/>
        </p:nvSpPr>
        <p:spPr>
          <a:xfrm>
            <a:off x="4672584"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Wed</a:t>
            </a:r>
            <a:endParaRPr lang="en-US" sz="700" dirty="0"/>
          </a:p>
        </p:txBody>
      </p:sp>
      <p:sp>
        <p:nvSpPr>
          <p:cNvPr id="39" name="Shape 36"/>
          <p:cNvSpPr/>
          <p:nvPr/>
        </p:nvSpPr>
        <p:spPr>
          <a:xfrm>
            <a:off x="5902635" y="7699248"/>
            <a:ext cx="583753" cy="960120"/>
          </a:xfrm>
          <a:prstGeom prst="rect">
            <a:avLst/>
          </a:prstGeom>
          <a:solidFill>
            <a:srgbClr val="385877"/>
          </a:solidFill>
          <a:ln w="12700">
            <a:solidFill>
              <a:srgbClr val="385877"/>
            </a:solidFill>
            <a:prstDash val="solid"/>
          </a:ln>
        </p:spPr>
      </p:sp>
      <p:sp>
        <p:nvSpPr>
          <p:cNvPr id="40" name="Text 37"/>
          <p:cNvSpPr/>
          <p:nvPr/>
        </p:nvSpPr>
        <p:spPr>
          <a:xfrm>
            <a:off x="5715000" y="7470648"/>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58</a:t>
            </a:r>
            <a:endParaRPr lang="en-US" sz="900" dirty="0"/>
          </a:p>
        </p:txBody>
      </p:sp>
      <p:sp>
        <p:nvSpPr>
          <p:cNvPr id="41" name="Text 38"/>
          <p:cNvSpPr/>
          <p:nvPr/>
        </p:nvSpPr>
        <p:spPr>
          <a:xfrm>
            <a:off x="5715000"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Thu</a:t>
            </a:r>
            <a:endParaRPr lang="en-US" sz="700" dirty="0"/>
          </a:p>
        </p:txBody>
      </p:sp>
      <p:sp>
        <p:nvSpPr>
          <p:cNvPr id="42" name="Shape 39"/>
          <p:cNvSpPr/>
          <p:nvPr/>
        </p:nvSpPr>
        <p:spPr>
          <a:xfrm>
            <a:off x="6945051" y="7931001"/>
            <a:ext cx="583753" cy="728367"/>
          </a:xfrm>
          <a:prstGeom prst="rect">
            <a:avLst/>
          </a:prstGeom>
          <a:solidFill>
            <a:srgbClr val="385877"/>
          </a:solidFill>
          <a:ln w="12700">
            <a:solidFill>
              <a:srgbClr val="385877"/>
            </a:solidFill>
            <a:prstDash val="solid"/>
          </a:ln>
        </p:spPr>
      </p:sp>
      <p:sp>
        <p:nvSpPr>
          <p:cNvPr id="43" name="Text 40"/>
          <p:cNvSpPr/>
          <p:nvPr/>
        </p:nvSpPr>
        <p:spPr>
          <a:xfrm>
            <a:off x="6757416" y="7702401"/>
            <a:ext cx="1042416" cy="164592"/>
          </a:xfrm>
          <a:prstGeom prst="rect">
            <a:avLst/>
          </a:prstGeom>
          <a:noFill/>
          <a:ln/>
        </p:spPr>
        <p:txBody>
          <a:bodyPr wrap="square" lIns="0" tIns="0" rIns="0" bIns="0" rtlCol="0" anchor="ctr"/>
          <a:lstStyle/>
          <a:p>
            <a:pPr algn="ctr" indent="0" marL="0">
              <a:buNone/>
            </a:pPr>
            <a:r>
              <a:rPr lang="en-US" sz="900" dirty="0">
                <a:solidFill>
                  <a:srgbClr val="244853"/>
                </a:solidFill>
              </a:rPr>
              <a:t>44</a:t>
            </a:r>
            <a:endParaRPr lang="en-US" sz="900" dirty="0"/>
          </a:p>
        </p:txBody>
      </p:sp>
      <p:sp>
        <p:nvSpPr>
          <p:cNvPr id="44" name="Text 41"/>
          <p:cNvSpPr/>
          <p:nvPr/>
        </p:nvSpPr>
        <p:spPr>
          <a:xfrm>
            <a:off x="6757416" y="8759952"/>
            <a:ext cx="1042416" cy="164592"/>
          </a:xfrm>
          <a:prstGeom prst="rect">
            <a:avLst/>
          </a:prstGeom>
          <a:noFill/>
          <a:ln/>
        </p:spPr>
        <p:txBody>
          <a:bodyPr wrap="square" lIns="0" tIns="0" rIns="0" bIns="0" rtlCol="0" anchor="ctr"/>
          <a:lstStyle/>
          <a:p>
            <a:pPr algn="ctr" indent="0" marL="0">
              <a:buNone/>
            </a:pPr>
            <a:r>
              <a:rPr lang="en-US" sz="700" dirty="0">
                <a:solidFill>
                  <a:srgbClr val="3B5961"/>
                </a:solidFill>
              </a:rPr>
              <a:t>Fri</a:t>
            </a:r>
            <a:endParaRPr lang="en-US" sz="700" dirty="0"/>
          </a:p>
        </p:txBody>
      </p:sp>
      <p:sp>
        <p:nvSpPr>
          <p:cNvPr id="45" name="Text 42"/>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6" name="Shape 43"/>
          <p:cNvSpPr/>
          <p:nvPr/>
        </p:nvSpPr>
        <p:spPr>
          <a:xfrm>
            <a:off x="292608" y="9336024"/>
            <a:ext cx="7644384" cy="0"/>
          </a:xfrm>
          <a:prstGeom prst="line">
            <a:avLst/>
          </a:prstGeom>
          <a:noFill/>
          <a:ln w="6350">
            <a:solidFill>
              <a:srgbClr val="9FB4B9"/>
            </a:solidFill>
            <a:prstDash val="solid"/>
          </a:ln>
        </p:spPr>
      </p:sp>
      <p:sp>
        <p:nvSpPr>
          <p:cNvPr id="47" name="Text 44"/>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Edited prose is not a new data-collection result.</a:t>
            </a:r>
            <a:endParaRPr lang="en-US" sz="900" dirty="0"/>
          </a:p>
        </p:txBody>
      </p:sp>
      <p:sp>
        <p:nvSpPr>
          <p:cNvPr id="48" name="Text 45"/>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How would you label an explanatory correction without implying new evidence?</a:t>
            </a:r>
            <a:endParaRPr lang="en-US" sz="1200" dirty="0"/>
          </a:p>
        </p:txBody>
      </p:sp>
      <p:sp>
        <p:nvSpPr>
          <p:cNvPr id="49" name="Text 46"/>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30 OF 32</a:t>
            </a:r>
            <a:endParaRPr lang="en-US" sz="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3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385877"/>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31</a:t>
            </a:r>
            <a:endParaRPr lang="en-US" sz="2300" dirty="0"/>
          </a:p>
        </p:txBody>
      </p:sp>
      <p:sp>
        <p:nvSpPr>
          <p:cNvPr id="5" name="Shape 3"/>
          <p:cNvSpPr/>
          <p:nvPr/>
        </p:nvSpPr>
        <p:spPr>
          <a:xfrm>
            <a:off x="292608" y="868680"/>
            <a:ext cx="7644384" cy="0"/>
          </a:xfrm>
          <a:prstGeom prst="line">
            <a:avLst/>
          </a:prstGeom>
          <a:noFill/>
          <a:ln w="25400">
            <a:solidFill>
              <a:srgbClr val="385877"/>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08 / Hand over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Choose the right export.</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6.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16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Current HTML preserves the selected chart scope and text edits; JSON preserves the edit record and scope. Original PDF/PPTX are unchanged full-model exports. Full source CSV/JSON remain the 240-row synthetic model.</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385877"/>
          </a:solidFill>
          <a:ln w="12700">
            <a:solidFill>
              <a:srgbClr val="385877"/>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385877"/>
          </a:solidFill>
          <a:ln w="12700">
            <a:solidFill>
              <a:srgbClr val="385877"/>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385877"/>
          </a:solidFill>
          <a:ln w="12700">
            <a:solidFill>
              <a:srgbClr val="385877"/>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Current exports ≠ original full-model exports.</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could confuse someone receiving an edited subset report and an original PDF?</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31 OF 32</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3E9EF"/>
        </a:solidFill>
      </p:bgPr>
    </p:bg>
    <p:spTree>
      <p:nvGrpSpPr>
        <p:cNvPr id="1" name=""/>
        <p:cNvGrpSpPr/>
        <p:nvPr/>
      </p:nvGrpSpPr>
      <p:grpSpPr>
        <a:xfrm>
          <a:off x="0" y="0"/>
          <a:ext cx="0" cy="0"/>
          <a:chOff x="0" y="0"/>
          <a:chExt cx="0" cy="0"/>
        </a:xfrm>
      </p:grpSpPr>
      <p:sp>
        <p:nvSpPr>
          <p:cNvPr id="2" name="Text 0"/>
          <p:cNvSpPr/>
          <p:nvPr/>
        </p:nvSpPr>
        <p:spPr>
          <a:xfrm>
            <a:off x="292608" y="292608"/>
            <a:ext cx="3840480" cy="365760"/>
          </a:xfrm>
          <a:prstGeom prst="rect">
            <a:avLst/>
          </a:prstGeom>
          <a:noFill/>
          <a:ln/>
        </p:spPr>
        <p:txBody>
          <a:bodyPr wrap="square" lIns="0" tIns="0" rIns="0" bIns="0" rtlCol="0" anchor="ctr"/>
          <a:lstStyle/>
          <a:p>
            <a:pPr indent="0" marL="0">
              <a:buNone/>
            </a:pPr>
            <a:r>
              <a:rPr lang="en-US" sz="2700" spc="200" kern="0" dirty="0">
                <a:solidFill>
                  <a:srgbClr val="385877"/>
                </a:solidFill>
                <a:latin typeface="Georgia" pitchFamily="34" charset="0"/>
                <a:ea typeface="Georgia" pitchFamily="34" charset="-122"/>
                <a:cs typeface="Georgia" pitchFamily="34" charset="-120"/>
              </a:rPr>
              <a:t>TIDELINE</a:t>
            </a:r>
            <a:endParaRPr lang="en-US" sz="2700" dirty="0"/>
          </a:p>
        </p:txBody>
      </p:sp>
      <p:sp>
        <p:nvSpPr>
          <p:cNvPr id="3" name="Text 1"/>
          <p:cNvSpPr/>
          <p:nvPr/>
        </p:nvSpPr>
        <p:spPr>
          <a:xfrm>
            <a:off x="3840480" y="384048"/>
            <a:ext cx="3383280" cy="182880"/>
          </a:xfrm>
          <a:prstGeom prst="rect">
            <a:avLst/>
          </a:prstGeom>
          <a:noFill/>
          <a:ln/>
        </p:spPr>
        <p:txBody>
          <a:bodyPr wrap="square" lIns="0" tIns="0" rIns="0" bIns="0" rtlCol="0" anchor="ctr"/>
          <a:lstStyle/>
          <a:p>
            <a:pPr indent="0" marL="0">
              <a:buNone/>
            </a:pPr>
            <a:r>
              <a:rPr lang="en-US" sz="700" dirty="0">
                <a:solidFill>
                  <a:srgbClr val="486B77"/>
                </a:solidFill>
              </a:rPr>
              <a:t>COASTAL MODEL ATLAS / SYNTHETIC EVENTS ONLY</a:t>
            </a:r>
            <a:endParaRPr lang="en-US" sz="700" dirty="0"/>
          </a:p>
        </p:txBody>
      </p:sp>
      <p:sp>
        <p:nvSpPr>
          <p:cNvPr id="4" name="Text 2"/>
          <p:cNvSpPr/>
          <p:nvPr/>
        </p:nvSpPr>
        <p:spPr>
          <a:xfrm>
            <a:off x="7360920" y="292608"/>
            <a:ext cx="548640" cy="320040"/>
          </a:xfrm>
          <a:prstGeom prst="rect">
            <a:avLst/>
          </a:prstGeom>
          <a:noFill/>
          <a:ln/>
        </p:spPr>
        <p:txBody>
          <a:bodyPr wrap="square" lIns="0" tIns="0" rIns="0" bIns="0" rtlCol="0" anchor="ctr"/>
          <a:lstStyle/>
          <a:p>
            <a:pPr algn="r" indent="0" marL="0">
              <a:buNone/>
            </a:pPr>
            <a:r>
              <a:rPr lang="en-US" sz="2300" dirty="0">
                <a:solidFill>
                  <a:srgbClr val="A86640"/>
                </a:solidFill>
                <a:latin typeface="Georgia" pitchFamily="34" charset="0"/>
                <a:ea typeface="Georgia" pitchFamily="34" charset="-122"/>
                <a:cs typeface="Georgia" pitchFamily="34" charset="-120"/>
              </a:rPr>
              <a:t>32</a:t>
            </a:r>
            <a:endParaRPr lang="en-US" sz="2300" dirty="0"/>
          </a:p>
        </p:txBody>
      </p:sp>
      <p:sp>
        <p:nvSpPr>
          <p:cNvPr id="5" name="Shape 3"/>
          <p:cNvSpPr/>
          <p:nvPr/>
        </p:nvSpPr>
        <p:spPr>
          <a:xfrm>
            <a:off x="292608" y="868680"/>
            <a:ext cx="7644384" cy="0"/>
          </a:xfrm>
          <a:prstGeom prst="line">
            <a:avLst/>
          </a:prstGeom>
          <a:noFill/>
          <a:ln w="25400">
            <a:solidFill>
              <a:srgbClr val="385877"/>
            </a:solidFill>
            <a:prstDash val="solid"/>
          </a:ln>
        </p:spPr>
      </p:sp>
      <p:sp>
        <p:nvSpPr>
          <p:cNvPr id="6" name="Text 4"/>
          <p:cNvSpPr/>
          <p:nvPr/>
        </p:nvSpPr>
        <p:spPr>
          <a:xfrm>
            <a:off x="292608" y="1024128"/>
            <a:ext cx="7644384" cy="164592"/>
          </a:xfrm>
          <a:prstGeom prst="rect">
            <a:avLst/>
          </a:prstGeom>
          <a:noFill/>
          <a:ln/>
        </p:spPr>
        <p:txBody>
          <a:bodyPr wrap="square" lIns="0" tIns="0" rIns="0" bIns="0" rtlCol="0" anchor="ctr"/>
          <a:lstStyle/>
          <a:p>
            <a:pPr indent="0" marL="0">
              <a:buNone/>
            </a:pPr>
            <a:r>
              <a:rPr lang="en-US" sz="700" dirty="0">
                <a:solidFill>
                  <a:srgbClr val="657E83"/>
                </a:solidFill>
              </a:rPr>
              <a:t>08 / Hand over the atlas</a:t>
            </a:r>
            <a:endParaRPr lang="en-US" sz="700" dirty="0"/>
          </a:p>
        </p:txBody>
      </p:sp>
      <p:sp>
        <p:nvSpPr>
          <p:cNvPr id="7" name="Text 5"/>
          <p:cNvSpPr/>
          <p:nvPr/>
        </p:nvSpPr>
        <p:spPr>
          <a:xfrm>
            <a:off x="292608" y="1344168"/>
            <a:ext cx="7644384" cy="548640"/>
          </a:xfrm>
          <a:prstGeom prst="rect">
            <a:avLst/>
          </a:prstGeom>
          <a:noFill/>
          <a:ln/>
        </p:spPr>
        <p:txBody>
          <a:bodyPr wrap="square" lIns="0" tIns="0" rIns="0" bIns="0" rtlCol="0" anchor="ctr">
            <a:normAutofit/>
          </a:bodyPr>
          <a:lstStyle/>
          <a:p>
            <a:pPr indent="0" marL="0">
              <a:buNone/>
            </a:pPr>
            <a:r>
              <a:rPr lang="en-US" sz="2500" dirty="0">
                <a:solidFill>
                  <a:srgbClr val="224B5A"/>
                </a:solidFill>
                <a:latin typeface="Georgia" pitchFamily="34" charset="0"/>
                <a:ea typeface="Georgia" pitchFamily="34" charset="-122"/>
                <a:cs typeface="Georgia" pitchFamily="34" charset="-120"/>
              </a:rPr>
              <a:t>Leave a clearer coastal question.</a:t>
            </a:r>
            <a:endParaRPr lang="en-US" sz="2500" dirty="0"/>
          </a:p>
        </p:txBody>
      </p:sp>
      <p:sp>
        <p:nvSpPr>
          <p:cNvPr id="8" name="Shape 6"/>
          <p:cNvSpPr/>
          <p:nvPr/>
        </p:nvSpPr>
        <p:spPr>
          <a:xfrm>
            <a:off x="292608" y="1975104"/>
            <a:ext cx="7644384" cy="676656"/>
          </a:xfrm>
          <a:prstGeom prst="rect">
            <a:avLst/>
          </a:prstGeom>
          <a:solidFill>
            <a:srgbClr val="173E50"/>
          </a:solidFill>
          <a:ln w="12700">
            <a:solidFill>
              <a:srgbClr val="173E50"/>
            </a:solidFill>
            <a:prstDash val="solid"/>
          </a:ln>
        </p:spPr>
      </p:sp>
      <p:sp>
        <p:nvSpPr>
          <p:cNvPr id="9" name="Text 7"/>
          <p:cNvSpPr/>
          <p:nvPr/>
        </p:nvSpPr>
        <p:spPr>
          <a:xfrm>
            <a:off x="448056"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EVENTS IN SCOPE</a:t>
            </a:r>
            <a:endParaRPr lang="en-US" sz="600" dirty="0"/>
          </a:p>
        </p:txBody>
      </p:sp>
      <p:sp>
        <p:nvSpPr>
          <p:cNvPr id="10" name="Text 8"/>
          <p:cNvSpPr/>
          <p:nvPr/>
        </p:nvSpPr>
        <p:spPr>
          <a:xfrm>
            <a:off x="448056"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240</a:t>
            </a:r>
            <a:endParaRPr lang="en-US" sz="2300" dirty="0"/>
          </a:p>
        </p:txBody>
      </p:sp>
      <p:sp>
        <p:nvSpPr>
          <p:cNvPr id="11" name="Text 9"/>
          <p:cNvSpPr/>
          <p:nvPr/>
        </p:nvSpPr>
        <p:spPr>
          <a:xfrm>
            <a:off x="2990088"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FICTIONAL SEGMENTS</a:t>
            </a:r>
            <a:endParaRPr lang="en-US" sz="600" dirty="0"/>
          </a:p>
        </p:txBody>
      </p:sp>
      <p:sp>
        <p:nvSpPr>
          <p:cNvPr id="12" name="Text 10"/>
          <p:cNvSpPr/>
          <p:nvPr/>
        </p:nvSpPr>
        <p:spPr>
          <a:xfrm>
            <a:off x="2990088"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3</a:t>
            </a:r>
            <a:endParaRPr lang="en-US" sz="2300" dirty="0"/>
          </a:p>
        </p:txBody>
      </p:sp>
      <p:sp>
        <p:nvSpPr>
          <p:cNvPr id="13" name="Text 11"/>
          <p:cNvSpPr/>
          <p:nvPr/>
        </p:nvSpPr>
        <p:spPr>
          <a:xfrm>
            <a:off x="5532120" y="2084832"/>
            <a:ext cx="2286000" cy="118872"/>
          </a:xfrm>
          <a:prstGeom prst="rect">
            <a:avLst/>
          </a:prstGeom>
          <a:noFill/>
          <a:ln/>
        </p:spPr>
        <p:txBody>
          <a:bodyPr wrap="square" lIns="0" tIns="0" rIns="0" bIns="0" rtlCol="0" anchor="ctr"/>
          <a:lstStyle/>
          <a:p>
            <a:pPr indent="0" marL="0">
              <a:buNone/>
            </a:pPr>
            <a:r>
              <a:rPr lang="en-US" sz="600" dirty="0">
                <a:solidFill>
                  <a:srgbClr val="C2D4D7"/>
                </a:solidFill>
              </a:rPr>
              <a:t>MODEL DAY LABELS</a:t>
            </a:r>
            <a:endParaRPr lang="en-US" sz="600" dirty="0"/>
          </a:p>
        </p:txBody>
      </p:sp>
      <p:sp>
        <p:nvSpPr>
          <p:cNvPr id="14" name="Text 12"/>
          <p:cNvSpPr/>
          <p:nvPr/>
        </p:nvSpPr>
        <p:spPr>
          <a:xfrm>
            <a:off x="5532120" y="2276856"/>
            <a:ext cx="2286000" cy="274320"/>
          </a:xfrm>
          <a:prstGeom prst="rect">
            <a:avLst/>
          </a:prstGeom>
          <a:noFill/>
          <a:ln/>
        </p:spPr>
        <p:txBody>
          <a:bodyPr wrap="square" lIns="0" tIns="0" rIns="0" bIns="0" rtlCol="0" anchor="ctr"/>
          <a:lstStyle/>
          <a:p>
            <a:pPr indent="0" marL="0">
              <a:buNone/>
            </a:pPr>
            <a:r>
              <a:rPr lang="en-US" sz="2300" dirty="0">
                <a:solidFill>
                  <a:srgbClr val="F3CE9D"/>
                </a:solidFill>
                <a:latin typeface="Georgia" pitchFamily="34" charset="0"/>
                <a:ea typeface="Georgia" pitchFamily="34" charset="-122"/>
                <a:cs typeface="Georgia" pitchFamily="34" charset="-120"/>
              </a:rPr>
              <a:t>5</a:t>
            </a:r>
            <a:endParaRPr lang="en-US" sz="2300" dirty="0"/>
          </a:p>
        </p:txBody>
      </p:sp>
      <p:pic>
        <p:nvPicPr>
          <p:cNvPr id="15" name="Image 0" descr="/home/user/design-buddy/design-buddy-home/public/atelier/tideline/images/16.jpg">    </p:cNvPr>
          <p:cNvPicPr>
            <a:picLocks noChangeAspect="1"/>
          </p:cNvPicPr>
          <p:nvPr/>
        </p:nvPicPr>
        <p:blipFill>
          <a:blip r:embed="rId1"/>
          <a:srcRect l="0" r="0" t="0" b="0"/>
          <a:stretch/>
        </p:blipFill>
        <p:spPr>
          <a:xfrm>
            <a:off x="292608" y="2743200"/>
            <a:ext cx="7644384" cy="2743200"/>
          </a:xfrm>
          <a:prstGeom prst="rect">
            <a:avLst/>
          </a:prstGeom>
        </p:spPr>
      </p:pic>
      <p:sp>
        <p:nvSpPr>
          <p:cNvPr id="16" name="Text 13"/>
          <p:cNvSpPr/>
          <p:nvPr/>
        </p:nvSpPr>
        <p:spPr>
          <a:xfrm>
            <a:off x="292608" y="5559552"/>
            <a:ext cx="7644384" cy="164592"/>
          </a:xfrm>
          <a:prstGeom prst="rect">
            <a:avLst/>
          </a:prstGeom>
          <a:noFill/>
          <a:ln/>
        </p:spPr>
        <p:txBody>
          <a:bodyPr wrap="square" lIns="0" tIns="0" rIns="0" bIns="0" rtlCol="0" anchor="ctr"/>
          <a:lstStyle/>
          <a:p>
            <a:pPr indent="0" marL="0">
              <a:buNone/>
            </a:pPr>
            <a:r>
              <a:rPr lang="en-US" sz="700" dirty="0">
                <a:solidFill>
                  <a:srgbClr val="5D7780"/>
                </a:solidFill>
              </a:rPr>
              <a:t>Illustrated scene 16 / fictional setting, not field or weather evidence</a:t>
            </a:r>
            <a:endParaRPr lang="en-US" sz="700" dirty="0"/>
          </a:p>
        </p:txBody>
      </p:sp>
      <p:sp>
        <p:nvSpPr>
          <p:cNvPr id="17" name="Text 14"/>
          <p:cNvSpPr/>
          <p:nvPr/>
        </p:nvSpPr>
        <p:spPr>
          <a:xfrm>
            <a:off x="292608" y="5897880"/>
            <a:ext cx="7644384" cy="822960"/>
          </a:xfrm>
          <a:prstGeom prst="rect">
            <a:avLst/>
          </a:prstGeom>
          <a:noFill/>
          <a:ln/>
        </p:spPr>
        <p:txBody>
          <a:bodyPr wrap="square" lIns="0" tIns="0" rIns="0" bIns="0" rtlCol="0" anchor="t">
            <a:normAutofit/>
          </a:bodyPr>
          <a:lstStyle/>
          <a:p>
            <a:pPr indent="0" marL="0">
              <a:buNone/>
            </a:pPr>
            <a:r>
              <a:rPr lang="en-US" sz="1200" dirty="0">
                <a:solidFill>
                  <a:srgbClr val="244853"/>
                </a:solidFill>
                <a:latin typeface="Georgia" pitchFamily="34" charset="0"/>
                <a:ea typeface="Georgia" pitchFamily="34" charset="-122"/>
                <a:cs typeface="Georgia" pitchFamily="34" charset="-120"/>
              </a:rPr>
              <a:t>A useful atlas closes with a bounded question, not a promise that a real route has been evaluated. All 16 independent primary illustrations are present. Their changing backgrounds remain visual context, not additional source data.</a:t>
            </a:r>
            <a:endParaRPr lang="en-US" sz="1200" dirty="0"/>
          </a:p>
        </p:txBody>
      </p:sp>
      <p:sp>
        <p:nvSpPr>
          <p:cNvPr id="18" name="Text 15"/>
          <p:cNvSpPr/>
          <p:nvPr/>
        </p:nvSpPr>
        <p:spPr>
          <a:xfrm>
            <a:off x="292608" y="6821424"/>
            <a:ext cx="7644384" cy="201168"/>
          </a:xfrm>
          <a:prstGeom prst="rect">
            <a:avLst/>
          </a:prstGeom>
          <a:noFill/>
          <a:ln/>
        </p:spPr>
        <p:txBody>
          <a:bodyPr wrap="square" lIns="0" tIns="0" rIns="0" bIns="0" rtlCol="0" anchor="ctr"/>
          <a:lstStyle/>
          <a:p>
            <a:pPr indent="0" marL="0">
              <a:buNone/>
            </a:pPr>
            <a:r>
              <a:rPr lang="en-US" sz="700" dirty="0">
                <a:solidFill>
                  <a:srgbClr val="67808A"/>
                </a:solidFill>
              </a:rPr>
              <a:t>Chart scope: full model / 240 events. Prose remains full-model teaching context.</a:t>
            </a:r>
            <a:endParaRPr lang="en-US" sz="700" dirty="0"/>
          </a:p>
        </p:txBody>
      </p:sp>
      <p:sp>
        <p:nvSpPr>
          <p:cNvPr id="19" name="Shape 16"/>
          <p:cNvSpPr/>
          <p:nvPr/>
        </p:nvSpPr>
        <p:spPr>
          <a:xfrm>
            <a:off x="292608" y="7223760"/>
            <a:ext cx="2057400" cy="1773936"/>
          </a:xfrm>
          <a:prstGeom prst="rect">
            <a:avLst/>
          </a:prstGeom>
          <a:solidFill>
            <a:srgbClr val="173E50"/>
          </a:solidFill>
          <a:ln w="12700">
            <a:solidFill>
              <a:srgbClr val="173E50"/>
            </a:solidFill>
            <a:prstDash val="solid"/>
          </a:ln>
        </p:spPr>
      </p:sp>
      <p:sp>
        <p:nvSpPr>
          <p:cNvPr id="20" name="Text 17"/>
          <p:cNvSpPr/>
          <p:nvPr/>
        </p:nvSpPr>
        <p:spPr>
          <a:xfrm>
            <a:off x="402336" y="7333488"/>
            <a:ext cx="1837944" cy="137160"/>
          </a:xfrm>
          <a:prstGeom prst="rect">
            <a:avLst/>
          </a:prstGeom>
          <a:noFill/>
          <a:ln/>
        </p:spPr>
        <p:txBody>
          <a:bodyPr wrap="square" lIns="0" tIns="0" rIns="0" bIns="0" rtlCol="0" anchor="ctr"/>
          <a:lstStyle/>
          <a:p>
            <a:pPr indent="0" marL="0">
              <a:buNone/>
            </a:pPr>
            <a:r>
              <a:rPr lang="en-US" sz="600" dirty="0">
                <a:solidFill>
                  <a:srgbClr val="F1E3C9"/>
                </a:solidFill>
              </a:rPr>
              <a:t>FICTIONAL SEGMENT INDEX</a:t>
            </a:r>
            <a:endParaRPr lang="en-US" sz="600" dirty="0"/>
          </a:p>
        </p:txBody>
      </p:sp>
      <p:sp>
        <p:nvSpPr>
          <p:cNvPr id="21" name="Shape 18"/>
          <p:cNvSpPr/>
          <p:nvPr/>
        </p:nvSpPr>
        <p:spPr>
          <a:xfrm>
            <a:off x="457200" y="7708392"/>
            <a:ext cx="109728" cy="109728"/>
          </a:xfrm>
          <a:prstGeom prst="ellipse">
            <a:avLst/>
          </a:prstGeom>
          <a:solidFill>
            <a:srgbClr val="CF8D63"/>
          </a:solidFill>
          <a:ln w="12700">
            <a:solidFill>
              <a:srgbClr val="CF8D63"/>
            </a:solidFill>
            <a:prstDash val="solid"/>
          </a:ln>
        </p:spPr>
      </p:sp>
      <p:sp>
        <p:nvSpPr>
          <p:cNvPr id="22" name="Text 19"/>
          <p:cNvSpPr/>
          <p:nvPr/>
        </p:nvSpPr>
        <p:spPr>
          <a:xfrm>
            <a:off x="694944" y="7680960"/>
            <a:ext cx="1463040" cy="182880"/>
          </a:xfrm>
          <a:prstGeom prst="rect">
            <a:avLst/>
          </a:prstGeom>
          <a:noFill/>
          <a:ln/>
        </p:spPr>
        <p:txBody>
          <a:bodyPr wrap="square" lIns="0" tIns="0" rIns="0" bIns="0" rtlCol="0" anchor="ctr"/>
          <a:lstStyle/>
          <a:p>
            <a:pPr indent="0" marL="0">
              <a:buNone/>
            </a:pPr>
            <a:r>
              <a:rPr lang="en-US" sz="1000" dirty="0">
                <a:solidFill>
                  <a:srgbClr val="EDF2ED"/>
                </a:solidFill>
              </a:rPr>
              <a:t>Quay</a:t>
            </a:r>
            <a:endParaRPr lang="en-US" sz="1000" dirty="0"/>
          </a:p>
        </p:txBody>
      </p:sp>
      <p:sp>
        <p:nvSpPr>
          <p:cNvPr id="23" name="Shape 20"/>
          <p:cNvSpPr/>
          <p:nvPr/>
        </p:nvSpPr>
        <p:spPr>
          <a:xfrm>
            <a:off x="457200" y="8110728"/>
            <a:ext cx="109728" cy="109728"/>
          </a:xfrm>
          <a:prstGeom prst="ellipse">
            <a:avLst/>
          </a:prstGeom>
          <a:solidFill>
            <a:srgbClr val="CF8D63"/>
          </a:solidFill>
          <a:ln w="12700">
            <a:solidFill>
              <a:srgbClr val="CF8D63"/>
            </a:solidFill>
            <a:prstDash val="solid"/>
          </a:ln>
        </p:spPr>
      </p:sp>
      <p:sp>
        <p:nvSpPr>
          <p:cNvPr id="24" name="Text 21"/>
          <p:cNvSpPr/>
          <p:nvPr/>
        </p:nvSpPr>
        <p:spPr>
          <a:xfrm>
            <a:off x="694944" y="8083296"/>
            <a:ext cx="1463040" cy="182880"/>
          </a:xfrm>
          <a:prstGeom prst="rect">
            <a:avLst/>
          </a:prstGeom>
          <a:noFill/>
          <a:ln/>
        </p:spPr>
        <p:txBody>
          <a:bodyPr wrap="square" lIns="0" tIns="0" rIns="0" bIns="0" rtlCol="0" anchor="ctr"/>
          <a:lstStyle/>
          <a:p>
            <a:pPr indent="0" marL="0">
              <a:buNone/>
            </a:pPr>
            <a:r>
              <a:rPr lang="en-US" sz="1000" dirty="0">
                <a:solidFill>
                  <a:srgbClr val="EDF2ED"/>
                </a:solidFill>
              </a:rPr>
              <a:t>Garden Bend</a:t>
            </a:r>
            <a:endParaRPr lang="en-US" sz="1000" dirty="0"/>
          </a:p>
        </p:txBody>
      </p:sp>
      <p:sp>
        <p:nvSpPr>
          <p:cNvPr id="25" name="Shape 22"/>
          <p:cNvSpPr/>
          <p:nvPr/>
        </p:nvSpPr>
        <p:spPr>
          <a:xfrm>
            <a:off x="457200" y="8513064"/>
            <a:ext cx="109728" cy="109728"/>
          </a:xfrm>
          <a:prstGeom prst="ellipse">
            <a:avLst/>
          </a:prstGeom>
          <a:solidFill>
            <a:srgbClr val="CF8D63"/>
          </a:solidFill>
          <a:ln w="12700">
            <a:solidFill>
              <a:srgbClr val="CF8D63"/>
            </a:solidFill>
            <a:prstDash val="solid"/>
          </a:ln>
        </p:spPr>
      </p:sp>
      <p:sp>
        <p:nvSpPr>
          <p:cNvPr id="26" name="Text 23"/>
          <p:cNvSpPr/>
          <p:nvPr/>
        </p:nvSpPr>
        <p:spPr>
          <a:xfrm>
            <a:off x="694944" y="8485632"/>
            <a:ext cx="1463040" cy="182880"/>
          </a:xfrm>
          <a:prstGeom prst="rect">
            <a:avLst/>
          </a:prstGeom>
          <a:noFill/>
          <a:ln/>
        </p:spPr>
        <p:txBody>
          <a:bodyPr wrap="square" lIns="0" tIns="0" rIns="0" bIns="0" rtlCol="0" anchor="ctr"/>
          <a:lstStyle/>
          <a:p>
            <a:pPr indent="0" marL="0">
              <a:buNone/>
            </a:pPr>
            <a:r>
              <a:rPr lang="en-US" sz="1000" dirty="0">
                <a:solidFill>
                  <a:srgbClr val="EDF2ED"/>
                </a:solidFill>
              </a:rPr>
              <a:t>Overlook</a:t>
            </a:r>
            <a:endParaRPr lang="en-US" sz="1000" dirty="0"/>
          </a:p>
        </p:txBody>
      </p:sp>
      <p:sp>
        <p:nvSpPr>
          <p:cNvPr id="27" name="Text 24"/>
          <p:cNvSpPr/>
          <p:nvPr/>
        </p:nvSpPr>
        <p:spPr>
          <a:xfrm>
            <a:off x="402336" y="8787384"/>
            <a:ext cx="1837944" cy="109728"/>
          </a:xfrm>
          <a:prstGeom prst="rect">
            <a:avLst/>
          </a:prstGeom>
          <a:noFill/>
          <a:ln/>
        </p:spPr>
        <p:txBody>
          <a:bodyPr wrap="square" lIns="0" tIns="0" rIns="0" bIns="0" rtlCol="0" anchor="ctr"/>
          <a:lstStyle/>
          <a:p>
            <a:pPr indent="0" marL="0">
              <a:buNone/>
            </a:pPr>
            <a:r>
              <a:rPr lang="en-US" sz="600" dirty="0">
                <a:solidFill>
                  <a:srgbClr val="B7CDD1"/>
                </a:solidFill>
              </a:rPr>
              <a:t>Not a navigational map.</a:t>
            </a:r>
            <a:endParaRPr lang="en-US" sz="600" dirty="0"/>
          </a:p>
        </p:txBody>
      </p:sp>
      <p:sp>
        <p:nvSpPr>
          <p:cNvPr id="28" name="Text 25"/>
          <p:cNvSpPr/>
          <p:nvPr/>
        </p:nvSpPr>
        <p:spPr>
          <a:xfrm>
            <a:off x="2587752" y="7333488"/>
            <a:ext cx="5212080" cy="137160"/>
          </a:xfrm>
          <a:prstGeom prst="rect">
            <a:avLst/>
          </a:prstGeom>
          <a:noFill/>
          <a:ln/>
        </p:spPr>
        <p:txBody>
          <a:bodyPr wrap="square" lIns="0" tIns="0" rIns="0" bIns="0" rtlCol="0" anchor="ctr"/>
          <a:lstStyle/>
          <a:p>
            <a:pPr indent="0" marL="0">
              <a:buNone/>
            </a:pPr>
            <a:r>
              <a:rPr lang="en-US" sz="700" dirty="0">
                <a:solidFill>
                  <a:srgbClr val="5E7985"/>
                </a:solidFill>
              </a:rPr>
              <a:t>COUNTS BY FICTIONAL SEGMENT</a:t>
            </a:r>
            <a:endParaRPr lang="en-US" sz="700" dirty="0"/>
          </a:p>
        </p:txBody>
      </p:sp>
      <p:sp>
        <p:nvSpPr>
          <p:cNvPr id="29" name="Shape 26"/>
          <p:cNvSpPr/>
          <p:nvPr/>
        </p:nvSpPr>
        <p:spPr>
          <a:xfrm>
            <a:off x="2587752" y="8659368"/>
            <a:ext cx="5212080" cy="0"/>
          </a:xfrm>
          <a:prstGeom prst="line">
            <a:avLst/>
          </a:prstGeom>
          <a:noFill/>
          <a:ln w="6350">
            <a:solidFill>
              <a:srgbClr val="A9BAC0"/>
            </a:solidFill>
            <a:prstDash val="solid"/>
          </a:ln>
        </p:spPr>
      </p:sp>
      <p:sp>
        <p:nvSpPr>
          <p:cNvPr id="30" name="Shape 27"/>
          <p:cNvSpPr/>
          <p:nvPr/>
        </p:nvSpPr>
        <p:spPr>
          <a:xfrm>
            <a:off x="2900477" y="7912608"/>
            <a:ext cx="972922" cy="746760"/>
          </a:xfrm>
          <a:prstGeom prst="rect">
            <a:avLst/>
          </a:prstGeom>
          <a:solidFill>
            <a:srgbClr val="385877"/>
          </a:solidFill>
          <a:ln w="12700">
            <a:solidFill>
              <a:srgbClr val="385877"/>
            </a:solidFill>
            <a:prstDash val="solid"/>
          </a:ln>
        </p:spPr>
      </p:sp>
      <p:sp>
        <p:nvSpPr>
          <p:cNvPr id="31" name="Text 28"/>
          <p:cNvSpPr/>
          <p:nvPr/>
        </p:nvSpPr>
        <p:spPr>
          <a:xfrm>
            <a:off x="2587752" y="768400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70</a:t>
            </a:r>
            <a:endParaRPr lang="en-US" sz="900" dirty="0"/>
          </a:p>
        </p:txBody>
      </p:sp>
      <p:sp>
        <p:nvSpPr>
          <p:cNvPr id="32" name="Text 29"/>
          <p:cNvSpPr/>
          <p:nvPr/>
        </p:nvSpPr>
        <p:spPr>
          <a:xfrm>
            <a:off x="258775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Quay</a:t>
            </a:r>
            <a:endParaRPr lang="en-US" sz="700" dirty="0"/>
          </a:p>
        </p:txBody>
      </p:sp>
      <p:sp>
        <p:nvSpPr>
          <p:cNvPr id="33" name="Shape 30"/>
          <p:cNvSpPr/>
          <p:nvPr/>
        </p:nvSpPr>
        <p:spPr>
          <a:xfrm>
            <a:off x="4637837" y="7805928"/>
            <a:ext cx="972922" cy="853440"/>
          </a:xfrm>
          <a:prstGeom prst="rect">
            <a:avLst/>
          </a:prstGeom>
          <a:solidFill>
            <a:srgbClr val="385877"/>
          </a:solidFill>
          <a:ln w="12700">
            <a:solidFill>
              <a:srgbClr val="385877"/>
            </a:solidFill>
            <a:prstDash val="solid"/>
          </a:ln>
        </p:spPr>
      </p:sp>
      <p:sp>
        <p:nvSpPr>
          <p:cNvPr id="34" name="Text 31"/>
          <p:cNvSpPr/>
          <p:nvPr/>
        </p:nvSpPr>
        <p:spPr>
          <a:xfrm>
            <a:off x="4325112" y="757732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80</a:t>
            </a:r>
            <a:endParaRPr lang="en-US" sz="900" dirty="0"/>
          </a:p>
        </p:txBody>
      </p:sp>
      <p:sp>
        <p:nvSpPr>
          <p:cNvPr id="35" name="Text 32"/>
          <p:cNvSpPr/>
          <p:nvPr/>
        </p:nvSpPr>
        <p:spPr>
          <a:xfrm>
            <a:off x="432511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Garden Bend</a:t>
            </a:r>
            <a:endParaRPr lang="en-US" sz="700" dirty="0"/>
          </a:p>
        </p:txBody>
      </p:sp>
      <p:sp>
        <p:nvSpPr>
          <p:cNvPr id="36" name="Shape 33"/>
          <p:cNvSpPr/>
          <p:nvPr/>
        </p:nvSpPr>
        <p:spPr>
          <a:xfrm>
            <a:off x="6375197" y="7699248"/>
            <a:ext cx="972922" cy="960120"/>
          </a:xfrm>
          <a:prstGeom prst="rect">
            <a:avLst/>
          </a:prstGeom>
          <a:solidFill>
            <a:srgbClr val="385877"/>
          </a:solidFill>
          <a:ln w="12700">
            <a:solidFill>
              <a:srgbClr val="385877"/>
            </a:solidFill>
            <a:prstDash val="solid"/>
          </a:ln>
        </p:spPr>
      </p:sp>
      <p:sp>
        <p:nvSpPr>
          <p:cNvPr id="37" name="Text 34"/>
          <p:cNvSpPr/>
          <p:nvPr/>
        </p:nvSpPr>
        <p:spPr>
          <a:xfrm>
            <a:off x="6062472" y="7470648"/>
            <a:ext cx="1737360" cy="164592"/>
          </a:xfrm>
          <a:prstGeom prst="rect">
            <a:avLst/>
          </a:prstGeom>
          <a:noFill/>
          <a:ln/>
        </p:spPr>
        <p:txBody>
          <a:bodyPr wrap="square" lIns="0" tIns="0" rIns="0" bIns="0" rtlCol="0" anchor="ctr"/>
          <a:lstStyle/>
          <a:p>
            <a:pPr algn="ctr" indent="0" marL="0">
              <a:buNone/>
            </a:pPr>
            <a:r>
              <a:rPr lang="en-US" sz="900" dirty="0">
                <a:solidFill>
                  <a:srgbClr val="244853"/>
                </a:solidFill>
              </a:rPr>
              <a:t>90</a:t>
            </a:r>
            <a:endParaRPr lang="en-US" sz="900" dirty="0"/>
          </a:p>
        </p:txBody>
      </p:sp>
      <p:sp>
        <p:nvSpPr>
          <p:cNvPr id="38" name="Text 35"/>
          <p:cNvSpPr/>
          <p:nvPr/>
        </p:nvSpPr>
        <p:spPr>
          <a:xfrm>
            <a:off x="6062472" y="8759952"/>
            <a:ext cx="1737360" cy="164592"/>
          </a:xfrm>
          <a:prstGeom prst="rect">
            <a:avLst/>
          </a:prstGeom>
          <a:noFill/>
          <a:ln/>
        </p:spPr>
        <p:txBody>
          <a:bodyPr wrap="square" lIns="0" tIns="0" rIns="0" bIns="0" rtlCol="0" anchor="ctr"/>
          <a:lstStyle/>
          <a:p>
            <a:pPr algn="ctr" indent="0" marL="0">
              <a:buNone/>
            </a:pPr>
            <a:r>
              <a:rPr lang="en-US" sz="700" dirty="0">
                <a:solidFill>
                  <a:srgbClr val="3B5961"/>
                </a:solidFill>
              </a:rPr>
              <a:t>Overlook</a:t>
            </a:r>
            <a:endParaRPr lang="en-US" sz="700" dirty="0"/>
          </a:p>
        </p:txBody>
      </p:sp>
      <p:sp>
        <p:nvSpPr>
          <p:cNvPr id="39" name="Text 36"/>
          <p:cNvSpPr/>
          <p:nvPr/>
        </p:nvSpPr>
        <p:spPr>
          <a:xfrm>
            <a:off x="2587752" y="9052560"/>
            <a:ext cx="5212080" cy="118872"/>
          </a:xfrm>
          <a:prstGeom prst="rect">
            <a:avLst/>
          </a:prstGeom>
          <a:noFill/>
          <a:ln/>
        </p:spPr>
        <p:txBody>
          <a:bodyPr wrap="square" lIns="0" tIns="0" rIns="0" bIns="0" rtlCol="0" anchor="ctr"/>
          <a:lstStyle/>
          <a:p>
            <a:pPr indent="0" marL="0">
              <a:buNone/>
            </a:pPr>
            <a:r>
              <a:rPr lang="en-US" sz="600" dirty="0">
                <a:solidFill>
                  <a:srgbClr val="71868E"/>
                </a:solidFill>
              </a:rPr>
              <a:t>Source: synthetic teaching model / unit: entry event</a:t>
            </a:r>
            <a:endParaRPr lang="en-US" sz="600" dirty="0"/>
          </a:p>
        </p:txBody>
      </p:sp>
      <p:sp>
        <p:nvSpPr>
          <p:cNvPr id="40" name="Shape 37"/>
          <p:cNvSpPr/>
          <p:nvPr/>
        </p:nvSpPr>
        <p:spPr>
          <a:xfrm>
            <a:off x="292608" y="9336024"/>
            <a:ext cx="7644384" cy="0"/>
          </a:xfrm>
          <a:prstGeom prst="line">
            <a:avLst/>
          </a:prstGeom>
          <a:noFill/>
          <a:ln w="6350">
            <a:solidFill>
              <a:srgbClr val="9FB4B9"/>
            </a:solidFill>
            <a:prstDash val="solid"/>
          </a:ln>
        </p:spPr>
      </p:sp>
      <p:sp>
        <p:nvSpPr>
          <p:cNvPr id="41" name="Text 38"/>
          <p:cNvSpPr/>
          <p:nvPr/>
        </p:nvSpPr>
        <p:spPr>
          <a:xfrm>
            <a:off x="292608" y="9509760"/>
            <a:ext cx="7644384" cy="246888"/>
          </a:xfrm>
          <a:prstGeom prst="rect">
            <a:avLst/>
          </a:prstGeom>
          <a:noFill/>
          <a:ln/>
        </p:spPr>
        <p:txBody>
          <a:bodyPr wrap="square" lIns="0" tIns="0" rIns="0" bIns="0" rtlCol="0" anchor="ctr">
            <a:normAutofit/>
          </a:bodyPr>
          <a:lstStyle/>
          <a:p>
            <a:pPr indent="0" marL="0">
              <a:buNone/>
            </a:pPr>
            <a:r>
              <a:rPr lang="en-US" sz="900" dirty="0">
                <a:solidFill>
                  <a:srgbClr val="52717D"/>
                </a:solidFill>
              </a:rPr>
              <a:t>Keep the source small, explicit and honestly labelled.</a:t>
            </a:r>
            <a:endParaRPr lang="en-US" sz="900" dirty="0"/>
          </a:p>
        </p:txBody>
      </p:sp>
      <p:sp>
        <p:nvSpPr>
          <p:cNvPr id="42" name="Text 39"/>
          <p:cNvSpPr/>
          <p:nvPr/>
        </p:nvSpPr>
        <p:spPr>
          <a:xfrm>
            <a:off x="292608" y="9921240"/>
            <a:ext cx="7644384" cy="411480"/>
          </a:xfrm>
          <a:prstGeom prst="rect">
            <a:avLst/>
          </a:prstGeom>
          <a:noFill/>
          <a:ln/>
        </p:spPr>
        <p:txBody>
          <a:bodyPr wrap="square" lIns="0" tIns="0" rIns="0" bIns="0" rtlCol="0" anchor="ctr">
            <a:normAutofit/>
          </a:bodyPr>
          <a:lstStyle/>
          <a:p>
            <a:pPr indent="0" marL="0">
              <a:buNone/>
            </a:pPr>
            <a:r>
              <a:rPr lang="en-US" sz="1200" i="1" dirty="0">
                <a:solidFill>
                  <a:srgbClr val="31535E"/>
                </a:solidFill>
                <a:latin typeface="Georgia" pitchFamily="34" charset="0"/>
                <a:ea typeface="Georgia" pitchFamily="34" charset="-122"/>
                <a:cs typeface="Georgia" pitchFamily="34" charset="-120"/>
              </a:rPr>
              <a:t>What is the next question that this model can—and cannot—help you practise?</a:t>
            </a:r>
            <a:endParaRPr lang="en-US" sz="1200" dirty="0"/>
          </a:p>
        </p:txBody>
      </p:sp>
      <p:sp>
        <p:nvSpPr>
          <p:cNvPr id="43" name="Text 40"/>
          <p:cNvSpPr/>
          <p:nvPr/>
        </p:nvSpPr>
        <p:spPr>
          <a:xfrm>
            <a:off x="292608" y="10451592"/>
            <a:ext cx="7644384" cy="137160"/>
          </a:xfrm>
          <a:prstGeom prst="rect">
            <a:avLst/>
          </a:prstGeom>
          <a:noFill/>
          <a:ln/>
        </p:spPr>
        <p:txBody>
          <a:bodyPr wrap="square" lIns="0" tIns="0" rIns="0" bIns="0" rtlCol="0" anchor="ctr"/>
          <a:lstStyle/>
          <a:p>
            <a:pPr indent="0" marL="0">
              <a:buNone/>
            </a:pPr>
            <a:r>
              <a:rPr lang="en-US" sz="600" dirty="0">
                <a:solidFill>
                  <a:srgbClr val="647F89"/>
                </a:solidFill>
              </a:rPr>
              <a:t>COMPLETE ATLAS / 32 PAGES / 16 OF 16 MAIN ILLUSTRATIONS / NO REAL ROUTE OR PEOPLE DATA / 32 OF 32</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TIDELINE — Coastal model atlas</dc:title>
  <dc:subject>32 pages; 16 of 16 independent illustrations; 240 synthetic events</dc:subject>
  <dc:creator>Design Buddy</dc:creator>
  <cp:lastModifiedBy>Design Buddy</cp:lastModifiedBy>
  <cp:revision>1</cp:revision>
  <dcterms:created xsi:type="dcterms:W3CDTF">2026-10-29T10:46:21Z</dcterms:created>
  <dcterms:modified xsi:type="dcterms:W3CDTF">2026-10-29T10:46:21Z</dcterms:modified>
</cp:coreProperties>
</file>
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070080" cy="8229600"/>
  <p:notesSz cx="8229600" cy="1207008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 small place to read together.</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01</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01 / Establish the purpose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1.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1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OPEN SHELF is a fictional concept for an adult community reading corner. It connects a spatial idea to responsibilities and unanswered questions. The illustrations and sketches are discussion aids, not an approved building or service plan.</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Concept only / no real site or participant study.</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Name the question this proposal should answer.</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is the smallest useful purpose for this corner?</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 OF 32</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Define the promise before the furniture.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02</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01 / Establish the purpose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1.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1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concept offers a place for adult reading and modest conversation. It does not promise staffing, borrowing services, accessible provision, equipment or opening hours that a real operator has not reviewed and agreed.</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Proposed purpose ≠ committed service.</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List what is and is not proposed.</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expectation would need a separate operational decision?</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 OF 32</a:t>
            </a:r>
            <a:endParaRPr lang="en-US" sz="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Invite voices without inventing demand.</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03</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01 / Establish the purpose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Engagement lead</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2.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2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pictured neighbors are illustrative. No consultation has actually been conducted. A real project would need an appropriate process for asking questions, hearing disagreement and deciding what information may be recorded.</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No attendance, demand or consent evidence is supplied.</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Draft a bounded consultation question.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Whose perspective is missing from the concept discussion?</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3 OF 32</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Keep a decision separate from a discussion.</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04</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01 / Establish the purpose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2.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2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An idea raised around a table is not an agreement to fund, build or operate it. Record the topic, responsible reviewer and next step without treating informal enthusiasm as authorisation.</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Discussion → review question → responsible reviewer.</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Keep a list of unresolved decisions.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would be needed before calling an idea an agreed commitment?</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4 OF 32</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 threshold is an information moment.</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05</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02 / Explore the space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Venue liaison</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3.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3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welcome zone is an abstract location for programme information. The sketch has no dimensions, capacity, real entrance geometry or approved circulation route. It cannot establish that a real site is suitable.</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Concept diagram / not to scale / no real address.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Request the appropriate site information.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must a venue reviewer know before considering this idea?</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5 OF 32</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Three zones, not a technical drawing.</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06</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02 / Explore the space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Space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3.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3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Welcome, quiet reading and shared conversation are labels for discussion. They are not partitions, measured areas or a claim that these activities can coexist in any room. Actual space constraints remain unknown.</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Three conceptual uses; no verified floor area.</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Discuss relationships between proposed uses.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pair of uses could conflict in a real room?</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6 OF 32</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Review the arrangement with the right people.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07</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02 / Explore the space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Venue liaison</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4.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4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An illustrated arrangement does not authorise moving furniture or changing routes. Local venue professionals and relevant reviewers must evaluate any real proposal through their own approved processes.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No construction, egress or access sign-off.</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Refer arrangement questions to venue reviewers.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question should not be answered by a decorative sketch?</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7 OF 32</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Keep options reversible on paper.</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08</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02 / Explore the space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Space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4.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4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Compare ideas as concepts before making a real commitment. A drawn alternative can help discuss trade-offs, but it does not prove that furniture can be moved, that an area is available or that changes are permitted.</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Paper alternatives are not physical permissions.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Record the reason for preferring an option.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information could change the preferred arrangement?</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8 OF 32</a:t>
            </a:r>
            <a:endParaRPr lang="en-US" sz="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Quiet reading is a proposed experience.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09</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03 / Consider shared use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Use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5.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5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reading alcove suggests concentration, but a picture cannot establish acoustic performance, comfort or suitability for every person. Treat those qualities as questions requiring appropriate review, not demonstrated outcomes.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Illustration ≠ acoustic or comfort evidence.</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Ask which environmental questions need review.</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would you need to understand about a real quiet-reading setting?</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9 OF 32</a:t>
            </a:r>
            <a:endParaRPr lang="en-US" sz="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Conversation needs a bounded purpose.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10</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03 / Consider shared use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Programme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5.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5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shared table could support adult discussion if the responsible operator agrees. The concept does not define session capacity, supervision, booking, conduct rules or a service schedule. These remain separate operational matters.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A table is not an operating model.</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Name one proposed discussion use.</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responsibilities would that use introduce?</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10 OF 32</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Do not infer inclusion from an image.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11</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03 / Consider shared use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Engagement lead</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6.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6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scene illustrates adults participating together. It does not verify access, equality of experience or compliance at an actual venue. Relevant people should be involved in reviewing real needs through appropriate local processes.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Illustrative participation; no access certification.</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List inclusion questions without collecting sensitive details.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would be inappropriate to claim from this illustration alone?</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11 OF 32</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Make room for different preferences.</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12</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03 / Consider shared use</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Programme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6.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6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Some adults may prefer quiet reading, others conversation, and others may not wish to participate. Avoid describing one preferred activity as a universal community need without an actual evidence base.</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Preferences are not yet studied.</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Keep alternative preferences visible.</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assumption about participation should remain open?</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12 OF 32</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Books imply a stewardship question.</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13</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04 / Name stewardship</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Collection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7.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7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Placing books on a shelf raises questions about ownership, selection, condition and responsibility. This concept does not supply a lending policy, catalog, real inventory or permission to use anyone’s materials.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No real collection or lending service is provided.</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Identify who would review stewardship.</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Who would need to agree before materials were offered?</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13 OF 32</a:t>
            </a:r>
            <a:endParaRPr lang="en-US" sz="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Separate a role from a named commitment.</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14</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04 / Name stewardship</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7.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7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role label helps organise a proposal but does not mean a person has accepted it. Keep proposed responsibilities distinct from actual assignments and let real participants review the scope before agreeing.</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Proposed role ≠ accepted appointment.</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Mark each responsibility as proposed.</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How would you record an unaccepted responsibility honestly?</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14 OF 32</a:t>
            </a:r>
            <a:endParaRPr lang="en-US" sz="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Care belongs in the operational discussion.</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15</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04 / Name stewardship</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Operations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8.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8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tidy still life is not evidence that a room can be maintained at no cost. Actual upkeep, staffing and equipment arrangements need an operator and local review; this proposal gives no cleaning or maintenance instructions.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Ongoing care is not costed or approved.</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Ask who would review ongoing resource needs.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ongoing question is easily hidden by an attractive room image?</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15 OF 32</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Define the handoff before claiming readiness.</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16</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04 / Name stewardship</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8.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8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handoff needs an issue, current status and responsible next reviewer. Do not mark a dependency resolved merely because a concept board has been completed or a local review menu has been changed.</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Local review marks are private drafting notes.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Write one explicit handoff dependency.</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acknowledgement would the next reviewer need to provide?</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16 OF 32</a:t>
            </a:r>
            <a:endParaRPr lang="en-US" sz="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 resource model is not a quote.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17</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05 / Bound the resources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Resource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9.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9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fictional planning allowances are shelving 1,800 units, seating 1,400, paper materials 600 and a provisional reserve 400. These invented values support arithmetic discussion, not procurement or a funded budget.</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1,800 + 1,400 + 600 + 400 = 4,200 model units.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Label every number as a planning assumption.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description would falsely turn this model into a real quotation?</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17 OF 32</a:t>
            </a:r>
            <a:endParaRPr lang="en-US" sz="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 subtotal can omit major costs.</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18</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05 / Bound the resources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Resource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09.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9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model excludes staffing, insurance, venue use, specialist review and other unknown costs. A tidy subtotal does not make a complete cost plan. Keep omissions visible beside the arithmetic.</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4,200 units is an illustrative subtotal only.</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Record major unpriced categories.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Why should an omitted cost not automatically become zero?</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18 OF 32</a:t>
            </a:r>
            <a:endParaRPr lang="en-US" sz="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 change has an explicit effect.</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19</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05 / Bound the resources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Resource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10.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10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If an illustrative additional allowance is 800 units, the model subtotal becomes 5,000. This arithmetic does not authorise a purchase, establish affordability or indicate that money is available.</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4,200 + 800 = 5,000 fictional units.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Record the assumption behind an addition.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real decision is not answered by the new subtotal?</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19 OF 32</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Keep procurement outside the illustration.</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20</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05 / Bound the resources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Procurement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design-buddy-home/public/atelier/open-shelf/images/10.jp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Watercolour 10 / fictional scene, not site evidence</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furniture images are generic concepts, not product specifications or supplier endorsements. A real purchase would require its own appropriate review, authority and process. No transaction occurs in this template.</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No supplier, order, funding or contract is provided.</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Identify the responsible procurement process.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promise would exceed this concept’s scope?</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20 OF 32</a:t>
            </a:r>
            <a:endParaRPr lang="en-US" sz="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 risk question is not a safety instruction.</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21</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06 / Surface the boundaries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Venue liaison</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0.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11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This proposal can name uncertainties and the relevant reviewer. It cannot diagnose a venue, provide an emergency plan or certify a safe arrangement. Real safety questions belong to the responsible qualified people and local procedures.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No safety or technical assessment is supplied.</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Route specialist questions to the appropriate reviewer.</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question needs expertise outside this proposal?</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21 OF 32</a:t>
            </a:r>
            <a:endParaRPr lang="en-US" sz="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Keep an unresolved dependency unresolved.</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22</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06 / Surface the boundaries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1.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11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Missing information is not approval and a blank field is not evidence that there is no issue. State what is unknown, who should review it and what kind of response would allow the next discussion.</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Unknown ≠ approved ≠ not applicable.</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Make one missing dependency explicit.</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would be lost by replacing unknown with ready?</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22 OF 32</a:t>
            </a:r>
            <a:endParaRPr lang="en-US" sz="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Name the origin of each claim.</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23</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06 / Surface the boundaries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Evidence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2.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12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All scenes and resource figures here are fictional. A future real proposal should distinguish observed facts, attributed sources, assumptions and open questions rather than combining them into a single confident narrative.</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Sources: concept art and invented teaching numbers.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Label evidence and assumptions separately.</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sentence would need an actual source before real-world use?</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23 OF 32</a:t>
            </a:r>
            <a:endParaRPr lang="en-US" sz="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Avoid unnecessary personal records.</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24</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06 / Surface the boundaries</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Record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3.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12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These boards need no participant names, contact details or sensitive stories to illustrate a concept. The private browser note is not a secure data store or a shared case-management record. Use appropriate real processes for any personal information.</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No personal-data collection is required here.</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Keep the draft note non-sensitive.</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How could you describe an issue without recording a personal story?</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24 OF 32</a:t>
            </a:r>
            <a:endParaRPr lang="en-US" sz="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Open means a question remains.</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25</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07 / Review the proposal</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Draft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4.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13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The local menu offers open, revise, discuss and defer. Those values help you annotate a draft in your browser. They do not send anything to a team, record official approval or change real venue permissions.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Browser-local drafting status only.</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Choose a local review mark for this board.</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must remain clear when a locally marked board is exported?</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25 OF 32</a:t>
            </a:r>
            <a:endParaRPr lang="en-US" sz="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Revise the assumption, not the history.</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26</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07 / Review the proposal</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Draft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5.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13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If an assumption changes, state what was changed and why. Do not rewrite a fictional consultation as if it had actually happened or present a proposed resource as already committed.</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Revision is not retrospective evidence.</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Write a bounded reason for revision.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earlier distinction should survive a revised proposal?</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26 OF 32</a:t>
            </a:r>
            <a:endParaRPr lang="en-US" sz="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Discuss a specific question.</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27</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07 / Review the proposal</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6.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14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useful review request names one issue, the information needed and the relevant role. “Please approve everything” hides dependencies and can imply authority that this template does not provide.</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Issue → needed information → reviewer → next discussion.</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Frame one concrete review request.</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information would make the next conversation more useful?</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27 OF 32</a:t>
            </a:r>
            <a:endParaRPr lang="en-US" sz="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Deferral can be an honest outcome.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28</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07 / Review the proposal</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7.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14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concept can remain on hold when information, responsibility or permission is missing. Deferral is not a failure to produce a pretty board; it preserves the boundary between a design idea and a real-world commitment.</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A complete concept may still be unsuitable for implementation.</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Name the reason for a proposed deferral.</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unanswered question would justify waiting?</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28 OF 32</a:t>
            </a:r>
            <a:endParaRPr lang="en-US" sz="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Make a bounded next step.</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29</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08 / Hand over clearly</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8.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15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next step might be to draft a question for a venue reviewer. It should name a proposed owner and review point without implying that the person has accepted the task or that the project is funded.</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Proposed next step, subject to acceptance.</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Write one limited proposed action.</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How would you distinguish a suggestion from an assigned task?</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29 OF 32</a:t>
            </a:r>
            <a:endParaRPr lang="en-US" sz="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Explain the version being shared.</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30</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08 / Hand over clearly</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Record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D8E5CB"/>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29.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15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When sharing a draft, identify which local text and review marks it contains. Current HTML and JSON exports preserve browser edits; the original PDF/PPTX remain unchanged source exports.</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Editable draft exports are separate from original downloads.</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Choose the intended export and state its scope.</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could confuse a reviewer receiving two different versions?</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30 OF 32</a:t>
            </a:r>
            <a:endParaRPr lang="en-US" sz="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Check the claim, not just the appearance.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31</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08 / Hand over clearly</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Draft reviewer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D8E5CB"/>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F1EFE1"/>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30.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16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Before sharing, verify that the proposal still distinguishes concept from permission, model from quote and local note from approval. An illustration does not close a missing evidence or responsibility gap.</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Review: purpose / source / owner / limit / next question.</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Inspect one unsupported-sounding sentence.</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Which limitation must stay visible outside this browser?</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31 OF 32</a:t>
            </a:r>
            <a:endParaRPr lang="en-US" sz="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2"/>
        </a:solidFill>
      </p:bgPr>
    </p:bg>
    <p:spTree>
      <p:nvGrpSpPr>
        <p:cNvPr id="1" name=""/>
        <p:cNvGrpSpPr/>
        <p:nvPr/>
      </p:nvGrpSpPr>
      <p:grpSpPr>
        <a:xfrm>
          <a:off x="0" y="0"/>
          <a:ext cx="0" cy="0"/>
          <a:chOff x="0" y="0"/>
          <a:chExt cx="0" cy="0"/>
        </a:xfrm>
      </p:grpSpPr>
      <p:sp>
        <p:nvSpPr>
          <p:cNvPr id="2" name="Shape 0"/>
          <p:cNvSpPr/>
          <p:nvPr/>
        </p:nvSpPr>
        <p:spPr>
          <a:xfrm>
            <a:off x="292608" y="292608"/>
            <a:ext cx="11466576" cy="54864"/>
          </a:xfrm>
          <a:prstGeom prst="rect">
            <a:avLst/>
          </a:prstGeom>
          <a:solidFill>
            <a:srgbClr val="375952"/>
          </a:solidFill>
          <a:ln w="12700">
            <a:solidFill>
              <a:srgbClr val="375952"/>
            </a:solidFill>
            <a:prstDash val="solid"/>
          </a:ln>
        </p:spPr>
      </p:sp>
      <p:sp>
        <p:nvSpPr>
          <p:cNvPr id="3" name="Text 1"/>
          <p:cNvSpPr/>
          <p:nvPr/>
        </p:nvSpPr>
        <p:spPr>
          <a:xfrm>
            <a:off x="292608" y="521208"/>
            <a:ext cx="10607040" cy="182880"/>
          </a:xfrm>
          <a:prstGeom prst="rect">
            <a:avLst/>
          </a:prstGeom>
          <a:noFill/>
          <a:ln/>
        </p:spPr>
        <p:txBody>
          <a:bodyPr wrap="square" lIns="0" tIns="0" rIns="0" bIns="0" rtlCol="0" anchor="ctr"/>
          <a:lstStyle/>
          <a:p>
            <a:pPr indent="0" marL="0">
              <a:buNone/>
            </a:pPr>
            <a:r>
              <a:rPr lang="en-US" sz="800" dirty="0">
                <a:solidFill>
                  <a:srgbClr val="667B67"/>
                </a:solidFill>
              </a:rPr>
              <a:t>OPEN SHELF / SPATIAL CONCEPT SERIES</a:t>
            </a:r>
            <a:endParaRPr lang="en-US" sz="800" dirty="0"/>
          </a:p>
        </p:txBody>
      </p:sp>
      <p:sp>
        <p:nvSpPr>
          <p:cNvPr id="4" name="Text 2"/>
          <p:cNvSpPr/>
          <p:nvPr/>
        </p:nvSpPr>
        <p:spPr>
          <a:xfrm>
            <a:off x="292608" y="822960"/>
            <a:ext cx="10607040" cy="457200"/>
          </a:xfrm>
          <a:prstGeom prst="rect">
            <a:avLst/>
          </a:prstGeom>
          <a:noFill/>
          <a:ln/>
        </p:spPr>
        <p:txBody>
          <a:bodyPr wrap="square" lIns="0" tIns="0" rIns="0" bIns="0" rtlCol="0" anchor="ctr">
            <a:normAutofit/>
          </a:bodyPr>
          <a:lstStyle/>
          <a:p>
            <a:pPr indent="0" marL="0">
              <a:buNone/>
            </a:pPr>
            <a:r>
              <a:rPr lang="en-US" sz="2700" dirty="0">
                <a:solidFill>
                  <a:srgbClr val="37594C"/>
                </a:solidFill>
                <a:latin typeface="Georgia" pitchFamily="34" charset="0"/>
                <a:ea typeface="Georgia" pitchFamily="34" charset="-122"/>
                <a:cs typeface="Georgia" pitchFamily="34" charset="-120"/>
              </a:rPr>
              <a:t>Leave a clear question on the table.</a:t>
            </a:r>
            <a:endParaRPr lang="en-US" sz="2700" dirty="0"/>
          </a:p>
        </p:txBody>
      </p:sp>
      <p:sp>
        <p:nvSpPr>
          <p:cNvPr id="5" name="Text 3"/>
          <p:cNvSpPr/>
          <p:nvPr/>
        </p:nvSpPr>
        <p:spPr>
          <a:xfrm>
            <a:off x="10972800" y="566928"/>
            <a:ext cx="731520" cy="365760"/>
          </a:xfrm>
          <a:prstGeom prst="rect">
            <a:avLst/>
          </a:prstGeom>
          <a:noFill/>
          <a:ln/>
        </p:spPr>
        <p:txBody>
          <a:bodyPr wrap="square" lIns="0" tIns="0" rIns="0" bIns="0" rtlCol="0" anchor="ctr"/>
          <a:lstStyle/>
          <a:p>
            <a:pPr algn="r" indent="0" marL="0">
              <a:buNone/>
            </a:pPr>
            <a:r>
              <a:rPr lang="en-US" sz="2800" dirty="0">
                <a:solidFill>
                  <a:srgbClr val="AD7855"/>
                </a:solidFill>
              </a:rPr>
              <a:t>32</a:t>
            </a:r>
            <a:endParaRPr lang="en-US" sz="2800" dirty="0"/>
          </a:p>
        </p:txBody>
      </p:sp>
      <p:sp>
        <p:nvSpPr>
          <p:cNvPr id="6" name="Text 4"/>
          <p:cNvSpPr/>
          <p:nvPr/>
        </p:nvSpPr>
        <p:spPr>
          <a:xfrm>
            <a:off x="292608"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CHAPTER</a:t>
            </a:r>
            <a:endParaRPr lang="en-US" sz="700" dirty="0"/>
          </a:p>
        </p:txBody>
      </p:sp>
      <p:sp>
        <p:nvSpPr>
          <p:cNvPr id="7" name="Text 5"/>
          <p:cNvSpPr/>
          <p:nvPr/>
        </p:nvSpPr>
        <p:spPr>
          <a:xfrm>
            <a:off x="292608"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08 / Hand over clearly</a:t>
            </a:r>
            <a:endParaRPr lang="en-US" sz="1100" dirty="0"/>
          </a:p>
        </p:txBody>
      </p:sp>
      <p:sp>
        <p:nvSpPr>
          <p:cNvPr id="8" name="Text 6"/>
          <p:cNvSpPr/>
          <p:nvPr/>
        </p:nvSpPr>
        <p:spPr>
          <a:xfrm>
            <a:off x="4187952"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PROPOSED REVIEW ROLE</a:t>
            </a:r>
            <a:endParaRPr lang="en-US" sz="700" dirty="0"/>
          </a:p>
        </p:txBody>
      </p:sp>
      <p:sp>
        <p:nvSpPr>
          <p:cNvPr id="9" name="Text 7"/>
          <p:cNvSpPr/>
          <p:nvPr/>
        </p:nvSpPr>
        <p:spPr>
          <a:xfrm>
            <a:off x="4187952"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Project convenor</a:t>
            </a:r>
            <a:endParaRPr lang="en-US" sz="1100" dirty="0"/>
          </a:p>
        </p:txBody>
      </p:sp>
      <p:sp>
        <p:nvSpPr>
          <p:cNvPr id="10" name="Text 8"/>
          <p:cNvSpPr/>
          <p:nvPr/>
        </p:nvSpPr>
        <p:spPr>
          <a:xfrm>
            <a:off x="8083296" y="1435608"/>
            <a:ext cx="3566160" cy="164592"/>
          </a:xfrm>
          <a:prstGeom prst="rect">
            <a:avLst/>
          </a:prstGeom>
          <a:noFill/>
          <a:ln/>
        </p:spPr>
        <p:txBody>
          <a:bodyPr wrap="square" lIns="0" tIns="0" rIns="0" bIns="0" rtlCol="0" anchor="ctr"/>
          <a:lstStyle/>
          <a:p>
            <a:pPr indent="0" marL="0">
              <a:buNone/>
            </a:pPr>
            <a:r>
              <a:rPr lang="en-US" sz="700" dirty="0">
                <a:solidFill>
                  <a:srgbClr val="95724F"/>
                </a:solidFill>
              </a:rPr>
              <a:t>PRIVATE DRAFT MARK</a:t>
            </a:r>
            <a:endParaRPr lang="en-US" sz="700" dirty="0"/>
          </a:p>
        </p:txBody>
      </p:sp>
      <p:sp>
        <p:nvSpPr>
          <p:cNvPr id="11" name="Text 9"/>
          <p:cNvSpPr/>
          <p:nvPr/>
        </p:nvSpPr>
        <p:spPr>
          <a:xfrm>
            <a:off x="8083296" y="1719072"/>
            <a:ext cx="3566160" cy="274320"/>
          </a:xfrm>
          <a:prstGeom prst="rect">
            <a:avLst/>
          </a:prstGeom>
          <a:noFill/>
          <a:ln/>
        </p:spPr>
        <p:txBody>
          <a:bodyPr wrap="square" lIns="0" tIns="0" rIns="0" bIns="0" rtlCol="0" anchor="ctr">
            <a:normAutofit/>
          </a:bodyPr>
          <a:lstStyle/>
          <a:p>
            <a:pPr indent="0" marL="0">
              <a:buNone/>
            </a:pPr>
            <a:r>
              <a:rPr lang="en-US" sz="1100" dirty="0">
                <a:solidFill>
                  <a:srgbClr val="3D5C4A"/>
                </a:solidFill>
                <a:latin typeface="Georgia" pitchFamily="34" charset="0"/>
                <a:ea typeface="Georgia" pitchFamily="34" charset="-122"/>
                <a:cs typeface="Georgia" pitchFamily="34" charset="-120"/>
              </a:rPr>
              <a:t>LOCAL REVIEW / OPEN</a:t>
            </a:r>
            <a:endParaRPr lang="en-US" sz="1100" dirty="0"/>
          </a:p>
        </p:txBody>
      </p:sp>
      <p:sp>
        <p:nvSpPr>
          <p:cNvPr id="12" name="Text 10"/>
          <p:cNvSpPr/>
          <p:nvPr/>
        </p:nvSpPr>
        <p:spPr>
          <a:xfrm>
            <a:off x="292608" y="2258568"/>
            <a:ext cx="4937760" cy="164592"/>
          </a:xfrm>
          <a:prstGeom prst="rect">
            <a:avLst/>
          </a:prstGeom>
          <a:noFill/>
          <a:ln/>
        </p:spPr>
        <p:txBody>
          <a:bodyPr wrap="square" lIns="0" tIns="0" rIns="0" bIns="0" rtlCol="0" anchor="ctr"/>
          <a:lstStyle/>
          <a:p>
            <a:pPr indent="0" marL="0">
              <a:buNone/>
            </a:pPr>
            <a:r>
              <a:rPr lang="en-US" sz="700" dirty="0">
                <a:solidFill>
                  <a:srgbClr val="9B744E"/>
                </a:solidFill>
              </a:rPr>
              <a:t>ZONING STUDY / DISCUSSION ONLY</a:t>
            </a:r>
            <a:endParaRPr lang="en-US" sz="700" dirty="0"/>
          </a:p>
        </p:txBody>
      </p:sp>
      <p:sp>
        <p:nvSpPr>
          <p:cNvPr id="13" name="Shape 11"/>
          <p:cNvSpPr/>
          <p:nvPr/>
        </p:nvSpPr>
        <p:spPr>
          <a:xfrm>
            <a:off x="475488" y="2688336"/>
            <a:ext cx="4572000" cy="2651760"/>
          </a:xfrm>
          <a:prstGeom prst="rect">
            <a:avLst/>
          </a:prstGeom>
          <a:solidFill>
            <a:srgbClr val="FBFCF2"/>
          </a:solidFill>
          <a:ln w="12700">
            <a:solidFill>
              <a:srgbClr val="72816A"/>
            </a:solidFill>
            <a:prstDash val="solid"/>
          </a:ln>
        </p:spPr>
      </p:sp>
      <p:sp>
        <p:nvSpPr>
          <p:cNvPr id="14" name="Shape 12"/>
          <p:cNvSpPr/>
          <p:nvPr/>
        </p:nvSpPr>
        <p:spPr>
          <a:xfrm>
            <a:off x="658368" y="2871216"/>
            <a:ext cx="1371600" cy="2286000"/>
          </a:xfrm>
          <a:prstGeom prst="rect">
            <a:avLst/>
          </a:prstGeom>
          <a:solidFill>
            <a:srgbClr val="F1EFE1"/>
          </a:solidFill>
          <a:ln w="8890">
            <a:solidFill>
              <a:srgbClr val="B5C3A7"/>
            </a:solidFill>
            <a:prstDash val="solid"/>
          </a:ln>
        </p:spPr>
      </p:sp>
      <p:sp>
        <p:nvSpPr>
          <p:cNvPr id="15" name="Text 13"/>
          <p:cNvSpPr/>
          <p:nvPr/>
        </p:nvSpPr>
        <p:spPr>
          <a:xfrm>
            <a:off x="731520" y="3922776"/>
            <a:ext cx="1225296" cy="182880"/>
          </a:xfrm>
          <a:prstGeom prst="rect">
            <a:avLst/>
          </a:prstGeom>
          <a:noFill/>
          <a:ln/>
        </p:spPr>
        <p:txBody>
          <a:bodyPr wrap="square" lIns="0" tIns="0" rIns="0" bIns="0" rtlCol="0" anchor="ctr"/>
          <a:lstStyle/>
          <a:p>
            <a:pPr algn="ctr" indent="0" marL="0">
              <a:buNone/>
            </a:pPr>
            <a:r>
              <a:rPr lang="en-US" sz="900" dirty="0">
                <a:solidFill>
                  <a:srgbClr val="425A43"/>
                </a:solidFill>
              </a:rPr>
              <a:t>WELCOME</a:t>
            </a:r>
            <a:endParaRPr lang="en-US" sz="900" dirty="0"/>
          </a:p>
        </p:txBody>
      </p:sp>
      <p:sp>
        <p:nvSpPr>
          <p:cNvPr id="16" name="Shape 14"/>
          <p:cNvSpPr/>
          <p:nvPr/>
        </p:nvSpPr>
        <p:spPr>
          <a:xfrm>
            <a:off x="2212848" y="2871216"/>
            <a:ext cx="2651760" cy="932688"/>
          </a:xfrm>
          <a:prstGeom prst="rect">
            <a:avLst/>
          </a:prstGeom>
          <a:solidFill>
            <a:srgbClr val="D8E5CB"/>
          </a:solidFill>
          <a:ln w="8890">
            <a:solidFill>
              <a:srgbClr val="B5C3A7"/>
            </a:solidFill>
            <a:prstDash val="solid"/>
          </a:ln>
        </p:spPr>
      </p:sp>
      <p:sp>
        <p:nvSpPr>
          <p:cNvPr id="17" name="Text 15"/>
          <p:cNvSpPr/>
          <p:nvPr/>
        </p:nvSpPr>
        <p:spPr>
          <a:xfrm>
            <a:off x="2286000" y="324612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QUIET READING</a:t>
            </a:r>
            <a:endParaRPr lang="en-US" sz="900" dirty="0"/>
          </a:p>
        </p:txBody>
      </p:sp>
      <p:sp>
        <p:nvSpPr>
          <p:cNvPr id="18" name="Shape 16"/>
          <p:cNvSpPr/>
          <p:nvPr/>
        </p:nvSpPr>
        <p:spPr>
          <a:xfrm>
            <a:off x="2212848" y="3986784"/>
            <a:ext cx="2651760" cy="1170432"/>
          </a:xfrm>
          <a:prstGeom prst="rect">
            <a:avLst/>
          </a:prstGeom>
          <a:solidFill>
            <a:srgbClr val="F1EFE1"/>
          </a:solidFill>
          <a:ln w="8890">
            <a:solidFill>
              <a:srgbClr val="B5C3A7"/>
            </a:solidFill>
            <a:prstDash val="solid"/>
          </a:ln>
        </p:spPr>
      </p:sp>
      <p:sp>
        <p:nvSpPr>
          <p:cNvPr id="19" name="Text 17"/>
          <p:cNvSpPr/>
          <p:nvPr/>
        </p:nvSpPr>
        <p:spPr>
          <a:xfrm>
            <a:off x="2286000" y="4480560"/>
            <a:ext cx="2505456" cy="182880"/>
          </a:xfrm>
          <a:prstGeom prst="rect">
            <a:avLst/>
          </a:prstGeom>
          <a:noFill/>
          <a:ln/>
        </p:spPr>
        <p:txBody>
          <a:bodyPr wrap="square" lIns="0" tIns="0" rIns="0" bIns="0" rtlCol="0" anchor="ctr"/>
          <a:lstStyle/>
          <a:p>
            <a:pPr algn="ctr" indent="0" marL="0">
              <a:buNone/>
            </a:pPr>
            <a:r>
              <a:rPr lang="en-US" sz="900" dirty="0">
                <a:solidFill>
                  <a:srgbClr val="425A43"/>
                </a:solidFill>
              </a:rPr>
              <a:t>SHARED TABLE</a:t>
            </a:r>
            <a:endParaRPr lang="en-US" sz="900" dirty="0"/>
          </a:p>
        </p:txBody>
      </p:sp>
      <p:sp>
        <p:nvSpPr>
          <p:cNvPr id="20" name="Text 18"/>
          <p:cNvSpPr/>
          <p:nvPr/>
        </p:nvSpPr>
        <p:spPr>
          <a:xfrm>
            <a:off x="292608" y="5577840"/>
            <a:ext cx="4937760" cy="228600"/>
          </a:xfrm>
          <a:prstGeom prst="rect">
            <a:avLst/>
          </a:prstGeom>
          <a:noFill/>
          <a:ln/>
        </p:spPr>
        <p:txBody>
          <a:bodyPr wrap="square" lIns="0" tIns="0" rIns="0" bIns="0" rtlCol="0" anchor="ctr"/>
          <a:lstStyle/>
          <a:p>
            <a:pPr indent="0" marL="0">
              <a:buNone/>
            </a:pPr>
            <a:r>
              <a:rPr lang="en-US" sz="700" dirty="0">
                <a:solidFill>
                  <a:srgbClr val="7D886E"/>
                </a:solidFill>
              </a:rPr>
              <a:t>Not to scale. No real dimensions, capacity or approved route.</a:t>
            </a:r>
            <a:endParaRPr lang="en-US" sz="700" dirty="0"/>
          </a:p>
        </p:txBody>
      </p:sp>
      <p:pic>
        <p:nvPicPr>
          <p:cNvPr id="21" name="Image 0" descr="/home/user/design-buddy/.cache/open-shelf/review-31.png">    </p:cNvPr>
          <p:cNvPicPr>
            <a:picLocks noChangeAspect="1"/>
          </p:cNvPicPr>
          <p:nvPr/>
        </p:nvPicPr>
        <p:blipFill>
          <a:blip r:embed="rId1"/>
          <a:srcRect l="0" r="0" t="0" b="0"/>
          <a:stretch/>
        </p:blipFill>
        <p:spPr>
          <a:xfrm>
            <a:off x="5449824" y="2267712"/>
            <a:ext cx="6309360" cy="3145536"/>
          </a:xfrm>
          <a:prstGeom prst="rect">
            <a:avLst/>
          </a:prstGeom>
        </p:spPr>
      </p:pic>
      <p:sp>
        <p:nvSpPr>
          <p:cNvPr id="22" name="Text 19"/>
          <p:cNvSpPr/>
          <p:nvPr/>
        </p:nvSpPr>
        <p:spPr>
          <a:xfrm>
            <a:off x="5449824" y="5577840"/>
            <a:ext cx="6309360" cy="228600"/>
          </a:xfrm>
          <a:prstGeom prst="rect">
            <a:avLst/>
          </a:prstGeom>
          <a:noFill/>
          <a:ln/>
        </p:spPr>
        <p:txBody>
          <a:bodyPr wrap="square" lIns="0" tIns="0" rIns="0" bIns="0" rtlCol="0" anchor="ctr"/>
          <a:lstStyle/>
          <a:p>
            <a:pPr indent="0" marL="0">
              <a:buNone/>
            </a:pPr>
            <a:r>
              <a:rPr lang="en-US" sz="700" dirty="0">
                <a:solidFill>
                  <a:srgbClr val="7D886E"/>
                </a:solidFill>
              </a:rPr>
              <a:t>MAIN ART 16 PENDING / SUPPORTING RESPONSIBILITY MAP ONLY</a:t>
            </a:r>
            <a:endParaRPr lang="en-US" sz="700" dirty="0"/>
          </a:p>
        </p:txBody>
      </p:sp>
      <p:sp>
        <p:nvSpPr>
          <p:cNvPr id="23" name="Shape 20"/>
          <p:cNvSpPr/>
          <p:nvPr/>
        </p:nvSpPr>
        <p:spPr>
          <a:xfrm>
            <a:off x="292608" y="6035040"/>
            <a:ext cx="11466576" cy="0"/>
          </a:xfrm>
          <a:prstGeom prst="line">
            <a:avLst/>
          </a:prstGeom>
          <a:noFill/>
          <a:ln w="12700">
            <a:solidFill>
              <a:srgbClr val="B7C6A9"/>
            </a:solidFill>
            <a:prstDash val="solid"/>
          </a:ln>
        </p:spPr>
      </p:sp>
      <p:sp>
        <p:nvSpPr>
          <p:cNvPr id="24" name="Text 21"/>
          <p:cNvSpPr/>
          <p:nvPr/>
        </p:nvSpPr>
        <p:spPr>
          <a:xfrm>
            <a:off x="292608" y="6263640"/>
            <a:ext cx="6492240" cy="164592"/>
          </a:xfrm>
          <a:prstGeom prst="rect">
            <a:avLst/>
          </a:prstGeom>
          <a:noFill/>
          <a:ln/>
        </p:spPr>
        <p:txBody>
          <a:bodyPr wrap="square" lIns="0" tIns="0" rIns="0" bIns="0" rtlCol="0" anchor="ctr"/>
          <a:lstStyle/>
          <a:p>
            <a:pPr indent="0" marL="0">
              <a:buNone/>
            </a:pPr>
            <a:r>
              <a:rPr lang="en-US" sz="700" dirty="0">
                <a:solidFill>
                  <a:srgbClr val="9B744E"/>
                </a:solidFill>
              </a:rPr>
              <a:t>PROPOSAL / BOUNDARY</a:t>
            </a:r>
            <a:endParaRPr lang="en-US" sz="700" dirty="0"/>
          </a:p>
        </p:txBody>
      </p:sp>
      <p:sp>
        <p:nvSpPr>
          <p:cNvPr id="25" name="Text 22"/>
          <p:cNvSpPr/>
          <p:nvPr/>
        </p:nvSpPr>
        <p:spPr>
          <a:xfrm>
            <a:off x="292608" y="6537960"/>
            <a:ext cx="6492240" cy="822960"/>
          </a:xfrm>
          <a:prstGeom prst="rect">
            <a:avLst/>
          </a:prstGeom>
          <a:noFill/>
          <a:ln/>
        </p:spPr>
        <p:txBody>
          <a:bodyPr wrap="square" lIns="0" tIns="0" rIns="0" bIns="0" rtlCol="0" anchor="t">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A useful spatial concept ends with a transparent next discussion, not a claim that the room is ready to operate. This preview still lacks six primary illustrations; supporting maps are not counted as main art.</a:t>
            </a:r>
            <a:endParaRPr lang="en-US" sz="1200" dirty="0"/>
          </a:p>
        </p:txBody>
      </p:sp>
      <p:sp>
        <p:nvSpPr>
          <p:cNvPr id="26" name="Text 23"/>
          <p:cNvSpPr/>
          <p:nvPr/>
        </p:nvSpPr>
        <p:spPr>
          <a:xfrm>
            <a:off x="292608" y="7470648"/>
            <a:ext cx="6492240" cy="274320"/>
          </a:xfrm>
          <a:prstGeom prst="rect">
            <a:avLst/>
          </a:prstGeom>
          <a:noFill/>
          <a:ln/>
        </p:spPr>
        <p:txBody>
          <a:bodyPr wrap="square" lIns="0" tIns="0" rIns="0" bIns="0" rtlCol="0" anchor="ctr">
            <a:normAutofit/>
          </a:bodyPr>
          <a:lstStyle/>
          <a:p>
            <a:pPr indent="0" marL="0">
              <a:buNone/>
            </a:pPr>
            <a:r>
              <a:rPr lang="en-US" sz="900" dirty="0">
                <a:solidFill>
                  <a:srgbClr val="7C8166"/>
                </a:solidFill>
              </a:rPr>
              <a:t>A concept is a starting point, not implementation authority.</a:t>
            </a:r>
            <a:endParaRPr lang="en-US" sz="900" dirty="0"/>
          </a:p>
        </p:txBody>
      </p:sp>
      <p:sp>
        <p:nvSpPr>
          <p:cNvPr id="27" name="Text 24"/>
          <p:cNvSpPr/>
          <p:nvPr/>
        </p:nvSpPr>
        <p:spPr>
          <a:xfrm>
            <a:off x="7077456" y="6263640"/>
            <a:ext cx="4681728" cy="164592"/>
          </a:xfrm>
          <a:prstGeom prst="rect">
            <a:avLst/>
          </a:prstGeom>
          <a:noFill/>
          <a:ln/>
        </p:spPr>
        <p:txBody>
          <a:bodyPr wrap="square" lIns="0" tIns="0" rIns="0" bIns="0" rtlCol="0" anchor="ctr"/>
          <a:lstStyle/>
          <a:p>
            <a:pPr indent="0" marL="0">
              <a:buNone/>
            </a:pPr>
            <a:r>
              <a:rPr lang="en-US" sz="700" dirty="0">
                <a:solidFill>
                  <a:srgbClr val="9B744E"/>
                </a:solidFill>
              </a:rPr>
              <a:t>NEXT ACTION / REVIEW QUESTION</a:t>
            </a:r>
            <a:endParaRPr lang="en-US" sz="700" dirty="0"/>
          </a:p>
        </p:txBody>
      </p:sp>
      <p:sp>
        <p:nvSpPr>
          <p:cNvPr id="28" name="Text 25"/>
          <p:cNvSpPr/>
          <p:nvPr/>
        </p:nvSpPr>
        <p:spPr>
          <a:xfrm>
            <a:off x="7077456" y="6537960"/>
            <a:ext cx="4681728" cy="457200"/>
          </a:xfrm>
          <a:prstGeom prst="rect">
            <a:avLst/>
          </a:prstGeom>
          <a:noFill/>
          <a:ln/>
        </p:spPr>
        <p:txBody>
          <a:bodyPr wrap="square" lIns="0" tIns="0" rIns="0" bIns="0" rtlCol="0" anchor="ctr">
            <a:normAutofit/>
          </a:bodyPr>
          <a:lstStyle/>
          <a:p>
            <a:pPr indent="0" marL="0">
              <a:buNone/>
            </a:pPr>
            <a:r>
              <a:rPr lang="en-US" sz="1200" dirty="0">
                <a:solidFill>
                  <a:srgbClr val="3C554B"/>
                </a:solidFill>
                <a:latin typeface="Georgia" pitchFamily="34" charset="0"/>
                <a:ea typeface="Georgia" pitchFamily="34" charset="-122"/>
                <a:cs typeface="Georgia" pitchFamily="34" charset="-120"/>
              </a:rPr>
              <a:t>Hand over the current question and its boundaries.</a:t>
            </a:r>
            <a:endParaRPr lang="en-US" sz="1200" dirty="0"/>
          </a:p>
        </p:txBody>
      </p:sp>
      <p:sp>
        <p:nvSpPr>
          <p:cNvPr id="29" name="Text 26"/>
          <p:cNvSpPr/>
          <p:nvPr/>
        </p:nvSpPr>
        <p:spPr>
          <a:xfrm>
            <a:off x="7077456" y="7132320"/>
            <a:ext cx="4681728" cy="594360"/>
          </a:xfrm>
          <a:prstGeom prst="rect">
            <a:avLst/>
          </a:prstGeom>
          <a:noFill/>
          <a:ln/>
        </p:spPr>
        <p:txBody>
          <a:bodyPr wrap="square" lIns="0" tIns="0" rIns="0" bIns="0" rtlCol="0" anchor="ctr">
            <a:normAutofit/>
          </a:bodyPr>
          <a:lstStyle/>
          <a:p>
            <a:pPr indent="0" marL="0">
              <a:buNone/>
            </a:pPr>
            <a:r>
              <a:rPr lang="en-US" sz="1200" i="1" dirty="0">
                <a:solidFill>
                  <a:srgbClr val="6A785C"/>
                </a:solidFill>
                <a:latin typeface="Georgia" pitchFamily="34" charset="0"/>
                <a:ea typeface="Georgia" pitchFamily="34" charset="-122"/>
                <a:cs typeface="Georgia" pitchFamily="34" charset="-120"/>
              </a:rPr>
              <a:t>What should the next reader understand before proposing a real decision?</a:t>
            </a:r>
            <a:endParaRPr lang="en-US" sz="1200" dirty="0"/>
          </a:p>
        </p:txBody>
      </p:sp>
      <p:sp>
        <p:nvSpPr>
          <p:cNvPr id="30" name="Text 27"/>
          <p:cNvSpPr/>
          <p:nvPr/>
        </p:nvSpPr>
        <p:spPr>
          <a:xfrm>
            <a:off x="292608" y="7973568"/>
            <a:ext cx="11466576" cy="137160"/>
          </a:xfrm>
          <a:prstGeom prst="rect">
            <a:avLst/>
          </a:prstGeom>
          <a:noFill/>
          <a:ln/>
        </p:spPr>
        <p:txBody>
          <a:bodyPr wrap="square" lIns="0" tIns="0" rIns="0" bIns="0" rtlCol="0" anchor="ctr"/>
          <a:lstStyle/>
          <a:p>
            <a:pPr indent="0" marL="0">
              <a:buNone/>
            </a:pPr>
            <a:r>
              <a:rPr lang="en-US" sz="600" dirty="0">
                <a:solidFill>
                  <a:srgbClr val="7B876D"/>
                </a:solidFill>
              </a:rPr>
              <a:t>PREVIEW / 32 BOARDS / 10 OF 16 MAIN ILLUSTRATIONS / NOT APPROVED / 32 OF 32</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SHELF — Spatial concept preview</dc:title>
  <dc:subject>32 boards; 10 of 16 main illustrations; fictional proposal, no approval</dc:subject>
  <dc:creator>Design Buddy</dc:creator>
  <cp:lastModifiedBy>Design Buddy</cp:lastModifiedBy>
  <cp:revision>1</cp:revision>
  <dcterms:created xsi:type="dcterms:W3CDTF">2026-10-29T09:53:43Z</dcterms:created>
  <dcterms:modified xsi:type="dcterms:W3CDTF">2026-10-29T09:53:43Z</dcterms:modified>
</cp:coreProperties>
</file>
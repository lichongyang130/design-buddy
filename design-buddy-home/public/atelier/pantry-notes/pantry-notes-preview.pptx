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0789920" cy="7498080"/>
  <p:notesSz cx="7498080" cy="107899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DF3"/>
        </a:solidFill>
      </p:bgPr>
    </p:bg>
    <p:spTree>
      <p:nvGrpSpPr>
        <p:cNvPr id="1" name=""/>
        <p:cNvGrpSpPr/>
        <p:nvPr/>
      </p:nvGrpSpPr>
      <p:grpSpPr>
        <a:xfrm>
          <a:off x="0" y="0"/>
          <a:ext cx="0" cy="0"/>
          <a:chOff x="0" y="0"/>
          <a:chExt cx="0" cy="0"/>
        </a:xfrm>
      </p:grpSpPr>
      <p:sp>
        <p:nvSpPr>
          <p:cNvPr id="2" name="Text 0"/>
          <p:cNvSpPr/>
          <p:nvPr/>
        </p:nvSpPr>
        <p:spPr>
          <a:xfrm>
            <a:off x="310896" y="256032"/>
            <a:ext cx="7772400" cy="182880"/>
          </a:xfrm>
          <a:prstGeom prst="rect">
            <a:avLst/>
          </a:prstGeom>
          <a:noFill/>
          <a:ln/>
        </p:spPr>
        <p:txBody>
          <a:bodyPr wrap="square" lIns="0" tIns="0" rIns="0" bIns="0" rtlCol="0" anchor="ctr"/>
          <a:lstStyle/>
          <a:p>
            <a:pPr indent="0" marL="0">
              <a:buNone/>
            </a:pPr>
            <a:r>
              <a:rPr lang="en-US" sz="800" dirty="0">
                <a:solidFill>
                  <a:srgbClr val="708267"/>
                </a:solidFill>
              </a:rPr>
              <a:t>PANTRY NOTES / THE MEASUREMENT NOTEBOOK</a:t>
            </a:r>
            <a:endParaRPr lang="en-US" sz="800" dirty="0"/>
          </a:p>
        </p:txBody>
      </p:sp>
      <p:sp>
        <p:nvSpPr>
          <p:cNvPr id="3" name="Text 1"/>
          <p:cNvSpPr/>
          <p:nvPr/>
        </p:nvSpPr>
        <p:spPr>
          <a:xfrm>
            <a:off x="310896" y="594360"/>
            <a:ext cx="7772400" cy="237744"/>
          </a:xfrm>
          <a:prstGeom prst="rect">
            <a:avLst/>
          </a:prstGeom>
          <a:noFill/>
          <a:ln/>
        </p:spPr>
        <p:txBody>
          <a:bodyPr wrap="square" lIns="0" tIns="0" rIns="0" bIns="0" rtlCol="0" anchor="ctr"/>
          <a:lstStyle/>
          <a:p>
            <a:pPr indent="0" marL="0">
              <a:buNone/>
            </a:pPr>
            <a:r>
              <a:rPr lang="en-US" sz="1400" dirty="0">
                <a:solidFill>
                  <a:srgbClr val="344E41"/>
                </a:solidFill>
                <a:latin typeface="Georgia" pitchFamily="34" charset="0"/>
                <a:ea typeface="Georgia" pitchFamily="34" charset="-122"/>
                <a:cs typeface="Georgia" pitchFamily="34" charset="-120"/>
              </a:rPr>
              <a:t>01 / Start with a question</a:t>
            </a:r>
            <a:endParaRPr lang="en-US" sz="1400" dirty="0"/>
          </a:p>
        </p:txBody>
      </p:sp>
      <p:sp>
        <p:nvSpPr>
          <p:cNvPr id="4" name="Text 2"/>
          <p:cNvSpPr/>
          <p:nvPr/>
        </p:nvSpPr>
        <p:spPr>
          <a:xfrm>
            <a:off x="9784080" y="274320"/>
            <a:ext cx="640080" cy="411480"/>
          </a:xfrm>
          <a:prstGeom prst="rect">
            <a:avLst/>
          </a:prstGeom>
          <a:noFill/>
          <a:ln/>
        </p:spPr>
        <p:txBody>
          <a:bodyPr wrap="square" lIns="0" tIns="0" rIns="0" bIns="0" rtlCol="0" anchor="ctr"/>
          <a:lstStyle/>
          <a:p>
            <a:pPr algn="r" indent="0" marL="0">
              <a:buNone/>
            </a:pPr>
            <a:r>
              <a:rPr lang="en-US" sz="2500" dirty="0">
                <a:solidFill>
                  <a:srgbClr val="B1724C"/>
                </a:solidFill>
              </a:rPr>
              <a:t>01</a:t>
            </a:r>
            <a:endParaRPr lang="en-US" sz="2500" dirty="0"/>
          </a:p>
        </p:txBody>
      </p:sp>
      <p:sp>
        <p:nvSpPr>
          <p:cNvPr id="5" name="Shape 3"/>
          <p:cNvSpPr/>
          <p:nvPr/>
        </p:nvSpPr>
        <p:spPr>
          <a:xfrm>
            <a:off x="310896" y="960120"/>
            <a:ext cx="10149840" cy="0"/>
          </a:xfrm>
          <a:prstGeom prst="line">
            <a:avLst/>
          </a:prstGeom>
          <a:noFill/>
          <a:ln w="12700">
            <a:solidFill>
              <a:srgbClr val="C6D0BC"/>
            </a:solidFill>
            <a:prstDash val="solid"/>
          </a:ln>
        </p:spPr>
      </p:sp>
      <p:pic>
        <p:nvPicPr>
          <p:cNvPr id="6" name="Image 0" descr="/home/user/design-buddy/design-buddy-home/public/atelier/pantry-notes/images/01.jpg">    </p:cNvPr>
          <p:cNvPicPr>
            <a:picLocks noChangeAspect="1"/>
          </p:cNvPicPr>
          <p:nvPr/>
        </p:nvPicPr>
        <p:blipFill>
          <a:blip r:embed="rId1"/>
          <a:srcRect l="0" r="0" t="0" b="0"/>
          <a:stretch/>
        </p:blipFill>
        <p:spPr>
          <a:xfrm>
            <a:off x="310896" y="1207008"/>
            <a:ext cx="6217920" cy="4023360"/>
          </a:xfrm>
          <a:prstGeom prst="rect">
            <a:avLst/>
          </a:prstGeom>
        </p:spPr>
      </p:pic>
      <p:sp>
        <p:nvSpPr>
          <p:cNvPr id="7" name="Text 4"/>
          <p:cNvSpPr/>
          <p:nvPr/>
        </p:nvSpPr>
        <p:spPr>
          <a:xfrm>
            <a:off x="310896" y="5376672"/>
            <a:ext cx="6217920" cy="320040"/>
          </a:xfrm>
          <a:prstGeom prst="rect">
            <a:avLst/>
          </a:prstGeom>
          <a:noFill/>
          <a:ln/>
        </p:spPr>
        <p:txBody>
          <a:bodyPr wrap="square" lIns="0" tIns="0" rIns="0" bIns="0" rtlCol="0" anchor="ctr"/>
          <a:lstStyle/>
          <a:p>
            <a:pPr indent="0" marL="0">
              <a:buNone/>
            </a:pPr>
            <a:r>
              <a:rPr lang="en-US" sz="700" dirty="0">
                <a:solidFill>
                  <a:srgbClr val="7C886F"/>
                </a:solidFill>
              </a:rPr>
              <a:t>Watercolour study 1 / illustration, not measurement evidence</a:t>
            </a:r>
            <a:endParaRPr lang="en-US" sz="700" dirty="0"/>
          </a:p>
        </p:txBody>
      </p:sp>
      <p:sp>
        <p:nvSpPr>
          <p:cNvPr id="8" name="Text 5"/>
          <p:cNvSpPr/>
          <p:nvPr/>
        </p:nvSpPr>
        <p:spPr>
          <a:xfrm>
            <a:off x="6803136" y="1216152"/>
            <a:ext cx="3383280" cy="182880"/>
          </a:xfrm>
          <a:prstGeom prst="rect">
            <a:avLst/>
          </a:prstGeom>
          <a:noFill/>
          <a:ln/>
        </p:spPr>
        <p:txBody>
          <a:bodyPr wrap="square" lIns="0" tIns="0" rIns="0" bIns="0" rtlCol="0" anchor="ctr"/>
          <a:lstStyle/>
          <a:p>
            <a:pPr indent="0" marL="0">
              <a:buNone/>
            </a:pPr>
            <a:r>
              <a:rPr lang="en-US" sz="700" dirty="0">
                <a:solidFill>
                  <a:srgbClr val="A46343"/>
                </a:solidFill>
              </a:rPr>
              <a:t>THE OBSERVATION</a:t>
            </a:r>
            <a:endParaRPr lang="en-US" sz="700" dirty="0"/>
          </a:p>
        </p:txBody>
      </p:sp>
      <p:sp>
        <p:nvSpPr>
          <p:cNvPr id="9" name="Text 6"/>
          <p:cNvSpPr/>
          <p:nvPr/>
        </p:nvSpPr>
        <p:spPr>
          <a:xfrm>
            <a:off x="6803136" y="1554480"/>
            <a:ext cx="3383280" cy="969264"/>
          </a:xfrm>
          <a:prstGeom prst="rect">
            <a:avLst/>
          </a:prstGeom>
          <a:noFill/>
          <a:ln/>
        </p:spPr>
        <p:txBody>
          <a:bodyPr wrap="square" lIns="0" tIns="0" rIns="0" bIns="0" rtlCol="0" anchor="ctr">
            <a:normAutofit/>
          </a:bodyPr>
          <a:lstStyle/>
          <a:p>
            <a:pPr indent="0" marL="0">
              <a:buNone/>
            </a:pPr>
            <a:r>
              <a:rPr lang="en-US" sz="2500" dirty="0">
                <a:solidFill>
                  <a:srgbClr val="3E5743"/>
                </a:solidFill>
                <a:latin typeface="Georgia" pitchFamily="34" charset="0"/>
                <a:ea typeface="Georgia" pitchFamily="34" charset="-122"/>
                <a:cs typeface="Georgia" pitchFamily="34" charset="-120"/>
              </a:rPr>
              <a:t>Notice before you measure.</a:t>
            </a:r>
            <a:endParaRPr lang="en-US" sz="2500" dirty="0"/>
          </a:p>
        </p:txBody>
      </p:sp>
      <p:sp>
        <p:nvSpPr>
          <p:cNvPr id="10" name="Text 7"/>
          <p:cNvSpPr/>
          <p:nvPr/>
        </p:nvSpPr>
        <p:spPr>
          <a:xfrm>
            <a:off x="6803136" y="2715768"/>
            <a:ext cx="3383280" cy="1883664"/>
          </a:xfrm>
          <a:prstGeom prst="rect">
            <a:avLst/>
          </a:prstGeom>
          <a:noFill/>
          <a:ln/>
        </p:spPr>
        <p:txBody>
          <a:bodyPr wrap="square" lIns="0" tIns="0" rIns="0" bIns="0" rtlCol="0" anchor="t">
            <a:normAutofit/>
          </a:bodyPr>
          <a:lstStyle/>
          <a:p>
            <a:pPr indent="0" marL="0">
              <a:buNone/>
            </a:pPr>
            <a:r>
              <a:rPr lang="en-US" sz="1200" dirty="0">
                <a:solidFill>
                  <a:srgbClr val="344E41"/>
                </a:solidFill>
                <a:latin typeface="Georgia" pitchFamily="34" charset="0"/>
                <a:ea typeface="Georgia" pitchFamily="34" charset="-122"/>
                <a:cs typeface="Georgia" pitchFamily="34" charset="-120"/>
              </a:rPr>
              <a:t>This field journal explores quantities, units and written observations through a familiar kitchen setting. Its numbers are invented learning examples, not readings from the pictured instruments. Start by saying what you want to describe.</a:t>
            </a:r>
            <a:endParaRPr lang="en-US" sz="1200" dirty="0"/>
          </a:p>
        </p:txBody>
      </p:sp>
      <p:sp>
        <p:nvSpPr>
          <p:cNvPr id="11" name="Text 8"/>
          <p:cNvSpPr/>
          <p:nvPr/>
        </p:nvSpPr>
        <p:spPr>
          <a:xfrm>
            <a:off x="6803136" y="4782312"/>
            <a:ext cx="3383280" cy="164592"/>
          </a:xfrm>
          <a:prstGeom prst="rect">
            <a:avLst/>
          </a:prstGeom>
          <a:noFill/>
          <a:ln/>
        </p:spPr>
        <p:txBody>
          <a:bodyPr wrap="square" lIns="0" tIns="0" rIns="0" bIns="0" rtlCol="0" anchor="ctr"/>
          <a:lstStyle/>
          <a:p>
            <a:pPr indent="0" marL="0">
              <a:buNone/>
            </a:pPr>
            <a:r>
              <a:rPr lang="en-US" sz="700" dirty="0">
                <a:solidFill>
                  <a:srgbClr val="A46343"/>
                </a:solidFill>
              </a:rPr>
              <a:t>MODEL / METHOD NOTE</a:t>
            </a:r>
            <a:endParaRPr lang="en-US" sz="700" dirty="0"/>
          </a:p>
        </p:txBody>
      </p:sp>
      <p:sp>
        <p:nvSpPr>
          <p:cNvPr id="12" name="Text 9"/>
          <p:cNvSpPr/>
          <p:nvPr/>
        </p:nvSpPr>
        <p:spPr>
          <a:xfrm>
            <a:off x="6803136" y="5074920"/>
            <a:ext cx="3383280" cy="594360"/>
          </a:xfrm>
          <a:prstGeom prst="rect">
            <a:avLst/>
          </a:prstGeom>
          <a:noFill/>
          <a:ln/>
        </p:spPr>
        <p:txBody>
          <a:bodyPr wrap="square" lIns="0" tIns="0" rIns="0" bIns="0" rtlCol="0" anchor="ctr">
            <a:normAutofit/>
          </a:bodyPr>
          <a:lstStyle/>
          <a:p>
            <a:pPr indent="0" marL="0">
              <a:buNone/>
            </a:pPr>
            <a:r>
              <a:rPr lang="en-US" sz="1000" dirty="0">
                <a:solidFill>
                  <a:srgbClr val="62745B"/>
                </a:solidFill>
                <a:latin typeface="Georgia" pitchFamily="34" charset="0"/>
                <a:ea typeface="Georgia" pitchFamily="34" charset="-122"/>
                <a:cs typeface="Georgia" pitchFamily="34" charset="-120"/>
              </a:rPr>
              <a:t>Observation → quantity → unit → method.</a:t>
            </a:r>
            <a:endParaRPr lang="en-US" sz="1000" dirty="0"/>
          </a:p>
        </p:txBody>
      </p:sp>
      <p:sp>
        <p:nvSpPr>
          <p:cNvPr id="13" name="Shape 10"/>
          <p:cNvSpPr/>
          <p:nvPr/>
        </p:nvSpPr>
        <p:spPr>
          <a:xfrm>
            <a:off x="310896" y="5961888"/>
            <a:ext cx="10149840" cy="1207008"/>
          </a:xfrm>
          <a:prstGeom prst="rect">
            <a:avLst/>
          </a:prstGeom>
          <a:solidFill>
            <a:srgbClr val="E9EDDF"/>
          </a:solidFill>
          <a:ln w="12700">
            <a:solidFill>
              <a:srgbClr val="E9EDDF"/>
            </a:solidFill>
            <a:prstDash val="solid"/>
          </a:ln>
        </p:spPr>
      </p:sp>
      <p:sp>
        <p:nvSpPr>
          <p:cNvPr id="14" name="Text 11"/>
          <p:cNvSpPr/>
          <p:nvPr/>
        </p:nvSpPr>
        <p:spPr>
          <a:xfrm>
            <a:off x="493776" y="6126480"/>
            <a:ext cx="9784080" cy="164592"/>
          </a:xfrm>
          <a:prstGeom prst="rect">
            <a:avLst/>
          </a:prstGeom>
          <a:noFill/>
          <a:ln/>
        </p:spPr>
        <p:txBody>
          <a:bodyPr wrap="square" lIns="0" tIns="0" rIns="0" bIns="0" rtlCol="0" anchor="ctr"/>
          <a:lstStyle/>
          <a:p>
            <a:pPr indent="0" marL="0">
              <a:buNone/>
            </a:pPr>
            <a:r>
              <a:rPr lang="en-US" sz="700" dirty="0">
                <a:solidFill>
                  <a:srgbClr val="A46343"/>
                </a:solidFill>
              </a:rPr>
              <a:t>TRY / REFLECT</a:t>
            </a:r>
            <a:endParaRPr lang="en-US" sz="700" dirty="0"/>
          </a:p>
        </p:txBody>
      </p:sp>
      <p:sp>
        <p:nvSpPr>
          <p:cNvPr id="15" name="Text 12"/>
          <p:cNvSpPr/>
          <p:nvPr/>
        </p:nvSpPr>
        <p:spPr>
          <a:xfrm>
            <a:off x="493776" y="6428232"/>
            <a:ext cx="9784080" cy="384048"/>
          </a:xfrm>
          <a:prstGeom prst="rect">
            <a:avLst/>
          </a:prstGeom>
          <a:noFill/>
          <a:ln/>
        </p:spPr>
        <p:txBody>
          <a:bodyPr wrap="square" lIns="0" tIns="0" rIns="0" bIns="0" rtlCol="0" anchor="ctr">
            <a:normAutofit/>
          </a:bodyPr>
          <a:lstStyle/>
          <a:p>
            <a:pPr indent="0" marL="0">
              <a:buNone/>
            </a:pPr>
            <a:r>
              <a:rPr lang="en-US" sz="1300" dirty="0">
                <a:solidFill>
                  <a:srgbClr val="344E41"/>
                </a:solidFill>
                <a:latin typeface="Georgia" pitchFamily="34" charset="0"/>
                <a:ea typeface="Georgia" pitchFamily="34" charset="-122"/>
                <a:cs typeface="Georgia" pitchFamily="34" charset="-120"/>
              </a:rPr>
              <a:t>Name one quantity you could describe without claiming a recipe or safety outcome.</a:t>
            </a:r>
            <a:endParaRPr lang="en-US" sz="1300" dirty="0"/>
          </a:p>
        </p:txBody>
      </p:sp>
      <p:sp>
        <p:nvSpPr>
          <p:cNvPr id="16" name="Text 13"/>
          <p:cNvSpPr/>
          <p:nvPr/>
        </p:nvSpPr>
        <p:spPr>
          <a:xfrm>
            <a:off x="493776" y="6940296"/>
            <a:ext cx="9784080" cy="137160"/>
          </a:xfrm>
          <a:prstGeom prst="rect">
            <a:avLst/>
          </a:prstGeom>
          <a:noFill/>
          <a:ln/>
        </p:spPr>
        <p:txBody>
          <a:bodyPr wrap="square" lIns="0" tIns="0" rIns="0" bIns="0" rtlCol="0" anchor="ctr"/>
          <a:lstStyle/>
          <a:p>
            <a:pPr indent="0" marL="0">
              <a:buNone/>
            </a:pPr>
            <a:r>
              <a:rPr lang="en-US" sz="600" dirty="0">
                <a:solidFill>
                  <a:srgbClr val="77836B"/>
                </a:solidFill>
              </a:rPr>
              <a:t>COMPLETE / 32 PAGES / 16 INDEPENDENT MAIN ILLUSTRATIONS / MODEL NUMBERS, NOT REAL READINGS</a:t>
            </a:r>
            <a:endParaRPr lang="en-US" sz="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3"/>
        </a:solidFill>
      </p:bgPr>
    </p:bg>
    <p:spTree>
      <p:nvGrpSpPr>
        <p:cNvPr id="1" name=""/>
        <p:cNvGrpSpPr/>
        <p:nvPr/>
      </p:nvGrpSpPr>
      <p:grpSpPr>
        <a:xfrm>
          <a:off x="0" y="0"/>
          <a:ext cx="0" cy="0"/>
          <a:chOff x="0" y="0"/>
          <a:chExt cx="0" cy="0"/>
        </a:xfrm>
      </p:grpSpPr>
      <p:sp>
        <p:nvSpPr>
          <p:cNvPr id="2" name="Text 0"/>
          <p:cNvSpPr/>
          <p:nvPr/>
        </p:nvSpPr>
        <p:spPr>
          <a:xfrm>
            <a:off x="310896" y="256032"/>
            <a:ext cx="7772400" cy="182880"/>
          </a:xfrm>
          <a:prstGeom prst="rect">
            <a:avLst/>
          </a:prstGeom>
          <a:noFill/>
          <a:ln/>
        </p:spPr>
        <p:txBody>
          <a:bodyPr wrap="square" lIns="0" tIns="0" rIns="0" bIns="0" rtlCol="0" anchor="ctr"/>
          <a:lstStyle/>
          <a:p>
            <a:pPr indent="0" marL="0">
              <a:buNone/>
            </a:pPr>
            <a:r>
              <a:rPr lang="en-US" sz="800" dirty="0">
                <a:solidFill>
                  <a:srgbClr val="708267"/>
                </a:solidFill>
              </a:rPr>
              <a:t>PANTRY NOTES / THE MEASUREMENT NOTEBOOK</a:t>
            </a:r>
            <a:endParaRPr lang="en-US" sz="800" dirty="0"/>
          </a:p>
        </p:txBody>
      </p:sp>
      <p:sp>
        <p:nvSpPr>
          <p:cNvPr id="3" name="Text 1"/>
          <p:cNvSpPr/>
          <p:nvPr/>
        </p:nvSpPr>
        <p:spPr>
          <a:xfrm>
            <a:off x="310896" y="594360"/>
            <a:ext cx="7772400" cy="237744"/>
          </a:xfrm>
          <a:prstGeom prst="rect">
            <a:avLst/>
          </a:prstGeom>
          <a:noFill/>
          <a:ln/>
        </p:spPr>
        <p:txBody>
          <a:bodyPr wrap="square" lIns="0" tIns="0" rIns="0" bIns="0" rtlCol="0" anchor="ctr"/>
          <a:lstStyle/>
          <a:p>
            <a:pPr indent="0" marL="0">
              <a:buNone/>
            </a:pPr>
            <a:r>
              <a:rPr lang="en-US" sz="1400" dirty="0">
                <a:solidFill>
                  <a:srgbClr val="344E41"/>
                </a:solidFill>
                <a:latin typeface="Georgia" pitchFamily="34" charset="0"/>
                <a:ea typeface="Georgia" pitchFamily="34" charset="-122"/>
                <a:cs typeface="Georgia" pitchFamily="34" charset="-120"/>
              </a:rPr>
              <a:t>01 / Start with a question</a:t>
            </a:r>
            <a:endParaRPr lang="en-US" sz="1400" dirty="0"/>
          </a:p>
        </p:txBody>
      </p:sp>
      <p:sp>
        <p:nvSpPr>
          <p:cNvPr id="4" name="Text 2"/>
          <p:cNvSpPr/>
          <p:nvPr/>
        </p:nvSpPr>
        <p:spPr>
          <a:xfrm>
            <a:off x="9784080" y="274320"/>
            <a:ext cx="640080" cy="411480"/>
          </a:xfrm>
          <a:prstGeom prst="rect">
            <a:avLst/>
          </a:prstGeom>
          <a:noFill/>
          <a:ln/>
        </p:spPr>
        <p:txBody>
          <a:bodyPr wrap="square" lIns="0" tIns="0" rIns="0" bIns="0" rtlCol="0" anchor="ctr"/>
          <a:lstStyle/>
          <a:p>
            <a:pPr algn="r" indent="0" marL="0">
              <a:buNone/>
            </a:pPr>
            <a:r>
              <a:rPr lang="en-US" sz="2500" dirty="0">
                <a:solidFill>
                  <a:srgbClr val="B1724C"/>
                </a:solidFill>
              </a:rPr>
              <a:t>02</a:t>
            </a:r>
            <a:endParaRPr lang="en-US" sz="2500" dirty="0"/>
          </a:p>
        </p:txBody>
      </p:sp>
      <p:sp>
        <p:nvSpPr>
          <p:cNvPr id="5" name="Shape 3"/>
          <p:cNvSpPr/>
          <p:nvPr/>
        </p:nvSpPr>
        <p:spPr>
          <a:xfrm>
            <a:off x="310896" y="960120"/>
            <a:ext cx="10149840" cy="0"/>
          </a:xfrm>
          <a:prstGeom prst="line">
            <a:avLst/>
          </a:prstGeom>
          <a:noFill/>
          <a:ln w="12700">
            <a:solidFill>
              <a:srgbClr val="C6D0BC"/>
            </a:solidFill>
            <a:prstDash val="solid"/>
          </a:ln>
        </p:spPr>
      </p:sp>
      <p:pic>
        <p:nvPicPr>
          <p:cNvPr id="6" name="Image 0" descr="/home/user/design-buddy/design-buddy-home/public/atelier/pantry-notes/images/01.jpg">    </p:cNvPr>
          <p:cNvPicPr>
            <a:picLocks noChangeAspect="1"/>
          </p:cNvPicPr>
          <p:nvPr/>
        </p:nvPicPr>
        <p:blipFill>
          <a:blip r:embed="rId1"/>
          <a:srcRect l="0" r="0" t="0" b="0"/>
          <a:stretch/>
        </p:blipFill>
        <p:spPr>
          <a:xfrm>
            <a:off x="310896" y="1207008"/>
            <a:ext cx="6217920" cy="4023360"/>
          </a:xfrm>
          <a:prstGeom prst="rect">
            <a:avLst/>
          </a:prstGeom>
        </p:spPr>
      </p:pic>
      <p:sp>
        <p:nvSpPr>
          <p:cNvPr id="7" name="Text 4"/>
          <p:cNvSpPr/>
          <p:nvPr/>
        </p:nvSpPr>
        <p:spPr>
          <a:xfrm>
            <a:off x="310896" y="5376672"/>
            <a:ext cx="6217920" cy="320040"/>
          </a:xfrm>
          <a:prstGeom prst="rect">
            <a:avLst/>
          </a:prstGeom>
          <a:noFill/>
          <a:ln/>
        </p:spPr>
        <p:txBody>
          <a:bodyPr wrap="square" lIns="0" tIns="0" rIns="0" bIns="0" rtlCol="0" anchor="ctr"/>
          <a:lstStyle/>
          <a:p>
            <a:pPr indent="0" marL="0">
              <a:buNone/>
            </a:pPr>
            <a:r>
              <a:rPr lang="en-US" sz="700" dirty="0">
                <a:solidFill>
                  <a:srgbClr val="7C886F"/>
                </a:solidFill>
              </a:rPr>
              <a:t>Watercolour study 1 / illustration, not measurement evidence</a:t>
            </a:r>
            <a:endParaRPr lang="en-US" sz="700" dirty="0"/>
          </a:p>
        </p:txBody>
      </p:sp>
      <p:sp>
        <p:nvSpPr>
          <p:cNvPr id="8" name="Text 5"/>
          <p:cNvSpPr/>
          <p:nvPr/>
        </p:nvSpPr>
        <p:spPr>
          <a:xfrm>
            <a:off x="6803136" y="1216152"/>
            <a:ext cx="3383280" cy="182880"/>
          </a:xfrm>
          <a:prstGeom prst="rect">
            <a:avLst/>
          </a:prstGeom>
          <a:noFill/>
          <a:ln/>
        </p:spPr>
        <p:txBody>
          <a:bodyPr wrap="square" lIns="0" tIns="0" rIns="0" bIns="0" rtlCol="0" anchor="ctr"/>
          <a:lstStyle/>
          <a:p>
            <a:pPr indent="0" marL="0">
              <a:buNone/>
            </a:pPr>
            <a:r>
              <a:rPr lang="en-US" sz="700" dirty="0">
                <a:solidFill>
                  <a:srgbClr val="A46343"/>
                </a:solidFill>
              </a:rPr>
              <a:t>THE OBSERVATION</a:t>
            </a:r>
            <a:endParaRPr lang="en-US" sz="700" dirty="0"/>
          </a:p>
        </p:txBody>
      </p:sp>
      <p:sp>
        <p:nvSpPr>
          <p:cNvPr id="9" name="Text 6"/>
          <p:cNvSpPr/>
          <p:nvPr/>
        </p:nvSpPr>
        <p:spPr>
          <a:xfrm>
            <a:off x="6803136" y="1554480"/>
            <a:ext cx="3383280" cy="969264"/>
          </a:xfrm>
          <a:prstGeom prst="rect">
            <a:avLst/>
          </a:prstGeom>
          <a:noFill/>
          <a:ln/>
        </p:spPr>
        <p:txBody>
          <a:bodyPr wrap="square" lIns="0" tIns="0" rIns="0" bIns="0" rtlCol="0" anchor="ctr">
            <a:normAutofit/>
          </a:bodyPr>
          <a:lstStyle/>
          <a:p>
            <a:pPr indent="0" marL="0">
              <a:buNone/>
            </a:pPr>
            <a:r>
              <a:rPr lang="en-US" sz="2500" dirty="0">
                <a:solidFill>
                  <a:srgbClr val="3E5743"/>
                </a:solidFill>
                <a:latin typeface="Georgia" pitchFamily="34" charset="0"/>
                <a:ea typeface="Georgia" pitchFamily="34" charset="-122"/>
                <a:cs typeface="Georgia" pitchFamily="34" charset="-120"/>
              </a:rPr>
              <a:t>Make the question small.</a:t>
            </a:r>
            <a:endParaRPr lang="en-US" sz="2500" dirty="0"/>
          </a:p>
        </p:txBody>
      </p:sp>
      <p:sp>
        <p:nvSpPr>
          <p:cNvPr id="10" name="Text 7"/>
          <p:cNvSpPr/>
          <p:nvPr/>
        </p:nvSpPr>
        <p:spPr>
          <a:xfrm>
            <a:off x="6803136" y="2715768"/>
            <a:ext cx="3383280" cy="1883664"/>
          </a:xfrm>
          <a:prstGeom prst="rect">
            <a:avLst/>
          </a:prstGeom>
          <a:noFill/>
          <a:ln/>
        </p:spPr>
        <p:txBody>
          <a:bodyPr wrap="square" lIns="0" tIns="0" rIns="0" bIns="0" rtlCol="0" anchor="t">
            <a:normAutofit/>
          </a:bodyPr>
          <a:lstStyle/>
          <a:p>
            <a:pPr indent="0" marL="0">
              <a:buNone/>
            </a:pPr>
            <a:r>
              <a:rPr lang="en-US" sz="1200" dirty="0">
                <a:solidFill>
                  <a:srgbClr val="344E41"/>
                </a:solidFill>
                <a:latin typeface="Georgia" pitchFamily="34" charset="0"/>
                <a:ea typeface="Georgia" pitchFamily="34" charset="-122"/>
                <a:cs typeface="Georgia" pitchFamily="34" charset="-120"/>
              </a:rPr>
              <a:t>“How much is in this bowl?” is ambiguous. It might ask for mass, volume, price or a portion count. A useful measurement question names one quantity, the object and the intended comparison.</a:t>
            </a:r>
            <a:endParaRPr lang="en-US" sz="1200" dirty="0"/>
          </a:p>
        </p:txBody>
      </p:sp>
      <p:sp>
        <p:nvSpPr>
          <p:cNvPr id="11" name="Text 8"/>
          <p:cNvSpPr/>
          <p:nvPr/>
        </p:nvSpPr>
        <p:spPr>
          <a:xfrm>
            <a:off x="6803136" y="4782312"/>
            <a:ext cx="3383280" cy="164592"/>
          </a:xfrm>
          <a:prstGeom prst="rect">
            <a:avLst/>
          </a:prstGeom>
          <a:noFill/>
          <a:ln/>
        </p:spPr>
        <p:txBody>
          <a:bodyPr wrap="square" lIns="0" tIns="0" rIns="0" bIns="0" rtlCol="0" anchor="ctr"/>
          <a:lstStyle/>
          <a:p>
            <a:pPr indent="0" marL="0">
              <a:buNone/>
            </a:pPr>
            <a:r>
              <a:rPr lang="en-US" sz="700" dirty="0">
                <a:solidFill>
                  <a:srgbClr val="A46343"/>
                </a:solidFill>
              </a:rPr>
              <a:t>MODEL / METHOD NOTE</a:t>
            </a:r>
            <a:endParaRPr lang="en-US" sz="700" dirty="0"/>
          </a:p>
        </p:txBody>
      </p:sp>
      <p:sp>
        <p:nvSpPr>
          <p:cNvPr id="12" name="Text 9"/>
          <p:cNvSpPr/>
          <p:nvPr/>
        </p:nvSpPr>
        <p:spPr>
          <a:xfrm>
            <a:off x="6803136" y="5074920"/>
            <a:ext cx="3383280" cy="594360"/>
          </a:xfrm>
          <a:prstGeom prst="rect">
            <a:avLst/>
          </a:prstGeom>
          <a:noFill/>
          <a:ln/>
        </p:spPr>
        <p:txBody>
          <a:bodyPr wrap="square" lIns="0" tIns="0" rIns="0" bIns="0" rtlCol="0" anchor="ctr">
            <a:normAutofit/>
          </a:bodyPr>
          <a:lstStyle/>
          <a:p>
            <a:pPr indent="0" marL="0">
              <a:buNone/>
            </a:pPr>
            <a:r>
              <a:rPr lang="en-US" sz="1000" dirty="0">
                <a:solidFill>
                  <a:srgbClr val="62745B"/>
                </a:solidFill>
                <a:latin typeface="Georgia" pitchFamily="34" charset="0"/>
                <a:ea typeface="Georgia" pitchFamily="34" charset="-122"/>
                <a:cs typeface="Georgia" pitchFamily="34" charset="-120"/>
              </a:rPr>
              <a:t>Example question: What is the mass of these dry oats, excluding the bowl?</a:t>
            </a:r>
            <a:endParaRPr lang="en-US" sz="1000" dirty="0"/>
          </a:p>
        </p:txBody>
      </p:sp>
      <p:sp>
        <p:nvSpPr>
          <p:cNvPr id="13" name="Shape 10"/>
          <p:cNvSpPr/>
          <p:nvPr/>
        </p:nvSpPr>
        <p:spPr>
          <a:xfrm>
            <a:off x="310896" y="5961888"/>
            <a:ext cx="10149840" cy="1207008"/>
          </a:xfrm>
          <a:prstGeom prst="rect">
            <a:avLst/>
          </a:prstGeom>
          <a:solidFill>
            <a:srgbClr val="E9EDDF"/>
          </a:solidFill>
          <a:ln w="12700">
            <a:solidFill>
              <a:srgbClr val="E9EDDF"/>
            </a:solidFill>
            <a:prstDash val="solid"/>
          </a:ln>
        </p:spPr>
      </p:sp>
      <p:sp>
        <p:nvSpPr>
          <p:cNvPr id="14" name="Text 11"/>
          <p:cNvSpPr/>
          <p:nvPr/>
        </p:nvSpPr>
        <p:spPr>
          <a:xfrm>
            <a:off x="493776" y="6126480"/>
            <a:ext cx="9784080" cy="164592"/>
          </a:xfrm>
          <a:prstGeom prst="rect">
            <a:avLst/>
          </a:prstGeom>
          <a:noFill/>
          <a:ln/>
        </p:spPr>
        <p:txBody>
          <a:bodyPr wrap="square" lIns="0" tIns="0" rIns="0" bIns="0" rtlCol="0" anchor="ctr"/>
          <a:lstStyle/>
          <a:p>
            <a:pPr indent="0" marL="0">
              <a:buNone/>
            </a:pPr>
            <a:r>
              <a:rPr lang="en-US" sz="700" dirty="0">
                <a:solidFill>
                  <a:srgbClr val="A46343"/>
                </a:solidFill>
              </a:rPr>
              <a:t>TRY / REFLECT</a:t>
            </a:r>
            <a:endParaRPr lang="en-US" sz="700" dirty="0"/>
          </a:p>
        </p:txBody>
      </p:sp>
      <p:sp>
        <p:nvSpPr>
          <p:cNvPr id="15" name="Text 12"/>
          <p:cNvSpPr/>
          <p:nvPr/>
        </p:nvSpPr>
        <p:spPr>
          <a:xfrm>
            <a:off x="493776" y="6428232"/>
            <a:ext cx="9784080" cy="384048"/>
          </a:xfrm>
          <a:prstGeom prst="rect">
            <a:avLst/>
          </a:prstGeom>
          <a:noFill/>
          <a:ln/>
        </p:spPr>
        <p:txBody>
          <a:bodyPr wrap="square" lIns="0" tIns="0" rIns="0" bIns="0" rtlCol="0" anchor="ctr">
            <a:normAutofit/>
          </a:bodyPr>
          <a:lstStyle/>
          <a:p>
            <a:pPr indent="0" marL="0">
              <a:buNone/>
            </a:pPr>
            <a:r>
              <a:rPr lang="en-US" sz="1300" dirty="0">
                <a:solidFill>
                  <a:srgbClr val="344E41"/>
                </a:solidFill>
                <a:latin typeface="Georgia" pitchFamily="34" charset="0"/>
                <a:ea typeface="Georgia" pitchFamily="34" charset="-122"/>
                <a:cs typeface="Georgia" pitchFamily="34" charset="-120"/>
              </a:rPr>
              <a:t>Rewrite a broad kitchen question so a second reader knows what would be measured.</a:t>
            </a:r>
            <a:endParaRPr lang="en-US" sz="1300" dirty="0"/>
          </a:p>
        </p:txBody>
      </p:sp>
      <p:sp>
        <p:nvSpPr>
          <p:cNvPr id="16" name="Text 13"/>
          <p:cNvSpPr/>
          <p:nvPr/>
        </p:nvSpPr>
        <p:spPr>
          <a:xfrm>
            <a:off x="493776" y="6940296"/>
            <a:ext cx="9784080" cy="137160"/>
          </a:xfrm>
          <a:prstGeom prst="rect">
            <a:avLst/>
          </a:prstGeom>
          <a:noFill/>
          <a:ln/>
        </p:spPr>
        <p:txBody>
          <a:bodyPr wrap="square" lIns="0" tIns="0" rIns="0" bIns="0" rtlCol="0" anchor="ctr"/>
          <a:lstStyle/>
          <a:p>
            <a:pPr indent="0" marL="0">
              <a:buNone/>
            </a:pPr>
            <a:r>
              <a:rPr lang="en-US" sz="600" dirty="0">
                <a:solidFill>
                  <a:srgbClr val="77836B"/>
                </a:solidFill>
              </a:rPr>
              <a:t>COMPLETE / 32 PAGES / 16 INDEPENDENT MAIN ILLUSTRATIONS / MODEL NUMBERS, NOT REAL READINGS</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3"/>
        </a:solidFill>
      </p:bgPr>
    </p:bg>
    <p:spTree>
      <p:nvGrpSpPr>
        <p:cNvPr id="1" name=""/>
        <p:cNvGrpSpPr/>
        <p:nvPr/>
      </p:nvGrpSpPr>
      <p:grpSpPr>
        <a:xfrm>
          <a:off x="0" y="0"/>
          <a:ext cx="0" cy="0"/>
          <a:chOff x="0" y="0"/>
          <a:chExt cx="0" cy="0"/>
        </a:xfrm>
      </p:grpSpPr>
      <p:sp>
        <p:nvSpPr>
          <p:cNvPr id="2" name="Text 0"/>
          <p:cNvSpPr/>
          <p:nvPr/>
        </p:nvSpPr>
        <p:spPr>
          <a:xfrm>
            <a:off x="310896" y="256032"/>
            <a:ext cx="7772400" cy="182880"/>
          </a:xfrm>
          <a:prstGeom prst="rect">
            <a:avLst/>
          </a:prstGeom>
          <a:noFill/>
          <a:ln/>
        </p:spPr>
        <p:txBody>
          <a:bodyPr wrap="square" lIns="0" tIns="0" rIns="0" bIns="0" rtlCol="0" anchor="ctr"/>
          <a:lstStyle/>
          <a:p>
            <a:pPr indent="0" marL="0">
              <a:buNone/>
            </a:pPr>
            <a:r>
              <a:rPr lang="en-US" sz="800" dirty="0">
                <a:solidFill>
                  <a:srgbClr val="708267"/>
                </a:solidFill>
              </a:rPr>
              <a:t>PANTRY NOTES / THE MEASUREMENT NOTEBOOK</a:t>
            </a:r>
            <a:endParaRPr lang="en-US" sz="800" dirty="0"/>
          </a:p>
        </p:txBody>
      </p:sp>
      <p:sp>
        <p:nvSpPr>
          <p:cNvPr id="3" name="Text 1"/>
          <p:cNvSpPr/>
          <p:nvPr/>
        </p:nvSpPr>
        <p:spPr>
          <a:xfrm>
            <a:off x="310896" y="594360"/>
            <a:ext cx="7772400" cy="237744"/>
          </a:xfrm>
          <a:prstGeom prst="rect">
            <a:avLst/>
          </a:prstGeom>
          <a:noFill/>
          <a:ln/>
        </p:spPr>
        <p:txBody>
          <a:bodyPr wrap="square" lIns="0" tIns="0" rIns="0" bIns="0" rtlCol="0" anchor="ctr"/>
          <a:lstStyle/>
          <a:p>
            <a:pPr indent="0" marL="0">
              <a:buNone/>
            </a:pPr>
            <a:r>
              <a:rPr lang="en-US" sz="1400" dirty="0">
                <a:solidFill>
                  <a:srgbClr val="344E41"/>
                </a:solidFill>
                <a:latin typeface="Georgia" pitchFamily="34" charset="0"/>
                <a:ea typeface="Georgia" pitchFamily="34" charset="-122"/>
                <a:cs typeface="Georgia" pitchFamily="34" charset="-120"/>
              </a:rPr>
              <a:t>01 / Start with a question</a:t>
            </a:r>
            <a:endParaRPr lang="en-US" sz="1400" dirty="0"/>
          </a:p>
        </p:txBody>
      </p:sp>
      <p:sp>
        <p:nvSpPr>
          <p:cNvPr id="4" name="Text 2"/>
          <p:cNvSpPr/>
          <p:nvPr/>
        </p:nvSpPr>
        <p:spPr>
          <a:xfrm>
            <a:off x="9784080" y="274320"/>
            <a:ext cx="640080" cy="411480"/>
          </a:xfrm>
          <a:prstGeom prst="rect">
            <a:avLst/>
          </a:prstGeom>
          <a:noFill/>
          <a:ln/>
        </p:spPr>
        <p:txBody>
          <a:bodyPr wrap="square" lIns="0" tIns="0" rIns="0" bIns="0" rtlCol="0" anchor="ctr"/>
          <a:lstStyle/>
          <a:p>
            <a:pPr algn="r" indent="0" marL="0">
              <a:buNone/>
            </a:pPr>
            <a:r>
              <a:rPr lang="en-US" sz="2500" dirty="0">
                <a:solidFill>
                  <a:srgbClr val="B1724C"/>
                </a:solidFill>
              </a:rPr>
              <a:t>03</a:t>
            </a:r>
            <a:endParaRPr lang="en-US" sz="2500" dirty="0"/>
          </a:p>
        </p:txBody>
      </p:sp>
      <p:sp>
        <p:nvSpPr>
          <p:cNvPr id="5" name="Shape 3"/>
          <p:cNvSpPr/>
          <p:nvPr/>
        </p:nvSpPr>
        <p:spPr>
          <a:xfrm>
            <a:off x="310896" y="960120"/>
            <a:ext cx="10149840" cy="0"/>
          </a:xfrm>
          <a:prstGeom prst="line">
            <a:avLst/>
          </a:prstGeom>
          <a:noFill/>
          <a:ln w="12700">
            <a:solidFill>
              <a:srgbClr val="C6D0BC"/>
            </a:solidFill>
            <a:prstDash val="solid"/>
          </a:ln>
        </p:spPr>
      </p:sp>
      <p:pic>
        <p:nvPicPr>
          <p:cNvPr id="6" name="Image 0" descr="/home/user/design-buddy/design-buddy-home/public/atelier/pantry-notes/images/02.jpg">    </p:cNvPr>
          <p:cNvPicPr>
            <a:picLocks noChangeAspect="1"/>
          </p:cNvPicPr>
          <p:nvPr/>
        </p:nvPicPr>
        <p:blipFill>
          <a:blip r:embed="rId1"/>
          <a:srcRect l="0" r="0" t="0" b="0"/>
          <a:stretch/>
        </p:blipFill>
        <p:spPr>
          <a:xfrm>
            <a:off x="310896" y="1207008"/>
            <a:ext cx="6217920" cy="4023360"/>
          </a:xfrm>
          <a:prstGeom prst="rect">
            <a:avLst/>
          </a:prstGeom>
        </p:spPr>
      </p:pic>
      <p:sp>
        <p:nvSpPr>
          <p:cNvPr id="7" name="Text 4"/>
          <p:cNvSpPr/>
          <p:nvPr/>
        </p:nvSpPr>
        <p:spPr>
          <a:xfrm>
            <a:off x="310896" y="5376672"/>
            <a:ext cx="6217920" cy="320040"/>
          </a:xfrm>
          <a:prstGeom prst="rect">
            <a:avLst/>
          </a:prstGeom>
          <a:noFill/>
          <a:ln/>
        </p:spPr>
        <p:txBody>
          <a:bodyPr wrap="square" lIns="0" tIns="0" rIns="0" bIns="0" rtlCol="0" anchor="ctr"/>
          <a:lstStyle/>
          <a:p>
            <a:pPr indent="0" marL="0">
              <a:buNone/>
            </a:pPr>
            <a:r>
              <a:rPr lang="en-US" sz="700" dirty="0">
                <a:solidFill>
                  <a:srgbClr val="7C886F"/>
                </a:solidFill>
              </a:rPr>
              <a:t>Watercolour study 2 / illustration, not measurement evidence</a:t>
            </a:r>
            <a:endParaRPr lang="en-US" sz="700" dirty="0"/>
          </a:p>
        </p:txBody>
      </p:sp>
      <p:sp>
        <p:nvSpPr>
          <p:cNvPr id="8" name="Text 5"/>
          <p:cNvSpPr/>
          <p:nvPr/>
        </p:nvSpPr>
        <p:spPr>
          <a:xfrm>
            <a:off x="6803136" y="1216152"/>
            <a:ext cx="3383280" cy="182880"/>
          </a:xfrm>
          <a:prstGeom prst="rect">
            <a:avLst/>
          </a:prstGeom>
          <a:noFill/>
          <a:ln/>
        </p:spPr>
        <p:txBody>
          <a:bodyPr wrap="square" lIns="0" tIns="0" rIns="0" bIns="0" rtlCol="0" anchor="ctr"/>
          <a:lstStyle/>
          <a:p>
            <a:pPr indent="0" marL="0">
              <a:buNone/>
            </a:pPr>
            <a:r>
              <a:rPr lang="en-US" sz="700" dirty="0">
                <a:solidFill>
                  <a:srgbClr val="A46343"/>
                </a:solidFill>
              </a:rPr>
              <a:t>THE OBSERVATION</a:t>
            </a:r>
            <a:endParaRPr lang="en-US" sz="700" dirty="0"/>
          </a:p>
        </p:txBody>
      </p:sp>
      <p:sp>
        <p:nvSpPr>
          <p:cNvPr id="9" name="Text 6"/>
          <p:cNvSpPr/>
          <p:nvPr/>
        </p:nvSpPr>
        <p:spPr>
          <a:xfrm>
            <a:off x="6803136" y="1554480"/>
            <a:ext cx="3383280" cy="969264"/>
          </a:xfrm>
          <a:prstGeom prst="rect">
            <a:avLst/>
          </a:prstGeom>
          <a:noFill/>
          <a:ln/>
        </p:spPr>
        <p:txBody>
          <a:bodyPr wrap="square" lIns="0" tIns="0" rIns="0" bIns="0" rtlCol="0" anchor="ctr">
            <a:normAutofit/>
          </a:bodyPr>
          <a:lstStyle/>
          <a:p>
            <a:pPr indent="0" marL="0">
              <a:buNone/>
            </a:pPr>
            <a:r>
              <a:rPr lang="en-US" sz="2500" dirty="0">
                <a:solidFill>
                  <a:srgbClr val="3E5743"/>
                </a:solidFill>
                <a:latin typeface="Georgia" pitchFamily="34" charset="0"/>
                <a:ea typeface="Georgia" pitchFamily="34" charset="-122"/>
                <a:cs typeface="Georgia" pitchFamily="34" charset="-120"/>
              </a:rPr>
              <a:t>A tool does not define the claim.</a:t>
            </a:r>
            <a:endParaRPr lang="en-US" sz="2500" dirty="0"/>
          </a:p>
        </p:txBody>
      </p:sp>
      <p:sp>
        <p:nvSpPr>
          <p:cNvPr id="10" name="Text 7"/>
          <p:cNvSpPr/>
          <p:nvPr/>
        </p:nvSpPr>
        <p:spPr>
          <a:xfrm>
            <a:off x="6803136" y="2715768"/>
            <a:ext cx="3383280" cy="1883664"/>
          </a:xfrm>
          <a:prstGeom prst="rect">
            <a:avLst/>
          </a:prstGeom>
          <a:noFill/>
          <a:ln/>
        </p:spPr>
        <p:txBody>
          <a:bodyPr wrap="square" lIns="0" tIns="0" rIns="0" bIns="0" rtlCol="0" anchor="t">
            <a:normAutofit/>
          </a:bodyPr>
          <a:lstStyle/>
          <a:p>
            <a:pPr indent="0" marL="0">
              <a:buNone/>
            </a:pPr>
            <a:r>
              <a:rPr lang="en-US" sz="1200" dirty="0">
                <a:solidFill>
                  <a:srgbClr val="344E41"/>
                </a:solidFill>
                <a:latin typeface="Georgia" pitchFamily="34" charset="0"/>
                <a:ea typeface="Georgia" pitchFamily="34" charset="-122"/>
                <a:cs typeface="Georgia" pitchFamily="34" charset="-120"/>
              </a:rPr>
              <a:t>A scale and a jug answer different questions. The illustration is contextual, not a calibrated instrument. Select a method appropriate to the quantity and describe the method rather than inferring accuracy from an attractive picture.</a:t>
            </a:r>
            <a:endParaRPr lang="en-US" sz="1200" dirty="0"/>
          </a:p>
        </p:txBody>
      </p:sp>
      <p:sp>
        <p:nvSpPr>
          <p:cNvPr id="11" name="Text 8"/>
          <p:cNvSpPr/>
          <p:nvPr/>
        </p:nvSpPr>
        <p:spPr>
          <a:xfrm>
            <a:off x="6803136" y="4782312"/>
            <a:ext cx="3383280" cy="164592"/>
          </a:xfrm>
          <a:prstGeom prst="rect">
            <a:avLst/>
          </a:prstGeom>
          <a:noFill/>
          <a:ln/>
        </p:spPr>
        <p:txBody>
          <a:bodyPr wrap="square" lIns="0" tIns="0" rIns="0" bIns="0" rtlCol="0" anchor="ctr"/>
          <a:lstStyle/>
          <a:p>
            <a:pPr indent="0" marL="0">
              <a:buNone/>
            </a:pPr>
            <a:r>
              <a:rPr lang="en-US" sz="700" dirty="0">
                <a:solidFill>
                  <a:srgbClr val="A46343"/>
                </a:solidFill>
              </a:rPr>
              <a:t>MODEL / METHOD NOTE</a:t>
            </a:r>
            <a:endParaRPr lang="en-US" sz="700" dirty="0"/>
          </a:p>
        </p:txBody>
      </p:sp>
      <p:sp>
        <p:nvSpPr>
          <p:cNvPr id="12" name="Text 9"/>
          <p:cNvSpPr/>
          <p:nvPr/>
        </p:nvSpPr>
        <p:spPr>
          <a:xfrm>
            <a:off x="6803136" y="5074920"/>
            <a:ext cx="3383280" cy="594360"/>
          </a:xfrm>
          <a:prstGeom prst="rect">
            <a:avLst/>
          </a:prstGeom>
          <a:noFill/>
          <a:ln/>
        </p:spPr>
        <p:txBody>
          <a:bodyPr wrap="square" lIns="0" tIns="0" rIns="0" bIns="0" rtlCol="0" anchor="ctr">
            <a:normAutofit/>
          </a:bodyPr>
          <a:lstStyle/>
          <a:p>
            <a:pPr indent="0" marL="0">
              <a:buNone/>
            </a:pPr>
            <a:r>
              <a:rPr lang="en-US" sz="1000" dirty="0">
                <a:solidFill>
                  <a:srgbClr val="62745B"/>
                </a:solidFill>
                <a:latin typeface="Georgia" pitchFamily="34" charset="0"/>
                <a:ea typeface="Georgia" pitchFamily="34" charset="-122"/>
                <a:cs typeface="Georgia" pitchFamily="34" charset="-120"/>
              </a:rPr>
              <a:t>Mass and volume are different quantities.</a:t>
            </a:r>
            <a:endParaRPr lang="en-US" sz="1000" dirty="0"/>
          </a:p>
        </p:txBody>
      </p:sp>
      <p:sp>
        <p:nvSpPr>
          <p:cNvPr id="13" name="Shape 10"/>
          <p:cNvSpPr/>
          <p:nvPr/>
        </p:nvSpPr>
        <p:spPr>
          <a:xfrm>
            <a:off x="310896" y="5961888"/>
            <a:ext cx="10149840" cy="1207008"/>
          </a:xfrm>
          <a:prstGeom prst="rect">
            <a:avLst/>
          </a:prstGeom>
          <a:solidFill>
            <a:srgbClr val="E9EDDF"/>
          </a:solidFill>
          <a:ln w="12700">
            <a:solidFill>
              <a:srgbClr val="E9EDDF"/>
            </a:solidFill>
            <a:prstDash val="solid"/>
          </a:ln>
        </p:spPr>
      </p:sp>
      <p:sp>
        <p:nvSpPr>
          <p:cNvPr id="14" name="Text 11"/>
          <p:cNvSpPr/>
          <p:nvPr/>
        </p:nvSpPr>
        <p:spPr>
          <a:xfrm>
            <a:off x="493776" y="6126480"/>
            <a:ext cx="9784080" cy="164592"/>
          </a:xfrm>
          <a:prstGeom prst="rect">
            <a:avLst/>
          </a:prstGeom>
          <a:noFill/>
          <a:ln/>
        </p:spPr>
        <p:txBody>
          <a:bodyPr wrap="square" lIns="0" tIns="0" rIns="0" bIns="0" rtlCol="0" anchor="ctr"/>
          <a:lstStyle/>
          <a:p>
            <a:pPr indent="0" marL="0">
              <a:buNone/>
            </a:pPr>
            <a:r>
              <a:rPr lang="en-US" sz="700" dirty="0">
                <a:solidFill>
                  <a:srgbClr val="A46343"/>
                </a:solidFill>
              </a:rPr>
              <a:t>TRY / REFLECT</a:t>
            </a:r>
            <a:endParaRPr lang="en-US" sz="700" dirty="0"/>
          </a:p>
        </p:txBody>
      </p:sp>
      <p:sp>
        <p:nvSpPr>
          <p:cNvPr id="15" name="Text 12"/>
          <p:cNvSpPr/>
          <p:nvPr/>
        </p:nvSpPr>
        <p:spPr>
          <a:xfrm>
            <a:off x="493776" y="6428232"/>
            <a:ext cx="9784080" cy="384048"/>
          </a:xfrm>
          <a:prstGeom prst="rect">
            <a:avLst/>
          </a:prstGeom>
          <a:noFill/>
          <a:ln/>
        </p:spPr>
        <p:txBody>
          <a:bodyPr wrap="square" lIns="0" tIns="0" rIns="0" bIns="0" rtlCol="0" anchor="ctr">
            <a:normAutofit/>
          </a:bodyPr>
          <a:lstStyle/>
          <a:p>
            <a:pPr indent="0" marL="0">
              <a:buNone/>
            </a:pPr>
            <a:r>
              <a:rPr lang="en-US" sz="1300" dirty="0">
                <a:solidFill>
                  <a:srgbClr val="344E41"/>
                </a:solidFill>
                <a:latin typeface="Georgia" pitchFamily="34" charset="0"/>
                <a:ea typeface="Georgia" pitchFamily="34" charset="-122"/>
                <a:cs typeface="Georgia" pitchFamily="34" charset="-120"/>
              </a:rPr>
              <a:t>Which question calls for a mass reading, and which calls for a volume reading?</a:t>
            </a:r>
            <a:endParaRPr lang="en-US" sz="1300" dirty="0"/>
          </a:p>
        </p:txBody>
      </p:sp>
      <p:sp>
        <p:nvSpPr>
          <p:cNvPr id="16" name="Text 13"/>
          <p:cNvSpPr/>
          <p:nvPr/>
        </p:nvSpPr>
        <p:spPr>
          <a:xfrm>
            <a:off x="493776" y="6940296"/>
            <a:ext cx="9784080" cy="137160"/>
          </a:xfrm>
          <a:prstGeom prst="rect">
            <a:avLst/>
          </a:prstGeom>
          <a:noFill/>
          <a:ln/>
        </p:spPr>
        <p:txBody>
          <a:bodyPr wrap="square" lIns="0" tIns="0" rIns="0" bIns="0" rtlCol="0" anchor="ctr"/>
          <a:lstStyle/>
          <a:p>
            <a:pPr indent="0" marL="0">
              <a:buNone/>
            </a:pPr>
            <a:r>
              <a:rPr lang="en-US" sz="600" dirty="0">
                <a:solidFill>
                  <a:srgbClr val="77836B"/>
                </a:solidFill>
              </a:rPr>
              <a:t>COMPLETE / 32 PAGES / 16 INDEPENDENT MAIN ILLUSTRATIONS / MODEL NUMBERS, NOT REAL READINGS</a:t>
            </a:r>
            <a:endParaRPr lang="en-US" sz="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3"/>
        </a:solidFill>
      </p:bgPr>
    </p:bg>
    <p:spTree>
      <p:nvGrpSpPr>
        <p:cNvPr id="1" name=""/>
        <p:cNvGrpSpPr/>
        <p:nvPr/>
      </p:nvGrpSpPr>
      <p:grpSpPr>
        <a:xfrm>
          <a:off x="0" y="0"/>
          <a:ext cx="0" cy="0"/>
          <a:chOff x="0" y="0"/>
          <a:chExt cx="0" cy="0"/>
        </a:xfrm>
      </p:grpSpPr>
      <p:sp>
        <p:nvSpPr>
          <p:cNvPr id="2" name="Text 0"/>
          <p:cNvSpPr/>
          <p:nvPr/>
        </p:nvSpPr>
        <p:spPr>
          <a:xfrm>
            <a:off x="310896" y="256032"/>
            <a:ext cx="7772400" cy="182880"/>
          </a:xfrm>
          <a:prstGeom prst="rect">
            <a:avLst/>
          </a:prstGeom>
          <a:noFill/>
          <a:ln/>
        </p:spPr>
        <p:txBody>
          <a:bodyPr wrap="square" lIns="0" tIns="0" rIns="0" bIns="0" rtlCol="0" anchor="ctr"/>
          <a:lstStyle/>
          <a:p>
            <a:pPr indent="0" marL="0">
              <a:buNone/>
            </a:pPr>
            <a:r>
              <a:rPr lang="en-US" sz="800" dirty="0">
                <a:solidFill>
                  <a:srgbClr val="708267"/>
                </a:solidFill>
              </a:rPr>
              <a:t>PANTRY NOTES / THE MEASUREMENT NOTEBOOK</a:t>
            </a:r>
            <a:endParaRPr lang="en-US" sz="800" dirty="0"/>
          </a:p>
        </p:txBody>
      </p:sp>
      <p:sp>
        <p:nvSpPr>
          <p:cNvPr id="3" name="Text 1"/>
          <p:cNvSpPr/>
          <p:nvPr/>
        </p:nvSpPr>
        <p:spPr>
          <a:xfrm>
            <a:off x="310896" y="594360"/>
            <a:ext cx="7772400" cy="237744"/>
          </a:xfrm>
          <a:prstGeom prst="rect">
            <a:avLst/>
          </a:prstGeom>
          <a:noFill/>
          <a:ln/>
        </p:spPr>
        <p:txBody>
          <a:bodyPr wrap="square" lIns="0" tIns="0" rIns="0" bIns="0" rtlCol="0" anchor="ctr"/>
          <a:lstStyle/>
          <a:p>
            <a:pPr indent="0" marL="0">
              <a:buNone/>
            </a:pPr>
            <a:r>
              <a:rPr lang="en-US" sz="1400" dirty="0">
                <a:solidFill>
                  <a:srgbClr val="344E41"/>
                </a:solidFill>
                <a:latin typeface="Georgia" pitchFamily="34" charset="0"/>
                <a:ea typeface="Georgia" pitchFamily="34" charset="-122"/>
                <a:cs typeface="Georgia" pitchFamily="34" charset="-120"/>
              </a:rPr>
              <a:t>01 / Start with a question</a:t>
            </a:r>
            <a:endParaRPr lang="en-US" sz="1400" dirty="0"/>
          </a:p>
        </p:txBody>
      </p:sp>
      <p:sp>
        <p:nvSpPr>
          <p:cNvPr id="4" name="Text 2"/>
          <p:cNvSpPr/>
          <p:nvPr/>
        </p:nvSpPr>
        <p:spPr>
          <a:xfrm>
            <a:off x="9784080" y="274320"/>
            <a:ext cx="640080" cy="411480"/>
          </a:xfrm>
          <a:prstGeom prst="rect">
            <a:avLst/>
          </a:prstGeom>
          <a:noFill/>
          <a:ln/>
        </p:spPr>
        <p:txBody>
          <a:bodyPr wrap="square" lIns="0" tIns="0" rIns="0" bIns="0" rtlCol="0" anchor="ctr"/>
          <a:lstStyle/>
          <a:p>
            <a:pPr algn="r" indent="0" marL="0">
              <a:buNone/>
            </a:pPr>
            <a:r>
              <a:rPr lang="en-US" sz="2500" dirty="0">
                <a:solidFill>
                  <a:srgbClr val="B1724C"/>
                </a:solidFill>
              </a:rPr>
              <a:t>04</a:t>
            </a:r>
            <a:endParaRPr lang="en-US" sz="2500" dirty="0"/>
          </a:p>
        </p:txBody>
      </p:sp>
      <p:sp>
        <p:nvSpPr>
          <p:cNvPr id="5" name="Shape 3"/>
          <p:cNvSpPr/>
          <p:nvPr/>
        </p:nvSpPr>
        <p:spPr>
          <a:xfrm>
            <a:off x="310896" y="960120"/>
            <a:ext cx="10149840" cy="0"/>
          </a:xfrm>
          <a:prstGeom prst="line">
            <a:avLst/>
          </a:prstGeom>
          <a:noFill/>
          <a:ln w="12700">
            <a:solidFill>
              <a:srgbClr val="C6D0BC"/>
            </a:solidFill>
            <a:prstDash val="solid"/>
          </a:ln>
        </p:spPr>
      </p:sp>
      <p:pic>
        <p:nvPicPr>
          <p:cNvPr id="6" name="Image 0" descr="/home/user/design-buddy/design-buddy-home/public/atelier/pantry-notes/images/02.jpg">    </p:cNvPr>
          <p:cNvPicPr>
            <a:picLocks noChangeAspect="1"/>
          </p:cNvPicPr>
          <p:nvPr/>
        </p:nvPicPr>
        <p:blipFill>
          <a:blip r:embed="rId1"/>
          <a:srcRect l="0" r="0" t="0" b="0"/>
          <a:stretch/>
        </p:blipFill>
        <p:spPr>
          <a:xfrm>
            <a:off x="310896" y="1207008"/>
            <a:ext cx="6217920" cy="4023360"/>
          </a:xfrm>
          <a:prstGeom prst="rect">
            <a:avLst/>
          </a:prstGeom>
        </p:spPr>
      </p:pic>
      <p:sp>
        <p:nvSpPr>
          <p:cNvPr id="7" name="Text 4"/>
          <p:cNvSpPr/>
          <p:nvPr/>
        </p:nvSpPr>
        <p:spPr>
          <a:xfrm>
            <a:off x="310896" y="5376672"/>
            <a:ext cx="6217920" cy="320040"/>
          </a:xfrm>
          <a:prstGeom prst="rect">
            <a:avLst/>
          </a:prstGeom>
          <a:noFill/>
          <a:ln/>
        </p:spPr>
        <p:txBody>
          <a:bodyPr wrap="square" lIns="0" tIns="0" rIns="0" bIns="0" rtlCol="0" anchor="ctr"/>
          <a:lstStyle/>
          <a:p>
            <a:pPr indent="0" marL="0">
              <a:buNone/>
            </a:pPr>
            <a:r>
              <a:rPr lang="en-US" sz="700" dirty="0">
                <a:solidFill>
                  <a:srgbClr val="7C886F"/>
                </a:solidFill>
              </a:rPr>
              <a:t>Watercolour study 2 / illustration, not measurement evidence</a:t>
            </a:r>
            <a:endParaRPr lang="en-US" sz="700" dirty="0"/>
          </a:p>
        </p:txBody>
      </p:sp>
      <p:sp>
        <p:nvSpPr>
          <p:cNvPr id="8" name="Text 5"/>
          <p:cNvSpPr/>
          <p:nvPr/>
        </p:nvSpPr>
        <p:spPr>
          <a:xfrm>
            <a:off x="6803136" y="1216152"/>
            <a:ext cx="3383280" cy="182880"/>
          </a:xfrm>
          <a:prstGeom prst="rect">
            <a:avLst/>
          </a:prstGeom>
          <a:noFill/>
          <a:ln/>
        </p:spPr>
        <p:txBody>
          <a:bodyPr wrap="square" lIns="0" tIns="0" rIns="0" bIns="0" rtlCol="0" anchor="ctr"/>
          <a:lstStyle/>
          <a:p>
            <a:pPr indent="0" marL="0">
              <a:buNone/>
            </a:pPr>
            <a:r>
              <a:rPr lang="en-US" sz="700" dirty="0">
                <a:solidFill>
                  <a:srgbClr val="A46343"/>
                </a:solidFill>
              </a:rPr>
              <a:t>THE OBSERVATION</a:t>
            </a:r>
            <a:endParaRPr lang="en-US" sz="700" dirty="0"/>
          </a:p>
        </p:txBody>
      </p:sp>
      <p:sp>
        <p:nvSpPr>
          <p:cNvPr id="9" name="Text 6"/>
          <p:cNvSpPr/>
          <p:nvPr/>
        </p:nvSpPr>
        <p:spPr>
          <a:xfrm>
            <a:off x="6803136" y="1554480"/>
            <a:ext cx="3383280" cy="969264"/>
          </a:xfrm>
          <a:prstGeom prst="rect">
            <a:avLst/>
          </a:prstGeom>
          <a:noFill/>
          <a:ln/>
        </p:spPr>
        <p:txBody>
          <a:bodyPr wrap="square" lIns="0" tIns="0" rIns="0" bIns="0" rtlCol="0" anchor="ctr">
            <a:normAutofit/>
          </a:bodyPr>
          <a:lstStyle/>
          <a:p>
            <a:pPr indent="0" marL="0">
              <a:buNone/>
            </a:pPr>
            <a:r>
              <a:rPr lang="en-US" sz="2500" dirty="0">
                <a:solidFill>
                  <a:srgbClr val="3E5743"/>
                </a:solidFill>
                <a:latin typeface="Georgia" pitchFamily="34" charset="0"/>
                <a:ea typeface="Georgia" pitchFamily="34" charset="-122"/>
                <a:cs typeface="Georgia" pitchFamily="34" charset="-120"/>
              </a:rPr>
              <a:t>Attach the unit immediately.</a:t>
            </a:r>
            <a:endParaRPr lang="en-US" sz="2500" dirty="0"/>
          </a:p>
        </p:txBody>
      </p:sp>
      <p:sp>
        <p:nvSpPr>
          <p:cNvPr id="10" name="Text 7"/>
          <p:cNvSpPr/>
          <p:nvPr/>
        </p:nvSpPr>
        <p:spPr>
          <a:xfrm>
            <a:off x="6803136" y="2715768"/>
            <a:ext cx="3383280" cy="1883664"/>
          </a:xfrm>
          <a:prstGeom prst="rect">
            <a:avLst/>
          </a:prstGeom>
          <a:noFill/>
          <a:ln/>
        </p:spPr>
        <p:txBody>
          <a:bodyPr wrap="square" lIns="0" tIns="0" rIns="0" bIns="0" rtlCol="0" anchor="t">
            <a:normAutofit/>
          </a:bodyPr>
          <a:lstStyle/>
          <a:p>
            <a:pPr indent="0" marL="0">
              <a:buNone/>
            </a:pPr>
            <a:r>
              <a:rPr lang="en-US" sz="1200" dirty="0">
                <a:solidFill>
                  <a:srgbClr val="344E41"/>
                </a:solidFill>
                <a:latin typeface="Georgia" pitchFamily="34" charset="0"/>
                <a:ea typeface="Georgia" pitchFamily="34" charset="-122"/>
                <a:cs typeface="Georgia" pitchFamily="34" charset="-120"/>
              </a:rPr>
              <a:t>A bare number is not enough. “200” might mean grams, millilitres or a count. Keep the quantity and unit together in notes and handoffs so someone else does not have to reconstruct the meaning.</a:t>
            </a:r>
            <a:endParaRPr lang="en-US" sz="1200" dirty="0"/>
          </a:p>
        </p:txBody>
      </p:sp>
      <p:sp>
        <p:nvSpPr>
          <p:cNvPr id="11" name="Text 8"/>
          <p:cNvSpPr/>
          <p:nvPr/>
        </p:nvSpPr>
        <p:spPr>
          <a:xfrm>
            <a:off x="6803136" y="4782312"/>
            <a:ext cx="3383280" cy="164592"/>
          </a:xfrm>
          <a:prstGeom prst="rect">
            <a:avLst/>
          </a:prstGeom>
          <a:noFill/>
          <a:ln/>
        </p:spPr>
        <p:txBody>
          <a:bodyPr wrap="square" lIns="0" tIns="0" rIns="0" bIns="0" rtlCol="0" anchor="ctr"/>
          <a:lstStyle/>
          <a:p>
            <a:pPr indent="0" marL="0">
              <a:buNone/>
            </a:pPr>
            <a:r>
              <a:rPr lang="en-US" sz="700" dirty="0">
                <a:solidFill>
                  <a:srgbClr val="A46343"/>
                </a:solidFill>
              </a:rPr>
              <a:t>MODEL / METHOD NOTE</a:t>
            </a:r>
            <a:endParaRPr lang="en-US" sz="700" dirty="0"/>
          </a:p>
        </p:txBody>
      </p:sp>
      <p:sp>
        <p:nvSpPr>
          <p:cNvPr id="12" name="Text 9"/>
          <p:cNvSpPr/>
          <p:nvPr/>
        </p:nvSpPr>
        <p:spPr>
          <a:xfrm>
            <a:off x="6803136" y="5074920"/>
            <a:ext cx="3383280" cy="594360"/>
          </a:xfrm>
          <a:prstGeom prst="rect">
            <a:avLst/>
          </a:prstGeom>
          <a:noFill/>
          <a:ln/>
        </p:spPr>
        <p:txBody>
          <a:bodyPr wrap="square" lIns="0" tIns="0" rIns="0" bIns="0" rtlCol="0" anchor="ctr">
            <a:normAutofit/>
          </a:bodyPr>
          <a:lstStyle/>
          <a:p>
            <a:pPr indent="0" marL="0">
              <a:buNone/>
            </a:pPr>
            <a:r>
              <a:rPr lang="en-US" sz="1000" dirty="0">
                <a:solidFill>
                  <a:srgbClr val="62745B"/>
                </a:solidFill>
                <a:latin typeface="Georgia" pitchFamily="34" charset="0"/>
                <a:ea typeface="Georgia" pitchFamily="34" charset="-122"/>
                <a:cs typeface="Georgia" pitchFamily="34" charset="-120"/>
              </a:rPr>
              <a:t>200 g is a mass expression; 200 mL is a volume expression.</a:t>
            </a:r>
            <a:endParaRPr lang="en-US" sz="1000" dirty="0"/>
          </a:p>
        </p:txBody>
      </p:sp>
      <p:sp>
        <p:nvSpPr>
          <p:cNvPr id="13" name="Shape 10"/>
          <p:cNvSpPr/>
          <p:nvPr/>
        </p:nvSpPr>
        <p:spPr>
          <a:xfrm>
            <a:off x="310896" y="5961888"/>
            <a:ext cx="10149840" cy="1207008"/>
          </a:xfrm>
          <a:prstGeom prst="rect">
            <a:avLst/>
          </a:prstGeom>
          <a:solidFill>
            <a:srgbClr val="E9EDDF"/>
          </a:solidFill>
          <a:ln w="12700">
            <a:solidFill>
              <a:srgbClr val="E9EDDF"/>
            </a:solidFill>
            <a:prstDash val="solid"/>
          </a:ln>
        </p:spPr>
      </p:sp>
      <p:sp>
        <p:nvSpPr>
          <p:cNvPr id="14" name="Text 11"/>
          <p:cNvSpPr/>
          <p:nvPr/>
        </p:nvSpPr>
        <p:spPr>
          <a:xfrm>
            <a:off x="493776" y="6126480"/>
            <a:ext cx="9784080" cy="164592"/>
          </a:xfrm>
          <a:prstGeom prst="rect">
            <a:avLst/>
          </a:prstGeom>
          <a:noFill/>
          <a:ln/>
        </p:spPr>
        <p:txBody>
          <a:bodyPr wrap="square" lIns="0" tIns="0" rIns="0" bIns="0" rtlCol="0" anchor="ctr"/>
          <a:lstStyle/>
          <a:p>
            <a:pPr indent="0" marL="0">
              <a:buNone/>
            </a:pPr>
            <a:r>
              <a:rPr lang="en-US" sz="700" dirty="0">
                <a:solidFill>
                  <a:srgbClr val="A46343"/>
                </a:solidFill>
              </a:rPr>
              <a:t>TRY / REFLECT</a:t>
            </a:r>
            <a:endParaRPr lang="en-US" sz="700" dirty="0"/>
          </a:p>
        </p:txBody>
      </p:sp>
      <p:sp>
        <p:nvSpPr>
          <p:cNvPr id="15" name="Text 12"/>
          <p:cNvSpPr/>
          <p:nvPr/>
        </p:nvSpPr>
        <p:spPr>
          <a:xfrm>
            <a:off x="493776" y="6428232"/>
            <a:ext cx="9784080" cy="384048"/>
          </a:xfrm>
          <a:prstGeom prst="rect">
            <a:avLst/>
          </a:prstGeom>
          <a:noFill/>
          <a:ln/>
        </p:spPr>
        <p:txBody>
          <a:bodyPr wrap="square" lIns="0" tIns="0" rIns="0" bIns="0" rtlCol="0" anchor="ctr">
            <a:normAutofit/>
          </a:bodyPr>
          <a:lstStyle/>
          <a:p>
            <a:pPr indent="0" marL="0">
              <a:buNone/>
            </a:pPr>
            <a:r>
              <a:rPr lang="en-US" sz="1300" dirty="0">
                <a:solidFill>
                  <a:srgbClr val="344E41"/>
                </a:solidFill>
                <a:latin typeface="Georgia" pitchFamily="34" charset="0"/>
                <a:ea typeface="Georgia" pitchFamily="34" charset="-122"/>
                <a:cs typeface="Georgia" pitchFamily="34" charset="-120"/>
              </a:rPr>
              <a:t>Write two complete observations using different quantity-unit pairs.</a:t>
            </a:r>
            <a:endParaRPr lang="en-US" sz="1300" dirty="0"/>
          </a:p>
        </p:txBody>
      </p:sp>
      <p:sp>
        <p:nvSpPr>
          <p:cNvPr id="16" name="Text 13"/>
          <p:cNvSpPr/>
          <p:nvPr/>
        </p:nvSpPr>
        <p:spPr>
          <a:xfrm>
            <a:off x="493776" y="6940296"/>
            <a:ext cx="9784080" cy="137160"/>
          </a:xfrm>
          <a:prstGeom prst="rect">
            <a:avLst/>
          </a:prstGeom>
          <a:noFill/>
          <a:ln/>
        </p:spPr>
        <p:txBody>
          <a:bodyPr wrap="square" lIns="0" tIns="0" rIns="0" bIns="0" rtlCol="0" anchor="ctr"/>
          <a:lstStyle/>
          <a:p>
            <a:pPr indent="0" marL="0">
              <a:buNone/>
            </a:pPr>
            <a:r>
              <a:rPr lang="en-US" sz="600" dirty="0">
                <a:solidFill>
                  <a:srgbClr val="77836B"/>
                </a:solidFill>
              </a:rPr>
              <a:t>COMPLETE / 32 PAGES / 16 INDEPENDENT MAIN ILLUSTRATIONS / MODEL NUMBERS, NOT REAL READINGS</a:t>
            </a:r>
            <a:endParaRPr lang="en-US" sz="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3"/>
        </a:solidFill>
      </p:bgPr>
    </p:bg>
    <p:spTree>
      <p:nvGrpSpPr>
        <p:cNvPr id="1" name=""/>
        <p:cNvGrpSpPr/>
        <p:nvPr/>
      </p:nvGrpSpPr>
      <p:grpSpPr>
        <a:xfrm>
          <a:off x="0" y="0"/>
          <a:ext cx="0" cy="0"/>
          <a:chOff x="0" y="0"/>
          <a:chExt cx="0" cy="0"/>
        </a:xfrm>
      </p:grpSpPr>
      <p:sp>
        <p:nvSpPr>
          <p:cNvPr id="2" name="Text 0"/>
          <p:cNvSpPr/>
          <p:nvPr/>
        </p:nvSpPr>
        <p:spPr>
          <a:xfrm>
            <a:off x="310896" y="256032"/>
            <a:ext cx="7772400" cy="182880"/>
          </a:xfrm>
          <a:prstGeom prst="rect">
            <a:avLst/>
          </a:prstGeom>
          <a:noFill/>
          <a:ln/>
        </p:spPr>
        <p:txBody>
          <a:bodyPr wrap="square" lIns="0" tIns="0" rIns="0" bIns="0" rtlCol="0" anchor="ctr"/>
          <a:lstStyle/>
          <a:p>
            <a:pPr indent="0" marL="0">
              <a:buNone/>
            </a:pPr>
            <a:r>
              <a:rPr lang="en-US" sz="800" dirty="0">
                <a:solidFill>
                  <a:srgbClr val="708267"/>
                </a:solidFill>
              </a:rPr>
              <a:t>PANTRY NOTES / THE MEASUREMENT NOTEBOOK</a:t>
            </a:r>
            <a:endParaRPr lang="en-US" sz="800" dirty="0"/>
          </a:p>
        </p:txBody>
      </p:sp>
      <p:sp>
        <p:nvSpPr>
          <p:cNvPr id="3" name="Text 1"/>
          <p:cNvSpPr/>
          <p:nvPr/>
        </p:nvSpPr>
        <p:spPr>
          <a:xfrm>
            <a:off x="310896" y="594360"/>
            <a:ext cx="7772400" cy="237744"/>
          </a:xfrm>
          <a:prstGeom prst="rect">
            <a:avLst/>
          </a:prstGeom>
          <a:noFill/>
          <a:ln/>
        </p:spPr>
        <p:txBody>
          <a:bodyPr wrap="square" lIns="0" tIns="0" rIns="0" bIns="0" rtlCol="0" anchor="ctr"/>
          <a:lstStyle/>
          <a:p>
            <a:pPr indent="0" marL="0">
              <a:buNone/>
            </a:pPr>
            <a:r>
              <a:rPr lang="en-US" sz="1400" dirty="0">
                <a:solidFill>
                  <a:srgbClr val="344E41"/>
                </a:solidFill>
                <a:latin typeface="Georgia" pitchFamily="34" charset="0"/>
                <a:ea typeface="Georgia" pitchFamily="34" charset="-122"/>
                <a:cs typeface="Georgia" pitchFamily="34" charset="-120"/>
              </a:rPr>
              <a:t>02 / Read the units</a:t>
            </a:r>
            <a:endParaRPr lang="en-US" sz="1400" dirty="0"/>
          </a:p>
        </p:txBody>
      </p:sp>
      <p:sp>
        <p:nvSpPr>
          <p:cNvPr id="4" name="Text 2"/>
          <p:cNvSpPr/>
          <p:nvPr/>
        </p:nvSpPr>
        <p:spPr>
          <a:xfrm>
            <a:off x="9784080" y="274320"/>
            <a:ext cx="640080" cy="411480"/>
          </a:xfrm>
          <a:prstGeom prst="rect">
            <a:avLst/>
          </a:prstGeom>
          <a:noFill/>
          <a:ln/>
        </p:spPr>
        <p:txBody>
          <a:bodyPr wrap="square" lIns="0" tIns="0" rIns="0" bIns="0" rtlCol="0" anchor="ctr"/>
          <a:lstStyle/>
          <a:p>
            <a:pPr algn="r" indent="0" marL="0">
              <a:buNone/>
            </a:pPr>
            <a:r>
              <a:rPr lang="en-US" sz="2500" dirty="0">
                <a:solidFill>
                  <a:srgbClr val="B1724C"/>
                </a:solidFill>
              </a:rPr>
              <a:t>05</a:t>
            </a:r>
            <a:endParaRPr lang="en-US" sz="2500" dirty="0"/>
          </a:p>
        </p:txBody>
      </p:sp>
      <p:sp>
        <p:nvSpPr>
          <p:cNvPr id="5" name="Shape 3"/>
          <p:cNvSpPr/>
          <p:nvPr/>
        </p:nvSpPr>
        <p:spPr>
          <a:xfrm>
            <a:off x="310896" y="960120"/>
            <a:ext cx="10149840" cy="0"/>
          </a:xfrm>
          <a:prstGeom prst="line">
            <a:avLst/>
          </a:prstGeom>
          <a:noFill/>
          <a:ln w="12700">
            <a:solidFill>
              <a:srgbClr val="C6D0BC"/>
            </a:solidFill>
            <a:prstDash val="solid"/>
          </a:ln>
        </p:spPr>
      </p:sp>
      <p:pic>
        <p:nvPicPr>
          <p:cNvPr id="6" name="Image 0" descr="/home/user/design-buddy/design-buddy-home/public/atelier/pantry-notes/images/03.jpg">    </p:cNvPr>
          <p:cNvPicPr>
            <a:picLocks noChangeAspect="1"/>
          </p:cNvPicPr>
          <p:nvPr/>
        </p:nvPicPr>
        <p:blipFill>
          <a:blip r:embed="rId1"/>
          <a:srcRect l="0" r="0" t="0" b="0"/>
          <a:stretch/>
        </p:blipFill>
        <p:spPr>
          <a:xfrm>
            <a:off x="310896" y="1207008"/>
            <a:ext cx="6217920" cy="4023360"/>
          </a:xfrm>
          <a:prstGeom prst="rect">
            <a:avLst/>
          </a:prstGeom>
        </p:spPr>
      </p:pic>
      <p:sp>
        <p:nvSpPr>
          <p:cNvPr id="7" name="Text 4"/>
          <p:cNvSpPr/>
          <p:nvPr/>
        </p:nvSpPr>
        <p:spPr>
          <a:xfrm>
            <a:off x="310896" y="5376672"/>
            <a:ext cx="6217920" cy="320040"/>
          </a:xfrm>
          <a:prstGeom prst="rect">
            <a:avLst/>
          </a:prstGeom>
          <a:noFill/>
          <a:ln/>
        </p:spPr>
        <p:txBody>
          <a:bodyPr wrap="square" lIns="0" tIns="0" rIns="0" bIns="0" rtlCol="0" anchor="ctr"/>
          <a:lstStyle/>
          <a:p>
            <a:pPr indent="0" marL="0">
              <a:buNone/>
            </a:pPr>
            <a:r>
              <a:rPr lang="en-US" sz="700" dirty="0">
                <a:solidFill>
                  <a:srgbClr val="7C886F"/>
                </a:solidFill>
              </a:rPr>
              <a:t>Watercolour study 3 / illustration, not measurement evidence</a:t>
            </a:r>
            <a:endParaRPr lang="en-US" sz="700" dirty="0"/>
          </a:p>
        </p:txBody>
      </p:sp>
      <p:sp>
        <p:nvSpPr>
          <p:cNvPr id="8" name="Text 5"/>
          <p:cNvSpPr/>
          <p:nvPr/>
        </p:nvSpPr>
        <p:spPr>
          <a:xfrm>
            <a:off x="6803136" y="1216152"/>
            <a:ext cx="3383280" cy="182880"/>
          </a:xfrm>
          <a:prstGeom prst="rect">
            <a:avLst/>
          </a:prstGeom>
          <a:noFill/>
          <a:ln/>
        </p:spPr>
        <p:txBody>
          <a:bodyPr wrap="square" lIns="0" tIns="0" rIns="0" bIns="0" rtlCol="0" anchor="ctr"/>
          <a:lstStyle/>
          <a:p>
            <a:pPr indent="0" marL="0">
              <a:buNone/>
            </a:pPr>
            <a:r>
              <a:rPr lang="en-US" sz="700" dirty="0">
                <a:solidFill>
                  <a:srgbClr val="A46343"/>
                </a:solidFill>
              </a:rPr>
              <a:t>THE OBSERVATION</a:t>
            </a:r>
            <a:endParaRPr lang="en-US" sz="700" dirty="0"/>
          </a:p>
        </p:txBody>
      </p:sp>
      <p:sp>
        <p:nvSpPr>
          <p:cNvPr id="9" name="Text 6"/>
          <p:cNvSpPr/>
          <p:nvPr/>
        </p:nvSpPr>
        <p:spPr>
          <a:xfrm>
            <a:off x="6803136" y="1554480"/>
            <a:ext cx="3383280" cy="969264"/>
          </a:xfrm>
          <a:prstGeom prst="rect">
            <a:avLst/>
          </a:prstGeom>
          <a:noFill/>
          <a:ln/>
        </p:spPr>
        <p:txBody>
          <a:bodyPr wrap="square" lIns="0" tIns="0" rIns="0" bIns="0" rtlCol="0" anchor="ctr">
            <a:normAutofit/>
          </a:bodyPr>
          <a:lstStyle/>
          <a:p>
            <a:pPr indent="0" marL="0">
              <a:buNone/>
            </a:pPr>
            <a:r>
              <a:rPr lang="en-US" sz="2500" dirty="0">
                <a:solidFill>
                  <a:srgbClr val="3E5743"/>
                </a:solidFill>
                <a:latin typeface="Georgia" pitchFamily="34" charset="0"/>
                <a:ea typeface="Georgia" pitchFamily="34" charset="-122"/>
                <a:cs typeface="Georgia" pitchFamily="34" charset="-120"/>
              </a:rPr>
              <a:t>One thousand grams.</a:t>
            </a:r>
            <a:endParaRPr lang="en-US" sz="2500" dirty="0"/>
          </a:p>
        </p:txBody>
      </p:sp>
      <p:sp>
        <p:nvSpPr>
          <p:cNvPr id="10" name="Text 7"/>
          <p:cNvSpPr/>
          <p:nvPr/>
        </p:nvSpPr>
        <p:spPr>
          <a:xfrm>
            <a:off x="6803136" y="2715768"/>
            <a:ext cx="3383280" cy="1883664"/>
          </a:xfrm>
          <a:prstGeom prst="rect">
            <a:avLst/>
          </a:prstGeom>
          <a:noFill/>
          <a:ln/>
        </p:spPr>
        <p:txBody>
          <a:bodyPr wrap="square" lIns="0" tIns="0" rIns="0" bIns="0" rtlCol="0" anchor="t">
            <a:normAutofit/>
          </a:bodyPr>
          <a:lstStyle/>
          <a:p>
            <a:pPr indent="0" marL="0">
              <a:buNone/>
            </a:pPr>
            <a:r>
              <a:rPr lang="en-US" sz="1200" dirty="0">
                <a:solidFill>
                  <a:srgbClr val="344E41"/>
                </a:solidFill>
                <a:latin typeface="Georgia" pitchFamily="34" charset="0"/>
                <a:ea typeface="Georgia" pitchFamily="34" charset="-122"/>
                <a:cs typeface="Georgia" pitchFamily="34" charset="-120"/>
              </a:rPr>
              <a:t>For this unit relationship, one kilogram equals one thousand grams. Converting the written unit does not change the physical quantity, improve the instrument or make an observation more accurate.</a:t>
            </a:r>
            <a:endParaRPr lang="en-US" sz="1200" dirty="0"/>
          </a:p>
        </p:txBody>
      </p:sp>
      <p:sp>
        <p:nvSpPr>
          <p:cNvPr id="11" name="Text 8"/>
          <p:cNvSpPr/>
          <p:nvPr/>
        </p:nvSpPr>
        <p:spPr>
          <a:xfrm>
            <a:off x="6803136" y="4782312"/>
            <a:ext cx="3383280" cy="164592"/>
          </a:xfrm>
          <a:prstGeom prst="rect">
            <a:avLst/>
          </a:prstGeom>
          <a:noFill/>
          <a:ln/>
        </p:spPr>
        <p:txBody>
          <a:bodyPr wrap="square" lIns="0" tIns="0" rIns="0" bIns="0" rtlCol="0" anchor="ctr"/>
          <a:lstStyle/>
          <a:p>
            <a:pPr indent="0" marL="0">
              <a:buNone/>
            </a:pPr>
            <a:r>
              <a:rPr lang="en-US" sz="700" dirty="0">
                <a:solidFill>
                  <a:srgbClr val="A46343"/>
                </a:solidFill>
              </a:rPr>
              <a:t>MODEL / METHOD NOTE</a:t>
            </a:r>
            <a:endParaRPr lang="en-US" sz="700" dirty="0"/>
          </a:p>
        </p:txBody>
      </p:sp>
      <p:sp>
        <p:nvSpPr>
          <p:cNvPr id="12" name="Text 9"/>
          <p:cNvSpPr/>
          <p:nvPr/>
        </p:nvSpPr>
        <p:spPr>
          <a:xfrm>
            <a:off x="6803136" y="5074920"/>
            <a:ext cx="3383280" cy="594360"/>
          </a:xfrm>
          <a:prstGeom prst="rect">
            <a:avLst/>
          </a:prstGeom>
          <a:noFill/>
          <a:ln/>
        </p:spPr>
        <p:txBody>
          <a:bodyPr wrap="square" lIns="0" tIns="0" rIns="0" bIns="0" rtlCol="0" anchor="ctr">
            <a:normAutofit/>
          </a:bodyPr>
          <a:lstStyle/>
          <a:p>
            <a:pPr indent="0" marL="0">
              <a:buNone/>
            </a:pPr>
            <a:r>
              <a:rPr lang="en-US" sz="1000" dirty="0">
                <a:solidFill>
                  <a:srgbClr val="62745B"/>
                </a:solidFill>
                <a:latin typeface="Georgia" pitchFamily="34" charset="0"/>
                <a:ea typeface="Georgia" pitchFamily="34" charset="-122"/>
                <a:cs typeface="Georgia" pitchFamily="34" charset="-120"/>
              </a:rPr>
              <a:t>1 kg = 1,000 g; 0.25 kg = 250 g.</a:t>
            </a:r>
            <a:endParaRPr lang="en-US" sz="1000" dirty="0"/>
          </a:p>
        </p:txBody>
      </p:sp>
      <p:sp>
        <p:nvSpPr>
          <p:cNvPr id="13" name="Shape 10"/>
          <p:cNvSpPr/>
          <p:nvPr/>
        </p:nvSpPr>
        <p:spPr>
          <a:xfrm>
            <a:off x="310896" y="5961888"/>
            <a:ext cx="10149840" cy="1207008"/>
          </a:xfrm>
          <a:prstGeom prst="rect">
            <a:avLst/>
          </a:prstGeom>
          <a:solidFill>
            <a:srgbClr val="E9EDDF"/>
          </a:solidFill>
          <a:ln w="12700">
            <a:solidFill>
              <a:srgbClr val="E9EDDF"/>
            </a:solidFill>
            <a:prstDash val="solid"/>
          </a:ln>
        </p:spPr>
      </p:sp>
      <p:sp>
        <p:nvSpPr>
          <p:cNvPr id="14" name="Text 11"/>
          <p:cNvSpPr/>
          <p:nvPr/>
        </p:nvSpPr>
        <p:spPr>
          <a:xfrm>
            <a:off x="493776" y="6126480"/>
            <a:ext cx="9784080" cy="164592"/>
          </a:xfrm>
          <a:prstGeom prst="rect">
            <a:avLst/>
          </a:prstGeom>
          <a:noFill/>
          <a:ln/>
        </p:spPr>
        <p:txBody>
          <a:bodyPr wrap="square" lIns="0" tIns="0" rIns="0" bIns="0" rtlCol="0" anchor="ctr"/>
          <a:lstStyle/>
          <a:p>
            <a:pPr indent="0" marL="0">
              <a:buNone/>
            </a:pPr>
            <a:r>
              <a:rPr lang="en-US" sz="700" dirty="0">
                <a:solidFill>
                  <a:srgbClr val="A46343"/>
                </a:solidFill>
              </a:rPr>
              <a:t>TRY / REFLECT</a:t>
            </a:r>
            <a:endParaRPr lang="en-US" sz="700" dirty="0"/>
          </a:p>
        </p:txBody>
      </p:sp>
      <p:sp>
        <p:nvSpPr>
          <p:cNvPr id="15" name="Text 12"/>
          <p:cNvSpPr/>
          <p:nvPr/>
        </p:nvSpPr>
        <p:spPr>
          <a:xfrm>
            <a:off x="493776" y="6428232"/>
            <a:ext cx="9784080" cy="384048"/>
          </a:xfrm>
          <a:prstGeom prst="rect">
            <a:avLst/>
          </a:prstGeom>
          <a:noFill/>
          <a:ln/>
        </p:spPr>
        <p:txBody>
          <a:bodyPr wrap="square" lIns="0" tIns="0" rIns="0" bIns="0" rtlCol="0" anchor="ctr">
            <a:normAutofit/>
          </a:bodyPr>
          <a:lstStyle/>
          <a:p>
            <a:pPr indent="0" marL="0">
              <a:buNone/>
            </a:pPr>
            <a:r>
              <a:rPr lang="en-US" sz="1300" dirty="0">
                <a:solidFill>
                  <a:srgbClr val="344E41"/>
                </a:solidFill>
                <a:latin typeface="Georgia" pitchFamily="34" charset="0"/>
                <a:ea typeface="Georgia" pitchFamily="34" charset="-122"/>
                <a:cs typeface="Georgia" pitchFamily="34" charset="-120"/>
              </a:rPr>
              <a:t>Express 0.6 kg in grams without changing the quantity described.</a:t>
            </a:r>
            <a:endParaRPr lang="en-US" sz="1300" dirty="0"/>
          </a:p>
        </p:txBody>
      </p:sp>
      <p:sp>
        <p:nvSpPr>
          <p:cNvPr id="16" name="Text 13"/>
          <p:cNvSpPr/>
          <p:nvPr/>
        </p:nvSpPr>
        <p:spPr>
          <a:xfrm>
            <a:off x="493776" y="6940296"/>
            <a:ext cx="9784080" cy="137160"/>
          </a:xfrm>
          <a:prstGeom prst="rect">
            <a:avLst/>
          </a:prstGeom>
          <a:noFill/>
          <a:ln/>
        </p:spPr>
        <p:txBody>
          <a:bodyPr wrap="square" lIns="0" tIns="0" rIns="0" bIns="0" rtlCol="0" anchor="ctr"/>
          <a:lstStyle/>
          <a:p>
            <a:pPr indent="0" marL="0">
              <a:buNone/>
            </a:pPr>
            <a:r>
              <a:rPr lang="en-US" sz="600" dirty="0">
                <a:solidFill>
                  <a:srgbClr val="77836B"/>
                </a:solidFill>
              </a:rPr>
              <a:t>COMPLETE / 32 PAGES / 16 INDEPENDENT MAIN ILLUSTRATIONS / MODEL NUMBERS, NOT REAL READINGS</a:t>
            </a:r>
            <a:endParaRPr lang="en-US" sz="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3"/>
        </a:solidFill>
      </p:bgPr>
    </p:bg>
    <p:spTree>
      <p:nvGrpSpPr>
        <p:cNvPr id="1" name=""/>
        <p:cNvGrpSpPr/>
        <p:nvPr/>
      </p:nvGrpSpPr>
      <p:grpSpPr>
        <a:xfrm>
          <a:off x="0" y="0"/>
          <a:ext cx="0" cy="0"/>
          <a:chOff x="0" y="0"/>
          <a:chExt cx="0" cy="0"/>
        </a:xfrm>
      </p:grpSpPr>
      <p:sp>
        <p:nvSpPr>
          <p:cNvPr id="2" name="Text 0"/>
          <p:cNvSpPr/>
          <p:nvPr/>
        </p:nvSpPr>
        <p:spPr>
          <a:xfrm>
            <a:off x="310896" y="256032"/>
            <a:ext cx="7772400" cy="182880"/>
          </a:xfrm>
          <a:prstGeom prst="rect">
            <a:avLst/>
          </a:prstGeom>
          <a:noFill/>
          <a:ln/>
        </p:spPr>
        <p:txBody>
          <a:bodyPr wrap="square" lIns="0" tIns="0" rIns="0" bIns="0" rtlCol="0" anchor="ctr"/>
          <a:lstStyle/>
          <a:p>
            <a:pPr indent="0" marL="0">
              <a:buNone/>
            </a:pPr>
            <a:r>
              <a:rPr lang="en-US" sz="800" dirty="0">
                <a:solidFill>
                  <a:srgbClr val="708267"/>
                </a:solidFill>
              </a:rPr>
              <a:t>PANTRY NOTES / THE MEASUREMENT NOTEBOOK</a:t>
            </a:r>
            <a:endParaRPr lang="en-US" sz="800" dirty="0"/>
          </a:p>
        </p:txBody>
      </p:sp>
      <p:sp>
        <p:nvSpPr>
          <p:cNvPr id="3" name="Text 1"/>
          <p:cNvSpPr/>
          <p:nvPr/>
        </p:nvSpPr>
        <p:spPr>
          <a:xfrm>
            <a:off x="310896" y="594360"/>
            <a:ext cx="7772400" cy="237744"/>
          </a:xfrm>
          <a:prstGeom prst="rect">
            <a:avLst/>
          </a:prstGeom>
          <a:noFill/>
          <a:ln/>
        </p:spPr>
        <p:txBody>
          <a:bodyPr wrap="square" lIns="0" tIns="0" rIns="0" bIns="0" rtlCol="0" anchor="ctr"/>
          <a:lstStyle/>
          <a:p>
            <a:pPr indent="0" marL="0">
              <a:buNone/>
            </a:pPr>
            <a:r>
              <a:rPr lang="en-US" sz="1400" dirty="0">
                <a:solidFill>
                  <a:srgbClr val="344E41"/>
                </a:solidFill>
                <a:latin typeface="Georgia" pitchFamily="34" charset="0"/>
                <a:ea typeface="Georgia" pitchFamily="34" charset="-122"/>
                <a:cs typeface="Georgia" pitchFamily="34" charset="-120"/>
              </a:rPr>
              <a:t>02 / Read the units</a:t>
            </a:r>
            <a:endParaRPr lang="en-US" sz="1400" dirty="0"/>
          </a:p>
        </p:txBody>
      </p:sp>
      <p:sp>
        <p:nvSpPr>
          <p:cNvPr id="4" name="Text 2"/>
          <p:cNvSpPr/>
          <p:nvPr/>
        </p:nvSpPr>
        <p:spPr>
          <a:xfrm>
            <a:off x="9784080" y="274320"/>
            <a:ext cx="640080" cy="411480"/>
          </a:xfrm>
          <a:prstGeom prst="rect">
            <a:avLst/>
          </a:prstGeom>
          <a:noFill/>
          <a:ln/>
        </p:spPr>
        <p:txBody>
          <a:bodyPr wrap="square" lIns="0" tIns="0" rIns="0" bIns="0" rtlCol="0" anchor="ctr"/>
          <a:lstStyle/>
          <a:p>
            <a:pPr algn="r" indent="0" marL="0">
              <a:buNone/>
            </a:pPr>
            <a:r>
              <a:rPr lang="en-US" sz="2500" dirty="0">
                <a:solidFill>
                  <a:srgbClr val="B1724C"/>
                </a:solidFill>
              </a:rPr>
              <a:t>06</a:t>
            </a:r>
            <a:endParaRPr lang="en-US" sz="2500" dirty="0"/>
          </a:p>
        </p:txBody>
      </p:sp>
      <p:sp>
        <p:nvSpPr>
          <p:cNvPr id="5" name="Shape 3"/>
          <p:cNvSpPr/>
          <p:nvPr/>
        </p:nvSpPr>
        <p:spPr>
          <a:xfrm>
            <a:off x="310896" y="960120"/>
            <a:ext cx="10149840" cy="0"/>
          </a:xfrm>
          <a:prstGeom prst="line">
            <a:avLst/>
          </a:prstGeom>
          <a:noFill/>
          <a:ln w="12700">
            <a:solidFill>
              <a:srgbClr val="C6D0BC"/>
            </a:solidFill>
            <a:prstDash val="solid"/>
          </a:ln>
        </p:spPr>
      </p:sp>
      <p:pic>
        <p:nvPicPr>
          <p:cNvPr id="6" name="Image 0" descr="/home/user/design-buddy/design-buddy-home/public/atelier/pantry-notes/images/03.jpg">    </p:cNvPr>
          <p:cNvPicPr>
            <a:picLocks noChangeAspect="1"/>
          </p:cNvPicPr>
          <p:nvPr/>
        </p:nvPicPr>
        <p:blipFill>
          <a:blip r:embed="rId1"/>
          <a:srcRect l="0" r="0" t="0" b="0"/>
          <a:stretch/>
        </p:blipFill>
        <p:spPr>
          <a:xfrm>
            <a:off x="310896" y="1207008"/>
            <a:ext cx="6217920" cy="4023360"/>
          </a:xfrm>
          <a:prstGeom prst="rect">
            <a:avLst/>
          </a:prstGeom>
        </p:spPr>
      </p:pic>
      <p:sp>
        <p:nvSpPr>
          <p:cNvPr id="7" name="Text 4"/>
          <p:cNvSpPr/>
          <p:nvPr/>
        </p:nvSpPr>
        <p:spPr>
          <a:xfrm>
            <a:off x="310896" y="5376672"/>
            <a:ext cx="6217920" cy="320040"/>
          </a:xfrm>
          <a:prstGeom prst="rect">
            <a:avLst/>
          </a:prstGeom>
          <a:noFill/>
          <a:ln/>
        </p:spPr>
        <p:txBody>
          <a:bodyPr wrap="square" lIns="0" tIns="0" rIns="0" bIns="0" rtlCol="0" anchor="ctr"/>
          <a:lstStyle/>
          <a:p>
            <a:pPr indent="0" marL="0">
              <a:buNone/>
            </a:pPr>
            <a:r>
              <a:rPr lang="en-US" sz="700" dirty="0">
                <a:solidFill>
                  <a:srgbClr val="7C886F"/>
                </a:solidFill>
              </a:rPr>
              <a:t>Watercolour study 3 / illustration, not measurement evidence</a:t>
            </a:r>
            <a:endParaRPr lang="en-US" sz="700" dirty="0"/>
          </a:p>
        </p:txBody>
      </p:sp>
      <p:sp>
        <p:nvSpPr>
          <p:cNvPr id="8" name="Text 5"/>
          <p:cNvSpPr/>
          <p:nvPr/>
        </p:nvSpPr>
        <p:spPr>
          <a:xfrm>
            <a:off x="6803136" y="1216152"/>
            <a:ext cx="3383280" cy="182880"/>
          </a:xfrm>
          <a:prstGeom prst="rect">
            <a:avLst/>
          </a:prstGeom>
          <a:noFill/>
          <a:ln/>
        </p:spPr>
        <p:txBody>
          <a:bodyPr wrap="square" lIns="0" tIns="0" rIns="0" bIns="0" rtlCol="0" anchor="ctr"/>
          <a:lstStyle/>
          <a:p>
            <a:pPr indent="0" marL="0">
              <a:buNone/>
            </a:pPr>
            <a:r>
              <a:rPr lang="en-US" sz="700" dirty="0">
                <a:solidFill>
                  <a:srgbClr val="A46343"/>
                </a:solidFill>
              </a:rPr>
              <a:t>THE OBSERVATION</a:t>
            </a:r>
            <a:endParaRPr lang="en-US" sz="700" dirty="0"/>
          </a:p>
        </p:txBody>
      </p:sp>
      <p:sp>
        <p:nvSpPr>
          <p:cNvPr id="9" name="Text 6"/>
          <p:cNvSpPr/>
          <p:nvPr/>
        </p:nvSpPr>
        <p:spPr>
          <a:xfrm>
            <a:off x="6803136" y="1554480"/>
            <a:ext cx="3383280" cy="969264"/>
          </a:xfrm>
          <a:prstGeom prst="rect">
            <a:avLst/>
          </a:prstGeom>
          <a:noFill/>
          <a:ln/>
        </p:spPr>
        <p:txBody>
          <a:bodyPr wrap="square" lIns="0" tIns="0" rIns="0" bIns="0" rtlCol="0" anchor="ctr">
            <a:normAutofit/>
          </a:bodyPr>
          <a:lstStyle/>
          <a:p>
            <a:pPr indent="0" marL="0">
              <a:buNone/>
            </a:pPr>
            <a:r>
              <a:rPr lang="en-US" sz="2500" dirty="0">
                <a:solidFill>
                  <a:srgbClr val="3E5743"/>
                </a:solidFill>
                <a:latin typeface="Georgia" pitchFamily="34" charset="0"/>
                <a:ea typeface="Georgia" pitchFamily="34" charset="-122"/>
                <a:cs typeface="Georgia" pitchFamily="34" charset="-120"/>
              </a:rPr>
              <a:t>One thousand millilitres.</a:t>
            </a:r>
            <a:endParaRPr lang="en-US" sz="2500" dirty="0"/>
          </a:p>
        </p:txBody>
      </p:sp>
      <p:sp>
        <p:nvSpPr>
          <p:cNvPr id="10" name="Text 7"/>
          <p:cNvSpPr/>
          <p:nvPr/>
        </p:nvSpPr>
        <p:spPr>
          <a:xfrm>
            <a:off x="6803136" y="2715768"/>
            <a:ext cx="3383280" cy="1883664"/>
          </a:xfrm>
          <a:prstGeom prst="rect">
            <a:avLst/>
          </a:prstGeom>
          <a:noFill/>
          <a:ln/>
        </p:spPr>
        <p:txBody>
          <a:bodyPr wrap="square" lIns="0" tIns="0" rIns="0" bIns="0" rtlCol="0" anchor="t">
            <a:normAutofit/>
          </a:bodyPr>
          <a:lstStyle/>
          <a:p>
            <a:pPr indent="0" marL="0">
              <a:buNone/>
            </a:pPr>
            <a:r>
              <a:rPr lang="en-US" sz="1200" dirty="0">
                <a:solidFill>
                  <a:srgbClr val="344E41"/>
                </a:solidFill>
                <a:latin typeface="Georgia" pitchFamily="34" charset="0"/>
                <a:ea typeface="Georgia" pitchFamily="34" charset="-122"/>
                <a:cs typeface="Georgia" pitchFamily="34" charset="-120"/>
              </a:rPr>
              <a:t>One litre equals one thousand millilitres. Keep this volume conversion separate from mass. A conversion between litres and grams needs additional material information and cannot be inferred from the unit names alone.</a:t>
            </a:r>
            <a:endParaRPr lang="en-US" sz="1200" dirty="0"/>
          </a:p>
        </p:txBody>
      </p:sp>
      <p:sp>
        <p:nvSpPr>
          <p:cNvPr id="11" name="Text 8"/>
          <p:cNvSpPr/>
          <p:nvPr/>
        </p:nvSpPr>
        <p:spPr>
          <a:xfrm>
            <a:off x="6803136" y="4782312"/>
            <a:ext cx="3383280" cy="164592"/>
          </a:xfrm>
          <a:prstGeom prst="rect">
            <a:avLst/>
          </a:prstGeom>
          <a:noFill/>
          <a:ln/>
        </p:spPr>
        <p:txBody>
          <a:bodyPr wrap="square" lIns="0" tIns="0" rIns="0" bIns="0" rtlCol="0" anchor="ctr"/>
          <a:lstStyle/>
          <a:p>
            <a:pPr indent="0" marL="0">
              <a:buNone/>
            </a:pPr>
            <a:r>
              <a:rPr lang="en-US" sz="700" dirty="0">
                <a:solidFill>
                  <a:srgbClr val="A46343"/>
                </a:solidFill>
              </a:rPr>
              <a:t>MODEL / METHOD NOTE</a:t>
            </a:r>
            <a:endParaRPr lang="en-US" sz="700" dirty="0"/>
          </a:p>
        </p:txBody>
      </p:sp>
      <p:sp>
        <p:nvSpPr>
          <p:cNvPr id="12" name="Text 9"/>
          <p:cNvSpPr/>
          <p:nvPr/>
        </p:nvSpPr>
        <p:spPr>
          <a:xfrm>
            <a:off x="6803136" y="5074920"/>
            <a:ext cx="3383280" cy="594360"/>
          </a:xfrm>
          <a:prstGeom prst="rect">
            <a:avLst/>
          </a:prstGeom>
          <a:noFill/>
          <a:ln/>
        </p:spPr>
        <p:txBody>
          <a:bodyPr wrap="square" lIns="0" tIns="0" rIns="0" bIns="0" rtlCol="0" anchor="ctr">
            <a:normAutofit/>
          </a:bodyPr>
          <a:lstStyle/>
          <a:p>
            <a:pPr indent="0" marL="0">
              <a:buNone/>
            </a:pPr>
            <a:r>
              <a:rPr lang="en-US" sz="1000" dirty="0">
                <a:solidFill>
                  <a:srgbClr val="62745B"/>
                </a:solidFill>
                <a:latin typeface="Georgia" pitchFamily="34" charset="0"/>
                <a:ea typeface="Georgia" pitchFamily="34" charset="-122"/>
                <a:cs typeface="Georgia" pitchFamily="34" charset="-120"/>
              </a:rPr>
              <a:t>1 L = 1,000 mL; 0.4 L = 400 mL.</a:t>
            </a:r>
            <a:endParaRPr lang="en-US" sz="1000" dirty="0"/>
          </a:p>
        </p:txBody>
      </p:sp>
      <p:sp>
        <p:nvSpPr>
          <p:cNvPr id="13" name="Shape 10"/>
          <p:cNvSpPr/>
          <p:nvPr/>
        </p:nvSpPr>
        <p:spPr>
          <a:xfrm>
            <a:off x="310896" y="5961888"/>
            <a:ext cx="10149840" cy="1207008"/>
          </a:xfrm>
          <a:prstGeom prst="rect">
            <a:avLst/>
          </a:prstGeom>
          <a:solidFill>
            <a:srgbClr val="E9EDDF"/>
          </a:solidFill>
          <a:ln w="12700">
            <a:solidFill>
              <a:srgbClr val="E9EDDF"/>
            </a:solidFill>
            <a:prstDash val="solid"/>
          </a:ln>
        </p:spPr>
      </p:sp>
      <p:sp>
        <p:nvSpPr>
          <p:cNvPr id="14" name="Text 11"/>
          <p:cNvSpPr/>
          <p:nvPr/>
        </p:nvSpPr>
        <p:spPr>
          <a:xfrm>
            <a:off x="493776" y="6126480"/>
            <a:ext cx="9784080" cy="164592"/>
          </a:xfrm>
          <a:prstGeom prst="rect">
            <a:avLst/>
          </a:prstGeom>
          <a:noFill/>
          <a:ln/>
        </p:spPr>
        <p:txBody>
          <a:bodyPr wrap="square" lIns="0" tIns="0" rIns="0" bIns="0" rtlCol="0" anchor="ctr"/>
          <a:lstStyle/>
          <a:p>
            <a:pPr indent="0" marL="0">
              <a:buNone/>
            </a:pPr>
            <a:r>
              <a:rPr lang="en-US" sz="700" dirty="0">
                <a:solidFill>
                  <a:srgbClr val="A46343"/>
                </a:solidFill>
              </a:rPr>
              <a:t>TRY / REFLECT</a:t>
            </a:r>
            <a:endParaRPr lang="en-US" sz="700" dirty="0"/>
          </a:p>
        </p:txBody>
      </p:sp>
      <p:sp>
        <p:nvSpPr>
          <p:cNvPr id="15" name="Text 12"/>
          <p:cNvSpPr/>
          <p:nvPr/>
        </p:nvSpPr>
        <p:spPr>
          <a:xfrm>
            <a:off x="493776" y="6428232"/>
            <a:ext cx="9784080" cy="384048"/>
          </a:xfrm>
          <a:prstGeom prst="rect">
            <a:avLst/>
          </a:prstGeom>
          <a:noFill/>
          <a:ln/>
        </p:spPr>
        <p:txBody>
          <a:bodyPr wrap="square" lIns="0" tIns="0" rIns="0" bIns="0" rtlCol="0" anchor="ctr">
            <a:normAutofit/>
          </a:bodyPr>
          <a:lstStyle/>
          <a:p>
            <a:pPr indent="0" marL="0">
              <a:buNone/>
            </a:pPr>
            <a:r>
              <a:rPr lang="en-US" sz="1300" dirty="0">
                <a:solidFill>
                  <a:srgbClr val="344E41"/>
                </a:solidFill>
                <a:latin typeface="Georgia" pitchFamily="34" charset="0"/>
                <a:ea typeface="Georgia" pitchFamily="34" charset="-122"/>
                <a:cs typeface="Georgia" pitchFamily="34" charset="-120"/>
              </a:rPr>
              <a:t>Explain why 400 mL cannot automatically be renamed 400 g for every material.</a:t>
            </a:r>
            <a:endParaRPr lang="en-US" sz="1300" dirty="0"/>
          </a:p>
        </p:txBody>
      </p:sp>
      <p:sp>
        <p:nvSpPr>
          <p:cNvPr id="16" name="Text 13"/>
          <p:cNvSpPr/>
          <p:nvPr/>
        </p:nvSpPr>
        <p:spPr>
          <a:xfrm>
            <a:off x="493776" y="6940296"/>
            <a:ext cx="9784080" cy="137160"/>
          </a:xfrm>
          <a:prstGeom prst="rect">
            <a:avLst/>
          </a:prstGeom>
          <a:noFill/>
          <a:ln/>
        </p:spPr>
        <p:txBody>
          <a:bodyPr wrap="square" lIns="0" tIns="0" rIns="0" bIns="0" rtlCol="0" anchor="ctr"/>
          <a:lstStyle/>
          <a:p>
            <a:pPr indent="0" marL="0">
              <a:buNone/>
            </a:pPr>
            <a:r>
              <a:rPr lang="en-US" sz="600" dirty="0">
                <a:solidFill>
                  <a:srgbClr val="77836B"/>
                </a:solidFill>
              </a:rPr>
              <a:t>COMPLETE / 32 PAGES / 16 INDEPENDENT MAIN ILLUSTRATIONS / MODEL NUMBERS, NOT REAL READINGS</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3"/>
        </a:solidFill>
      </p:bgPr>
    </p:bg>
    <p:spTree>
      <p:nvGrpSpPr>
        <p:cNvPr id="1" name=""/>
        <p:cNvGrpSpPr/>
        <p:nvPr/>
      </p:nvGrpSpPr>
      <p:grpSpPr>
        <a:xfrm>
          <a:off x="0" y="0"/>
          <a:ext cx="0" cy="0"/>
          <a:chOff x="0" y="0"/>
          <a:chExt cx="0" cy="0"/>
        </a:xfrm>
      </p:grpSpPr>
      <p:sp>
        <p:nvSpPr>
          <p:cNvPr id="2" name="Text 0"/>
          <p:cNvSpPr/>
          <p:nvPr/>
        </p:nvSpPr>
        <p:spPr>
          <a:xfrm>
            <a:off x="310896" y="256032"/>
            <a:ext cx="7772400" cy="182880"/>
          </a:xfrm>
          <a:prstGeom prst="rect">
            <a:avLst/>
          </a:prstGeom>
          <a:noFill/>
          <a:ln/>
        </p:spPr>
        <p:txBody>
          <a:bodyPr wrap="square" lIns="0" tIns="0" rIns="0" bIns="0" rtlCol="0" anchor="ctr"/>
          <a:lstStyle/>
          <a:p>
            <a:pPr indent="0" marL="0">
              <a:buNone/>
            </a:pPr>
            <a:r>
              <a:rPr lang="en-US" sz="800" dirty="0">
                <a:solidFill>
                  <a:srgbClr val="708267"/>
                </a:solidFill>
              </a:rPr>
              <a:t>PANTRY NOTES / THE MEASUREMENT NOTEBOOK</a:t>
            </a:r>
            <a:endParaRPr lang="en-US" sz="800" dirty="0"/>
          </a:p>
        </p:txBody>
      </p:sp>
      <p:sp>
        <p:nvSpPr>
          <p:cNvPr id="3" name="Text 1"/>
          <p:cNvSpPr/>
          <p:nvPr/>
        </p:nvSpPr>
        <p:spPr>
          <a:xfrm>
            <a:off x="310896" y="594360"/>
            <a:ext cx="7772400" cy="237744"/>
          </a:xfrm>
          <a:prstGeom prst="rect">
            <a:avLst/>
          </a:prstGeom>
          <a:noFill/>
          <a:ln/>
        </p:spPr>
        <p:txBody>
          <a:bodyPr wrap="square" lIns="0" tIns="0" rIns="0" bIns="0" rtlCol="0" anchor="ctr"/>
          <a:lstStyle/>
          <a:p>
            <a:pPr indent="0" marL="0">
              <a:buNone/>
            </a:pPr>
            <a:r>
              <a:rPr lang="en-US" sz="1400" dirty="0">
                <a:solidFill>
                  <a:srgbClr val="344E41"/>
                </a:solidFill>
                <a:latin typeface="Georgia" pitchFamily="34" charset="0"/>
                <a:ea typeface="Georgia" pitchFamily="34" charset="-122"/>
                <a:cs typeface="Georgia" pitchFamily="34" charset="-120"/>
              </a:rPr>
              <a:t>02 / Read the units</a:t>
            </a:r>
            <a:endParaRPr lang="en-US" sz="1400" dirty="0"/>
          </a:p>
        </p:txBody>
      </p:sp>
      <p:sp>
        <p:nvSpPr>
          <p:cNvPr id="4" name="Text 2"/>
          <p:cNvSpPr/>
          <p:nvPr/>
        </p:nvSpPr>
        <p:spPr>
          <a:xfrm>
            <a:off x="9784080" y="274320"/>
            <a:ext cx="640080" cy="411480"/>
          </a:xfrm>
          <a:prstGeom prst="rect">
            <a:avLst/>
          </a:prstGeom>
          <a:noFill/>
          <a:ln/>
        </p:spPr>
        <p:txBody>
          <a:bodyPr wrap="square" lIns="0" tIns="0" rIns="0" bIns="0" rtlCol="0" anchor="ctr"/>
          <a:lstStyle/>
          <a:p>
            <a:pPr algn="r" indent="0" marL="0">
              <a:buNone/>
            </a:pPr>
            <a:r>
              <a:rPr lang="en-US" sz="2500" dirty="0">
                <a:solidFill>
                  <a:srgbClr val="B1724C"/>
                </a:solidFill>
              </a:rPr>
              <a:t>07</a:t>
            </a:r>
            <a:endParaRPr lang="en-US" sz="2500" dirty="0"/>
          </a:p>
        </p:txBody>
      </p:sp>
      <p:sp>
        <p:nvSpPr>
          <p:cNvPr id="5" name="Shape 3"/>
          <p:cNvSpPr/>
          <p:nvPr/>
        </p:nvSpPr>
        <p:spPr>
          <a:xfrm>
            <a:off x="310896" y="960120"/>
            <a:ext cx="10149840" cy="0"/>
          </a:xfrm>
          <a:prstGeom prst="line">
            <a:avLst/>
          </a:prstGeom>
          <a:noFill/>
          <a:ln w="12700">
            <a:solidFill>
              <a:srgbClr val="C6D0BC"/>
            </a:solidFill>
            <a:prstDash val="solid"/>
          </a:ln>
        </p:spPr>
      </p:sp>
      <p:pic>
        <p:nvPicPr>
          <p:cNvPr id="6" name="Image 0" descr="/home/user/design-buddy/design-buddy-home/public/atelier/pantry-notes/images/04.jpg">    </p:cNvPr>
          <p:cNvPicPr>
            <a:picLocks noChangeAspect="1"/>
          </p:cNvPicPr>
          <p:nvPr/>
        </p:nvPicPr>
        <p:blipFill>
          <a:blip r:embed="rId1"/>
          <a:srcRect l="0" r="0" t="0" b="0"/>
          <a:stretch/>
        </p:blipFill>
        <p:spPr>
          <a:xfrm>
            <a:off x="310896" y="1207008"/>
            <a:ext cx="6217920" cy="4023360"/>
          </a:xfrm>
          <a:prstGeom prst="rect">
            <a:avLst/>
          </a:prstGeom>
        </p:spPr>
      </p:pic>
      <p:sp>
        <p:nvSpPr>
          <p:cNvPr id="7" name="Text 4"/>
          <p:cNvSpPr/>
          <p:nvPr/>
        </p:nvSpPr>
        <p:spPr>
          <a:xfrm>
            <a:off x="310896" y="5376672"/>
            <a:ext cx="6217920" cy="320040"/>
          </a:xfrm>
          <a:prstGeom prst="rect">
            <a:avLst/>
          </a:prstGeom>
          <a:noFill/>
          <a:ln/>
        </p:spPr>
        <p:txBody>
          <a:bodyPr wrap="square" lIns="0" tIns="0" rIns="0" bIns="0" rtlCol="0" anchor="ctr"/>
          <a:lstStyle/>
          <a:p>
            <a:pPr indent="0" marL="0">
              <a:buNone/>
            </a:pPr>
            <a:r>
              <a:rPr lang="en-US" sz="700" dirty="0">
                <a:solidFill>
                  <a:srgbClr val="7C886F"/>
                </a:solidFill>
              </a:rPr>
              <a:t>Watercolour study 4 / illustration, not measurement evidence</a:t>
            </a:r>
            <a:endParaRPr lang="en-US" sz="700" dirty="0"/>
          </a:p>
        </p:txBody>
      </p:sp>
      <p:sp>
        <p:nvSpPr>
          <p:cNvPr id="8" name="Text 5"/>
          <p:cNvSpPr/>
          <p:nvPr/>
        </p:nvSpPr>
        <p:spPr>
          <a:xfrm>
            <a:off x="6803136" y="1216152"/>
            <a:ext cx="3383280" cy="182880"/>
          </a:xfrm>
          <a:prstGeom prst="rect">
            <a:avLst/>
          </a:prstGeom>
          <a:noFill/>
          <a:ln/>
        </p:spPr>
        <p:txBody>
          <a:bodyPr wrap="square" lIns="0" tIns="0" rIns="0" bIns="0" rtlCol="0" anchor="ctr"/>
          <a:lstStyle/>
          <a:p>
            <a:pPr indent="0" marL="0">
              <a:buNone/>
            </a:pPr>
            <a:r>
              <a:rPr lang="en-US" sz="700" dirty="0">
                <a:solidFill>
                  <a:srgbClr val="A46343"/>
                </a:solidFill>
              </a:rPr>
              <a:t>THE OBSERVATION</a:t>
            </a:r>
            <a:endParaRPr lang="en-US" sz="700" dirty="0"/>
          </a:p>
        </p:txBody>
      </p:sp>
      <p:sp>
        <p:nvSpPr>
          <p:cNvPr id="9" name="Text 6"/>
          <p:cNvSpPr/>
          <p:nvPr/>
        </p:nvSpPr>
        <p:spPr>
          <a:xfrm>
            <a:off x="6803136" y="1554480"/>
            <a:ext cx="3383280" cy="969264"/>
          </a:xfrm>
          <a:prstGeom prst="rect">
            <a:avLst/>
          </a:prstGeom>
          <a:noFill/>
          <a:ln/>
        </p:spPr>
        <p:txBody>
          <a:bodyPr wrap="square" lIns="0" tIns="0" rIns="0" bIns="0" rtlCol="0" anchor="ctr">
            <a:normAutofit/>
          </a:bodyPr>
          <a:lstStyle/>
          <a:p>
            <a:pPr indent="0" marL="0">
              <a:buNone/>
            </a:pPr>
            <a:r>
              <a:rPr lang="en-US" sz="2500" dirty="0">
                <a:solidFill>
                  <a:srgbClr val="3E5743"/>
                </a:solidFill>
                <a:latin typeface="Georgia" pitchFamily="34" charset="0"/>
                <a:ea typeface="Georgia" pitchFamily="34" charset="-122"/>
                <a:cs typeface="Georgia" pitchFamily="34" charset="-120"/>
              </a:rPr>
              <a:t>The container belongs in the method.</a:t>
            </a:r>
            <a:endParaRPr lang="en-US" sz="2500" dirty="0"/>
          </a:p>
        </p:txBody>
      </p:sp>
      <p:sp>
        <p:nvSpPr>
          <p:cNvPr id="10" name="Text 7"/>
          <p:cNvSpPr/>
          <p:nvPr/>
        </p:nvSpPr>
        <p:spPr>
          <a:xfrm>
            <a:off x="6803136" y="2715768"/>
            <a:ext cx="3383280" cy="1883664"/>
          </a:xfrm>
          <a:prstGeom prst="rect">
            <a:avLst/>
          </a:prstGeom>
          <a:noFill/>
          <a:ln/>
        </p:spPr>
        <p:txBody>
          <a:bodyPr wrap="square" lIns="0" tIns="0" rIns="0" bIns="0" rtlCol="0" anchor="t">
            <a:normAutofit/>
          </a:bodyPr>
          <a:lstStyle/>
          <a:p>
            <a:pPr indent="0" marL="0">
              <a:buNone/>
            </a:pPr>
            <a:r>
              <a:rPr lang="en-US" sz="1200" dirty="0">
                <a:solidFill>
                  <a:srgbClr val="344E41"/>
                </a:solidFill>
                <a:latin typeface="Georgia" pitchFamily="34" charset="0"/>
                <a:ea typeface="Georgia" pitchFamily="34" charset="-122"/>
                <a:cs typeface="Georgia" pitchFamily="34" charset="-120"/>
              </a:rPr>
              <a:t>If a reading includes a bowl, that reading describes bowl plus contents. Record whether the container was excluded by the method or subtracted later. Do not silently compare a combined reading with a contents-only reading.</a:t>
            </a:r>
            <a:endParaRPr lang="en-US" sz="1200" dirty="0"/>
          </a:p>
        </p:txBody>
      </p:sp>
      <p:sp>
        <p:nvSpPr>
          <p:cNvPr id="11" name="Text 8"/>
          <p:cNvSpPr/>
          <p:nvPr/>
        </p:nvSpPr>
        <p:spPr>
          <a:xfrm>
            <a:off x="6803136" y="4782312"/>
            <a:ext cx="3383280" cy="164592"/>
          </a:xfrm>
          <a:prstGeom prst="rect">
            <a:avLst/>
          </a:prstGeom>
          <a:noFill/>
          <a:ln/>
        </p:spPr>
        <p:txBody>
          <a:bodyPr wrap="square" lIns="0" tIns="0" rIns="0" bIns="0" rtlCol="0" anchor="ctr"/>
          <a:lstStyle/>
          <a:p>
            <a:pPr indent="0" marL="0">
              <a:buNone/>
            </a:pPr>
            <a:r>
              <a:rPr lang="en-US" sz="700" dirty="0">
                <a:solidFill>
                  <a:srgbClr val="A46343"/>
                </a:solidFill>
              </a:rPr>
              <a:t>MODEL / METHOD NOTE</a:t>
            </a:r>
            <a:endParaRPr lang="en-US" sz="700" dirty="0"/>
          </a:p>
        </p:txBody>
      </p:sp>
      <p:sp>
        <p:nvSpPr>
          <p:cNvPr id="12" name="Text 9"/>
          <p:cNvSpPr/>
          <p:nvPr/>
        </p:nvSpPr>
        <p:spPr>
          <a:xfrm>
            <a:off x="6803136" y="5074920"/>
            <a:ext cx="3383280" cy="594360"/>
          </a:xfrm>
          <a:prstGeom prst="rect">
            <a:avLst/>
          </a:prstGeom>
          <a:noFill/>
          <a:ln/>
        </p:spPr>
        <p:txBody>
          <a:bodyPr wrap="square" lIns="0" tIns="0" rIns="0" bIns="0" rtlCol="0" anchor="ctr">
            <a:normAutofit/>
          </a:bodyPr>
          <a:lstStyle/>
          <a:p>
            <a:pPr indent="0" marL="0">
              <a:buNone/>
            </a:pPr>
            <a:r>
              <a:rPr lang="en-US" sz="1000" dirty="0">
                <a:solidFill>
                  <a:srgbClr val="62745B"/>
                </a:solidFill>
                <a:latin typeface="Georgia" pitchFamily="34" charset="0"/>
                <a:ea typeface="Georgia" pitchFamily="34" charset="-122"/>
                <a:cs typeface="Georgia" pitchFamily="34" charset="-120"/>
              </a:rPr>
              <a:t>Name the empty-container step before recording a contents-only result.</a:t>
            </a:r>
            <a:endParaRPr lang="en-US" sz="1000" dirty="0"/>
          </a:p>
        </p:txBody>
      </p:sp>
      <p:sp>
        <p:nvSpPr>
          <p:cNvPr id="13" name="Shape 10"/>
          <p:cNvSpPr/>
          <p:nvPr/>
        </p:nvSpPr>
        <p:spPr>
          <a:xfrm>
            <a:off x="310896" y="5961888"/>
            <a:ext cx="10149840" cy="1207008"/>
          </a:xfrm>
          <a:prstGeom prst="rect">
            <a:avLst/>
          </a:prstGeom>
          <a:solidFill>
            <a:srgbClr val="E9EDDF"/>
          </a:solidFill>
          <a:ln w="12700">
            <a:solidFill>
              <a:srgbClr val="E9EDDF"/>
            </a:solidFill>
            <a:prstDash val="solid"/>
          </a:ln>
        </p:spPr>
      </p:sp>
      <p:sp>
        <p:nvSpPr>
          <p:cNvPr id="14" name="Text 11"/>
          <p:cNvSpPr/>
          <p:nvPr/>
        </p:nvSpPr>
        <p:spPr>
          <a:xfrm>
            <a:off x="493776" y="6126480"/>
            <a:ext cx="9784080" cy="164592"/>
          </a:xfrm>
          <a:prstGeom prst="rect">
            <a:avLst/>
          </a:prstGeom>
          <a:noFill/>
          <a:ln/>
        </p:spPr>
        <p:txBody>
          <a:bodyPr wrap="square" lIns="0" tIns="0" rIns="0" bIns="0" rtlCol="0" anchor="ctr"/>
          <a:lstStyle/>
          <a:p>
            <a:pPr indent="0" marL="0">
              <a:buNone/>
            </a:pPr>
            <a:r>
              <a:rPr lang="en-US" sz="700" dirty="0">
                <a:solidFill>
                  <a:srgbClr val="A46343"/>
                </a:solidFill>
              </a:rPr>
              <a:t>TRY / REFLECT</a:t>
            </a:r>
            <a:endParaRPr lang="en-US" sz="700" dirty="0"/>
          </a:p>
        </p:txBody>
      </p:sp>
      <p:sp>
        <p:nvSpPr>
          <p:cNvPr id="15" name="Text 12"/>
          <p:cNvSpPr/>
          <p:nvPr/>
        </p:nvSpPr>
        <p:spPr>
          <a:xfrm>
            <a:off x="493776" y="6428232"/>
            <a:ext cx="9784080" cy="384048"/>
          </a:xfrm>
          <a:prstGeom prst="rect">
            <a:avLst/>
          </a:prstGeom>
          <a:noFill/>
          <a:ln/>
        </p:spPr>
        <p:txBody>
          <a:bodyPr wrap="square" lIns="0" tIns="0" rIns="0" bIns="0" rtlCol="0" anchor="ctr">
            <a:normAutofit/>
          </a:bodyPr>
          <a:lstStyle/>
          <a:p>
            <a:pPr indent="0" marL="0">
              <a:buNone/>
            </a:pPr>
            <a:r>
              <a:rPr lang="en-US" sz="1300" dirty="0">
                <a:solidFill>
                  <a:srgbClr val="344E41"/>
                </a:solidFill>
                <a:latin typeface="Georgia" pitchFamily="34" charset="0"/>
                <a:ea typeface="Georgia" pitchFamily="34" charset="-122"/>
                <a:cs typeface="Georgia" pitchFamily="34" charset="-120"/>
              </a:rPr>
              <a:t>What would be missing from a note that says only “the bowl reads 320 g”?</a:t>
            </a:r>
            <a:endParaRPr lang="en-US" sz="1300" dirty="0"/>
          </a:p>
        </p:txBody>
      </p:sp>
      <p:sp>
        <p:nvSpPr>
          <p:cNvPr id="16" name="Text 13"/>
          <p:cNvSpPr/>
          <p:nvPr/>
        </p:nvSpPr>
        <p:spPr>
          <a:xfrm>
            <a:off x="493776" y="6940296"/>
            <a:ext cx="9784080" cy="137160"/>
          </a:xfrm>
          <a:prstGeom prst="rect">
            <a:avLst/>
          </a:prstGeom>
          <a:noFill/>
          <a:ln/>
        </p:spPr>
        <p:txBody>
          <a:bodyPr wrap="square" lIns="0" tIns="0" rIns="0" bIns="0" rtlCol="0" anchor="ctr"/>
          <a:lstStyle/>
          <a:p>
            <a:pPr indent="0" marL="0">
              <a:buNone/>
            </a:pPr>
            <a:r>
              <a:rPr lang="en-US" sz="600" dirty="0">
                <a:solidFill>
                  <a:srgbClr val="77836B"/>
                </a:solidFill>
              </a:rPr>
              <a:t>COMPLETE / 32 PAGES / 16 INDEPENDENT MAIN ILLUSTRATIONS / MODEL NUMBERS, NOT REAL READINGS</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3"/>
        </a:solidFill>
      </p:bgPr>
    </p:bg>
    <p:spTree>
      <p:nvGrpSpPr>
        <p:cNvPr id="1" name=""/>
        <p:cNvGrpSpPr/>
        <p:nvPr/>
      </p:nvGrpSpPr>
      <p:grpSpPr>
        <a:xfrm>
          <a:off x="0" y="0"/>
          <a:ext cx="0" cy="0"/>
          <a:chOff x="0" y="0"/>
          <a:chExt cx="0" cy="0"/>
        </a:xfrm>
      </p:grpSpPr>
      <p:sp>
        <p:nvSpPr>
          <p:cNvPr id="2" name="Text 0"/>
          <p:cNvSpPr/>
          <p:nvPr/>
        </p:nvSpPr>
        <p:spPr>
          <a:xfrm>
            <a:off x="310896" y="256032"/>
            <a:ext cx="7772400" cy="182880"/>
          </a:xfrm>
          <a:prstGeom prst="rect">
            <a:avLst/>
          </a:prstGeom>
          <a:noFill/>
          <a:ln/>
        </p:spPr>
        <p:txBody>
          <a:bodyPr wrap="square" lIns="0" tIns="0" rIns="0" bIns="0" rtlCol="0" anchor="ctr"/>
          <a:lstStyle/>
          <a:p>
            <a:pPr indent="0" marL="0">
              <a:buNone/>
            </a:pPr>
            <a:r>
              <a:rPr lang="en-US" sz="800" dirty="0">
                <a:solidFill>
                  <a:srgbClr val="708267"/>
                </a:solidFill>
              </a:rPr>
              <a:t>PANTRY NOTES / THE MEASUREMENT NOTEBOOK</a:t>
            </a:r>
            <a:endParaRPr lang="en-US" sz="800" dirty="0"/>
          </a:p>
        </p:txBody>
      </p:sp>
      <p:sp>
        <p:nvSpPr>
          <p:cNvPr id="3" name="Text 1"/>
          <p:cNvSpPr/>
          <p:nvPr/>
        </p:nvSpPr>
        <p:spPr>
          <a:xfrm>
            <a:off x="310896" y="594360"/>
            <a:ext cx="7772400" cy="237744"/>
          </a:xfrm>
          <a:prstGeom prst="rect">
            <a:avLst/>
          </a:prstGeom>
          <a:noFill/>
          <a:ln/>
        </p:spPr>
        <p:txBody>
          <a:bodyPr wrap="square" lIns="0" tIns="0" rIns="0" bIns="0" rtlCol="0" anchor="ctr"/>
          <a:lstStyle/>
          <a:p>
            <a:pPr indent="0" marL="0">
              <a:buNone/>
            </a:pPr>
            <a:r>
              <a:rPr lang="en-US" sz="1400" dirty="0">
                <a:solidFill>
                  <a:srgbClr val="344E41"/>
                </a:solidFill>
                <a:latin typeface="Georgia" pitchFamily="34" charset="0"/>
                <a:ea typeface="Georgia" pitchFamily="34" charset="-122"/>
                <a:cs typeface="Georgia" pitchFamily="34" charset="-120"/>
              </a:rPr>
              <a:t>02 / Read the units</a:t>
            </a:r>
            <a:endParaRPr lang="en-US" sz="1400" dirty="0"/>
          </a:p>
        </p:txBody>
      </p:sp>
      <p:sp>
        <p:nvSpPr>
          <p:cNvPr id="4" name="Text 2"/>
          <p:cNvSpPr/>
          <p:nvPr/>
        </p:nvSpPr>
        <p:spPr>
          <a:xfrm>
            <a:off x="9784080" y="274320"/>
            <a:ext cx="640080" cy="411480"/>
          </a:xfrm>
          <a:prstGeom prst="rect">
            <a:avLst/>
          </a:prstGeom>
          <a:noFill/>
          <a:ln/>
        </p:spPr>
        <p:txBody>
          <a:bodyPr wrap="square" lIns="0" tIns="0" rIns="0" bIns="0" rtlCol="0" anchor="ctr"/>
          <a:lstStyle/>
          <a:p>
            <a:pPr algn="r" indent="0" marL="0">
              <a:buNone/>
            </a:pPr>
            <a:r>
              <a:rPr lang="en-US" sz="2500" dirty="0">
                <a:solidFill>
                  <a:srgbClr val="B1724C"/>
                </a:solidFill>
              </a:rPr>
              <a:t>08</a:t>
            </a:r>
            <a:endParaRPr lang="en-US" sz="2500" dirty="0"/>
          </a:p>
        </p:txBody>
      </p:sp>
      <p:sp>
        <p:nvSpPr>
          <p:cNvPr id="5" name="Shape 3"/>
          <p:cNvSpPr/>
          <p:nvPr/>
        </p:nvSpPr>
        <p:spPr>
          <a:xfrm>
            <a:off x="310896" y="960120"/>
            <a:ext cx="10149840" cy="0"/>
          </a:xfrm>
          <a:prstGeom prst="line">
            <a:avLst/>
          </a:prstGeom>
          <a:noFill/>
          <a:ln w="12700">
            <a:solidFill>
              <a:srgbClr val="C6D0BC"/>
            </a:solidFill>
            <a:prstDash val="solid"/>
          </a:ln>
        </p:spPr>
      </p:sp>
      <p:pic>
        <p:nvPicPr>
          <p:cNvPr id="6" name="Image 0" descr="/home/user/design-buddy/design-buddy-home/public/atelier/pantry-notes/images/04.jpg">    </p:cNvPr>
          <p:cNvPicPr>
            <a:picLocks noChangeAspect="1"/>
          </p:cNvPicPr>
          <p:nvPr/>
        </p:nvPicPr>
        <p:blipFill>
          <a:blip r:embed="rId1"/>
          <a:srcRect l="0" r="0" t="0" b="0"/>
          <a:stretch/>
        </p:blipFill>
        <p:spPr>
          <a:xfrm>
            <a:off x="310896" y="1207008"/>
            <a:ext cx="6217920" cy="4023360"/>
          </a:xfrm>
          <a:prstGeom prst="rect">
            <a:avLst/>
          </a:prstGeom>
        </p:spPr>
      </p:pic>
      <p:sp>
        <p:nvSpPr>
          <p:cNvPr id="7" name="Text 4"/>
          <p:cNvSpPr/>
          <p:nvPr/>
        </p:nvSpPr>
        <p:spPr>
          <a:xfrm>
            <a:off x="310896" y="5376672"/>
            <a:ext cx="6217920" cy="320040"/>
          </a:xfrm>
          <a:prstGeom prst="rect">
            <a:avLst/>
          </a:prstGeom>
          <a:noFill/>
          <a:ln/>
        </p:spPr>
        <p:txBody>
          <a:bodyPr wrap="square" lIns="0" tIns="0" rIns="0" bIns="0" rtlCol="0" anchor="ctr"/>
          <a:lstStyle/>
          <a:p>
            <a:pPr indent="0" marL="0">
              <a:buNone/>
            </a:pPr>
            <a:r>
              <a:rPr lang="en-US" sz="700" dirty="0">
                <a:solidFill>
                  <a:srgbClr val="7C886F"/>
                </a:solidFill>
              </a:rPr>
              <a:t>Watercolour study 4 / illustration, not measurement evidence</a:t>
            </a:r>
            <a:endParaRPr lang="en-US" sz="700" dirty="0"/>
          </a:p>
        </p:txBody>
      </p:sp>
      <p:sp>
        <p:nvSpPr>
          <p:cNvPr id="8" name="Text 5"/>
          <p:cNvSpPr/>
          <p:nvPr/>
        </p:nvSpPr>
        <p:spPr>
          <a:xfrm>
            <a:off x="6803136" y="1216152"/>
            <a:ext cx="3383280" cy="182880"/>
          </a:xfrm>
          <a:prstGeom prst="rect">
            <a:avLst/>
          </a:prstGeom>
          <a:noFill/>
          <a:ln/>
        </p:spPr>
        <p:txBody>
          <a:bodyPr wrap="square" lIns="0" tIns="0" rIns="0" bIns="0" rtlCol="0" anchor="ctr"/>
          <a:lstStyle/>
          <a:p>
            <a:pPr indent="0" marL="0">
              <a:buNone/>
            </a:pPr>
            <a:r>
              <a:rPr lang="en-US" sz="700" dirty="0">
                <a:solidFill>
                  <a:srgbClr val="A46343"/>
                </a:solidFill>
              </a:rPr>
              <a:t>THE OBSERVATION</a:t>
            </a:r>
            <a:endParaRPr lang="en-US" sz="700" dirty="0"/>
          </a:p>
        </p:txBody>
      </p:sp>
      <p:sp>
        <p:nvSpPr>
          <p:cNvPr id="9" name="Text 6"/>
          <p:cNvSpPr/>
          <p:nvPr/>
        </p:nvSpPr>
        <p:spPr>
          <a:xfrm>
            <a:off x="6803136" y="1554480"/>
            <a:ext cx="3383280" cy="969264"/>
          </a:xfrm>
          <a:prstGeom prst="rect">
            <a:avLst/>
          </a:prstGeom>
          <a:noFill/>
          <a:ln/>
        </p:spPr>
        <p:txBody>
          <a:bodyPr wrap="square" lIns="0" tIns="0" rIns="0" bIns="0" rtlCol="0" anchor="ctr">
            <a:normAutofit/>
          </a:bodyPr>
          <a:lstStyle/>
          <a:p>
            <a:pPr indent="0" marL="0">
              <a:buNone/>
            </a:pPr>
            <a:r>
              <a:rPr lang="en-US" sz="2500" dirty="0">
                <a:solidFill>
                  <a:srgbClr val="3E5743"/>
                </a:solidFill>
                <a:latin typeface="Georgia" pitchFamily="34" charset="0"/>
                <a:ea typeface="Georgia" pitchFamily="34" charset="-122"/>
                <a:cs typeface="Georgia" pitchFamily="34" charset="-120"/>
              </a:rPr>
              <a:t>Subtract like quantities.</a:t>
            </a:r>
            <a:endParaRPr lang="en-US" sz="2500" dirty="0"/>
          </a:p>
        </p:txBody>
      </p:sp>
      <p:sp>
        <p:nvSpPr>
          <p:cNvPr id="10" name="Text 7"/>
          <p:cNvSpPr/>
          <p:nvPr/>
        </p:nvSpPr>
        <p:spPr>
          <a:xfrm>
            <a:off x="6803136" y="2715768"/>
            <a:ext cx="3383280" cy="1883664"/>
          </a:xfrm>
          <a:prstGeom prst="rect">
            <a:avLst/>
          </a:prstGeom>
          <a:noFill/>
          <a:ln/>
        </p:spPr>
        <p:txBody>
          <a:bodyPr wrap="square" lIns="0" tIns="0" rIns="0" bIns="0" rtlCol="0" anchor="t">
            <a:normAutofit/>
          </a:bodyPr>
          <a:lstStyle/>
          <a:p>
            <a:pPr indent="0" marL="0">
              <a:buNone/>
            </a:pPr>
            <a:r>
              <a:rPr lang="en-US" sz="1200" dirty="0">
                <a:solidFill>
                  <a:srgbClr val="344E41"/>
                </a:solidFill>
                <a:latin typeface="Georgia" pitchFamily="34" charset="0"/>
                <a:ea typeface="Georgia" pitchFamily="34" charset="-122"/>
                <a:cs typeface="Georgia" pitchFamily="34" charset="-120"/>
              </a:rPr>
              <a:t>In this invented arithmetic example, bowl plus contents is 320 g and the empty bowl is 120 g. Subtracting the container gives 200 g for the contents within the example. This is not evidence of scale accuracy.</a:t>
            </a:r>
            <a:endParaRPr lang="en-US" sz="1200" dirty="0"/>
          </a:p>
        </p:txBody>
      </p:sp>
      <p:sp>
        <p:nvSpPr>
          <p:cNvPr id="11" name="Text 8"/>
          <p:cNvSpPr/>
          <p:nvPr/>
        </p:nvSpPr>
        <p:spPr>
          <a:xfrm>
            <a:off x="6803136" y="4782312"/>
            <a:ext cx="3383280" cy="164592"/>
          </a:xfrm>
          <a:prstGeom prst="rect">
            <a:avLst/>
          </a:prstGeom>
          <a:noFill/>
          <a:ln/>
        </p:spPr>
        <p:txBody>
          <a:bodyPr wrap="square" lIns="0" tIns="0" rIns="0" bIns="0" rtlCol="0" anchor="ctr"/>
          <a:lstStyle/>
          <a:p>
            <a:pPr indent="0" marL="0">
              <a:buNone/>
            </a:pPr>
            <a:r>
              <a:rPr lang="en-US" sz="700" dirty="0">
                <a:solidFill>
                  <a:srgbClr val="A46343"/>
                </a:solidFill>
              </a:rPr>
              <a:t>MODEL / METHOD NOTE</a:t>
            </a:r>
            <a:endParaRPr lang="en-US" sz="700" dirty="0"/>
          </a:p>
        </p:txBody>
      </p:sp>
      <p:sp>
        <p:nvSpPr>
          <p:cNvPr id="12" name="Text 9"/>
          <p:cNvSpPr/>
          <p:nvPr/>
        </p:nvSpPr>
        <p:spPr>
          <a:xfrm>
            <a:off x="6803136" y="5074920"/>
            <a:ext cx="3383280" cy="594360"/>
          </a:xfrm>
          <a:prstGeom prst="rect">
            <a:avLst/>
          </a:prstGeom>
          <a:noFill/>
          <a:ln/>
        </p:spPr>
        <p:txBody>
          <a:bodyPr wrap="square" lIns="0" tIns="0" rIns="0" bIns="0" rtlCol="0" anchor="ctr">
            <a:normAutofit/>
          </a:bodyPr>
          <a:lstStyle/>
          <a:p>
            <a:pPr indent="0" marL="0">
              <a:buNone/>
            </a:pPr>
            <a:r>
              <a:rPr lang="en-US" sz="1000" dirty="0">
                <a:solidFill>
                  <a:srgbClr val="62745B"/>
                </a:solidFill>
                <a:latin typeface="Georgia" pitchFamily="34" charset="0"/>
                <a:ea typeface="Georgia" pitchFamily="34" charset="-122"/>
                <a:cs typeface="Georgia" pitchFamily="34" charset="-120"/>
              </a:rPr>
              <a:t>320 g − 120 g = 200 g.</a:t>
            </a:r>
            <a:endParaRPr lang="en-US" sz="1000" dirty="0"/>
          </a:p>
        </p:txBody>
      </p:sp>
      <p:sp>
        <p:nvSpPr>
          <p:cNvPr id="13" name="Shape 10"/>
          <p:cNvSpPr/>
          <p:nvPr/>
        </p:nvSpPr>
        <p:spPr>
          <a:xfrm>
            <a:off x="310896" y="5961888"/>
            <a:ext cx="10149840" cy="1207008"/>
          </a:xfrm>
          <a:prstGeom prst="rect">
            <a:avLst/>
          </a:prstGeom>
          <a:solidFill>
            <a:srgbClr val="E9EDDF"/>
          </a:solidFill>
          <a:ln w="12700">
            <a:solidFill>
              <a:srgbClr val="E9EDDF"/>
            </a:solidFill>
            <a:prstDash val="solid"/>
          </a:ln>
        </p:spPr>
      </p:sp>
      <p:sp>
        <p:nvSpPr>
          <p:cNvPr id="14" name="Text 11"/>
          <p:cNvSpPr/>
          <p:nvPr/>
        </p:nvSpPr>
        <p:spPr>
          <a:xfrm>
            <a:off x="493776" y="6126480"/>
            <a:ext cx="9784080" cy="164592"/>
          </a:xfrm>
          <a:prstGeom prst="rect">
            <a:avLst/>
          </a:prstGeom>
          <a:noFill/>
          <a:ln/>
        </p:spPr>
        <p:txBody>
          <a:bodyPr wrap="square" lIns="0" tIns="0" rIns="0" bIns="0" rtlCol="0" anchor="ctr"/>
          <a:lstStyle/>
          <a:p>
            <a:pPr indent="0" marL="0">
              <a:buNone/>
            </a:pPr>
            <a:r>
              <a:rPr lang="en-US" sz="700" dirty="0">
                <a:solidFill>
                  <a:srgbClr val="A46343"/>
                </a:solidFill>
              </a:rPr>
              <a:t>TRY / REFLECT</a:t>
            </a:r>
            <a:endParaRPr lang="en-US" sz="700" dirty="0"/>
          </a:p>
        </p:txBody>
      </p:sp>
      <p:sp>
        <p:nvSpPr>
          <p:cNvPr id="15" name="Text 12"/>
          <p:cNvSpPr/>
          <p:nvPr/>
        </p:nvSpPr>
        <p:spPr>
          <a:xfrm>
            <a:off x="493776" y="6428232"/>
            <a:ext cx="9784080" cy="384048"/>
          </a:xfrm>
          <a:prstGeom prst="rect">
            <a:avLst/>
          </a:prstGeom>
          <a:noFill/>
          <a:ln/>
        </p:spPr>
        <p:txBody>
          <a:bodyPr wrap="square" lIns="0" tIns="0" rIns="0" bIns="0" rtlCol="0" anchor="ctr">
            <a:normAutofit/>
          </a:bodyPr>
          <a:lstStyle/>
          <a:p>
            <a:pPr indent="0" marL="0">
              <a:buNone/>
            </a:pPr>
            <a:r>
              <a:rPr lang="en-US" sz="1300" dirty="0">
                <a:solidFill>
                  <a:srgbClr val="344E41"/>
                </a:solidFill>
                <a:latin typeface="Georgia" pitchFamily="34" charset="0"/>
                <a:ea typeface="Georgia" pitchFamily="34" charset="-122"/>
                <a:cs typeface="Georgia" pitchFamily="34" charset="-120"/>
              </a:rPr>
              <a:t>If the combined example is 410 g and the bowl is 160 g, what mass remains?</a:t>
            </a:r>
            <a:endParaRPr lang="en-US" sz="1300" dirty="0"/>
          </a:p>
        </p:txBody>
      </p:sp>
      <p:sp>
        <p:nvSpPr>
          <p:cNvPr id="16" name="Text 13"/>
          <p:cNvSpPr/>
          <p:nvPr/>
        </p:nvSpPr>
        <p:spPr>
          <a:xfrm>
            <a:off x="493776" y="6940296"/>
            <a:ext cx="9784080" cy="137160"/>
          </a:xfrm>
          <a:prstGeom prst="rect">
            <a:avLst/>
          </a:prstGeom>
          <a:noFill/>
          <a:ln/>
        </p:spPr>
        <p:txBody>
          <a:bodyPr wrap="square" lIns="0" tIns="0" rIns="0" bIns="0" rtlCol="0" anchor="ctr"/>
          <a:lstStyle/>
          <a:p>
            <a:pPr indent="0" marL="0">
              <a:buNone/>
            </a:pPr>
            <a:r>
              <a:rPr lang="en-US" sz="600" dirty="0">
                <a:solidFill>
                  <a:srgbClr val="77836B"/>
                </a:solidFill>
              </a:rPr>
              <a:t>COMPLETE / 32 PAGES / 16 INDEPENDENT MAIN ILLUSTRATIONS / MODEL NUMBERS, NOT REAL READINGS</a:t>
            </a:r>
            <a:endParaRPr lang="en-US" sz="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3"/>
        </a:solidFill>
      </p:bgPr>
    </p:bg>
    <p:spTree>
      <p:nvGrpSpPr>
        <p:cNvPr id="1" name=""/>
        <p:cNvGrpSpPr/>
        <p:nvPr/>
      </p:nvGrpSpPr>
      <p:grpSpPr>
        <a:xfrm>
          <a:off x="0" y="0"/>
          <a:ext cx="0" cy="0"/>
          <a:chOff x="0" y="0"/>
          <a:chExt cx="0" cy="0"/>
        </a:xfrm>
      </p:grpSpPr>
      <p:sp>
        <p:nvSpPr>
          <p:cNvPr id="2" name="Text 0"/>
          <p:cNvSpPr/>
          <p:nvPr/>
        </p:nvSpPr>
        <p:spPr>
          <a:xfrm>
            <a:off x="310896" y="256032"/>
            <a:ext cx="7772400" cy="182880"/>
          </a:xfrm>
          <a:prstGeom prst="rect">
            <a:avLst/>
          </a:prstGeom>
          <a:noFill/>
          <a:ln/>
        </p:spPr>
        <p:txBody>
          <a:bodyPr wrap="square" lIns="0" tIns="0" rIns="0" bIns="0" rtlCol="0" anchor="ctr"/>
          <a:lstStyle/>
          <a:p>
            <a:pPr indent="0" marL="0">
              <a:buNone/>
            </a:pPr>
            <a:r>
              <a:rPr lang="en-US" sz="800" dirty="0">
                <a:solidFill>
                  <a:srgbClr val="708267"/>
                </a:solidFill>
              </a:rPr>
              <a:t>PANTRY NOTES / THE MEASUREMENT NOTEBOOK</a:t>
            </a:r>
            <a:endParaRPr lang="en-US" sz="800" dirty="0"/>
          </a:p>
        </p:txBody>
      </p:sp>
      <p:sp>
        <p:nvSpPr>
          <p:cNvPr id="3" name="Text 1"/>
          <p:cNvSpPr/>
          <p:nvPr/>
        </p:nvSpPr>
        <p:spPr>
          <a:xfrm>
            <a:off x="310896" y="594360"/>
            <a:ext cx="7772400" cy="237744"/>
          </a:xfrm>
          <a:prstGeom prst="rect">
            <a:avLst/>
          </a:prstGeom>
          <a:noFill/>
          <a:ln/>
        </p:spPr>
        <p:txBody>
          <a:bodyPr wrap="square" lIns="0" tIns="0" rIns="0" bIns="0" rtlCol="0" anchor="ctr"/>
          <a:lstStyle/>
          <a:p>
            <a:pPr indent="0" marL="0">
              <a:buNone/>
            </a:pPr>
            <a:r>
              <a:rPr lang="en-US" sz="1400" dirty="0">
                <a:solidFill>
                  <a:srgbClr val="344E41"/>
                </a:solidFill>
                <a:latin typeface="Georgia" pitchFamily="34" charset="0"/>
                <a:ea typeface="Georgia" pitchFamily="34" charset="-122"/>
                <a:cs typeface="Georgia" pitchFamily="34" charset="-120"/>
              </a:rPr>
              <a:t>03 / Keep a method</a:t>
            </a:r>
            <a:endParaRPr lang="en-US" sz="1400" dirty="0"/>
          </a:p>
        </p:txBody>
      </p:sp>
      <p:sp>
        <p:nvSpPr>
          <p:cNvPr id="4" name="Text 2"/>
          <p:cNvSpPr/>
          <p:nvPr/>
        </p:nvSpPr>
        <p:spPr>
          <a:xfrm>
            <a:off x="9784080" y="274320"/>
            <a:ext cx="640080" cy="411480"/>
          </a:xfrm>
          <a:prstGeom prst="rect">
            <a:avLst/>
          </a:prstGeom>
          <a:noFill/>
          <a:ln/>
        </p:spPr>
        <p:txBody>
          <a:bodyPr wrap="square" lIns="0" tIns="0" rIns="0" bIns="0" rtlCol="0" anchor="ctr"/>
          <a:lstStyle/>
          <a:p>
            <a:pPr algn="r" indent="0" marL="0">
              <a:buNone/>
            </a:pPr>
            <a:r>
              <a:rPr lang="en-US" sz="2500" dirty="0">
                <a:solidFill>
                  <a:srgbClr val="B1724C"/>
                </a:solidFill>
              </a:rPr>
              <a:t>09</a:t>
            </a:r>
            <a:endParaRPr lang="en-US" sz="2500" dirty="0"/>
          </a:p>
        </p:txBody>
      </p:sp>
      <p:sp>
        <p:nvSpPr>
          <p:cNvPr id="5" name="Shape 3"/>
          <p:cNvSpPr/>
          <p:nvPr/>
        </p:nvSpPr>
        <p:spPr>
          <a:xfrm>
            <a:off x="310896" y="960120"/>
            <a:ext cx="10149840" cy="0"/>
          </a:xfrm>
          <a:prstGeom prst="line">
            <a:avLst/>
          </a:prstGeom>
          <a:noFill/>
          <a:ln w="12700">
            <a:solidFill>
              <a:srgbClr val="C6D0BC"/>
            </a:solidFill>
            <a:prstDash val="solid"/>
          </a:ln>
        </p:spPr>
      </p:sp>
      <p:pic>
        <p:nvPicPr>
          <p:cNvPr id="6" name="Image 0" descr="/home/user/design-buddy/design-buddy-home/public/atelier/pantry-notes/images/05.jpg">    </p:cNvPr>
          <p:cNvPicPr>
            <a:picLocks noChangeAspect="1"/>
          </p:cNvPicPr>
          <p:nvPr/>
        </p:nvPicPr>
        <p:blipFill>
          <a:blip r:embed="rId1"/>
          <a:srcRect l="0" r="0" t="0" b="0"/>
          <a:stretch/>
        </p:blipFill>
        <p:spPr>
          <a:xfrm>
            <a:off x="310896" y="1207008"/>
            <a:ext cx="6217920" cy="4023360"/>
          </a:xfrm>
          <a:prstGeom prst="rect">
            <a:avLst/>
          </a:prstGeom>
        </p:spPr>
      </p:pic>
      <p:sp>
        <p:nvSpPr>
          <p:cNvPr id="7" name="Text 4"/>
          <p:cNvSpPr/>
          <p:nvPr/>
        </p:nvSpPr>
        <p:spPr>
          <a:xfrm>
            <a:off x="310896" y="5376672"/>
            <a:ext cx="6217920" cy="320040"/>
          </a:xfrm>
          <a:prstGeom prst="rect">
            <a:avLst/>
          </a:prstGeom>
          <a:noFill/>
          <a:ln/>
        </p:spPr>
        <p:txBody>
          <a:bodyPr wrap="square" lIns="0" tIns="0" rIns="0" bIns="0" rtlCol="0" anchor="ctr"/>
          <a:lstStyle/>
          <a:p>
            <a:pPr indent="0" marL="0">
              <a:buNone/>
            </a:pPr>
            <a:r>
              <a:rPr lang="en-US" sz="700" dirty="0">
                <a:solidFill>
                  <a:srgbClr val="7C886F"/>
                </a:solidFill>
              </a:rPr>
              <a:t>Watercolour study 5 / illustration, not measurement evidence</a:t>
            </a:r>
            <a:endParaRPr lang="en-US" sz="700" dirty="0"/>
          </a:p>
        </p:txBody>
      </p:sp>
      <p:sp>
        <p:nvSpPr>
          <p:cNvPr id="8" name="Text 5"/>
          <p:cNvSpPr/>
          <p:nvPr/>
        </p:nvSpPr>
        <p:spPr>
          <a:xfrm>
            <a:off x="6803136" y="1216152"/>
            <a:ext cx="3383280" cy="182880"/>
          </a:xfrm>
          <a:prstGeom prst="rect">
            <a:avLst/>
          </a:prstGeom>
          <a:noFill/>
          <a:ln/>
        </p:spPr>
        <p:txBody>
          <a:bodyPr wrap="square" lIns="0" tIns="0" rIns="0" bIns="0" rtlCol="0" anchor="ctr"/>
          <a:lstStyle/>
          <a:p>
            <a:pPr indent="0" marL="0">
              <a:buNone/>
            </a:pPr>
            <a:r>
              <a:rPr lang="en-US" sz="700" dirty="0">
                <a:solidFill>
                  <a:srgbClr val="A46343"/>
                </a:solidFill>
              </a:rPr>
              <a:t>THE OBSERVATION</a:t>
            </a:r>
            <a:endParaRPr lang="en-US" sz="700" dirty="0"/>
          </a:p>
        </p:txBody>
      </p:sp>
      <p:sp>
        <p:nvSpPr>
          <p:cNvPr id="9" name="Text 6"/>
          <p:cNvSpPr/>
          <p:nvPr/>
        </p:nvSpPr>
        <p:spPr>
          <a:xfrm>
            <a:off x="6803136" y="1554480"/>
            <a:ext cx="3383280" cy="969264"/>
          </a:xfrm>
          <a:prstGeom prst="rect">
            <a:avLst/>
          </a:prstGeom>
          <a:noFill/>
          <a:ln/>
        </p:spPr>
        <p:txBody>
          <a:bodyPr wrap="square" lIns="0" tIns="0" rIns="0" bIns="0" rtlCol="0" anchor="ctr">
            <a:normAutofit/>
          </a:bodyPr>
          <a:lstStyle/>
          <a:p>
            <a:pPr indent="0" marL="0">
              <a:buNone/>
            </a:pPr>
            <a:r>
              <a:rPr lang="en-US" sz="2500" dirty="0">
                <a:solidFill>
                  <a:srgbClr val="3E5743"/>
                </a:solidFill>
                <a:latin typeface="Georgia" pitchFamily="34" charset="0"/>
                <a:ea typeface="Georgia" pitchFamily="34" charset="-122"/>
                <a:cs typeface="Georgia" pitchFamily="34" charset="-120"/>
              </a:rPr>
              <a:t>Describe the fill.</a:t>
            </a:r>
            <a:endParaRPr lang="en-US" sz="2500" dirty="0"/>
          </a:p>
        </p:txBody>
      </p:sp>
      <p:sp>
        <p:nvSpPr>
          <p:cNvPr id="10" name="Text 7"/>
          <p:cNvSpPr/>
          <p:nvPr/>
        </p:nvSpPr>
        <p:spPr>
          <a:xfrm>
            <a:off x="6803136" y="2715768"/>
            <a:ext cx="3383280" cy="1883664"/>
          </a:xfrm>
          <a:prstGeom prst="rect">
            <a:avLst/>
          </a:prstGeom>
          <a:noFill/>
          <a:ln/>
        </p:spPr>
        <p:txBody>
          <a:bodyPr wrap="square" lIns="0" tIns="0" rIns="0" bIns="0" rtlCol="0" anchor="t">
            <a:normAutofit/>
          </a:bodyPr>
          <a:lstStyle/>
          <a:p>
            <a:pPr indent="0" marL="0">
              <a:buNone/>
            </a:pPr>
            <a:r>
              <a:rPr lang="en-US" sz="1200" dirty="0">
                <a:solidFill>
                  <a:srgbClr val="344E41"/>
                </a:solidFill>
                <a:latin typeface="Georgia" pitchFamily="34" charset="0"/>
                <a:ea typeface="Georgia" pitchFamily="34" charset="-122"/>
                <a:cs typeface="Georgia" pitchFamily="34" charset="-120"/>
              </a:rPr>
              <a:t>A cup of dry material may be loosely filled, compressed or heaped. Those are different preparation methods. Name the chosen method before comparing results; the drawing is an illustration, not a universally specified kitchen standard.</a:t>
            </a:r>
            <a:endParaRPr lang="en-US" sz="1200" dirty="0"/>
          </a:p>
        </p:txBody>
      </p:sp>
      <p:sp>
        <p:nvSpPr>
          <p:cNvPr id="11" name="Text 8"/>
          <p:cNvSpPr/>
          <p:nvPr/>
        </p:nvSpPr>
        <p:spPr>
          <a:xfrm>
            <a:off x="6803136" y="4782312"/>
            <a:ext cx="3383280" cy="164592"/>
          </a:xfrm>
          <a:prstGeom prst="rect">
            <a:avLst/>
          </a:prstGeom>
          <a:noFill/>
          <a:ln/>
        </p:spPr>
        <p:txBody>
          <a:bodyPr wrap="square" lIns="0" tIns="0" rIns="0" bIns="0" rtlCol="0" anchor="ctr"/>
          <a:lstStyle/>
          <a:p>
            <a:pPr indent="0" marL="0">
              <a:buNone/>
            </a:pPr>
            <a:r>
              <a:rPr lang="en-US" sz="700" dirty="0">
                <a:solidFill>
                  <a:srgbClr val="A46343"/>
                </a:solidFill>
              </a:rPr>
              <a:t>MODEL / METHOD NOTE</a:t>
            </a:r>
            <a:endParaRPr lang="en-US" sz="700" dirty="0"/>
          </a:p>
        </p:txBody>
      </p:sp>
      <p:sp>
        <p:nvSpPr>
          <p:cNvPr id="12" name="Text 9"/>
          <p:cNvSpPr/>
          <p:nvPr/>
        </p:nvSpPr>
        <p:spPr>
          <a:xfrm>
            <a:off x="6803136" y="5074920"/>
            <a:ext cx="3383280" cy="594360"/>
          </a:xfrm>
          <a:prstGeom prst="rect">
            <a:avLst/>
          </a:prstGeom>
          <a:noFill/>
          <a:ln/>
        </p:spPr>
        <p:txBody>
          <a:bodyPr wrap="square" lIns="0" tIns="0" rIns="0" bIns="0" rtlCol="0" anchor="ctr">
            <a:normAutofit/>
          </a:bodyPr>
          <a:lstStyle/>
          <a:p>
            <a:pPr indent="0" marL="0">
              <a:buNone/>
            </a:pPr>
            <a:r>
              <a:rPr lang="en-US" sz="1000" dirty="0">
                <a:solidFill>
                  <a:srgbClr val="62745B"/>
                </a:solidFill>
                <a:latin typeface="Georgia" pitchFamily="34" charset="0"/>
                <a:ea typeface="Georgia" pitchFamily="34" charset="-122"/>
                <a:cs typeface="Georgia" pitchFamily="34" charset="-120"/>
              </a:rPr>
              <a:t>Record: material / container / fill method / unit.</a:t>
            </a:r>
            <a:endParaRPr lang="en-US" sz="1000" dirty="0"/>
          </a:p>
        </p:txBody>
      </p:sp>
      <p:sp>
        <p:nvSpPr>
          <p:cNvPr id="13" name="Shape 10"/>
          <p:cNvSpPr/>
          <p:nvPr/>
        </p:nvSpPr>
        <p:spPr>
          <a:xfrm>
            <a:off x="310896" y="5961888"/>
            <a:ext cx="10149840" cy="1207008"/>
          </a:xfrm>
          <a:prstGeom prst="rect">
            <a:avLst/>
          </a:prstGeom>
          <a:solidFill>
            <a:srgbClr val="E9EDDF"/>
          </a:solidFill>
          <a:ln w="12700">
            <a:solidFill>
              <a:srgbClr val="E9EDDF"/>
            </a:solidFill>
            <a:prstDash val="solid"/>
          </a:ln>
        </p:spPr>
      </p:sp>
      <p:sp>
        <p:nvSpPr>
          <p:cNvPr id="14" name="Text 11"/>
          <p:cNvSpPr/>
          <p:nvPr/>
        </p:nvSpPr>
        <p:spPr>
          <a:xfrm>
            <a:off x="493776" y="6126480"/>
            <a:ext cx="9784080" cy="164592"/>
          </a:xfrm>
          <a:prstGeom prst="rect">
            <a:avLst/>
          </a:prstGeom>
          <a:noFill/>
          <a:ln/>
        </p:spPr>
        <p:txBody>
          <a:bodyPr wrap="square" lIns="0" tIns="0" rIns="0" bIns="0" rtlCol="0" anchor="ctr"/>
          <a:lstStyle/>
          <a:p>
            <a:pPr indent="0" marL="0">
              <a:buNone/>
            </a:pPr>
            <a:r>
              <a:rPr lang="en-US" sz="700" dirty="0">
                <a:solidFill>
                  <a:srgbClr val="A46343"/>
                </a:solidFill>
              </a:rPr>
              <a:t>TRY / REFLECT</a:t>
            </a:r>
            <a:endParaRPr lang="en-US" sz="700" dirty="0"/>
          </a:p>
        </p:txBody>
      </p:sp>
      <p:sp>
        <p:nvSpPr>
          <p:cNvPr id="15" name="Text 12"/>
          <p:cNvSpPr/>
          <p:nvPr/>
        </p:nvSpPr>
        <p:spPr>
          <a:xfrm>
            <a:off x="493776" y="6428232"/>
            <a:ext cx="9784080" cy="384048"/>
          </a:xfrm>
          <a:prstGeom prst="rect">
            <a:avLst/>
          </a:prstGeom>
          <a:noFill/>
          <a:ln/>
        </p:spPr>
        <p:txBody>
          <a:bodyPr wrap="square" lIns="0" tIns="0" rIns="0" bIns="0" rtlCol="0" anchor="ctr">
            <a:normAutofit/>
          </a:bodyPr>
          <a:lstStyle/>
          <a:p>
            <a:pPr indent="0" marL="0">
              <a:buNone/>
            </a:pPr>
            <a:r>
              <a:rPr lang="en-US" sz="1300" dirty="0">
                <a:solidFill>
                  <a:srgbClr val="344E41"/>
                </a:solidFill>
                <a:latin typeface="Georgia" pitchFamily="34" charset="0"/>
                <a:ea typeface="Georgia" pitchFamily="34" charset="-122"/>
                <a:cs typeface="Georgia" pitchFamily="34" charset="-120"/>
              </a:rPr>
              <a:t>Which part of a fill method would you need to repeat for a fair comparison?</a:t>
            </a:r>
            <a:endParaRPr lang="en-US" sz="1300" dirty="0"/>
          </a:p>
        </p:txBody>
      </p:sp>
      <p:sp>
        <p:nvSpPr>
          <p:cNvPr id="16" name="Text 13"/>
          <p:cNvSpPr/>
          <p:nvPr/>
        </p:nvSpPr>
        <p:spPr>
          <a:xfrm>
            <a:off x="493776" y="6940296"/>
            <a:ext cx="9784080" cy="137160"/>
          </a:xfrm>
          <a:prstGeom prst="rect">
            <a:avLst/>
          </a:prstGeom>
          <a:noFill/>
          <a:ln/>
        </p:spPr>
        <p:txBody>
          <a:bodyPr wrap="square" lIns="0" tIns="0" rIns="0" bIns="0" rtlCol="0" anchor="ctr"/>
          <a:lstStyle/>
          <a:p>
            <a:pPr indent="0" marL="0">
              <a:buNone/>
            </a:pPr>
            <a:r>
              <a:rPr lang="en-US" sz="600" dirty="0">
                <a:solidFill>
                  <a:srgbClr val="77836B"/>
                </a:solidFill>
              </a:rPr>
              <a:t>COMPLETE / 32 PAGES / 16 INDEPENDENT MAIN ILLUSTRATIONS / MODEL NUMBERS, NOT REAL READINGS</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3"/>
        </a:solidFill>
      </p:bgPr>
    </p:bg>
    <p:spTree>
      <p:nvGrpSpPr>
        <p:cNvPr id="1" name=""/>
        <p:cNvGrpSpPr/>
        <p:nvPr/>
      </p:nvGrpSpPr>
      <p:grpSpPr>
        <a:xfrm>
          <a:off x="0" y="0"/>
          <a:ext cx="0" cy="0"/>
          <a:chOff x="0" y="0"/>
          <a:chExt cx="0" cy="0"/>
        </a:xfrm>
      </p:grpSpPr>
      <p:sp>
        <p:nvSpPr>
          <p:cNvPr id="2" name="Text 0"/>
          <p:cNvSpPr/>
          <p:nvPr/>
        </p:nvSpPr>
        <p:spPr>
          <a:xfrm>
            <a:off x="310896" y="256032"/>
            <a:ext cx="7772400" cy="182880"/>
          </a:xfrm>
          <a:prstGeom prst="rect">
            <a:avLst/>
          </a:prstGeom>
          <a:noFill/>
          <a:ln/>
        </p:spPr>
        <p:txBody>
          <a:bodyPr wrap="square" lIns="0" tIns="0" rIns="0" bIns="0" rtlCol="0" anchor="ctr"/>
          <a:lstStyle/>
          <a:p>
            <a:pPr indent="0" marL="0">
              <a:buNone/>
            </a:pPr>
            <a:r>
              <a:rPr lang="en-US" sz="800" dirty="0">
                <a:solidFill>
                  <a:srgbClr val="708267"/>
                </a:solidFill>
              </a:rPr>
              <a:t>PANTRY NOTES / THE MEASUREMENT NOTEBOOK</a:t>
            </a:r>
            <a:endParaRPr lang="en-US" sz="800" dirty="0"/>
          </a:p>
        </p:txBody>
      </p:sp>
      <p:sp>
        <p:nvSpPr>
          <p:cNvPr id="3" name="Text 1"/>
          <p:cNvSpPr/>
          <p:nvPr/>
        </p:nvSpPr>
        <p:spPr>
          <a:xfrm>
            <a:off x="310896" y="594360"/>
            <a:ext cx="7772400" cy="237744"/>
          </a:xfrm>
          <a:prstGeom prst="rect">
            <a:avLst/>
          </a:prstGeom>
          <a:noFill/>
          <a:ln/>
        </p:spPr>
        <p:txBody>
          <a:bodyPr wrap="square" lIns="0" tIns="0" rIns="0" bIns="0" rtlCol="0" anchor="ctr"/>
          <a:lstStyle/>
          <a:p>
            <a:pPr indent="0" marL="0">
              <a:buNone/>
            </a:pPr>
            <a:r>
              <a:rPr lang="en-US" sz="1400" dirty="0">
                <a:solidFill>
                  <a:srgbClr val="344E41"/>
                </a:solidFill>
                <a:latin typeface="Georgia" pitchFamily="34" charset="0"/>
                <a:ea typeface="Georgia" pitchFamily="34" charset="-122"/>
                <a:cs typeface="Georgia" pitchFamily="34" charset="-120"/>
              </a:rPr>
              <a:t>03 / Keep a method</a:t>
            </a:r>
            <a:endParaRPr lang="en-US" sz="1400" dirty="0"/>
          </a:p>
        </p:txBody>
      </p:sp>
      <p:sp>
        <p:nvSpPr>
          <p:cNvPr id="4" name="Text 2"/>
          <p:cNvSpPr/>
          <p:nvPr/>
        </p:nvSpPr>
        <p:spPr>
          <a:xfrm>
            <a:off x="9784080" y="274320"/>
            <a:ext cx="640080" cy="411480"/>
          </a:xfrm>
          <a:prstGeom prst="rect">
            <a:avLst/>
          </a:prstGeom>
          <a:noFill/>
          <a:ln/>
        </p:spPr>
        <p:txBody>
          <a:bodyPr wrap="square" lIns="0" tIns="0" rIns="0" bIns="0" rtlCol="0" anchor="ctr"/>
          <a:lstStyle/>
          <a:p>
            <a:pPr algn="r" indent="0" marL="0">
              <a:buNone/>
            </a:pPr>
            <a:r>
              <a:rPr lang="en-US" sz="2500" dirty="0">
                <a:solidFill>
                  <a:srgbClr val="B1724C"/>
                </a:solidFill>
              </a:rPr>
              <a:t>10</a:t>
            </a:r>
            <a:endParaRPr lang="en-US" sz="2500" dirty="0"/>
          </a:p>
        </p:txBody>
      </p:sp>
      <p:sp>
        <p:nvSpPr>
          <p:cNvPr id="5" name="Shape 3"/>
          <p:cNvSpPr/>
          <p:nvPr/>
        </p:nvSpPr>
        <p:spPr>
          <a:xfrm>
            <a:off x="310896" y="960120"/>
            <a:ext cx="10149840" cy="0"/>
          </a:xfrm>
          <a:prstGeom prst="line">
            <a:avLst/>
          </a:prstGeom>
          <a:noFill/>
          <a:ln w="12700">
            <a:solidFill>
              <a:srgbClr val="C6D0BC"/>
            </a:solidFill>
            <a:prstDash val="solid"/>
          </a:ln>
        </p:spPr>
      </p:sp>
      <p:pic>
        <p:nvPicPr>
          <p:cNvPr id="6" name="Image 0" descr="/home/user/design-buddy/design-buddy-home/public/atelier/pantry-notes/images/05.jpg">    </p:cNvPr>
          <p:cNvPicPr>
            <a:picLocks noChangeAspect="1"/>
          </p:cNvPicPr>
          <p:nvPr/>
        </p:nvPicPr>
        <p:blipFill>
          <a:blip r:embed="rId1"/>
          <a:srcRect l="0" r="0" t="0" b="0"/>
          <a:stretch/>
        </p:blipFill>
        <p:spPr>
          <a:xfrm>
            <a:off x="310896" y="1207008"/>
            <a:ext cx="6217920" cy="4023360"/>
          </a:xfrm>
          <a:prstGeom prst="rect">
            <a:avLst/>
          </a:prstGeom>
        </p:spPr>
      </p:pic>
      <p:sp>
        <p:nvSpPr>
          <p:cNvPr id="7" name="Text 4"/>
          <p:cNvSpPr/>
          <p:nvPr/>
        </p:nvSpPr>
        <p:spPr>
          <a:xfrm>
            <a:off x="310896" y="5376672"/>
            <a:ext cx="6217920" cy="320040"/>
          </a:xfrm>
          <a:prstGeom prst="rect">
            <a:avLst/>
          </a:prstGeom>
          <a:noFill/>
          <a:ln/>
        </p:spPr>
        <p:txBody>
          <a:bodyPr wrap="square" lIns="0" tIns="0" rIns="0" bIns="0" rtlCol="0" anchor="ctr"/>
          <a:lstStyle/>
          <a:p>
            <a:pPr indent="0" marL="0">
              <a:buNone/>
            </a:pPr>
            <a:r>
              <a:rPr lang="en-US" sz="700" dirty="0">
                <a:solidFill>
                  <a:srgbClr val="7C886F"/>
                </a:solidFill>
              </a:rPr>
              <a:t>Watercolour study 5 / illustration, not measurement evidence</a:t>
            </a:r>
            <a:endParaRPr lang="en-US" sz="700" dirty="0"/>
          </a:p>
        </p:txBody>
      </p:sp>
      <p:sp>
        <p:nvSpPr>
          <p:cNvPr id="8" name="Text 5"/>
          <p:cNvSpPr/>
          <p:nvPr/>
        </p:nvSpPr>
        <p:spPr>
          <a:xfrm>
            <a:off x="6803136" y="1216152"/>
            <a:ext cx="3383280" cy="182880"/>
          </a:xfrm>
          <a:prstGeom prst="rect">
            <a:avLst/>
          </a:prstGeom>
          <a:noFill/>
          <a:ln/>
        </p:spPr>
        <p:txBody>
          <a:bodyPr wrap="square" lIns="0" tIns="0" rIns="0" bIns="0" rtlCol="0" anchor="ctr"/>
          <a:lstStyle/>
          <a:p>
            <a:pPr indent="0" marL="0">
              <a:buNone/>
            </a:pPr>
            <a:r>
              <a:rPr lang="en-US" sz="700" dirty="0">
                <a:solidFill>
                  <a:srgbClr val="A46343"/>
                </a:solidFill>
              </a:rPr>
              <a:t>THE OBSERVATION</a:t>
            </a:r>
            <a:endParaRPr lang="en-US" sz="700" dirty="0"/>
          </a:p>
        </p:txBody>
      </p:sp>
      <p:sp>
        <p:nvSpPr>
          <p:cNvPr id="9" name="Text 6"/>
          <p:cNvSpPr/>
          <p:nvPr/>
        </p:nvSpPr>
        <p:spPr>
          <a:xfrm>
            <a:off x="6803136" y="1554480"/>
            <a:ext cx="3383280" cy="969264"/>
          </a:xfrm>
          <a:prstGeom prst="rect">
            <a:avLst/>
          </a:prstGeom>
          <a:noFill/>
          <a:ln/>
        </p:spPr>
        <p:txBody>
          <a:bodyPr wrap="square" lIns="0" tIns="0" rIns="0" bIns="0" rtlCol="0" anchor="ctr">
            <a:normAutofit/>
          </a:bodyPr>
          <a:lstStyle/>
          <a:p>
            <a:pPr indent="0" marL="0">
              <a:buNone/>
            </a:pPr>
            <a:r>
              <a:rPr lang="en-US" sz="2500" dirty="0">
                <a:solidFill>
                  <a:srgbClr val="3E5743"/>
                </a:solidFill>
                <a:latin typeface="Georgia" pitchFamily="34" charset="0"/>
                <a:ea typeface="Georgia" pitchFamily="34" charset="-122"/>
                <a:cs typeface="Georgia" pitchFamily="34" charset="-120"/>
              </a:rPr>
              <a:t>Volume is not a material shortcut.</a:t>
            </a:r>
            <a:endParaRPr lang="en-US" sz="2500" dirty="0"/>
          </a:p>
        </p:txBody>
      </p:sp>
      <p:sp>
        <p:nvSpPr>
          <p:cNvPr id="10" name="Text 7"/>
          <p:cNvSpPr/>
          <p:nvPr/>
        </p:nvSpPr>
        <p:spPr>
          <a:xfrm>
            <a:off x="6803136" y="2715768"/>
            <a:ext cx="3383280" cy="1883664"/>
          </a:xfrm>
          <a:prstGeom prst="rect">
            <a:avLst/>
          </a:prstGeom>
          <a:noFill/>
          <a:ln/>
        </p:spPr>
        <p:txBody>
          <a:bodyPr wrap="square" lIns="0" tIns="0" rIns="0" bIns="0" rtlCol="0" anchor="t">
            <a:normAutofit/>
          </a:bodyPr>
          <a:lstStyle/>
          <a:p>
            <a:pPr indent="0" marL="0">
              <a:buNone/>
            </a:pPr>
            <a:r>
              <a:rPr lang="en-US" sz="1200" dirty="0">
                <a:solidFill>
                  <a:srgbClr val="344E41"/>
                </a:solidFill>
                <a:latin typeface="Georgia" pitchFamily="34" charset="0"/>
                <a:ea typeface="Georgia" pitchFamily="34" charset="-122"/>
                <a:cs typeface="Georgia" pitchFamily="34" charset="-120"/>
              </a:rPr>
              <a:t>Equal volumes of different materials need not have equal mass. A cup of oats and a cup of another material cannot be exchanged by mass without a justified relationship. This journal supplies no density table or recipe conversion.</a:t>
            </a:r>
            <a:endParaRPr lang="en-US" sz="1200" dirty="0"/>
          </a:p>
        </p:txBody>
      </p:sp>
      <p:sp>
        <p:nvSpPr>
          <p:cNvPr id="11" name="Text 8"/>
          <p:cNvSpPr/>
          <p:nvPr/>
        </p:nvSpPr>
        <p:spPr>
          <a:xfrm>
            <a:off x="6803136" y="4782312"/>
            <a:ext cx="3383280" cy="164592"/>
          </a:xfrm>
          <a:prstGeom prst="rect">
            <a:avLst/>
          </a:prstGeom>
          <a:noFill/>
          <a:ln/>
        </p:spPr>
        <p:txBody>
          <a:bodyPr wrap="square" lIns="0" tIns="0" rIns="0" bIns="0" rtlCol="0" anchor="ctr"/>
          <a:lstStyle/>
          <a:p>
            <a:pPr indent="0" marL="0">
              <a:buNone/>
            </a:pPr>
            <a:r>
              <a:rPr lang="en-US" sz="700" dirty="0">
                <a:solidFill>
                  <a:srgbClr val="A46343"/>
                </a:solidFill>
              </a:rPr>
              <a:t>MODEL / METHOD NOTE</a:t>
            </a:r>
            <a:endParaRPr lang="en-US" sz="700" dirty="0"/>
          </a:p>
        </p:txBody>
      </p:sp>
      <p:sp>
        <p:nvSpPr>
          <p:cNvPr id="12" name="Text 9"/>
          <p:cNvSpPr/>
          <p:nvPr/>
        </p:nvSpPr>
        <p:spPr>
          <a:xfrm>
            <a:off x="6803136" y="5074920"/>
            <a:ext cx="3383280" cy="594360"/>
          </a:xfrm>
          <a:prstGeom prst="rect">
            <a:avLst/>
          </a:prstGeom>
          <a:noFill/>
          <a:ln/>
        </p:spPr>
        <p:txBody>
          <a:bodyPr wrap="square" lIns="0" tIns="0" rIns="0" bIns="0" rtlCol="0" anchor="ctr">
            <a:normAutofit/>
          </a:bodyPr>
          <a:lstStyle/>
          <a:p>
            <a:pPr indent="0" marL="0">
              <a:buNone/>
            </a:pPr>
            <a:r>
              <a:rPr lang="en-US" sz="1000" dirty="0">
                <a:solidFill>
                  <a:srgbClr val="62745B"/>
                </a:solidFill>
                <a:latin typeface="Georgia" pitchFamily="34" charset="0"/>
                <a:ea typeface="Georgia" pitchFamily="34" charset="-122"/>
                <a:cs typeface="Georgia" pitchFamily="34" charset="-120"/>
              </a:rPr>
              <a:t>Same stated volume does not guarantee the same mass.</a:t>
            </a:r>
            <a:endParaRPr lang="en-US" sz="1000" dirty="0"/>
          </a:p>
        </p:txBody>
      </p:sp>
      <p:sp>
        <p:nvSpPr>
          <p:cNvPr id="13" name="Shape 10"/>
          <p:cNvSpPr/>
          <p:nvPr/>
        </p:nvSpPr>
        <p:spPr>
          <a:xfrm>
            <a:off x="310896" y="5961888"/>
            <a:ext cx="10149840" cy="1207008"/>
          </a:xfrm>
          <a:prstGeom prst="rect">
            <a:avLst/>
          </a:prstGeom>
          <a:solidFill>
            <a:srgbClr val="E9EDDF"/>
          </a:solidFill>
          <a:ln w="12700">
            <a:solidFill>
              <a:srgbClr val="E9EDDF"/>
            </a:solidFill>
            <a:prstDash val="solid"/>
          </a:ln>
        </p:spPr>
      </p:sp>
      <p:sp>
        <p:nvSpPr>
          <p:cNvPr id="14" name="Text 11"/>
          <p:cNvSpPr/>
          <p:nvPr/>
        </p:nvSpPr>
        <p:spPr>
          <a:xfrm>
            <a:off x="493776" y="6126480"/>
            <a:ext cx="9784080" cy="164592"/>
          </a:xfrm>
          <a:prstGeom prst="rect">
            <a:avLst/>
          </a:prstGeom>
          <a:noFill/>
          <a:ln/>
        </p:spPr>
        <p:txBody>
          <a:bodyPr wrap="square" lIns="0" tIns="0" rIns="0" bIns="0" rtlCol="0" anchor="ctr"/>
          <a:lstStyle/>
          <a:p>
            <a:pPr indent="0" marL="0">
              <a:buNone/>
            </a:pPr>
            <a:r>
              <a:rPr lang="en-US" sz="700" dirty="0">
                <a:solidFill>
                  <a:srgbClr val="A46343"/>
                </a:solidFill>
              </a:rPr>
              <a:t>TRY / REFLECT</a:t>
            </a:r>
            <a:endParaRPr lang="en-US" sz="700" dirty="0"/>
          </a:p>
        </p:txBody>
      </p:sp>
      <p:sp>
        <p:nvSpPr>
          <p:cNvPr id="15" name="Text 12"/>
          <p:cNvSpPr/>
          <p:nvPr/>
        </p:nvSpPr>
        <p:spPr>
          <a:xfrm>
            <a:off x="493776" y="6428232"/>
            <a:ext cx="9784080" cy="384048"/>
          </a:xfrm>
          <a:prstGeom prst="rect">
            <a:avLst/>
          </a:prstGeom>
          <a:noFill/>
          <a:ln/>
        </p:spPr>
        <p:txBody>
          <a:bodyPr wrap="square" lIns="0" tIns="0" rIns="0" bIns="0" rtlCol="0" anchor="ctr">
            <a:normAutofit/>
          </a:bodyPr>
          <a:lstStyle/>
          <a:p>
            <a:pPr indent="0" marL="0">
              <a:buNone/>
            </a:pPr>
            <a:r>
              <a:rPr lang="en-US" sz="1300" dirty="0">
                <a:solidFill>
                  <a:srgbClr val="344E41"/>
                </a:solidFill>
                <a:latin typeface="Georgia" pitchFamily="34" charset="0"/>
                <a:ea typeface="Georgia" pitchFamily="34" charset="-122"/>
                <a:cs typeface="Georgia" pitchFamily="34" charset="-120"/>
              </a:rPr>
              <a:t>Identify the unsupported assumption in “every full cup weighs the same”.</a:t>
            </a:r>
            <a:endParaRPr lang="en-US" sz="1300" dirty="0"/>
          </a:p>
        </p:txBody>
      </p:sp>
      <p:sp>
        <p:nvSpPr>
          <p:cNvPr id="16" name="Text 13"/>
          <p:cNvSpPr/>
          <p:nvPr/>
        </p:nvSpPr>
        <p:spPr>
          <a:xfrm>
            <a:off x="493776" y="6940296"/>
            <a:ext cx="9784080" cy="137160"/>
          </a:xfrm>
          <a:prstGeom prst="rect">
            <a:avLst/>
          </a:prstGeom>
          <a:noFill/>
          <a:ln/>
        </p:spPr>
        <p:txBody>
          <a:bodyPr wrap="square" lIns="0" tIns="0" rIns="0" bIns="0" rtlCol="0" anchor="ctr"/>
          <a:lstStyle/>
          <a:p>
            <a:pPr indent="0" marL="0">
              <a:buNone/>
            </a:pPr>
            <a:r>
              <a:rPr lang="en-US" sz="600" dirty="0">
                <a:solidFill>
                  <a:srgbClr val="77836B"/>
                </a:solidFill>
              </a:rPr>
              <a:t>COMPLETE / 32 PAGES / 16 INDEPENDENT MAIN ILLUSTRATIONS / MODEL NUMBERS, NOT REAL READINGS</a:t>
            </a:r>
            <a:endParaRPr lang="en-US" sz="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3"/>
        </a:solidFill>
      </p:bgPr>
    </p:bg>
    <p:spTree>
      <p:nvGrpSpPr>
        <p:cNvPr id="1" name=""/>
        <p:cNvGrpSpPr/>
        <p:nvPr/>
      </p:nvGrpSpPr>
      <p:grpSpPr>
        <a:xfrm>
          <a:off x="0" y="0"/>
          <a:ext cx="0" cy="0"/>
          <a:chOff x="0" y="0"/>
          <a:chExt cx="0" cy="0"/>
        </a:xfrm>
      </p:grpSpPr>
      <p:sp>
        <p:nvSpPr>
          <p:cNvPr id="2" name="Text 0"/>
          <p:cNvSpPr/>
          <p:nvPr/>
        </p:nvSpPr>
        <p:spPr>
          <a:xfrm>
            <a:off x="310896" y="256032"/>
            <a:ext cx="7772400" cy="182880"/>
          </a:xfrm>
          <a:prstGeom prst="rect">
            <a:avLst/>
          </a:prstGeom>
          <a:noFill/>
          <a:ln/>
        </p:spPr>
        <p:txBody>
          <a:bodyPr wrap="square" lIns="0" tIns="0" rIns="0" bIns="0" rtlCol="0" anchor="ctr"/>
          <a:lstStyle/>
          <a:p>
            <a:pPr indent="0" marL="0">
              <a:buNone/>
            </a:pPr>
            <a:r>
              <a:rPr lang="en-US" sz="800" dirty="0">
                <a:solidFill>
                  <a:srgbClr val="708267"/>
                </a:solidFill>
              </a:rPr>
              <a:t>PANTRY NOTES / THE MEASUREMENT NOTEBOOK</a:t>
            </a:r>
            <a:endParaRPr lang="en-US" sz="800" dirty="0"/>
          </a:p>
        </p:txBody>
      </p:sp>
      <p:sp>
        <p:nvSpPr>
          <p:cNvPr id="3" name="Text 1"/>
          <p:cNvSpPr/>
          <p:nvPr/>
        </p:nvSpPr>
        <p:spPr>
          <a:xfrm>
            <a:off x="310896" y="594360"/>
            <a:ext cx="7772400" cy="237744"/>
          </a:xfrm>
          <a:prstGeom prst="rect">
            <a:avLst/>
          </a:prstGeom>
          <a:noFill/>
          <a:ln/>
        </p:spPr>
        <p:txBody>
          <a:bodyPr wrap="square" lIns="0" tIns="0" rIns="0" bIns="0" rtlCol="0" anchor="ctr"/>
          <a:lstStyle/>
          <a:p>
            <a:pPr indent="0" marL="0">
              <a:buNone/>
            </a:pPr>
            <a:r>
              <a:rPr lang="en-US" sz="1400" dirty="0">
                <a:solidFill>
                  <a:srgbClr val="344E41"/>
                </a:solidFill>
                <a:latin typeface="Georgia" pitchFamily="34" charset="0"/>
                <a:ea typeface="Georgia" pitchFamily="34" charset="-122"/>
                <a:cs typeface="Georgia" pitchFamily="34" charset="-120"/>
              </a:rPr>
              <a:t>03 / Keep a method</a:t>
            </a:r>
            <a:endParaRPr lang="en-US" sz="1400" dirty="0"/>
          </a:p>
        </p:txBody>
      </p:sp>
      <p:sp>
        <p:nvSpPr>
          <p:cNvPr id="4" name="Text 2"/>
          <p:cNvSpPr/>
          <p:nvPr/>
        </p:nvSpPr>
        <p:spPr>
          <a:xfrm>
            <a:off x="9784080" y="274320"/>
            <a:ext cx="640080" cy="411480"/>
          </a:xfrm>
          <a:prstGeom prst="rect">
            <a:avLst/>
          </a:prstGeom>
          <a:noFill/>
          <a:ln/>
        </p:spPr>
        <p:txBody>
          <a:bodyPr wrap="square" lIns="0" tIns="0" rIns="0" bIns="0" rtlCol="0" anchor="ctr"/>
          <a:lstStyle/>
          <a:p>
            <a:pPr algn="r" indent="0" marL="0">
              <a:buNone/>
            </a:pPr>
            <a:r>
              <a:rPr lang="en-US" sz="2500" dirty="0">
                <a:solidFill>
                  <a:srgbClr val="B1724C"/>
                </a:solidFill>
              </a:rPr>
              <a:t>11</a:t>
            </a:r>
            <a:endParaRPr lang="en-US" sz="2500" dirty="0"/>
          </a:p>
        </p:txBody>
      </p:sp>
      <p:sp>
        <p:nvSpPr>
          <p:cNvPr id="5" name="Shape 3"/>
          <p:cNvSpPr/>
          <p:nvPr/>
        </p:nvSpPr>
        <p:spPr>
          <a:xfrm>
            <a:off x="310896" y="960120"/>
            <a:ext cx="10149840" cy="0"/>
          </a:xfrm>
          <a:prstGeom prst="line">
            <a:avLst/>
          </a:prstGeom>
          <a:noFill/>
          <a:ln w="12700">
            <a:solidFill>
              <a:srgbClr val="C6D0BC"/>
            </a:solidFill>
            <a:prstDash val="solid"/>
          </a:ln>
        </p:spPr>
      </p:sp>
      <p:pic>
        <p:nvPicPr>
          <p:cNvPr id="6" name="Image 0" descr="/home/user/design-buddy/design-buddy-home/public/atelier/pantry-notes/images/06.jpg">    </p:cNvPr>
          <p:cNvPicPr>
            <a:picLocks noChangeAspect="1"/>
          </p:cNvPicPr>
          <p:nvPr/>
        </p:nvPicPr>
        <p:blipFill>
          <a:blip r:embed="rId1"/>
          <a:srcRect l="0" r="0" t="0" b="0"/>
          <a:stretch/>
        </p:blipFill>
        <p:spPr>
          <a:xfrm>
            <a:off x="310896" y="1207008"/>
            <a:ext cx="6217920" cy="4023360"/>
          </a:xfrm>
          <a:prstGeom prst="rect">
            <a:avLst/>
          </a:prstGeom>
        </p:spPr>
      </p:pic>
      <p:sp>
        <p:nvSpPr>
          <p:cNvPr id="7" name="Text 4"/>
          <p:cNvSpPr/>
          <p:nvPr/>
        </p:nvSpPr>
        <p:spPr>
          <a:xfrm>
            <a:off x="310896" y="5376672"/>
            <a:ext cx="6217920" cy="320040"/>
          </a:xfrm>
          <a:prstGeom prst="rect">
            <a:avLst/>
          </a:prstGeom>
          <a:noFill/>
          <a:ln/>
        </p:spPr>
        <p:txBody>
          <a:bodyPr wrap="square" lIns="0" tIns="0" rIns="0" bIns="0" rtlCol="0" anchor="ctr"/>
          <a:lstStyle/>
          <a:p>
            <a:pPr indent="0" marL="0">
              <a:buNone/>
            </a:pPr>
            <a:r>
              <a:rPr lang="en-US" sz="700" dirty="0">
                <a:solidFill>
                  <a:srgbClr val="7C886F"/>
                </a:solidFill>
              </a:rPr>
              <a:t>Watercolour study 6 / illustration, not measurement evidence</a:t>
            </a:r>
            <a:endParaRPr lang="en-US" sz="700" dirty="0"/>
          </a:p>
        </p:txBody>
      </p:sp>
      <p:sp>
        <p:nvSpPr>
          <p:cNvPr id="8" name="Text 5"/>
          <p:cNvSpPr/>
          <p:nvPr/>
        </p:nvSpPr>
        <p:spPr>
          <a:xfrm>
            <a:off x="6803136" y="1216152"/>
            <a:ext cx="3383280" cy="182880"/>
          </a:xfrm>
          <a:prstGeom prst="rect">
            <a:avLst/>
          </a:prstGeom>
          <a:noFill/>
          <a:ln/>
        </p:spPr>
        <p:txBody>
          <a:bodyPr wrap="square" lIns="0" tIns="0" rIns="0" bIns="0" rtlCol="0" anchor="ctr"/>
          <a:lstStyle/>
          <a:p>
            <a:pPr indent="0" marL="0">
              <a:buNone/>
            </a:pPr>
            <a:r>
              <a:rPr lang="en-US" sz="700" dirty="0">
                <a:solidFill>
                  <a:srgbClr val="A46343"/>
                </a:solidFill>
              </a:rPr>
              <a:t>THE OBSERVATION</a:t>
            </a:r>
            <a:endParaRPr lang="en-US" sz="700" dirty="0"/>
          </a:p>
        </p:txBody>
      </p:sp>
      <p:sp>
        <p:nvSpPr>
          <p:cNvPr id="9" name="Text 6"/>
          <p:cNvSpPr/>
          <p:nvPr/>
        </p:nvSpPr>
        <p:spPr>
          <a:xfrm>
            <a:off x="6803136" y="1554480"/>
            <a:ext cx="3383280" cy="969264"/>
          </a:xfrm>
          <a:prstGeom prst="rect">
            <a:avLst/>
          </a:prstGeom>
          <a:noFill/>
          <a:ln/>
        </p:spPr>
        <p:txBody>
          <a:bodyPr wrap="square" lIns="0" tIns="0" rIns="0" bIns="0" rtlCol="0" anchor="ctr">
            <a:normAutofit/>
          </a:bodyPr>
          <a:lstStyle/>
          <a:p>
            <a:pPr indent="0" marL="0">
              <a:buNone/>
            </a:pPr>
            <a:r>
              <a:rPr lang="en-US" sz="2500" dirty="0">
                <a:solidFill>
                  <a:srgbClr val="3E5743"/>
                </a:solidFill>
                <a:latin typeface="Georgia" pitchFamily="34" charset="0"/>
                <a:ea typeface="Georgia" pitchFamily="34" charset="-122"/>
                <a:cs typeface="Georgia" pitchFamily="34" charset="-120"/>
              </a:rPr>
              <a:t>Name how you read a level.</a:t>
            </a:r>
            <a:endParaRPr lang="en-US" sz="2500" dirty="0"/>
          </a:p>
        </p:txBody>
      </p:sp>
      <p:sp>
        <p:nvSpPr>
          <p:cNvPr id="10" name="Text 7"/>
          <p:cNvSpPr/>
          <p:nvPr/>
        </p:nvSpPr>
        <p:spPr>
          <a:xfrm>
            <a:off x="6803136" y="2715768"/>
            <a:ext cx="3383280" cy="1883664"/>
          </a:xfrm>
          <a:prstGeom prst="rect">
            <a:avLst/>
          </a:prstGeom>
          <a:noFill/>
          <a:ln/>
        </p:spPr>
        <p:txBody>
          <a:bodyPr wrap="square" lIns="0" tIns="0" rIns="0" bIns="0" rtlCol="0" anchor="t">
            <a:normAutofit/>
          </a:bodyPr>
          <a:lstStyle/>
          <a:p>
            <a:pPr indent="0" marL="0">
              <a:buNone/>
            </a:pPr>
            <a:r>
              <a:rPr lang="en-US" sz="1200" dirty="0">
                <a:solidFill>
                  <a:srgbClr val="344E41"/>
                </a:solidFill>
                <a:latin typeface="Georgia" pitchFamily="34" charset="0"/>
                <a:ea typeface="Georgia" pitchFamily="34" charset="-122"/>
                <a:cs typeface="Georgia" pitchFamily="34" charset="-120"/>
              </a:rPr>
              <a:t>A liquid-level observation depends on the vessel and reading method. Describe the position and tool used, and follow the actual tool instructions. The pictured jug has no calibrated markings and should not be used to estimate a numeric reading.</a:t>
            </a:r>
            <a:endParaRPr lang="en-US" sz="1200" dirty="0"/>
          </a:p>
        </p:txBody>
      </p:sp>
      <p:sp>
        <p:nvSpPr>
          <p:cNvPr id="11" name="Text 8"/>
          <p:cNvSpPr/>
          <p:nvPr/>
        </p:nvSpPr>
        <p:spPr>
          <a:xfrm>
            <a:off x="6803136" y="4782312"/>
            <a:ext cx="3383280" cy="164592"/>
          </a:xfrm>
          <a:prstGeom prst="rect">
            <a:avLst/>
          </a:prstGeom>
          <a:noFill/>
          <a:ln/>
        </p:spPr>
        <p:txBody>
          <a:bodyPr wrap="square" lIns="0" tIns="0" rIns="0" bIns="0" rtlCol="0" anchor="ctr"/>
          <a:lstStyle/>
          <a:p>
            <a:pPr indent="0" marL="0">
              <a:buNone/>
            </a:pPr>
            <a:r>
              <a:rPr lang="en-US" sz="700" dirty="0">
                <a:solidFill>
                  <a:srgbClr val="A46343"/>
                </a:solidFill>
              </a:rPr>
              <a:t>MODEL / METHOD NOTE</a:t>
            </a:r>
            <a:endParaRPr lang="en-US" sz="700" dirty="0"/>
          </a:p>
        </p:txBody>
      </p:sp>
      <p:sp>
        <p:nvSpPr>
          <p:cNvPr id="12" name="Text 9"/>
          <p:cNvSpPr/>
          <p:nvPr/>
        </p:nvSpPr>
        <p:spPr>
          <a:xfrm>
            <a:off x="6803136" y="5074920"/>
            <a:ext cx="3383280" cy="594360"/>
          </a:xfrm>
          <a:prstGeom prst="rect">
            <a:avLst/>
          </a:prstGeom>
          <a:noFill/>
          <a:ln/>
        </p:spPr>
        <p:txBody>
          <a:bodyPr wrap="square" lIns="0" tIns="0" rIns="0" bIns="0" rtlCol="0" anchor="ctr">
            <a:normAutofit/>
          </a:bodyPr>
          <a:lstStyle/>
          <a:p>
            <a:pPr indent="0" marL="0">
              <a:buNone/>
            </a:pPr>
            <a:r>
              <a:rPr lang="en-US" sz="1000" dirty="0">
                <a:solidFill>
                  <a:srgbClr val="62745B"/>
                </a:solidFill>
                <a:latin typeface="Georgia" pitchFamily="34" charset="0"/>
                <a:ea typeface="Georgia" pitchFamily="34" charset="-122"/>
                <a:cs typeface="Georgia" pitchFamily="34" charset="-120"/>
              </a:rPr>
              <a:t>Contextual illustration only; no numeric reading can be taken from the art.</a:t>
            </a:r>
            <a:endParaRPr lang="en-US" sz="1000" dirty="0"/>
          </a:p>
        </p:txBody>
      </p:sp>
      <p:sp>
        <p:nvSpPr>
          <p:cNvPr id="13" name="Shape 10"/>
          <p:cNvSpPr/>
          <p:nvPr/>
        </p:nvSpPr>
        <p:spPr>
          <a:xfrm>
            <a:off x="310896" y="5961888"/>
            <a:ext cx="10149840" cy="1207008"/>
          </a:xfrm>
          <a:prstGeom prst="rect">
            <a:avLst/>
          </a:prstGeom>
          <a:solidFill>
            <a:srgbClr val="E9EDDF"/>
          </a:solidFill>
          <a:ln w="12700">
            <a:solidFill>
              <a:srgbClr val="E9EDDF"/>
            </a:solidFill>
            <a:prstDash val="solid"/>
          </a:ln>
        </p:spPr>
      </p:sp>
      <p:sp>
        <p:nvSpPr>
          <p:cNvPr id="14" name="Text 11"/>
          <p:cNvSpPr/>
          <p:nvPr/>
        </p:nvSpPr>
        <p:spPr>
          <a:xfrm>
            <a:off x="493776" y="6126480"/>
            <a:ext cx="9784080" cy="164592"/>
          </a:xfrm>
          <a:prstGeom prst="rect">
            <a:avLst/>
          </a:prstGeom>
          <a:noFill/>
          <a:ln/>
        </p:spPr>
        <p:txBody>
          <a:bodyPr wrap="square" lIns="0" tIns="0" rIns="0" bIns="0" rtlCol="0" anchor="ctr"/>
          <a:lstStyle/>
          <a:p>
            <a:pPr indent="0" marL="0">
              <a:buNone/>
            </a:pPr>
            <a:r>
              <a:rPr lang="en-US" sz="700" dirty="0">
                <a:solidFill>
                  <a:srgbClr val="A46343"/>
                </a:solidFill>
              </a:rPr>
              <a:t>TRY / REFLECT</a:t>
            </a:r>
            <a:endParaRPr lang="en-US" sz="700" dirty="0"/>
          </a:p>
        </p:txBody>
      </p:sp>
      <p:sp>
        <p:nvSpPr>
          <p:cNvPr id="15" name="Text 12"/>
          <p:cNvSpPr/>
          <p:nvPr/>
        </p:nvSpPr>
        <p:spPr>
          <a:xfrm>
            <a:off x="493776" y="6428232"/>
            <a:ext cx="9784080" cy="384048"/>
          </a:xfrm>
          <a:prstGeom prst="rect">
            <a:avLst/>
          </a:prstGeom>
          <a:noFill/>
          <a:ln/>
        </p:spPr>
        <p:txBody>
          <a:bodyPr wrap="square" lIns="0" tIns="0" rIns="0" bIns="0" rtlCol="0" anchor="ctr">
            <a:normAutofit/>
          </a:bodyPr>
          <a:lstStyle/>
          <a:p>
            <a:pPr indent="0" marL="0">
              <a:buNone/>
            </a:pPr>
            <a:r>
              <a:rPr lang="en-US" sz="1300" dirty="0">
                <a:solidFill>
                  <a:srgbClr val="344E41"/>
                </a:solidFill>
                <a:latin typeface="Georgia" pitchFamily="34" charset="0"/>
                <a:ea typeface="Georgia" pitchFamily="34" charset="-122"/>
                <a:cs typeface="Georgia" pitchFamily="34" charset="-120"/>
              </a:rPr>
              <a:t>What method details should accompany a real liquid-volume observation?</a:t>
            </a:r>
            <a:endParaRPr lang="en-US" sz="1300" dirty="0"/>
          </a:p>
        </p:txBody>
      </p:sp>
      <p:sp>
        <p:nvSpPr>
          <p:cNvPr id="16" name="Text 13"/>
          <p:cNvSpPr/>
          <p:nvPr/>
        </p:nvSpPr>
        <p:spPr>
          <a:xfrm>
            <a:off x="493776" y="6940296"/>
            <a:ext cx="9784080" cy="137160"/>
          </a:xfrm>
          <a:prstGeom prst="rect">
            <a:avLst/>
          </a:prstGeom>
          <a:noFill/>
          <a:ln/>
        </p:spPr>
        <p:txBody>
          <a:bodyPr wrap="square" lIns="0" tIns="0" rIns="0" bIns="0" rtlCol="0" anchor="ctr"/>
          <a:lstStyle/>
          <a:p>
            <a:pPr indent="0" marL="0">
              <a:buNone/>
            </a:pPr>
            <a:r>
              <a:rPr lang="en-US" sz="600" dirty="0">
                <a:solidFill>
                  <a:srgbClr val="77836B"/>
                </a:solidFill>
              </a:rPr>
              <a:t>COMPLETE / 32 PAGES / 16 INDEPENDENT MAIN ILLUSTRATIONS / MODEL NUMBERS, NOT REAL READINGS</a:t>
            </a:r>
            <a:endParaRPr lang="en-US" sz="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3"/>
        </a:solidFill>
      </p:bgPr>
    </p:bg>
    <p:spTree>
      <p:nvGrpSpPr>
        <p:cNvPr id="1" name=""/>
        <p:cNvGrpSpPr/>
        <p:nvPr/>
      </p:nvGrpSpPr>
      <p:grpSpPr>
        <a:xfrm>
          <a:off x="0" y="0"/>
          <a:ext cx="0" cy="0"/>
          <a:chOff x="0" y="0"/>
          <a:chExt cx="0" cy="0"/>
        </a:xfrm>
      </p:grpSpPr>
      <p:sp>
        <p:nvSpPr>
          <p:cNvPr id="2" name="Text 0"/>
          <p:cNvSpPr/>
          <p:nvPr/>
        </p:nvSpPr>
        <p:spPr>
          <a:xfrm>
            <a:off x="310896" y="256032"/>
            <a:ext cx="7772400" cy="182880"/>
          </a:xfrm>
          <a:prstGeom prst="rect">
            <a:avLst/>
          </a:prstGeom>
          <a:noFill/>
          <a:ln/>
        </p:spPr>
        <p:txBody>
          <a:bodyPr wrap="square" lIns="0" tIns="0" rIns="0" bIns="0" rtlCol="0" anchor="ctr"/>
          <a:lstStyle/>
          <a:p>
            <a:pPr indent="0" marL="0">
              <a:buNone/>
            </a:pPr>
            <a:r>
              <a:rPr lang="en-US" sz="800" dirty="0">
                <a:solidFill>
                  <a:srgbClr val="708267"/>
                </a:solidFill>
              </a:rPr>
              <a:t>PANTRY NOTES / THE MEASUREMENT NOTEBOOK</a:t>
            </a:r>
            <a:endParaRPr lang="en-US" sz="800" dirty="0"/>
          </a:p>
        </p:txBody>
      </p:sp>
      <p:sp>
        <p:nvSpPr>
          <p:cNvPr id="3" name="Text 1"/>
          <p:cNvSpPr/>
          <p:nvPr/>
        </p:nvSpPr>
        <p:spPr>
          <a:xfrm>
            <a:off x="310896" y="594360"/>
            <a:ext cx="7772400" cy="237744"/>
          </a:xfrm>
          <a:prstGeom prst="rect">
            <a:avLst/>
          </a:prstGeom>
          <a:noFill/>
          <a:ln/>
        </p:spPr>
        <p:txBody>
          <a:bodyPr wrap="square" lIns="0" tIns="0" rIns="0" bIns="0" rtlCol="0" anchor="ctr"/>
          <a:lstStyle/>
          <a:p>
            <a:pPr indent="0" marL="0">
              <a:buNone/>
            </a:pPr>
            <a:r>
              <a:rPr lang="en-US" sz="1400" dirty="0">
                <a:solidFill>
                  <a:srgbClr val="344E41"/>
                </a:solidFill>
                <a:latin typeface="Georgia" pitchFamily="34" charset="0"/>
                <a:ea typeface="Georgia" pitchFamily="34" charset="-122"/>
                <a:cs typeface="Georgia" pitchFamily="34" charset="-120"/>
              </a:rPr>
              <a:t>03 / Keep a method</a:t>
            </a:r>
            <a:endParaRPr lang="en-US" sz="1400" dirty="0"/>
          </a:p>
        </p:txBody>
      </p:sp>
      <p:sp>
        <p:nvSpPr>
          <p:cNvPr id="4" name="Text 2"/>
          <p:cNvSpPr/>
          <p:nvPr/>
        </p:nvSpPr>
        <p:spPr>
          <a:xfrm>
            <a:off x="9784080" y="274320"/>
            <a:ext cx="640080" cy="411480"/>
          </a:xfrm>
          <a:prstGeom prst="rect">
            <a:avLst/>
          </a:prstGeom>
          <a:noFill/>
          <a:ln/>
        </p:spPr>
        <p:txBody>
          <a:bodyPr wrap="square" lIns="0" tIns="0" rIns="0" bIns="0" rtlCol="0" anchor="ctr"/>
          <a:lstStyle/>
          <a:p>
            <a:pPr algn="r" indent="0" marL="0">
              <a:buNone/>
            </a:pPr>
            <a:r>
              <a:rPr lang="en-US" sz="2500" dirty="0">
                <a:solidFill>
                  <a:srgbClr val="B1724C"/>
                </a:solidFill>
              </a:rPr>
              <a:t>12</a:t>
            </a:r>
            <a:endParaRPr lang="en-US" sz="2500" dirty="0"/>
          </a:p>
        </p:txBody>
      </p:sp>
      <p:sp>
        <p:nvSpPr>
          <p:cNvPr id="5" name="Shape 3"/>
          <p:cNvSpPr/>
          <p:nvPr/>
        </p:nvSpPr>
        <p:spPr>
          <a:xfrm>
            <a:off x="310896" y="960120"/>
            <a:ext cx="10149840" cy="0"/>
          </a:xfrm>
          <a:prstGeom prst="line">
            <a:avLst/>
          </a:prstGeom>
          <a:noFill/>
          <a:ln w="12700">
            <a:solidFill>
              <a:srgbClr val="C6D0BC"/>
            </a:solidFill>
            <a:prstDash val="solid"/>
          </a:ln>
        </p:spPr>
      </p:sp>
      <p:pic>
        <p:nvPicPr>
          <p:cNvPr id="6" name="Image 0" descr="/home/user/design-buddy/design-buddy-home/public/atelier/pantry-notes/images/06.jpg">    </p:cNvPr>
          <p:cNvPicPr>
            <a:picLocks noChangeAspect="1"/>
          </p:cNvPicPr>
          <p:nvPr/>
        </p:nvPicPr>
        <p:blipFill>
          <a:blip r:embed="rId1"/>
          <a:srcRect l="0" r="0" t="0" b="0"/>
          <a:stretch/>
        </p:blipFill>
        <p:spPr>
          <a:xfrm>
            <a:off x="310896" y="1207008"/>
            <a:ext cx="6217920" cy="4023360"/>
          </a:xfrm>
          <a:prstGeom prst="rect">
            <a:avLst/>
          </a:prstGeom>
        </p:spPr>
      </p:pic>
      <p:sp>
        <p:nvSpPr>
          <p:cNvPr id="7" name="Text 4"/>
          <p:cNvSpPr/>
          <p:nvPr/>
        </p:nvSpPr>
        <p:spPr>
          <a:xfrm>
            <a:off x="310896" y="5376672"/>
            <a:ext cx="6217920" cy="320040"/>
          </a:xfrm>
          <a:prstGeom prst="rect">
            <a:avLst/>
          </a:prstGeom>
          <a:noFill/>
          <a:ln/>
        </p:spPr>
        <p:txBody>
          <a:bodyPr wrap="square" lIns="0" tIns="0" rIns="0" bIns="0" rtlCol="0" anchor="ctr"/>
          <a:lstStyle/>
          <a:p>
            <a:pPr indent="0" marL="0">
              <a:buNone/>
            </a:pPr>
            <a:r>
              <a:rPr lang="en-US" sz="700" dirty="0">
                <a:solidFill>
                  <a:srgbClr val="7C886F"/>
                </a:solidFill>
              </a:rPr>
              <a:t>Watercolour study 6 / illustration, not measurement evidence</a:t>
            </a:r>
            <a:endParaRPr lang="en-US" sz="700" dirty="0"/>
          </a:p>
        </p:txBody>
      </p:sp>
      <p:sp>
        <p:nvSpPr>
          <p:cNvPr id="8" name="Text 5"/>
          <p:cNvSpPr/>
          <p:nvPr/>
        </p:nvSpPr>
        <p:spPr>
          <a:xfrm>
            <a:off x="6803136" y="1216152"/>
            <a:ext cx="3383280" cy="182880"/>
          </a:xfrm>
          <a:prstGeom prst="rect">
            <a:avLst/>
          </a:prstGeom>
          <a:noFill/>
          <a:ln/>
        </p:spPr>
        <p:txBody>
          <a:bodyPr wrap="square" lIns="0" tIns="0" rIns="0" bIns="0" rtlCol="0" anchor="ctr"/>
          <a:lstStyle/>
          <a:p>
            <a:pPr indent="0" marL="0">
              <a:buNone/>
            </a:pPr>
            <a:r>
              <a:rPr lang="en-US" sz="700" dirty="0">
                <a:solidFill>
                  <a:srgbClr val="A46343"/>
                </a:solidFill>
              </a:rPr>
              <a:t>THE OBSERVATION</a:t>
            </a:r>
            <a:endParaRPr lang="en-US" sz="700" dirty="0"/>
          </a:p>
        </p:txBody>
      </p:sp>
      <p:sp>
        <p:nvSpPr>
          <p:cNvPr id="9" name="Text 6"/>
          <p:cNvSpPr/>
          <p:nvPr/>
        </p:nvSpPr>
        <p:spPr>
          <a:xfrm>
            <a:off x="6803136" y="1554480"/>
            <a:ext cx="3383280" cy="969264"/>
          </a:xfrm>
          <a:prstGeom prst="rect">
            <a:avLst/>
          </a:prstGeom>
          <a:noFill/>
          <a:ln/>
        </p:spPr>
        <p:txBody>
          <a:bodyPr wrap="square" lIns="0" tIns="0" rIns="0" bIns="0" rtlCol="0" anchor="ctr">
            <a:normAutofit/>
          </a:bodyPr>
          <a:lstStyle/>
          <a:p>
            <a:pPr indent="0" marL="0">
              <a:buNone/>
            </a:pPr>
            <a:r>
              <a:rPr lang="en-US" sz="2500" dirty="0">
                <a:solidFill>
                  <a:srgbClr val="3E5743"/>
                </a:solidFill>
                <a:latin typeface="Georgia" pitchFamily="34" charset="0"/>
                <a:ea typeface="Georgia" pitchFamily="34" charset="-122"/>
                <a:cs typeface="Georgia" pitchFamily="34" charset="-120"/>
              </a:rPr>
              <a:t>Hold the comparison conditions.</a:t>
            </a:r>
            <a:endParaRPr lang="en-US" sz="2500" dirty="0"/>
          </a:p>
        </p:txBody>
      </p:sp>
      <p:sp>
        <p:nvSpPr>
          <p:cNvPr id="10" name="Text 7"/>
          <p:cNvSpPr/>
          <p:nvPr/>
        </p:nvSpPr>
        <p:spPr>
          <a:xfrm>
            <a:off x="6803136" y="2715768"/>
            <a:ext cx="3383280" cy="1883664"/>
          </a:xfrm>
          <a:prstGeom prst="rect">
            <a:avLst/>
          </a:prstGeom>
          <a:noFill/>
          <a:ln/>
        </p:spPr>
        <p:txBody>
          <a:bodyPr wrap="square" lIns="0" tIns="0" rIns="0" bIns="0" rtlCol="0" anchor="t">
            <a:normAutofit/>
          </a:bodyPr>
          <a:lstStyle/>
          <a:p>
            <a:pPr indent="0" marL="0">
              <a:buNone/>
            </a:pPr>
            <a:r>
              <a:rPr lang="en-US" sz="1200" dirty="0">
                <a:solidFill>
                  <a:srgbClr val="344E41"/>
                </a:solidFill>
                <a:latin typeface="Georgia" pitchFamily="34" charset="0"/>
                <a:ea typeface="Georgia" pitchFamily="34" charset="-122"/>
                <a:cs typeface="Georgia" pitchFamily="34" charset="-120"/>
              </a:rPr>
              <a:t>When comparing two observations, keep the named method and object consistent where the question requires it. If the material, container or preparation changes, record that change rather than presenting the values as directly interchangeable.</a:t>
            </a:r>
            <a:endParaRPr lang="en-US" sz="1200" dirty="0"/>
          </a:p>
        </p:txBody>
      </p:sp>
      <p:sp>
        <p:nvSpPr>
          <p:cNvPr id="11" name="Text 8"/>
          <p:cNvSpPr/>
          <p:nvPr/>
        </p:nvSpPr>
        <p:spPr>
          <a:xfrm>
            <a:off x="6803136" y="4782312"/>
            <a:ext cx="3383280" cy="164592"/>
          </a:xfrm>
          <a:prstGeom prst="rect">
            <a:avLst/>
          </a:prstGeom>
          <a:noFill/>
          <a:ln/>
        </p:spPr>
        <p:txBody>
          <a:bodyPr wrap="square" lIns="0" tIns="0" rIns="0" bIns="0" rtlCol="0" anchor="ctr"/>
          <a:lstStyle/>
          <a:p>
            <a:pPr indent="0" marL="0">
              <a:buNone/>
            </a:pPr>
            <a:r>
              <a:rPr lang="en-US" sz="700" dirty="0">
                <a:solidFill>
                  <a:srgbClr val="A46343"/>
                </a:solidFill>
              </a:rPr>
              <a:t>MODEL / METHOD NOTE</a:t>
            </a:r>
            <a:endParaRPr lang="en-US" sz="700" dirty="0"/>
          </a:p>
        </p:txBody>
      </p:sp>
      <p:sp>
        <p:nvSpPr>
          <p:cNvPr id="12" name="Text 9"/>
          <p:cNvSpPr/>
          <p:nvPr/>
        </p:nvSpPr>
        <p:spPr>
          <a:xfrm>
            <a:off x="6803136" y="5074920"/>
            <a:ext cx="3383280" cy="594360"/>
          </a:xfrm>
          <a:prstGeom prst="rect">
            <a:avLst/>
          </a:prstGeom>
          <a:noFill/>
          <a:ln/>
        </p:spPr>
        <p:txBody>
          <a:bodyPr wrap="square" lIns="0" tIns="0" rIns="0" bIns="0" rtlCol="0" anchor="ctr">
            <a:normAutofit/>
          </a:bodyPr>
          <a:lstStyle/>
          <a:p>
            <a:pPr indent="0" marL="0">
              <a:buNone/>
            </a:pPr>
            <a:r>
              <a:rPr lang="en-US" sz="1000" dirty="0">
                <a:solidFill>
                  <a:srgbClr val="62745B"/>
                </a:solidFill>
                <a:latin typeface="Georgia" pitchFamily="34" charset="0"/>
                <a:ea typeface="Georgia" pitchFamily="34" charset="-122"/>
                <a:cs typeface="Georgia" pitchFamily="34" charset="-120"/>
              </a:rPr>
              <a:t>A changed method belongs beside the changed value.</a:t>
            </a:r>
            <a:endParaRPr lang="en-US" sz="1000" dirty="0"/>
          </a:p>
        </p:txBody>
      </p:sp>
      <p:sp>
        <p:nvSpPr>
          <p:cNvPr id="13" name="Shape 10"/>
          <p:cNvSpPr/>
          <p:nvPr/>
        </p:nvSpPr>
        <p:spPr>
          <a:xfrm>
            <a:off x="310896" y="5961888"/>
            <a:ext cx="10149840" cy="1207008"/>
          </a:xfrm>
          <a:prstGeom prst="rect">
            <a:avLst/>
          </a:prstGeom>
          <a:solidFill>
            <a:srgbClr val="E9EDDF"/>
          </a:solidFill>
          <a:ln w="12700">
            <a:solidFill>
              <a:srgbClr val="E9EDDF"/>
            </a:solidFill>
            <a:prstDash val="solid"/>
          </a:ln>
        </p:spPr>
      </p:sp>
      <p:sp>
        <p:nvSpPr>
          <p:cNvPr id="14" name="Text 11"/>
          <p:cNvSpPr/>
          <p:nvPr/>
        </p:nvSpPr>
        <p:spPr>
          <a:xfrm>
            <a:off x="493776" y="6126480"/>
            <a:ext cx="9784080" cy="164592"/>
          </a:xfrm>
          <a:prstGeom prst="rect">
            <a:avLst/>
          </a:prstGeom>
          <a:noFill/>
          <a:ln/>
        </p:spPr>
        <p:txBody>
          <a:bodyPr wrap="square" lIns="0" tIns="0" rIns="0" bIns="0" rtlCol="0" anchor="ctr"/>
          <a:lstStyle/>
          <a:p>
            <a:pPr indent="0" marL="0">
              <a:buNone/>
            </a:pPr>
            <a:r>
              <a:rPr lang="en-US" sz="700" dirty="0">
                <a:solidFill>
                  <a:srgbClr val="A46343"/>
                </a:solidFill>
              </a:rPr>
              <a:t>TRY / REFLECT</a:t>
            </a:r>
            <a:endParaRPr lang="en-US" sz="700" dirty="0"/>
          </a:p>
        </p:txBody>
      </p:sp>
      <p:sp>
        <p:nvSpPr>
          <p:cNvPr id="15" name="Text 12"/>
          <p:cNvSpPr/>
          <p:nvPr/>
        </p:nvSpPr>
        <p:spPr>
          <a:xfrm>
            <a:off x="493776" y="6428232"/>
            <a:ext cx="9784080" cy="384048"/>
          </a:xfrm>
          <a:prstGeom prst="rect">
            <a:avLst/>
          </a:prstGeom>
          <a:noFill/>
          <a:ln/>
        </p:spPr>
        <p:txBody>
          <a:bodyPr wrap="square" lIns="0" tIns="0" rIns="0" bIns="0" rtlCol="0" anchor="ctr">
            <a:normAutofit/>
          </a:bodyPr>
          <a:lstStyle/>
          <a:p>
            <a:pPr indent="0" marL="0">
              <a:buNone/>
            </a:pPr>
            <a:r>
              <a:rPr lang="en-US" sz="1300" dirty="0">
                <a:solidFill>
                  <a:srgbClr val="344E41"/>
                </a:solidFill>
                <a:latin typeface="Georgia" pitchFamily="34" charset="0"/>
                <a:ea typeface="Georgia" pitchFamily="34" charset="-122"/>
                <a:cs typeface="Georgia" pitchFamily="34" charset="-120"/>
              </a:rPr>
              <a:t>Name one change that would prevent a simple like-for-like comparison.</a:t>
            </a:r>
            <a:endParaRPr lang="en-US" sz="1300" dirty="0"/>
          </a:p>
        </p:txBody>
      </p:sp>
      <p:sp>
        <p:nvSpPr>
          <p:cNvPr id="16" name="Text 13"/>
          <p:cNvSpPr/>
          <p:nvPr/>
        </p:nvSpPr>
        <p:spPr>
          <a:xfrm>
            <a:off x="493776" y="6940296"/>
            <a:ext cx="9784080" cy="137160"/>
          </a:xfrm>
          <a:prstGeom prst="rect">
            <a:avLst/>
          </a:prstGeom>
          <a:noFill/>
          <a:ln/>
        </p:spPr>
        <p:txBody>
          <a:bodyPr wrap="square" lIns="0" tIns="0" rIns="0" bIns="0" rtlCol="0" anchor="ctr"/>
          <a:lstStyle/>
          <a:p>
            <a:pPr indent="0" marL="0">
              <a:buNone/>
            </a:pPr>
            <a:r>
              <a:rPr lang="en-US" sz="600" dirty="0">
                <a:solidFill>
                  <a:srgbClr val="77836B"/>
                </a:solidFill>
              </a:rPr>
              <a:t>COMPLETE / 32 PAGES / 16 INDEPENDENT MAIN ILLUSTRATIONS / MODEL NUMBERS, NOT REAL READINGS</a:t>
            </a:r>
            <a:endParaRPr lang="en-US" sz="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3"/>
        </a:solidFill>
      </p:bgPr>
    </p:bg>
    <p:spTree>
      <p:nvGrpSpPr>
        <p:cNvPr id="1" name=""/>
        <p:cNvGrpSpPr/>
        <p:nvPr/>
      </p:nvGrpSpPr>
      <p:grpSpPr>
        <a:xfrm>
          <a:off x="0" y="0"/>
          <a:ext cx="0" cy="0"/>
          <a:chOff x="0" y="0"/>
          <a:chExt cx="0" cy="0"/>
        </a:xfrm>
      </p:grpSpPr>
      <p:sp>
        <p:nvSpPr>
          <p:cNvPr id="2" name="Text 0"/>
          <p:cNvSpPr/>
          <p:nvPr/>
        </p:nvSpPr>
        <p:spPr>
          <a:xfrm>
            <a:off x="310896" y="256032"/>
            <a:ext cx="7772400" cy="182880"/>
          </a:xfrm>
          <a:prstGeom prst="rect">
            <a:avLst/>
          </a:prstGeom>
          <a:noFill/>
          <a:ln/>
        </p:spPr>
        <p:txBody>
          <a:bodyPr wrap="square" lIns="0" tIns="0" rIns="0" bIns="0" rtlCol="0" anchor="ctr"/>
          <a:lstStyle/>
          <a:p>
            <a:pPr indent="0" marL="0">
              <a:buNone/>
            </a:pPr>
            <a:r>
              <a:rPr lang="en-US" sz="800" dirty="0">
                <a:solidFill>
                  <a:srgbClr val="708267"/>
                </a:solidFill>
              </a:rPr>
              <a:t>PANTRY NOTES / THE MEASUREMENT NOTEBOOK</a:t>
            </a:r>
            <a:endParaRPr lang="en-US" sz="800" dirty="0"/>
          </a:p>
        </p:txBody>
      </p:sp>
      <p:sp>
        <p:nvSpPr>
          <p:cNvPr id="3" name="Text 1"/>
          <p:cNvSpPr/>
          <p:nvPr/>
        </p:nvSpPr>
        <p:spPr>
          <a:xfrm>
            <a:off x="310896" y="594360"/>
            <a:ext cx="7772400" cy="237744"/>
          </a:xfrm>
          <a:prstGeom prst="rect">
            <a:avLst/>
          </a:prstGeom>
          <a:noFill/>
          <a:ln/>
        </p:spPr>
        <p:txBody>
          <a:bodyPr wrap="square" lIns="0" tIns="0" rIns="0" bIns="0" rtlCol="0" anchor="ctr"/>
          <a:lstStyle/>
          <a:p>
            <a:pPr indent="0" marL="0">
              <a:buNone/>
            </a:pPr>
            <a:r>
              <a:rPr lang="en-US" sz="1400" dirty="0">
                <a:solidFill>
                  <a:srgbClr val="344E41"/>
                </a:solidFill>
                <a:latin typeface="Georgia" pitchFamily="34" charset="0"/>
                <a:ea typeface="Georgia" pitchFamily="34" charset="-122"/>
                <a:cs typeface="Georgia" pitchFamily="34" charset="-120"/>
              </a:rPr>
              <a:t>04 / Keep a record</a:t>
            </a:r>
            <a:endParaRPr lang="en-US" sz="1400" dirty="0"/>
          </a:p>
        </p:txBody>
      </p:sp>
      <p:sp>
        <p:nvSpPr>
          <p:cNvPr id="4" name="Text 2"/>
          <p:cNvSpPr/>
          <p:nvPr/>
        </p:nvSpPr>
        <p:spPr>
          <a:xfrm>
            <a:off x="9784080" y="274320"/>
            <a:ext cx="640080" cy="411480"/>
          </a:xfrm>
          <a:prstGeom prst="rect">
            <a:avLst/>
          </a:prstGeom>
          <a:noFill/>
          <a:ln/>
        </p:spPr>
        <p:txBody>
          <a:bodyPr wrap="square" lIns="0" tIns="0" rIns="0" bIns="0" rtlCol="0" anchor="ctr"/>
          <a:lstStyle/>
          <a:p>
            <a:pPr algn="r" indent="0" marL="0">
              <a:buNone/>
            </a:pPr>
            <a:r>
              <a:rPr lang="en-US" sz="2500" dirty="0">
                <a:solidFill>
                  <a:srgbClr val="B1724C"/>
                </a:solidFill>
              </a:rPr>
              <a:t>13</a:t>
            </a:r>
            <a:endParaRPr lang="en-US" sz="2500" dirty="0"/>
          </a:p>
        </p:txBody>
      </p:sp>
      <p:sp>
        <p:nvSpPr>
          <p:cNvPr id="5" name="Shape 3"/>
          <p:cNvSpPr/>
          <p:nvPr/>
        </p:nvSpPr>
        <p:spPr>
          <a:xfrm>
            <a:off x="310896" y="960120"/>
            <a:ext cx="10149840" cy="0"/>
          </a:xfrm>
          <a:prstGeom prst="line">
            <a:avLst/>
          </a:prstGeom>
          <a:noFill/>
          <a:ln w="12700">
            <a:solidFill>
              <a:srgbClr val="C6D0BC"/>
            </a:solidFill>
            <a:prstDash val="solid"/>
          </a:ln>
        </p:spPr>
      </p:sp>
      <p:pic>
        <p:nvPicPr>
          <p:cNvPr id="6" name="Image 0" descr="/home/user/design-buddy/design-buddy-home/public/atelier/pantry-notes/images/07.jpg">    </p:cNvPr>
          <p:cNvPicPr>
            <a:picLocks noChangeAspect="1"/>
          </p:cNvPicPr>
          <p:nvPr/>
        </p:nvPicPr>
        <p:blipFill>
          <a:blip r:embed="rId1"/>
          <a:srcRect l="0" r="0" t="0" b="0"/>
          <a:stretch/>
        </p:blipFill>
        <p:spPr>
          <a:xfrm>
            <a:off x="310896" y="1207008"/>
            <a:ext cx="6217920" cy="4023360"/>
          </a:xfrm>
          <a:prstGeom prst="rect">
            <a:avLst/>
          </a:prstGeom>
        </p:spPr>
      </p:pic>
      <p:sp>
        <p:nvSpPr>
          <p:cNvPr id="7" name="Text 4"/>
          <p:cNvSpPr/>
          <p:nvPr/>
        </p:nvSpPr>
        <p:spPr>
          <a:xfrm>
            <a:off x="310896" y="5376672"/>
            <a:ext cx="6217920" cy="320040"/>
          </a:xfrm>
          <a:prstGeom prst="rect">
            <a:avLst/>
          </a:prstGeom>
          <a:noFill/>
          <a:ln/>
        </p:spPr>
        <p:txBody>
          <a:bodyPr wrap="square" lIns="0" tIns="0" rIns="0" bIns="0" rtlCol="0" anchor="ctr"/>
          <a:lstStyle/>
          <a:p>
            <a:pPr indent="0" marL="0">
              <a:buNone/>
            </a:pPr>
            <a:r>
              <a:rPr lang="en-US" sz="700" dirty="0">
                <a:solidFill>
                  <a:srgbClr val="7C886F"/>
                </a:solidFill>
              </a:rPr>
              <a:t>Watercolour study 7 / illustration, not measurement evidence</a:t>
            </a:r>
            <a:endParaRPr lang="en-US" sz="700" dirty="0"/>
          </a:p>
        </p:txBody>
      </p:sp>
      <p:sp>
        <p:nvSpPr>
          <p:cNvPr id="8" name="Text 5"/>
          <p:cNvSpPr/>
          <p:nvPr/>
        </p:nvSpPr>
        <p:spPr>
          <a:xfrm>
            <a:off x="6803136" y="1216152"/>
            <a:ext cx="3383280" cy="182880"/>
          </a:xfrm>
          <a:prstGeom prst="rect">
            <a:avLst/>
          </a:prstGeom>
          <a:noFill/>
          <a:ln/>
        </p:spPr>
        <p:txBody>
          <a:bodyPr wrap="square" lIns="0" tIns="0" rIns="0" bIns="0" rtlCol="0" anchor="ctr"/>
          <a:lstStyle/>
          <a:p>
            <a:pPr indent="0" marL="0">
              <a:buNone/>
            </a:pPr>
            <a:r>
              <a:rPr lang="en-US" sz="700" dirty="0">
                <a:solidFill>
                  <a:srgbClr val="A46343"/>
                </a:solidFill>
              </a:rPr>
              <a:t>THE OBSERVATION</a:t>
            </a:r>
            <a:endParaRPr lang="en-US" sz="700" dirty="0"/>
          </a:p>
        </p:txBody>
      </p:sp>
      <p:sp>
        <p:nvSpPr>
          <p:cNvPr id="9" name="Text 6"/>
          <p:cNvSpPr/>
          <p:nvPr/>
        </p:nvSpPr>
        <p:spPr>
          <a:xfrm>
            <a:off x="6803136" y="1554480"/>
            <a:ext cx="3383280" cy="969264"/>
          </a:xfrm>
          <a:prstGeom prst="rect">
            <a:avLst/>
          </a:prstGeom>
          <a:noFill/>
          <a:ln/>
        </p:spPr>
        <p:txBody>
          <a:bodyPr wrap="square" lIns="0" tIns="0" rIns="0" bIns="0" rtlCol="0" anchor="ctr">
            <a:normAutofit/>
          </a:bodyPr>
          <a:lstStyle/>
          <a:p>
            <a:pPr indent="0" marL="0">
              <a:buNone/>
            </a:pPr>
            <a:r>
              <a:rPr lang="en-US" sz="2500" dirty="0">
                <a:solidFill>
                  <a:srgbClr val="3E5743"/>
                </a:solidFill>
                <a:latin typeface="Georgia" pitchFamily="34" charset="0"/>
                <a:ea typeface="Georgia" pitchFamily="34" charset="-122"/>
                <a:cs typeface="Georgia" pitchFamily="34" charset="-120"/>
              </a:rPr>
              <a:t>Write while the meaning is clear.</a:t>
            </a:r>
            <a:endParaRPr lang="en-US" sz="2500" dirty="0"/>
          </a:p>
        </p:txBody>
      </p:sp>
      <p:sp>
        <p:nvSpPr>
          <p:cNvPr id="10" name="Text 7"/>
          <p:cNvSpPr/>
          <p:nvPr/>
        </p:nvSpPr>
        <p:spPr>
          <a:xfrm>
            <a:off x="6803136" y="2715768"/>
            <a:ext cx="3383280" cy="1883664"/>
          </a:xfrm>
          <a:prstGeom prst="rect">
            <a:avLst/>
          </a:prstGeom>
          <a:noFill/>
          <a:ln/>
        </p:spPr>
        <p:txBody>
          <a:bodyPr wrap="square" lIns="0" tIns="0" rIns="0" bIns="0" rtlCol="0" anchor="t">
            <a:normAutofit/>
          </a:bodyPr>
          <a:lstStyle/>
          <a:p>
            <a:pPr indent="0" marL="0">
              <a:buNone/>
            </a:pPr>
            <a:r>
              <a:rPr lang="en-US" sz="1200" dirty="0">
                <a:solidFill>
                  <a:srgbClr val="344E41"/>
                </a:solidFill>
                <a:latin typeface="Georgia" pitchFamily="34" charset="0"/>
                <a:ea typeface="Georgia" pitchFamily="34" charset="-122"/>
                <a:cs typeface="Georgia" pitchFamily="34" charset="-120"/>
              </a:rPr>
              <a:t>A compact note can preserve the quantity, unit, object, method and source. You do not need personal details to describe a kitchen arithmetic example. Write enough for another reader to understand what the value means.</a:t>
            </a:r>
            <a:endParaRPr lang="en-US" sz="1200" dirty="0"/>
          </a:p>
        </p:txBody>
      </p:sp>
      <p:sp>
        <p:nvSpPr>
          <p:cNvPr id="11" name="Text 8"/>
          <p:cNvSpPr/>
          <p:nvPr/>
        </p:nvSpPr>
        <p:spPr>
          <a:xfrm>
            <a:off x="6803136" y="4782312"/>
            <a:ext cx="3383280" cy="164592"/>
          </a:xfrm>
          <a:prstGeom prst="rect">
            <a:avLst/>
          </a:prstGeom>
          <a:noFill/>
          <a:ln/>
        </p:spPr>
        <p:txBody>
          <a:bodyPr wrap="square" lIns="0" tIns="0" rIns="0" bIns="0" rtlCol="0" anchor="ctr"/>
          <a:lstStyle/>
          <a:p>
            <a:pPr indent="0" marL="0">
              <a:buNone/>
            </a:pPr>
            <a:r>
              <a:rPr lang="en-US" sz="700" dirty="0">
                <a:solidFill>
                  <a:srgbClr val="A46343"/>
                </a:solidFill>
              </a:rPr>
              <a:t>MODEL / METHOD NOTE</a:t>
            </a:r>
            <a:endParaRPr lang="en-US" sz="700" dirty="0"/>
          </a:p>
        </p:txBody>
      </p:sp>
      <p:sp>
        <p:nvSpPr>
          <p:cNvPr id="12" name="Text 9"/>
          <p:cNvSpPr/>
          <p:nvPr/>
        </p:nvSpPr>
        <p:spPr>
          <a:xfrm>
            <a:off x="6803136" y="5074920"/>
            <a:ext cx="3383280" cy="594360"/>
          </a:xfrm>
          <a:prstGeom prst="rect">
            <a:avLst/>
          </a:prstGeom>
          <a:noFill/>
          <a:ln/>
        </p:spPr>
        <p:txBody>
          <a:bodyPr wrap="square" lIns="0" tIns="0" rIns="0" bIns="0" rtlCol="0" anchor="ctr">
            <a:normAutofit/>
          </a:bodyPr>
          <a:lstStyle/>
          <a:p>
            <a:pPr indent="0" marL="0">
              <a:buNone/>
            </a:pPr>
            <a:r>
              <a:rPr lang="en-US" sz="1000" dirty="0">
                <a:solidFill>
                  <a:srgbClr val="62745B"/>
                </a:solidFill>
                <a:latin typeface="Georgia" pitchFamily="34" charset="0"/>
                <a:ea typeface="Georgia" pitchFamily="34" charset="-122"/>
                <a:cs typeface="Georgia" pitchFamily="34" charset="-120"/>
              </a:rPr>
              <a:t>Record template: object / quantity / unit / method / context.</a:t>
            </a:r>
            <a:endParaRPr lang="en-US" sz="1000" dirty="0"/>
          </a:p>
        </p:txBody>
      </p:sp>
      <p:sp>
        <p:nvSpPr>
          <p:cNvPr id="13" name="Shape 10"/>
          <p:cNvSpPr/>
          <p:nvPr/>
        </p:nvSpPr>
        <p:spPr>
          <a:xfrm>
            <a:off x="310896" y="5961888"/>
            <a:ext cx="10149840" cy="1207008"/>
          </a:xfrm>
          <a:prstGeom prst="rect">
            <a:avLst/>
          </a:prstGeom>
          <a:solidFill>
            <a:srgbClr val="E9EDDF"/>
          </a:solidFill>
          <a:ln w="12700">
            <a:solidFill>
              <a:srgbClr val="E9EDDF"/>
            </a:solidFill>
            <a:prstDash val="solid"/>
          </a:ln>
        </p:spPr>
      </p:sp>
      <p:sp>
        <p:nvSpPr>
          <p:cNvPr id="14" name="Text 11"/>
          <p:cNvSpPr/>
          <p:nvPr/>
        </p:nvSpPr>
        <p:spPr>
          <a:xfrm>
            <a:off x="493776" y="6126480"/>
            <a:ext cx="9784080" cy="164592"/>
          </a:xfrm>
          <a:prstGeom prst="rect">
            <a:avLst/>
          </a:prstGeom>
          <a:noFill/>
          <a:ln/>
        </p:spPr>
        <p:txBody>
          <a:bodyPr wrap="square" lIns="0" tIns="0" rIns="0" bIns="0" rtlCol="0" anchor="ctr"/>
          <a:lstStyle/>
          <a:p>
            <a:pPr indent="0" marL="0">
              <a:buNone/>
            </a:pPr>
            <a:r>
              <a:rPr lang="en-US" sz="700" dirty="0">
                <a:solidFill>
                  <a:srgbClr val="A46343"/>
                </a:solidFill>
              </a:rPr>
              <a:t>TRY / REFLECT</a:t>
            </a:r>
            <a:endParaRPr lang="en-US" sz="700" dirty="0"/>
          </a:p>
        </p:txBody>
      </p:sp>
      <p:sp>
        <p:nvSpPr>
          <p:cNvPr id="15" name="Text 12"/>
          <p:cNvSpPr/>
          <p:nvPr/>
        </p:nvSpPr>
        <p:spPr>
          <a:xfrm>
            <a:off x="493776" y="6428232"/>
            <a:ext cx="9784080" cy="384048"/>
          </a:xfrm>
          <a:prstGeom prst="rect">
            <a:avLst/>
          </a:prstGeom>
          <a:noFill/>
          <a:ln/>
        </p:spPr>
        <p:txBody>
          <a:bodyPr wrap="square" lIns="0" tIns="0" rIns="0" bIns="0" rtlCol="0" anchor="ctr">
            <a:normAutofit/>
          </a:bodyPr>
          <a:lstStyle/>
          <a:p>
            <a:pPr indent="0" marL="0">
              <a:buNone/>
            </a:pPr>
            <a:r>
              <a:rPr lang="en-US" sz="1300" dirty="0">
                <a:solidFill>
                  <a:srgbClr val="344E41"/>
                </a:solidFill>
                <a:latin typeface="Georgia" pitchFamily="34" charset="0"/>
                <a:ea typeface="Georgia" pitchFamily="34" charset="-122"/>
                <a:cs typeface="Georgia" pitchFamily="34" charset="-120"/>
              </a:rPr>
              <a:t>Draft a short observation note without including anyone’s personal information.</a:t>
            </a:r>
            <a:endParaRPr lang="en-US" sz="1300" dirty="0"/>
          </a:p>
        </p:txBody>
      </p:sp>
      <p:sp>
        <p:nvSpPr>
          <p:cNvPr id="16" name="Text 13"/>
          <p:cNvSpPr/>
          <p:nvPr/>
        </p:nvSpPr>
        <p:spPr>
          <a:xfrm>
            <a:off x="493776" y="6940296"/>
            <a:ext cx="9784080" cy="137160"/>
          </a:xfrm>
          <a:prstGeom prst="rect">
            <a:avLst/>
          </a:prstGeom>
          <a:noFill/>
          <a:ln/>
        </p:spPr>
        <p:txBody>
          <a:bodyPr wrap="square" lIns="0" tIns="0" rIns="0" bIns="0" rtlCol="0" anchor="ctr"/>
          <a:lstStyle/>
          <a:p>
            <a:pPr indent="0" marL="0">
              <a:buNone/>
            </a:pPr>
            <a:r>
              <a:rPr lang="en-US" sz="600" dirty="0">
                <a:solidFill>
                  <a:srgbClr val="77836B"/>
                </a:solidFill>
              </a:rPr>
              <a:t>COMPLETE / 32 PAGES / 16 INDEPENDENT MAIN ILLUSTRATIONS / MODEL NUMBERS, NOT REAL READINGS</a:t>
            </a:r>
            <a:endParaRPr lang="en-US" sz="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3"/>
        </a:solidFill>
      </p:bgPr>
    </p:bg>
    <p:spTree>
      <p:nvGrpSpPr>
        <p:cNvPr id="1" name=""/>
        <p:cNvGrpSpPr/>
        <p:nvPr/>
      </p:nvGrpSpPr>
      <p:grpSpPr>
        <a:xfrm>
          <a:off x="0" y="0"/>
          <a:ext cx="0" cy="0"/>
          <a:chOff x="0" y="0"/>
          <a:chExt cx="0" cy="0"/>
        </a:xfrm>
      </p:grpSpPr>
      <p:sp>
        <p:nvSpPr>
          <p:cNvPr id="2" name="Text 0"/>
          <p:cNvSpPr/>
          <p:nvPr/>
        </p:nvSpPr>
        <p:spPr>
          <a:xfrm>
            <a:off x="310896" y="256032"/>
            <a:ext cx="7772400" cy="182880"/>
          </a:xfrm>
          <a:prstGeom prst="rect">
            <a:avLst/>
          </a:prstGeom>
          <a:noFill/>
          <a:ln/>
        </p:spPr>
        <p:txBody>
          <a:bodyPr wrap="square" lIns="0" tIns="0" rIns="0" bIns="0" rtlCol="0" anchor="ctr"/>
          <a:lstStyle/>
          <a:p>
            <a:pPr indent="0" marL="0">
              <a:buNone/>
            </a:pPr>
            <a:r>
              <a:rPr lang="en-US" sz="800" dirty="0">
                <a:solidFill>
                  <a:srgbClr val="708267"/>
                </a:solidFill>
              </a:rPr>
              <a:t>PANTRY NOTES / THE MEASUREMENT NOTEBOOK</a:t>
            </a:r>
            <a:endParaRPr lang="en-US" sz="800" dirty="0"/>
          </a:p>
        </p:txBody>
      </p:sp>
      <p:sp>
        <p:nvSpPr>
          <p:cNvPr id="3" name="Text 1"/>
          <p:cNvSpPr/>
          <p:nvPr/>
        </p:nvSpPr>
        <p:spPr>
          <a:xfrm>
            <a:off x="310896" y="594360"/>
            <a:ext cx="7772400" cy="237744"/>
          </a:xfrm>
          <a:prstGeom prst="rect">
            <a:avLst/>
          </a:prstGeom>
          <a:noFill/>
          <a:ln/>
        </p:spPr>
        <p:txBody>
          <a:bodyPr wrap="square" lIns="0" tIns="0" rIns="0" bIns="0" rtlCol="0" anchor="ctr"/>
          <a:lstStyle/>
          <a:p>
            <a:pPr indent="0" marL="0">
              <a:buNone/>
            </a:pPr>
            <a:r>
              <a:rPr lang="en-US" sz="1400" dirty="0">
                <a:solidFill>
                  <a:srgbClr val="344E41"/>
                </a:solidFill>
                <a:latin typeface="Georgia" pitchFamily="34" charset="0"/>
                <a:ea typeface="Georgia" pitchFamily="34" charset="-122"/>
                <a:cs typeface="Georgia" pitchFamily="34" charset="-120"/>
              </a:rPr>
              <a:t>04 / Keep a record</a:t>
            </a:r>
            <a:endParaRPr lang="en-US" sz="1400" dirty="0"/>
          </a:p>
        </p:txBody>
      </p:sp>
      <p:sp>
        <p:nvSpPr>
          <p:cNvPr id="4" name="Text 2"/>
          <p:cNvSpPr/>
          <p:nvPr/>
        </p:nvSpPr>
        <p:spPr>
          <a:xfrm>
            <a:off x="9784080" y="274320"/>
            <a:ext cx="640080" cy="411480"/>
          </a:xfrm>
          <a:prstGeom prst="rect">
            <a:avLst/>
          </a:prstGeom>
          <a:noFill/>
          <a:ln/>
        </p:spPr>
        <p:txBody>
          <a:bodyPr wrap="square" lIns="0" tIns="0" rIns="0" bIns="0" rtlCol="0" anchor="ctr"/>
          <a:lstStyle/>
          <a:p>
            <a:pPr algn="r" indent="0" marL="0">
              <a:buNone/>
            </a:pPr>
            <a:r>
              <a:rPr lang="en-US" sz="2500" dirty="0">
                <a:solidFill>
                  <a:srgbClr val="B1724C"/>
                </a:solidFill>
              </a:rPr>
              <a:t>14</a:t>
            </a:r>
            <a:endParaRPr lang="en-US" sz="2500" dirty="0"/>
          </a:p>
        </p:txBody>
      </p:sp>
      <p:sp>
        <p:nvSpPr>
          <p:cNvPr id="5" name="Shape 3"/>
          <p:cNvSpPr/>
          <p:nvPr/>
        </p:nvSpPr>
        <p:spPr>
          <a:xfrm>
            <a:off x="310896" y="960120"/>
            <a:ext cx="10149840" cy="0"/>
          </a:xfrm>
          <a:prstGeom prst="line">
            <a:avLst/>
          </a:prstGeom>
          <a:noFill/>
          <a:ln w="12700">
            <a:solidFill>
              <a:srgbClr val="C6D0BC"/>
            </a:solidFill>
            <a:prstDash val="solid"/>
          </a:ln>
        </p:spPr>
      </p:sp>
      <p:pic>
        <p:nvPicPr>
          <p:cNvPr id="6" name="Image 0" descr="/home/user/design-buddy/design-buddy-home/public/atelier/pantry-notes/images/07.jpg">    </p:cNvPr>
          <p:cNvPicPr>
            <a:picLocks noChangeAspect="1"/>
          </p:cNvPicPr>
          <p:nvPr/>
        </p:nvPicPr>
        <p:blipFill>
          <a:blip r:embed="rId1"/>
          <a:srcRect l="0" r="0" t="0" b="0"/>
          <a:stretch/>
        </p:blipFill>
        <p:spPr>
          <a:xfrm>
            <a:off x="310896" y="1207008"/>
            <a:ext cx="6217920" cy="4023360"/>
          </a:xfrm>
          <a:prstGeom prst="rect">
            <a:avLst/>
          </a:prstGeom>
        </p:spPr>
      </p:pic>
      <p:sp>
        <p:nvSpPr>
          <p:cNvPr id="7" name="Text 4"/>
          <p:cNvSpPr/>
          <p:nvPr/>
        </p:nvSpPr>
        <p:spPr>
          <a:xfrm>
            <a:off x="310896" y="5376672"/>
            <a:ext cx="6217920" cy="320040"/>
          </a:xfrm>
          <a:prstGeom prst="rect">
            <a:avLst/>
          </a:prstGeom>
          <a:noFill/>
          <a:ln/>
        </p:spPr>
        <p:txBody>
          <a:bodyPr wrap="square" lIns="0" tIns="0" rIns="0" bIns="0" rtlCol="0" anchor="ctr"/>
          <a:lstStyle/>
          <a:p>
            <a:pPr indent="0" marL="0">
              <a:buNone/>
            </a:pPr>
            <a:r>
              <a:rPr lang="en-US" sz="700" dirty="0">
                <a:solidFill>
                  <a:srgbClr val="7C886F"/>
                </a:solidFill>
              </a:rPr>
              <a:t>Watercolour study 7 / illustration, not measurement evidence</a:t>
            </a:r>
            <a:endParaRPr lang="en-US" sz="700" dirty="0"/>
          </a:p>
        </p:txBody>
      </p:sp>
      <p:sp>
        <p:nvSpPr>
          <p:cNvPr id="8" name="Text 5"/>
          <p:cNvSpPr/>
          <p:nvPr/>
        </p:nvSpPr>
        <p:spPr>
          <a:xfrm>
            <a:off x="6803136" y="1216152"/>
            <a:ext cx="3383280" cy="182880"/>
          </a:xfrm>
          <a:prstGeom prst="rect">
            <a:avLst/>
          </a:prstGeom>
          <a:noFill/>
          <a:ln/>
        </p:spPr>
        <p:txBody>
          <a:bodyPr wrap="square" lIns="0" tIns="0" rIns="0" bIns="0" rtlCol="0" anchor="ctr"/>
          <a:lstStyle/>
          <a:p>
            <a:pPr indent="0" marL="0">
              <a:buNone/>
            </a:pPr>
            <a:r>
              <a:rPr lang="en-US" sz="700" dirty="0">
                <a:solidFill>
                  <a:srgbClr val="A46343"/>
                </a:solidFill>
              </a:rPr>
              <a:t>THE OBSERVATION</a:t>
            </a:r>
            <a:endParaRPr lang="en-US" sz="700" dirty="0"/>
          </a:p>
        </p:txBody>
      </p:sp>
      <p:sp>
        <p:nvSpPr>
          <p:cNvPr id="9" name="Text 6"/>
          <p:cNvSpPr/>
          <p:nvPr/>
        </p:nvSpPr>
        <p:spPr>
          <a:xfrm>
            <a:off x="6803136" y="1554480"/>
            <a:ext cx="3383280" cy="969264"/>
          </a:xfrm>
          <a:prstGeom prst="rect">
            <a:avLst/>
          </a:prstGeom>
          <a:noFill/>
          <a:ln/>
        </p:spPr>
        <p:txBody>
          <a:bodyPr wrap="square" lIns="0" tIns="0" rIns="0" bIns="0" rtlCol="0" anchor="ctr">
            <a:normAutofit/>
          </a:bodyPr>
          <a:lstStyle/>
          <a:p>
            <a:pPr indent="0" marL="0">
              <a:buNone/>
            </a:pPr>
            <a:r>
              <a:rPr lang="en-US" sz="2500" dirty="0">
                <a:solidFill>
                  <a:srgbClr val="3E5743"/>
                </a:solidFill>
                <a:latin typeface="Georgia" pitchFamily="34" charset="0"/>
                <a:ea typeface="Georgia" pitchFamily="34" charset="-122"/>
                <a:cs typeface="Georgia" pitchFamily="34" charset="-120"/>
              </a:rPr>
              <a:t>Digits are not a quality certificate.</a:t>
            </a:r>
            <a:endParaRPr lang="en-US" sz="2500" dirty="0"/>
          </a:p>
        </p:txBody>
      </p:sp>
      <p:sp>
        <p:nvSpPr>
          <p:cNvPr id="10" name="Text 7"/>
          <p:cNvSpPr/>
          <p:nvPr/>
        </p:nvSpPr>
        <p:spPr>
          <a:xfrm>
            <a:off x="6803136" y="2715768"/>
            <a:ext cx="3383280" cy="1883664"/>
          </a:xfrm>
          <a:prstGeom prst="rect">
            <a:avLst/>
          </a:prstGeom>
          <a:noFill/>
          <a:ln/>
        </p:spPr>
        <p:txBody>
          <a:bodyPr wrap="square" lIns="0" tIns="0" rIns="0" bIns="0" rtlCol="0" anchor="t">
            <a:normAutofit/>
          </a:bodyPr>
          <a:lstStyle/>
          <a:p>
            <a:pPr indent="0" marL="0">
              <a:buNone/>
            </a:pPr>
            <a:r>
              <a:rPr lang="en-US" sz="1200" dirty="0">
                <a:solidFill>
                  <a:srgbClr val="344E41"/>
                </a:solidFill>
                <a:latin typeface="Georgia" pitchFamily="34" charset="0"/>
                <a:ea typeface="Georgia" pitchFamily="34" charset="-122"/>
                <a:cs typeface="Georgia" pitchFamily="34" charset="-120"/>
              </a:rPr>
              <a:t>A longer number may appear precise, but its appearance does not prove accuracy. Avoid adding unsupported decimal places to a result or suggesting that a finely drawn scale is a calibration record.</a:t>
            </a:r>
            <a:endParaRPr lang="en-US" sz="1200" dirty="0"/>
          </a:p>
        </p:txBody>
      </p:sp>
      <p:sp>
        <p:nvSpPr>
          <p:cNvPr id="11" name="Text 8"/>
          <p:cNvSpPr/>
          <p:nvPr/>
        </p:nvSpPr>
        <p:spPr>
          <a:xfrm>
            <a:off x="6803136" y="4782312"/>
            <a:ext cx="3383280" cy="164592"/>
          </a:xfrm>
          <a:prstGeom prst="rect">
            <a:avLst/>
          </a:prstGeom>
          <a:noFill/>
          <a:ln/>
        </p:spPr>
        <p:txBody>
          <a:bodyPr wrap="square" lIns="0" tIns="0" rIns="0" bIns="0" rtlCol="0" anchor="ctr"/>
          <a:lstStyle/>
          <a:p>
            <a:pPr indent="0" marL="0">
              <a:buNone/>
            </a:pPr>
            <a:r>
              <a:rPr lang="en-US" sz="700" dirty="0">
                <a:solidFill>
                  <a:srgbClr val="A46343"/>
                </a:solidFill>
              </a:rPr>
              <a:t>MODEL / METHOD NOTE</a:t>
            </a:r>
            <a:endParaRPr lang="en-US" sz="700" dirty="0"/>
          </a:p>
        </p:txBody>
      </p:sp>
      <p:sp>
        <p:nvSpPr>
          <p:cNvPr id="12" name="Text 9"/>
          <p:cNvSpPr/>
          <p:nvPr/>
        </p:nvSpPr>
        <p:spPr>
          <a:xfrm>
            <a:off x="6803136" y="5074920"/>
            <a:ext cx="3383280" cy="594360"/>
          </a:xfrm>
          <a:prstGeom prst="rect">
            <a:avLst/>
          </a:prstGeom>
          <a:noFill/>
          <a:ln/>
        </p:spPr>
        <p:txBody>
          <a:bodyPr wrap="square" lIns="0" tIns="0" rIns="0" bIns="0" rtlCol="0" anchor="ctr">
            <a:normAutofit/>
          </a:bodyPr>
          <a:lstStyle/>
          <a:p>
            <a:pPr indent="0" marL="0">
              <a:buNone/>
            </a:pPr>
            <a:r>
              <a:rPr lang="en-US" sz="1000" dirty="0">
                <a:solidFill>
                  <a:srgbClr val="62745B"/>
                </a:solidFill>
                <a:latin typeface="Georgia" pitchFamily="34" charset="0"/>
                <a:ea typeface="Georgia" pitchFamily="34" charset="-122"/>
                <a:cs typeface="Georgia" pitchFamily="34" charset="-120"/>
              </a:rPr>
              <a:t>More displayed digits do not by themselves establish accuracy.</a:t>
            </a:r>
            <a:endParaRPr lang="en-US" sz="1000" dirty="0"/>
          </a:p>
        </p:txBody>
      </p:sp>
      <p:sp>
        <p:nvSpPr>
          <p:cNvPr id="13" name="Shape 10"/>
          <p:cNvSpPr/>
          <p:nvPr/>
        </p:nvSpPr>
        <p:spPr>
          <a:xfrm>
            <a:off x="310896" y="5961888"/>
            <a:ext cx="10149840" cy="1207008"/>
          </a:xfrm>
          <a:prstGeom prst="rect">
            <a:avLst/>
          </a:prstGeom>
          <a:solidFill>
            <a:srgbClr val="E9EDDF"/>
          </a:solidFill>
          <a:ln w="12700">
            <a:solidFill>
              <a:srgbClr val="E9EDDF"/>
            </a:solidFill>
            <a:prstDash val="solid"/>
          </a:ln>
        </p:spPr>
      </p:sp>
      <p:sp>
        <p:nvSpPr>
          <p:cNvPr id="14" name="Text 11"/>
          <p:cNvSpPr/>
          <p:nvPr/>
        </p:nvSpPr>
        <p:spPr>
          <a:xfrm>
            <a:off x="493776" y="6126480"/>
            <a:ext cx="9784080" cy="164592"/>
          </a:xfrm>
          <a:prstGeom prst="rect">
            <a:avLst/>
          </a:prstGeom>
          <a:noFill/>
          <a:ln/>
        </p:spPr>
        <p:txBody>
          <a:bodyPr wrap="square" lIns="0" tIns="0" rIns="0" bIns="0" rtlCol="0" anchor="ctr"/>
          <a:lstStyle/>
          <a:p>
            <a:pPr indent="0" marL="0">
              <a:buNone/>
            </a:pPr>
            <a:r>
              <a:rPr lang="en-US" sz="700" dirty="0">
                <a:solidFill>
                  <a:srgbClr val="A46343"/>
                </a:solidFill>
              </a:rPr>
              <a:t>TRY / REFLECT</a:t>
            </a:r>
            <a:endParaRPr lang="en-US" sz="700" dirty="0"/>
          </a:p>
        </p:txBody>
      </p:sp>
      <p:sp>
        <p:nvSpPr>
          <p:cNvPr id="15" name="Text 12"/>
          <p:cNvSpPr/>
          <p:nvPr/>
        </p:nvSpPr>
        <p:spPr>
          <a:xfrm>
            <a:off x="493776" y="6428232"/>
            <a:ext cx="9784080" cy="384048"/>
          </a:xfrm>
          <a:prstGeom prst="rect">
            <a:avLst/>
          </a:prstGeom>
          <a:noFill/>
          <a:ln/>
        </p:spPr>
        <p:txBody>
          <a:bodyPr wrap="square" lIns="0" tIns="0" rIns="0" bIns="0" rtlCol="0" anchor="ctr">
            <a:normAutofit/>
          </a:bodyPr>
          <a:lstStyle/>
          <a:p>
            <a:pPr indent="0" marL="0">
              <a:buNone/>
            </a:pPr>
            <a:r>
              <a:rPr lang="en-US" sz="1300" dirty="0">
                <a:solidFill>
                  <a:srgbClr val="344E41"/>
                </a:solidFill>
                <a:latin typeface="Georgia" pitchFamily="34" charset="0"/>
                <a:ea typeface="Georgia" pitchFamily="34" charset="-122"/>
                <a:cs typeface="Georgia" pitchFamily="34" charset="-120"/>
              </a:rPr>
              <a:t>Why is writing 200.000 g not an automatic improvement over 200 g?</a:t>
            </a:r>
            <a:endParaRPr lang="en-US" sz="1300" dirty="0"/>
          </a:p>
        </p:txBody>
      </p:sp>
      <p:sp>
        <p:nvSpPr>
          <p:cNvPr id="16" name="Text 13"/>
          <p:cNvSpPr/>
          <p:nvPr/>
        </p:nvSpPr>
        <p:spPr>
          <a:xfrm>
            <a:off x="493776" y="6940296"/>
            <a:ext cx="9784080" cy="137160"/>
          </a:xfrm>
          <a:prstGeom prst="rect">
            <a:avLst/>
          </a:prstGeom>
          <a:noFill/>
          <a:ln/>
        </p:spPr>
        <p:txBody>
          <a:bodyPr wrap="square" lIns="0" tIns="0" rIns="0" bIns="0" rtlCol="0" anchor="ctr"/>
          <a:lstStyle/>
          <a:p>
            <a:pPr indent="0" marL="0">
              <a:buNone/>
            </a:pPr>
            <a:r>
              <a:rPr lang="en-US" sz="600" dirty="0">
                <a:solidFill>
                  <a:srgbClr val="77836B"/>
                </a:solidFill>
              </a:rPr>
              <a:t>COMPLETE / 32 PAGES / 16 INDEPENDENT MAIN ILLUSTRATIONS / MODEL NUMBERS, NOT REAL READINGS</a:t>
            </a:r>
            <a:endParaRPr lang="en-US" sz="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3"/>
        </a:solidFill>
      </p:bgPr>
    </p:bg>
    <p:spTree>
      <p:nvGrpSpPr>
        <p:cNvPr id="1" name=""/>
        <p:cNvGrpSpPr/>
        <p:nvPr/>
      </p:nvGrpSpPr>
      <p:grpSpPr>
        <a:xfrm>
          <a:off x="0" y="0"/>
          <a:ext cx="0" cy="0"/>
          <a:chOff x="0" y="0"/>
          <a:chExt cx="0" cy="0"/>
        </a:xfrm>
      </p:grpSpPr>
      <p:sp>
        <p:nvSpPr>
          <p:cNvPr id="2" name="Text 0"/>
          <p:cNvSpPr/>
          <p:nvPr/>
        </p:nvSpPr>
        <p:spPr>
          <a:xfrm>
            <a:off x="310896" y="256032"/>
            <a:ext cx="7772400" cy="182880"/>
          </a:xfrm>
          <a:prstGeom prst="rect">
            <a:avLst/>
          </a:prstGeom>
          <a:noFill/>
          <a:ln/>
        </p:spPr>
        <p:txBody>
          <a:bodyPr wrap="square" lIns="0" tIns="0" rIns="0" bIns="0" rtlCol="0" anchor="ctr"/>
          <a:lstStyle/>
          <a:p>
            <a:pPr indent="0" marL="0">
              <a:buNone/>
            </a:pPr>
            <a:r>
              <a:rPr lang="en-US" sz="800" dirty="0">
                <a:solidFill>
                  <a:srgbClr val="708267"/>
                </a:solidFill>
              </a:rPr>
              <a:t>PANTRY NOTES / THE MEASUREMENT NOTEBOOK</a:t>
            </a:r>
            <a:endParaRPr lang="en-US" sz="800" dirty="0"/>
          </a:p>
        </p:txBody>
      </p:sp>
      <p:sp>
        <p:nvSpPr>
          <p:cNvPr id="3" name="Text 1"/>
          <p:cNvSpPr/>
          <p:nvPr/>
        </p:nvSpPr>
        <p:spPr>
          <a:xfrm>
            <a:off x="310896" y="594360"/>
            <a:ext cx="7772400" cy="237744"/>
          </a:xfrm>
          <a:prstGeom prst="rect">
            <a:avLst/>
          </a:prstGeom>
          <a:noFill/>
          <a:ln/>
        </p:spPr>
        <p:txBody>
          <a:bodyPr wrap="square" lIns="0" tIns="0" rIns="0" bIns="0" rtlCol="0" anchor="ctr"/>
          <a:lstStyle/>
          <a:p>
            <a:pPr indent="0" marL="0">
              <a:buNone/>
            </a:pPr>
            <a:r>
              <a:rPr lang="en-US" sz="1400" dirty="0">
                <a:solidFill>
                  <a:srgbClr val="344E41"/>
                </a:solidFill>
                <a:latin typeface="Georgia" pitchFamily="34" charset="0"/>
                <a:ea typeface="Georgia" pitchFamily="34" charset="-122"/>
                <a:cs typeface="Georgia" pitchFamily="34" charset="-120"/>
              </a:rPr>
              <a:t>04 / Keep a record</a:t>
            </a:r>
            <a:endParaRPr lang="en-US" sz="1400" dirty="0"/>
          </a:p>
        </p:txBody>
      </p:sp>
      <p:sp>
        <p:nvSpPr>
          <p:cNvPr id="4" name="Text 2"/>
          <p:cNvSpPr/>
          <p:nvPr/>
        </p:nvSpPr>
        <p:spPr>
          <a:xfrm>
            <a:off x="9784080" y="274320"/>
            <a:ext cx="640080" cy="411480"/>
          </a:xfrm>
          <a:prstGeom prst="rect">
            <a:avLst/>
          </a:prstGeom>
          <a:noFill/>
          <a:ln/>
        </p:spPr>
        <p:txBody>
          <a:bodyPr wrap="square" lIns="0" tIns="0" rIns="0" bIns="0" rtlCol="0" anchor="ctr"/>
          <a:lstStyle/>
          <a:p>
            <a:pPr algn="r" indent="0" marL="0">
              <a:buNone/>
            </a:pPr>
            <a:r>
              <a:rPr lang="en-US" sz="2500" dirty="0">
                <a:solidFill>
                  <a:srgbClr val="B1724C"/>
                </a:solidFill>
              </a:rPr>
              <a:t>15</a:t>
            </a:r>
            <a:endParaRPr lang="en-US" sz="2500" dirty="0"/>
          </a:p>
        </p:txBody>
      </p:sp>
      <p:sp>
        <p:nvSpPr>
          <p:cNvPr id="5" name="Shape 3"/>
          <p:cNvSpPr/>
          <p:nvPr/>
        </p:nvSpPr>
        <p:spPr>
          <a:xfrm>
            <a:off x="310896" y="960120"/>
            <a:ext cx="10149840" cy="0"/>
          </a:xfrm>
          <a:prstGeom prst="line">
            <a:avLst/>
          </a:prstGeom>
          <a:noFill/>
          <a:ln w="12700">
            <a:solidFill>
              <a:srgbClr val="C6D0BC"/>
            </a:solidFill>
            <a:prstDash val="solid"/>
          </a:ln>
        </p:spPr>
      </p:sp>
      <p:pic>
        <p:nvPicPr>
          <p:cNvPr id="6" name="Image 0" descr="/home/user/design-buddy/design-buddy-home/public/atelier/pantry-notes/images/08.jpg">    </p:cNvPr>
          <p:cNvPicPr>
            <a:picLocks noChangeAspect="1"/>
          </p:cNvPicPr>
          <p:nvPr/>
        </p:nvPicPr>
        <p:blipFill>
          <a:blip r:embed="rId1"/>
          <a:srcRect l="0" r="0" t="0" b="0"/>
          <a:stretch/>
        </p:blipFill>
        <p:spPr>
          <a:xfrm>
            <a:off x="310896" y="1207008"/>
            <a:ext cx="6217920" cy="4023360"/>
          </a:xfrm>
          <a:prstGeom prst="rect">
            <a:avLst/>
          </a:prstGeom>
        </p:spPr>
      </p:pic>
      <p:sp>
        <p:nvSpPr>
          <p:cNvPr id="7" name="Text 4"/>
          <p:cNvSpPr/>
          <p:nvPr/>
        </p:nvSpPr>
        <p:spPr>
          <a:xfrm>
            <a:off x="310896" y="5376672"/>
            <a:ext cx="6217920" cy="320040"/>
          </a:xfrm>
          <a:prstGeom prst="rect">
            <a:avLst/>
          </a:prstGeom>
          <a:noFill/>
          <a:ln/>
        </p:spPr>
        <p:txBody>
          <a:bodyPr wrap="square" lIns="0" tIns="0" rIns="0" bIns="0" rtlCol="0" anchor="ctr"/>
          <a:lstStyle/>
          <a:p>
            <a:pPr indent="0" marL="0">
              <a:buNone/>
            </a:pPr>
            <a:r>
              <a:rPr lang="en-US" sz="700" dirty="0">
                <a:solidFill>
                  <a:srgbClr val="7C886F"/>
                </a:solidFill>
              </a:rPr>
              <a:t>Watercolour study 8 / illustration, not measurement evidence</a:t>
            </a:r>
            <a:endParaRPr lang="en-US" sz="700" dirty="0"/>
          </a:p>
        </p:txBody>
      </p:sp>
      <p:sp>
        <p:nvSpPr>
          <p:cNvPr id="8" name="Text 5"/>
          <p:cNvSpPr/>
          <p:nvPr/>
        </p:nvSpPr>
        <p:spPr>
          <a:xfrm>
            <a:off x="6803136" y="1216152"/>
            <a:ext cx="3383280" cy="182880"/>
          </a:xfrm>
          <a:prstGeom prst="rect">
            <a:avLst/>
          </a:prstGeom>
          <a:noFill/>
          <a:ln/>
        </p:spPr>
        <p:txBody>
          <a:bodyPr wrap="square" lIns="0" tIns="0" rIns="0" bIns="0" rtlCol="0" anchor="ctr"/>
          <a:lstStyle/>
          <a:p>
            <a:pPr indent="0" marL="0">
              <a:buNone/>
            </a:pPr>
            <a:r>
              <a:rPr lang="en-US" sz="700" dirty="0">
                <a:solidFill>
                  <a:srgbClr val="A46343"/>
                </a:solidFill>
              </a:rPr>
              <a:t>THE OBSERVATION</a:t>
            </a:r>
            <a:endParaRPr lang="en-US" sz="700" dirty="0"/>
          </a:p>
        </p:txBody>
      </p:sp>
      <p:sp>
        <p:nvSpPr>
          <p:cNvPr id="9" name="Text 6"/>
          <p:cNvSpPr/>
          <p:nvPr/>
        </p:nvSpPr>
        <p:spPr>
          <a:xfrm>
            <a:off x="6803136" y="1554480"/>
            <a:ext cx="3383280" cy="969264"/>
          </a:xfrm>
          <a:prstGeom prst="rect">
            <a:avLst/>
          </a:prstGeom>
          <a:noFill/>
          <a:ln/>
        </p:spPr>
        <p:txBody>
          <a:bodyPr wrap="square" lIns="0" tIns="0" rIns="0" bIns="0" rtlCol="0" anchor="ctr">
            <a:normAutofit/>
          </a:bodyPr>
          <a:lstStyle/>
          <a:p>
            <a:pPr indent="0" marL="0">
              <a:buNone/>
            </a:pPr>
            <a:r>
              <a:rPr lang="en-US" sz="2500" dirty="0">
                <a:solidFill>
                  <a:srgbClr val="3E5743"/>
                </a:solidFill>
                <a:latin typeface="Georgia" pitchFamily="34" charset="0"/>
                <a:ea typeface="Georgia" pitchFamily="34" charset="-122"/>
                <a:cs typeface="Georgia" pitchFamily="34" charset="-120"/>
              </a:rPr>
              <a:t>Repeat the stated question.</a:t>
            </a:r>
            <a:endParaRPr lang="en-US" sz="2500" dirty="0"/>
          </a:p>
        </p:txBody>
      </p:sp>
      <p:sp>
        <p:nvSpPr>
          <p:cNvPr id="10" name="Text 7"/>
          <p:cNvSpPr/>
          <p:nvPr/>
        </p:nvSpPr>
        <p:spPr>
          <a:xfrm>
            <a:off x="6803136" y="2715768"/>
            <a:ext cx="3383280" cy="1883664"/>
          </a:xfrm>
          <a:prstGeom prst="rect">
            <a:avLst/>
          </a:prstGeom>
          <a:noFill/>
          <a:ln/>
        </p:spPr>
        <p:txBody>
          <a:bodyPr wrap="square" lIns="0" tIns="0" rIns="0" bIns="0" rtlCol="0" anchor="t">
            <a:normAutofit/>
          </a:bodyPr>
          <a:lstStyle/>
          <a:p>
            <a:pPr indent="0" marL="0">
              <a:buNone/>
            </a:pPr>
            <a:r>
              <a:rPr lang="en-US" sz="1200" dirty="0">
                <a:solidFill>
                  <a:srgbClr val="344E41"/>
                </a:solidFill>
                <a:latin typeface="Georgia" pitchFamily="34" charset="0"/>
                <a:ea typeface="Georgia" pitchFamily="34" charset="-122"/>
                <a:cs typeface="Georgia" pitchFamily="34" charset="-120"/>
              </a:rPr>
              <a:t>Repeated observations are useful only when their context is recorded. State whether the same material and method were used. Three values are not enough to certify an instrument or establish a general performance claim.</a:t>
            </a:r>
            <a:endParaRPr lang="en-US" sz="1200" dirty="0"/>
          </a:p>
        </p:txBody>
      </p:sp>
      <p:sp>
        <p:nvSpPr>
          <p:cNvPr id="11" name="Text 8"/>
          <p:cNvSpPr/>
          <p:nvPr/>
        </p:nvSpPr>
        <p:spPr>
          <a:xfrm>
            <a:off x="6803136" y="4782312"/>
            <a:ext cx="3383280" cy="164592"/>
          </a:xfrm>
          <a:prstGeom prst="rect">
            <a:avLst/>
          </a:prstGeom>
          <a:noFill/>
          <a:ln/>
        </p:spPr>
        <p:txBody>
          <a:bodyPr wrap="square" lIns="0" tIns="0" rIns="0" bIns="0" rtlCol="0" anchor="ctr"/>
          <a:lstStyle/>
          <a:p>
            <a:pPr indent="0" marL="0">
              <a:buNone/>
            </a:pPr>
            <a:r>
              <a:rPr lang="en-US" sz="700" dirty="0">
                <a:solidFill>
                  <a:srgbClr val="A46343"/>
                </a:solidFill>
              </a:rPr>
              <a:t>MODEL / METHOD NOTE</a:t>
            </a:r>
            <a:endParaRPr lang="en-US" sz="700" dirty="0"/>
          </a:p>
        </p:txBody>
      </p:sp>
      <p:sp>
        <p:nvSpPr>
          <p:cNvPr id="12" name="Text 9"/>
          <p:cNvSpPr/>
          <p:nvPr/>
        </p:nvSpPr>
        <p:spPr>
          <a:xfrm>
            <a:off x="6803136" y="5074920"/>
            <a:ext cx="3383280" cy="594360"/>
          </a:xfrm>
          <a:prstGeom prst="rect">
            <a:avLst/>
          </a:prstGeom>
          <a:noFill/>
          <a:ln/>
        </p:spPr>
        <p:txBody>
          <a:bodyPr wrap="square" lIns="0" tIns="0" rIns="0" bIns="0" rtlCol="0" anchor="ctr">
            <a:normAutofit/>
          </a:bodyPr>
          <a:lstStyle/>
          <a:p>
            <a:pPr indent="0" marL="0">
              <a:buNone/>
            </a:pPr>
            <a:r>
              <a:rPr lang="en-US" sz="1000" dirty="0">
                <a:solidFill>
                  <a:srgbClr val="62745B"/>
                </a:solidFill>
                <a:latin typeface="Georgia" pitchFamily="34" charset="0"/>
                <a:ea typeface="Georgia" pitchFamily="34" charset="-122"/>
                <a:cs typeface="Georgia" pitchFamily="34" charset="-120"/>
              </a:rPr>
              <a:t>Repeated examples should keep labels and method notes attached.</a:t>
            </a:r>
            <a:endParaRPr lang="en-US" sz="1000" dirty="0"/>
          </a:p>
        </p:txBody>
      </p:sp>
      <p:sp>
        <p:nvSpPr>
          <p:cNvPr id="13" name="Shape 10"/>
          <p:cNvSpPr/>
          <p:nvPr/>
        </p:nvSpPr>
        <p:spPr>
          <a:xfrm>
            <a:off x="310896" y="5961888"/>
            <a:ext cx="10149840" cy="1207008"/>
          </a:xfrm>
          <a:prstGeom prst="rect">
            <a:avLst/>
          </a:prstGeom>
          <a:solidFill>
            <a:srgbClr val="E9EDDF"/>
          </a:solidFill>
          <a:ln w="12700">
            <a:solidFill>
              <a:srgbClr val="E9EDDF"/>
            </a:solidFill>
            <a:prstDash val="solid"/>
          </a:ln>
        </p:spPr>
      </p:sp>
      <p:sp>
        <p:nvSpPr>
          <p:cNvPr id="14" name="Text 11"/>
          <p:cNvSpPr/>
          <p:nvPr/>
        </p:nvSpPr>
        <p:spPr>
          <a:xfrm>
            <a:off x="493776" y="6126480"/>
            <a:ext cx="9784080" cy="164592"/>
          </a:xfrm>
          <a:prstGeom prst="rect">
            <a:avLst/>
          </a:prstGeom>
          <a:noFill/>
          <a:ln/>
        </p:spPr>
        <p:txBody>
          <a:bodyPr wrap="square" lIns="0" tIns="0" rIns="0" bIns="0" rtlCol="0" anchor="ctr"/>
          <a:lstStyle/>
          <a:p>
            <a:pPr indent="0" marL="0">
              <a:buNone/>
            </a:pPr>
            <a:r>
              <a:rPr lang="en-US" sz="700" dirty="0">
                <a:solidFill>
                  <a:srgbClr val="A46343"/>
                </a:solidFill>
              </a:rPr>
              <a:t>TRY / REFLECT</a:t>
            </a:r>
            <a:endParaRPr lang="en-US" sz="700" dirty="0"/>
          </a:p>
        </p:txBody>
      </p:sp>
      <p:sp>
        <p:nvSpPr>
          <p:cNvPr id="15" name="Text 12"/>
          <p:cNvSpPr/>
          <p:nvPr/>
        </p:nvSpPr>
        <p:spPr>
          <a:xfrm>
            <a:off x="493776" y="6428232"/>
            <a:ext cx="9784080" cy="384048"/>
          </a:xfrm>
          <a:prstGeom prst="rect">
            <a:avLst/>
          </a:prstGeom>
          <a:noFill/>
          <a:ln/>
        </p:spPr>
        <p:txBody>
          <a:bodyPr wrap="square" lIns="0" tIns="0" rIns="0" bIns="0" rtlCol="0" anchor="ctr">
            <a:normAutofit/>
          </a:bodyPr>
          <a:lstStyle/>
          <a:p>
            <a:pPr indent="0" marL="0">
              <a:buNone/>
            </a:pPr>
            <a:r>
              <a:rPr lang="en-US" sz="1300" dirty="0">
                <a:solidFill>
                  <a:srgbClr val="344E41"/>
                </a:solidFill>
                <a:latin typeface="Georgia" pitchFamily="34" charset="0"/>
                <a:ea typeface="Georgia" pitchFamily="34" charset="-122"/>
                <a:cs typeface="Georgia" pitchFamily="34" charset="-120"/>
              </a:rPr>
              <a:t>What context would you preserve beside three repeated readings?</a:t>
            </a:r>
            <a:endParaRPr lang="en-US" sz="1300" dirty="0"/>
          </a:p>
        </p:txBody>
      </p:sp>
      <p:sp>
        <p:nvSpPr>
          <p:cNvPr id="16" name="Text 13"/>
          <p:cNvSpPr/>
          <p:nvPr/>
        </p:nvSpPr>
        <p:spPr>
          <a:xfrm>
            <a:off x="493776" y="6940296"/>
            <a:ext cx="9784080" cy="137160"/>
          </a:xfrm>
          <a:prstGeom prst="rect">
            <a:avLst/>
          </a:prstGeom>
          <a:noFill/>
          <a:ln/>
        </p:spPr>
        <p:txBody>
          <a:bodyPr wrap="square" lIns="0" tIns="0" rIns="0" bIns="0" rtlCol="0" anchor="ctr"/>
          <a:lstStyle/>
          <a:p>
            <a:pPr indent="0" marL="0">
              <a:buNone/>
            </a:pPr>
            <a:r>
              <a:rPr lang="en-US" sz="600" dirty="0">
                <a:solidFill>
                  <a:srgbClr val="77836B"/>
                </a:solidFill>
              </a:rPr>
              <a:t>COMPLETE / 32 PAGES / 16 INDEPENDENT MAIN ILLUSTRATIONS / MODEL NUMBERS, NOT REAL READINGS</a:t>
            </a:r>
            <a:endParaRPr lang="en-US" sz="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3"/>
        </a:solidFill>
      </p:bgPr>
    </p:bg>
    <p:spTree>
      <p:nvGrpSpPr>
        <p:cNvPr id="1" name=""/>
        <p:cNvGrpSpPr/>
        <p:nvPr/>
      </p:nvGrpSpPr>
      <p:grpSpPr>
        <a:xfrm>
          <a:off x="0" y="0"/>
          <a:ext cx="0" cy="0"/>
          <a:chOff x="0" y="0"/>
          <a:chExt cx="0" cy="0"/>
        </a:xfrm>
      </p:grpSpPr>
      <p:sp>
        <p:nvSpPr>
          <p:cNvPr id="2" name="Text 0"/>
          <p:cNvSpPr/>
          <p:nvPr/>
        </p:nvSpPr>
        <p:spPr>
          <a:xfrm>
            <a:off x="310896" y="256032"/>
            <a:ext cx="7772400" cy="182880"/>
          </a:xfrm>
          <a:prstGeom prst="rect">
            <a:avLst/>
          </a:prstGeom>
          <a:noFill/>
          <a:ln/>
        </p:spPr>
        <p:txBody>
          <a:bodyPr wrap="square" lIns="0" tIns="0" rIns="0" bIns="0" rtlCol="0" anchor="ctr"/>
          <a:lstStyle/>
          <a:p>
            <a:pPr indent="0" marL="0">
              <a:buNone/>
            </a:pPr>
            <a:r>
              <a:rPr lang="en-US" sz="800" dirty="0">
                <a:solidFill>
                  <a:srgbClr val="708267"/>
                </a:solidFill>
              </a:rPr>
              <a:t>PANTRY NOTES / THE MEASUREMENT NOTEBOOK</a:t>
            </a:r>
            <a:endParaRPr lang="en-US" sz="800" dirty="0"/>
          </a:p>
        </p:txBody>
      </p:sp>
      <p:sp>
        <p:nvSpPr>
          <p:cNvPr id="3" name="Text 1"/>
          <p:cNvSpPr/>
          <p:nvPr/>
        </p:nvSpPr>
        <p:spPr>
          <a:xfrm>
            <a:off x="310896" y="594360"/>
            <a:ext cx="7772400" cy="237744"/>
          </a:xfrm>
          <a:prstGeom prst="rect">
            <a:avLst/>
          </a:prstGeom>
          <a:noFill/>
          <a:ln/>
        </p:spPr>
        <p:txBody>
          <a:bodyPr wrap="square" lIns="0" tIns="0" rIns="0" bIns="0" rtlCol="0" anchor="ctr"/>
          <a:lstStyle/>
          <a:p>
            <a:pPr indent="0" marL="0">
              <a:buNone/>
            </a:pPr>
            <a:r>
              <a:rPr lang="en-US" sz="1400" dirty="0">
                <a:solidFill>
                  <a:srgbClr val="344E41"/>
                </a:solidFill>
                <a:latin typeface="Georgia" pitchFamily="34" charset="0"/>
                <a:ea typeface="Georgia" pitchFamily="34" charset="-122"/>
                <a:cs typeface="Georgia" pitchFamily="34" charset="-120"/>
              </a:rPr>
              <a:t>04 / Keep a record</a:t>
            </a:r>
            <a:endParaRPr lang="en-US" sz="1400" dirty="0"/>
          </a:p>
        </p:txBody>
      </p:sp>
      <p:sp>
        <p:nvSpPr>
          <p:cNvPr id="4" name="Text 2"/>
          <p:cNvSpPr/>
          <p:nvPr/>
        </p:nvSpPr>
        <p:spPr>
          <a:xfrm>
            <a:off x="9784080" y="274320"/>
            <a:ext cx="640080" cy="411480"/>
          </a:xfrm>
          <a:prstGeom prst="rect">
            <a:avLst/>
          </a:prstGeom>
          <a:noFill/>
          <a:ln/>
        </p:spPr>
        <p:txBody>
          <a:bodyPr wrap="square" lIns="0" tIns="0" rIns="0" bIns="0" rtlCol="0" anchor="ctr"/>
          <a:lstStyle/>
          <a:p>
            <a:pPr algn="r" indent="0" marL="0">
              <a:buNone/>
            </a:pPr>
            <a:r>
              <a:rPr lang="en-US" sz="2500" dirty="0">
                <a:solidFill>
                  <a:srgbClr val="B1724C"/>
                </a:solidFill>
              </a:rPr>
              <a:t>16</a:t>
            </a:r>
            <a:endParaRPr lang="en-US" sz="2500" dirty="0"/>
          </a:p>
        </p:txBody>
      </p:sp>
      <p:sp>
        <p:nvSpPr>
          <p:cNvPr id="5" name="Shape 3"/>
          <p:cNvSpPr/>
          <p:nvPr/>
        </p:nvSpPr>
        <p:spPr>
          <a:xfrm>
            <a:off x="310896" y="960120"/>
            <a:ext cx="10149840" cy="0"/>
          </a:xfrm>
          <a:prstGeom prst="line">
            <a:avLst/>
          </a:prstGeom>
          <a:noFill/>
          <a:ln w="12700">
            <a:solidFill>
              <a:srgbClr val="C6D0BC"/>
            </a:solidFill>
            <a:prstDash val="solid"/>
          </a:ln>
        </p:spPr>
      </p:sp>
      <p:pic>
        <p:nvPicPr>
          <p:cNvPr id="6" name="Image 0" descr="/home/user/design-buddy/design-buddy-home/public/atelier/pantry-notes/images/08.jpg">    </p:cNvPr>
          <p:cNvPicPr>
            <a:picLocks noChangeAspect="1"/>
          </p:cNvPicPr>
          <p:nvPr/>
        </p:nvPicPr>
        <p:blipFill>
          <a:blip r:embed="rId1"/>
          <a:srcRect l="0" r="0" t="0" b="0"/>
          <a:stretch/>
        </p:blipFill>
        <p:spPr>
          <a:xfrm>
            <a:off x="310896" y="1207008"/>
            <a:ext cx="6217920" cy="4023360"/>
          </a:xfrm>
          <a:prstGeom prst="rect">
            <a:avLst/>
          </a:prstGeom>
        </p:spPr>
      </p:pic>
      <p:sp>
        <p:nvSpPr>
          <p:cNvPr id="7" name="Text 4"/>
          <p:cNvSpPr/>
          <p:nvPr/>
        </p:nvSpPr>
        <p:spPr>
          <a:xfrm>
            <a:off x="310896" y="5376672"/>
            <a:ext cx="6217920" cy="320040"/>
          </a:xfrm>
          <a:prstGeom prst="rect">
            <a:avLst/>
          </a:prstGeom>
          <a:noFill/>
          <a:ln/>
        </p:spPr>
        <p:txBody>
          <a:bodyPr wrap="square" lIns="0" tIns="0" rIns="0" bIns="0" rtlCol="0" anchor="ctr"/>
          <a:lstStyle/>
          <a:p>
            <a:pPr indent="0" marL="0">
              <a:buNone/>
            </a:pPr>
            <a:r>
              <a:rPr lang="en-US" sz="700" dirty="0">
                <a:solidFill>
                  <a:srgbClr val="7C886F"/>
                </a:solidFill>
              </a:rPr>
              <a:t>Watercolour study 8 / illustration, not measurement evidence</a:t>
            </a:r>
            <a:endParaRPr lang="en-US" sz="700" dirty="0"/>
          </a:p>
        </p:txBody>
      </p:sp>
      <p:sp>
        <p:nvSpPr>
          <p:cNvPr id="8" name="Text 5"/>
          <p:cNvSpPr/>
          <p:nvPr/>
        </p:nvSpPr>
        <p:spPr>
          <a:xfrm>
            <a:off x="6803136" y="1216152"/>
            <a:ext cx="3383280" cy="182880"/>
          </a:xfrm>
          <a:prstGeom prst="rect">
            <a:avLst/>
          </a:prstGeom>
          <a:noFill/>
          <a:ln/>
        </p:spPr>
        <p:txBody>
          <a:bodyPr wrap="square" lIns="0" tIns="0" rIns="0" bIns="0" rtlCol="0" anchor="ctr"/>
          <a:lstStyle/>
          <a:p>
            <a:pPr indent="0" marL="0">
              <a:buNone/>
            </a:pPr>
            <a:r>
              <a:rPr lang="en-US" sz="700" dirty="0">
                <a:solidFill>
                  <a:srgbClr val="A46343"/>
                </a:solidFill>
              </a:rPr>
              <a:t>THE OBSERVATION</a:t>
            </a:r>
            <a:endParaRPr lang="en-US" sz="700" dirty="0"/>
          </a:p>
        </p:txBody>
      </p:sp>
      <p:sp>
        <p:nvSpPr>
          <p:cNvPr id="9" name="Text 6"/>
          <p:cNvSpPr/>
          <p:nvPr/>
        </p:nvSpPr>
        <p:spPr>
          <a:xfrm>
            <a:off x="6803136" y="1554480"/>
            <a:ext cx="3383280" cy="969264"/>
          </a:xfrm>
          <a:prstGeom prst="rect">
            <a:avLst/>
          </a:prstGeom>
          <a:noFill/>
          <a:ln/>
        </p:spPr>
        <p:txBody>
          <a:bodyPr wrap="square" lIns="0" tIns="0" rIns="0" bIns="0" rtlCol="0" anchor="ctr">
            <a:normAutofit/>
          </a:bodyPr>
          <a:lstStyle/>
          <a:p>
            <a:pPr indent="0" marL="0">
              <a:buNone/>
            </a:pPr>
            <a:r>
              <a:rPr lang="en-US" sz="2500" dirty="0">
                <a:solidFill>
                  <a:srgbClr val="3E5743"/>
                </a:solidFill>
                <a:latin typeface="Georgia" pitchFamily="34" charset="0"/>
                <a:ea typeface="Georgia" pitchFamily="34" charset="-122"/>
                <a:cs typeface="Georgia" pitchFamily="34" charset="-120"/>
              </a:rPr>
              <a:t>An average describes this set.</a:t>
            </a:r>
            <a:endParaRPr lang="en-US" sz="2500" dirty="0"/>
          </a:p>
        </p:txBody>
      </p:sp>
      <p:sp>
        <p:nvSpPr>
          <p:cNvPr id="10" name="Text 7"/>
          <p:cNvSpPr/>
          <p:nvPr/>
        </p:nvSpPr>
        <p:spPr>
          <a:xfrm>
            <a:off x="6803136" y="2715768"/>
            <a:ext cx="3383280" cy="1883664"/>
          </a:xfrm>
          <a:prstGeom prst="rect">
            <a:avLst/>
          </a:prstGeom>
          <a:noFill/>
          <a:ln/>
        </p:spPr>
        <p:txBody>
          <a:bodyPr wrap="square" lIns="0" tIns="0" rIns="0" bIns="0" rtlCol="0" anchor="t">
            <a:normAutofit/>
          </a:bodyPr>
          <a:lstStyle/>
          <a:p>
            <a:pPr indent="0" marL="0">
              <a:buNone/>
            </a:pPr>
            <a:r>
              <a:rPr lang="en-US" sz="1200" dirty="0">
                <a:solidFill>
                  <a:srgbClr val="344E41"/>
                </a:solidFill>
                <a:latin typeface="Georgia" pitchFamily="34" charset="0"/>
                <a:ea typeface="Georgia" pitchFamily="34" charset="-122"/>
                <a:cs typeface="Georgia" pitchFamily="34" charset="-120"/>
              </a:rPr>
              <a:t>For the invented values 100 g, 102 g and 101 g, the arithmetic mean is 101 g. That summary describes these three numbers only. It does not establish the true mass or justify a claim about instrument accuracy.</a:t>
            </a:r>
            <a:endParaRPr lang="en-US" sz="1200" dirty="0"/>
          </a:p>
        </p:txBody>
      </p:sp>
      <p:sp>
        <p:nvSpPr>
          <p:cNvPr id="11" name="Text 8"/>
          <p:cNvSpPr/>
          <p:nvPr/>
        </p:nvSpPr>
        <p:spPr>
          <a:xfrm>
            <a:off x="6803136" y="4782312"/>
            <a:ext cx="3383280" cy="164592"/>
          </a:xfrm>
          <a:prstGeom prst="rect">
            <a:avLst/>
          </a:prstGeom>
          <a:noFill/>
          <a:ln/>
        </p:spPr>
        <p:txBody>
          <a:bodyPr wrap="square" lIns="0" tIns="0" rIns="0" bIns="0" rtlCol="0" anchor="ctr"/>
          <a:lstStyle/>
          <a:p>
            <a:pPr indent="0" marL="0">
              <a:buNone/>
            </a:pPr>
            <a:r>
              <a:rPr lang="en-US" sz="700" dirty="0">
                <a:solidFill>
                  <a:srgbClr val="A46343"/>
                </a:solidFill>
              </a:rPr>
              <a:t>MODEL / METHOD NOTE</a:t>
            </a:r>
            <a:endParaRPr lang="en-US" sz="700" dirty="0"/>
          </a:p>
        </p:txBody>
      </p:sp>
      <p:sp>
        <p:nvSpPr>
          <p:cNvPr id="12" name="Text 9"/>
          <p:cNvSpPr/>
          <p:nvPr/>
        </p:nvSpPr>
        <p:spPr>
          <a:xfrm>
            <a:off x="6803136" y="5074920"/>
            <a:ext cx="3383280" cy="594360"/>
          </a:xfrm>
          <a:prstGeom prst="rect">
            <a:avLst/>
          </a:prstGeom>
          <a:noFill/>
          <a:ln/>
        </p:spPr>
        <p:txBody>
          <a:bodyPr wrap="square" lIns="0" tIns="0" rIns="0" bIns="0" rtlCol="0" anchor="ctr">
            <a:normAutofit/>
          </a:bodyPr>
          <a:lstStyle/>
          <a:p>
            <a:pPr indent="0" marL="0">
              <a:buNone/>
            </a:pPr>
            <a:r>
              <a:rPr lang="en-US" sz="1000" dirty="0">
                <a:solidFill>
                  <a:srgbClr val="62745B"/>
                </a:solidFill>
                <a:latin typeface="Georgia" pitchFamily="34" charset="0"/>
                <a:ea typeface="Georgia" pitchFamily="34" charset="-122"/>
                <a:cs typeface="Georgia" pitchFamily="34" charset="-120"/>
              </a:rPr>
              <a:t>(100 + 102 + 101) g ÷ 3 = 101 g.</a:t>
            </a:r>
            <a:endParaRPr lang="en-US" sz="1000" dirty="0"/>
          </a:p>
        </p:txBody>
      </p:sp>
      <p:sp>
        <p:nvSpPr>
          <p:cNvPr id="13" name="Shape 10"/>
          <p:cNvSpPr/>
          <p:nvPr/>
        </p:nvSpPr>
        <p:spPr>
          <a:xfrm>
            <a:off x="310896" y="5961888"/>
            <a:ext cx="10149840" cy="1207008"/>
          </a:xfrm>
          <a:prstGeom prst="rect">
            <a:avLst/>
          </a:prstGeom>
          <a:solidFill>
            <a:srgbClr val="E9EDDF"/>
          </a:solidFill>
          <a:ln w="12700">
            <a:solidFill>
              <a:srgbClr val="E9EDDF"/>
            </a:solidFill>
            <a:prstDash val="solid"/>
          </a:ln>
        </p:spPr>
      </p:sp>
      <p:sp>
        <p:nvSpPr>
          <p:cNvPr id="14" name="Text 11"/>
          <p:cNvSpPr/>
          <p:nvPr/>
        </p:nvSpPr>
        <p:spPr>
          <a:xfrm>
            <a:off x="493776" y="6126480"/>
            <a:ext cx="9784080" cy="164592"/>
          </a:xfrm>
          <a:prstGeom prst="rect">
            <a:avLst/>
          </a:prstGeom>
          <a:noFill/>
          <a:ln/>
        </p:spPr>
        <p:txBody>
          <a:bodyPr wrap="square" lIns="0" tIns="0" rIns="0" bIns="0" rtlCol="0" anchor="ctr"/>
          <a:lstStyle/>
          <a:p>
            <a:pPr indent="0" marL="0">
              <a:buNone/>
            </a:pPr>
            <a:r>
              <a:rPr lang="en-US" sz="700" dirty="0">
                <a:solidFill>
                  <a:srgbClr val="A46343"/>
                </a:solidFill>
              </a:rPr>
              <a:t>TRY / REFLECT</a:t>
            </a:r>
            <a:endParaRPr lang="en-US" sz="700" dirty="0"/>
          </a:p>
        </p:txBody>
      </p:sp>
      <p:sp>
        <p:nvSpPr>
          <p:cNvPr id="15" name="Text 12"/>
          <p:cNvSpPr/>
          <p:nvPr/>
        </p:nvSpPr>
        <p:spPr>
          <a:xfrm>
            <a:off x="493776" y="6428232"/>
            <a:ext cx="9784080" cy="384048"/>
          </a:xfrm>
          <a:prstGeom prst="rect">
            <a:avLst/>
          </a:prstGeom>
          <a:noFill/>
          <a:ln/>
        </p:spPr>
        <p:txBody>
          <a:bodyPr wrap="square" lIns="0" tIns="0" rIns="0" bIns="0" rtlCol="0" anchor="ctr">
            <a:normAutofit/>
          </a:bodyPr>
          <a:lstStyle/>
          <a:p>
            <a:pPr indent="0" marL="0">
              <a:buNone/>
            </a:pPr>
            <a:r>
              <a:rPr lang="en-US" sz="1300" dirty="0">
                <a:solidFill>
                  <a:srgbClr val="344E41"/>
                </a:solidFill>
                <a:latin typeface="Georgia" pitchFamily="34" charset="0"/>
                <a:ea typeface="Georgia" pitchFamily="34" charset="-122"/>
                <a:cs typeface="Georgia" pitchFamily="34" charset="-120"/>
              </a:rPr>
              <a:t>Name one question the mean does not answer.</a:t>
            </a:r>
            <a:endParaRPr lang="en-US" sz="1300" dirty="0"/>
          </a:p>
        </p:txBody>
      </p:sp>
      <p:sp>
        <p:nvSpPr>
          <p:cNvPr id="16" name="Text 13"/>
          <p:cNvSpPr/>
          <p:nvPr/>
        </p:nvSpPr>
        <p:spPr>
          <a:xfrm>
            <a:off x="493776" y="6940296"/>
            <a:ext cx="9784080" cy="137160"/>
          </a:xfrm>
          <a:prstGeom prst="rect">
            <a:avLst/>
          </a:prstGeom>
          <a:noFill/>
          <a:ln/>
        </p:spPr>
        <p:txBody>
          <a:bodyPr wrap="square" lIns="0" tIns="0" rIns="0" bIns="0" rtlCol="0" anchor="ctr"/>
          <a:lstStyle/>
          <a:p>
            <a:pPr indent="0" marL="0">
              <a:buNone/>
            </a:pPr>
            <a:r>
              <a:rPr lang="en-US" sz="600" dirty="0">
                <a:solidFill>
                  <a:srgbClr val="77836B"/>
                </a:solidFill>
              </a:rPr>
              <a:t>COMPLETE / 32 PAGES / 16 INDEPENDENT MAIN ILLUSTRATIONS / MODEL NUMBERS, NOT REAL READINGS</a:t>
            </a:r>
            <a:endParaRPr lang="en-US" sz="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3"/>
        </a:solidFill>
      </p:bgPr>
    </p:bg>
    <p:spTree>
      <p:nvGrpSpPr>
        <p:cNvPr id="1" name=""/>
        <p:cNvGrpSpPr/>
        <p:nvPr/>
      </p:nvGrpSpPr>
      <p:grpSpPr>
        <a:xfrm>
          <a:off x="0" y="0"/>
          <a:ext cx="0" cy="0"/>
          <a:chOff x="0" y="0"/>
          <a:chExt cx="0" cy="0"/>
        </a:xfrm>
      </p:grpSpPr>
      <p:sp>
        <p:nvSpPr>
          <p:cNvPr id="2" name="Text 0"/>
          <p:cNvSpPr/>
          <p:nvPr/>
        </p:nvSpPr>
        <p:spPr>
          <a:xfrm>
            <a:off x="310896" y="256032"/>
            <a:ext cx="7772400" cy="182880"/>
          </a:xfrm>
          <a:prstGeom prst="rect">
            <a:avLst/>
          </a:prstGeom>
          <a:noFill/>
          <a:ln/>
        </p:spPr>
        <p:txBody>
          <a:bodyPr wrap="square" lIns="0" tIns="0" rIns="0" bIns="0" rtlCol="0" anchor="ctr"/>
          <a:lstStyle/>
          <a:p>
            <a:pPr indent="0" marL="0">
              <a:buNone/>
            </a:pPr>
            <a:r>
              <a:rPr lang="en-US" sz="800" dirty="0">
                <a:solidFill>
                  <a:srgbClr val="708267"/>
                </a:solidFill>
              </a:rPr>
              <a:t>PANTRY NOTES / THE MEASUREMENT NOTEBOOK</a:t>
            </a:r>
            <a:endParaRPr lang="en-US" sz="800" dirty="0"/>
          </a:p>
        </p:txBody>
      </p:sp>
      <p:sp>
        <p:nvSpPr>
          <p:cNvPr id="3" name="Text 1"/>
          <p:cNvSpPr/>
          <p:nvPr/>
        </p:nvSpPr>
        <p:spPr>
          <a:xfrm>
            <a:off x="310896" y="594360"/>
            <a:ext cx="7772400" cy="237744"/>
          </a:xfrm>
          <a:prstGeom prst="rect">
            <a:avLst/>
          </a:prstGeom>
          <a:noFill/>
          <a:ln/>
        </p:spPr>
        <p:txBody>
          <a:bodyPr wrap="square" lIns="0" tIns="0" rIns="0" bIns="0" rtlCol="0" anchor="ctr"/>
          <a:lstStyle/>
          <a:p>
            <a:pPr indent="0" marL="0">
              <a:buNone/>
            </a:pPr>
            <a:r>
              <a:rPr lang="en-US" sz="1400" dirty="0">
                <a:solidFill>
                  <a:srgbClr val="344E41"/>
                </a:solidFill>
                <a:latin typeface="Georgia" pitchFamily="34" charset="0"/>
                <a:ea typeface="Georgia" pitchFamily="34" charset="-122"/>
                <a:cs typeface="Georgia" pitchFamily="34" charset="-120"/>
              </a:rPr>
              <a:t>05 / Compare with care</a:t>
            </a:r>
            <a:endParaRPr lang="en-US" sz="1400" dirty="0"/>
          </a:p>
        </p:txBody>
      </p:sp>
      <p:sp>
        <p:nvSpPr>
          <p:cNvPr id="4" name="Text 2"/>
          <p:cNvSpPr/>
          <p:nvPr/>
        </p:nvSpPr>
        <p:spPr>
          <a:xfrm>
            <a:off x="9784080" y="274320"/>
            <a:ext cx="640080" cy="411480"/>
          </a:xfrm>
          <a:prstGeom prst="rect">
            <a:avLst/>
          </a:prstGeom>
          <a:noFill/>
          <a:ln/>
        </p:spPr>
        <p:txBody>
          <a:bodyPr wrap="square" lIns="0" tIns="0" rIns="0" bIns="0" rtlCol="0" anchor="ctr"/>
          <a:lstStyle/>
          <a:p>
            <a:pPr algn="r" indent="0" marL="0">
              <a:buNone/>
            </a:pPr>
            <a:r>
              <a:rPr lang="en-US" sz="2500" dirty="0">
                <a:solidFill>
                  <a:srgbClr val="B1724C"/>
                </a:solidFill>
              </a:rPr>
              <a:t>17</a:t>
            </a:r>
            <a:endParaRPr lang="en-US" sz="2500" dirty="0"/>
          </a:p>
        </p:txBody>
      </p:sp>
      <p:sp>
        <p:nvSpPr>
          <p:cNvPr id="5" name="Shape 3"/>
          <p:cNvSpPr/>
          <p:nvPr/>
        </p:nvSpPr>
        <p:spPr>
          <a:xfrm>
            <a:off x="310896" y="960120"/>
            <a:ext cx="10149840" cy="0"/>
          </a:xfrm>
          <a:prstGeom prst="line">
            <a:avLst/>
          </a:prstGeom>
          <a:noFill/>
          <a:ln w="12700">
            <a:solidFill>
              <a:srgbClr val="C6D0BC"/>
            </a:solidFill>
            <a:prstDash val="solid"/>
          </a:ln>
        </p:spPr>
      </p:sp>
      <p:pic>
        <p:nvPicPr>
          <p:cNvPr id="6" name="Image 0" descr="/home/user/design-buddy/design-buddy-home/public/atelier/pantry-notes/images/09.jpg">    </p:cNvPr>
          <p:cNvPicPr>
            <a:picLocks noChangeAspect="1"/>
          </p:cNvPicPr>
          <p:nvPr/>
        </p:nvPicPr>
        <p:blipFill>
          <a:blip r:embed="rId1"/>
          <a:srcRect l="0" r="0" t="0" b="0"/>
          <a:stretch/>
        </p:blipFill>
        <p:spPr>
          <a:xfrm>
            <a:off x="310896" y="1207008"/>
            <a:ext cx="6217920" cy="4023360"/>
          </a:xfrm>
          <a:prstGeom prst="rect">
            <a:avLst/>
          </a:prstGeom>
        </p:spPr>
      </p:pic>
      <p:sp>
        <p:nvSpPr>
          <p:cNvPr id="7" name="Text 4"/>
          <p:cNvSpPr/>
          <p:nvPr/>
        </p:nvSpPr>
        <p:spPr>
          <a:xfrm>
            <a:off x="310896" y="5376672"/>
            <a:ext cx="6217920" cy="320040"/>
          </a:xfrm>
          <a:prstGeom prst="rect">
            <a:avLst/>
          </a:prstGeom>
          <a:noFill/>
          <a:ln/>
        </p:spPr>
        <p:txBody>
          <a:bodyPr wrap="square" lIns="0" tIns="0" rIns="0" bIns="0" rtlCol="0" anchor="ctr"/>
          <a:lstStyle/>
          <a:p>
            <a:pPr indent="0" marL="0">
              <a:buNone/>
            </a:pPr>
            <a:r>
              <a:rPr lang="en-US" sz="700" dirty="0">
                <a:solidFill>
                  <a:srgbClr val="7C886F"/>
                </a:solidFill>
              </a:rPr>
              <a:t>Watercolour study 9 / illustration, not measurement evidence</a:t>
            </a:r>
            <a:endParaRPr lang="en-US" sz="700" dirty="0"/>
          </a:p>
        </p:txBody>
      </p:sp>
      <p:sp>
        <p:nvSpPr>
          <p:cNvPr id="8" name="Text 5"/>
          <p:cNvSpPr/>
          <p:nvPr/>
        </p:nvSpPr>
        <p:spPr>
          <a:xfrm>
            <a:off x="6803136" y="1216152"/>
            <a:ext cx="3383280" cy="182880"/>
          </a:xfrm>
          <a:prstGeom prst="rect">
            <a:avLst/>
          </a:prstGeom>
          <a:noFill/>
          <a:ln/>
        </p:spPr>
        <p:txBody>
          <a:bodyPr wrap="square" lIns="0" tIns="0" rIns="0" bIns="0" rtlCol="0" anchor="ctr"/>
          <a:lstStyle/>
          <a:p>
            <a:pPr indent="0" marL="0">
              <a:buNone/>
            </a:pPr>
            <a:r>
              <a:rPr lang="en-US" sz="700" dirty="0">
                <a:solidFill>
                  <a:srgbClr val="A46343"/>
                </a:solidFill>
              </a:rPr>
              <a:t>THE OBSERVATION</a:t>
            </a:r>
            <a:endParaRPr lang="en-US" sz="700" dirty="0"/>
          </a:p>
        </p:txBody>
      </p:sp>
      <p:sp>
        <p:nvSpPr>
          <p:cNvPr id="9" name="Text 6"/>
          <p:cNvSpPr/>
          <p:nvPr/>
        </p:nvSpPr>
        <p:spPr>
          <a:xfrm>
            <a:off x="6803136" y="1554480"/>
            <a:ext cx="3383280" cy="969264"/>
          </a:xfrm>
          <a:prstGeom prst="rect">
            <a:avLst/>
          </a:prstGeom>
          <a:noFill/>
          <a:ln/>
        </p:spPr>
        <p:txBody>
          <a:bodyPr wrap="square" lIns="0" tIns="0" rIns="0" bIns="0" rtlCol="0" anchor="ctr">
            <a:normAutofit/>
          </a:bodyPr>
          <a:lstStyle/>
          <a:p>
            <a:pPr indent="0" marL="0">
              <a:buNone/>
            </a:pPr>
            <a:r>
              <a:rPr lang="en-US" sz="2500" dirty="0">
                <a:solidFill>
                  <a:srgbClr val="3E5743"/>
                </a:solidFill>
                <a:latin typeface="Georgia" pitchFamily="34" charset="0"/>
                <a:ea typeface="Georgia" pitchFamily="34" charset="-122"/>
                <a:cs typeface="Georgia" pitchFamily="34" charset="-120"/>
              </a:rPr>
              <a:t>A cup needs a definition.</a:t>
            </a:r>
            <a:endParaRPr lang="en-US" sz="2500" dirty="0"/>
          </a:p>
        </p:txBody>
      </p:sp>
      <p:sp>
        <p:nvSpPr>
          <p:cNvPr id="10" name="Text 7"/>
          <p:cNvSpPr/>
          <p:nvPr/>
        </p:nvSpPr>
        <p:spPr>
          <a:xfrm>
            <a:off x="6803136" y="2715768"/>
            <a:ext cx="3383280" cy="1883664"/>
          </a:xfrm>
          <a:prstGeom prst="rect">
            <a:avLst/>
          </a:prstGeom>
          <a:noFill/>
          <a:ln/>
        </p:spPr>
        <p:txBody>
          <a:bodyPr wrap="square" lIns="0" tIns="0" rIns="0" bIns="0" rtlCol="0" anchor="t">
            <a:normAutofit/>
          </a:bodyPr>
          <a:lstStyle/>
          <a:p>
            <a:pPr indent="0" marL="0">
              <a:buNone/>
            </a:pPr>
            <a:r>
              <a:rPr lang="en-US" sz="1200" dirty="0">
                <a:solidFill>
                  <a:srgbClr val="344E41"/>
                </a:solidFill>
                <a:latin typeface="Georgia" pitchFamily="34" charset="0"/>
                <a:ea typeface="Georgia" pitchFamily="34" charset="-122"/>
                <a:cs typeface="Georgia" pitchFamily="34" charset="-120"/>
              </a:rPr>
              <a:t>The word cup can refer to different conventions or household vessels. In this model only, cup A is defined as 240 mL and cup B as 250 mL. These definitions explain the arithmetic; they are not a universal rule for every cup.</a:t>
            </a:r>
            <a:endParaRPr lang="en-US" sz="1200" dirty="0"/>
          </a:p>
        </p:txBody>
      </p:sp>
      <p:sp>
        <p:nvSpPr>
          <p:cNvPr id="11" name="Text 8"/>
          <p:cNvSpPr/>
          <p:nvPr/>
        </p:nvSpPr>
        <p:spPr>
          <a:xfrm>
            <a:off x="6803136" y="4782312"/>
            <a:ext cx="3383280" cy="164592"/>
          </a:xfrm>
          <a:prstGeom prst="rect">
            <a:avLst/>
          </a:prstGeom>
          <a:noFill/>
          <a:ln/>
        </p:spPr>
        <p:txBody>
          <a:bodyPr wrap="square" lIns="0" tIns="0" rIns="0" bIns="0" rtlCol="0" anchor="ctr"/>
          <a:lstStyle/>
          <a:p>
            <a:pPr indent="0" marL="0">
              <a:buNone/>
            </a:pPr>
            <a:r>
              <a:rPr lang="en-US" sz="700" dirty="0">
                <a:solidFill>
                  <a:srgbClr val="A46343"/>
                </a:solidFill>
              </a:rPr>
              <a:t>MODEL / METHOD NOTE</a:t>
            </a:r>
            <a:endParaRPr lang="en-US" sz="700" dirty="0"/>
          </a:p>
        </p:txBody>
      </p:sp>
      <p:sp>
        <p:nvSpPr>
          <p:cNvPr id="12" name="Text 9"/>
          <p:cNvSpPr/>
          <p:nvPr/>
        </p:nvSpPr>
        <p:spPr>
          <a:xfrm>
            <a:off x="6803136" y="5074920"/>
            <a:ext cx="3383280" cy="594360"/>
          </a:xfrm>
          <a:prstGeom prst="rect">
            <a:avLst/>
          </a:prstGeom>
          <a:noFill/>
          <a:ln/>
        </p:spPr>
        <p:txBody>
          <a:bodyPr wrap="square" lIns="0" tIns="0" rIns="0" bIns="0" rtlCol="0" anchor="ctr">
            <a:normAutofit/>
          </a:bodyPr>
          <a:lstStyle/>
          <a:p>
            <a:pPr indent="0" marL="0">
              <a:buNone/>
            </a:pPr>
            <a:r>
              <a:rPr lang="en-US" sz="1000" dirty="0">
                <a:solidFill>
                  <a:srgbClr val="62745B"/>
                </a:solidFill>
                <a:latin typeface="Georgia" pitchFamily="34" charset="0"/>
                <a:ea typeface="Georgia" pitchFamily="34" charset="-122"/>
                <a:cs typeface="Georgia" pitchFamily="34" charset="-120"/>
              </a:rPr>
              <a:t>Model definitions: A = 240 mL; B = 250 mL; difference = 10 mL.</a:t>
            </a:r>
            <a:endParaRPr lang="en-US" sz="1000" dirty="0"/>
          </a:p>
        </p:txBody>
      </p:sp>
      <p:sp>
        <p:nvSpPr>
          <p:cNvPr id="13" name="Shape 10"/>
          <p:cNvSpPr/>
          <p:nvPr/>
        </p:nvSpPr>
        <p:spPr>
          <a:xfrm>
            <a:off x="310896" y="5961888"/>
            <a:ext cx="10149840" cy="1207008"/>
          </a:xfrm>
          <a:prstGeom prst="rect">
            <a:avLst/>
          </a:prstGeom>
          <a:solidFill>
            <a:srgbClr val="E9EDDF"/>
          </a:solidFill>
          <a:ln w="12700">
            <a:solidFill>
              <a:srgbClr val="E9EDDF"/>
            </a:solidFill>
            <a:prstDash val="solid"/>
          </a:ln>
        </p:spPr>
      </p:sp>
      <p:sp>
        <p:nvSpPr>
          <p:cNvPr id="14" name="Text 11"/>
          <p:cNvSpPr/>
          <p:nvPr/>
        </p:nvSpPr>
        <p:spPr>
          <a:xfrm>
            <a:off x="493776" y="6126480"/>
            <a:ext cx="9784080" cy="164592"/>
          </a:xfrm>
          <a:prstGeom prst="rect">
            <a:avLst/>
          </a:prstGeom>
          <a:noFill/>
          <a:ln/>
        </p:spPr>
        <p:txBody>
          <a:bodyPr wrap="square" lIns="0" tIns="0" rIns="0" bIns="0" rtlCol="0" anchor="ctr"/>
          <a:lstStyle/>
          <a:p>
            <a:pPr indent="0" marL="0">
              <a:buNone/>
            </a:pPr>
            <a:r>
              <a:rPr lang="en-US" sz="700" dirty="0">
                <a:solidFill>
                  <a:srgbClr val="A46343"/>
                </a:solidFill>
              </a:rPr>
              <a:t>TRY / REFLECT</a:t>
            </a:r>
            <a:endParaRPr lang="en-US" sz="700" dirty="0"/>
          </a:p>
        </p:txBody>
      </p:sp>
      <p:sp>
        <p:nvSpPr>
          <p:cNvPr id="15" name="Text 12"/>
          <p:cNvSpPr/>
          <p:nvPr/>
        </p:nvSpPr>
        <p:spPr>
          <a:xfrm>
            <a:off x="493776" y="6428232"/>
            <a:ext cx="9784080" cy="384048"/>
          </a:xfrm>
          <a:prstGeom prst="rect">
            <a:avLst/>
          </a:prstGeom>
          <a:noFill/>
          <a:ln/>
        </p:spPr>
        <p:txBody>
          <a:bodyPr wrap="square" lIns="0" tIns="0" rIns="0" bIns="0" rtlCol="0" anchor="ctr">
            <a:normAutofit/>
          </a:bodyPr>
          <a:lstStyle/>
          <a:p>
            <a:pPr indent="0" marL="0">
              <a:buNone/>
            </a:pPr>
            <a:r>
              <a:rPr lang="en-US" sz="1300" dirty="0">
                <a:solidFill>
                  <a:srgbClr val="344E41"/>
                </a:solidFill>
                <a:latin typeface="Georgia" pitchFamily="34" charset="0"/>
                <a:ea typeface="Georgia" pitchFamily="34" charset="-122"/>
                <a:cs typeface="Georgia" pitchFamily="34" charset="-120"/>
              </a:rPr>
              <a:t>Why must the chosen cup definition stay in a shared note?</a:t>
            </a:r>
            <a:endParaRPr lang="en-US" sz="1300" dirty="0"/>
          </a:p>
        </p:txBody>
      </p:sp>
      <p:sp>
        <p:nvSpPr>
          <p:cNvPr id="16" name="Text 13"/>
          <p:cNvSpPr/>
          <p:nvPr/>
        </p:nvSpPr>
        <p:spPr>
          <a:xfrm>
            <a:off x="493776" y="6940296"/>
            <a:ext cx="9784080" cy="137160"/>
          </a:xfrm>
          <a:prstGeom prst="rect">
            <a:avLst/>
          </a:prstGeom>
          <a:noFill/>
          <a:ln/>
        </p:spPr>
        <p:txBody>
          <a:bodyPr wrap="square" lIns="0" tIns="0" rIns="0" bIns="0" rtlCol="0" anchor="ctr"/>
          <a:lstStyle/>
          <a:p>
            <a:pPr indent="0" marL="0">
              <a:buNone/>
            </a:pPr>
            <a:r>
              <a:rPr lang="en-US" sz="600" dirty="0">
                <a:solidFill>
                  <a:srgbClr val="77836B"/>
                </a:solidFill>
              </a:rPr>
              <a:t>COMPLETE / 32 PAGES / 16 INDEPENDENT MAIN ILLUSTRATIONS / MODEL NUMBERS, NOT REAL READINGS</a:t>
            </a:r>
            <a:endParaRPr lang="en-US" sz="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3"/>
        </a:solidFill>
      </p:bgPr>
    </p:bg>
    <p:spTree>
      <p:nvGrpSpPr>
        <p:cNvPr id="1" name=""/>
        <p:cNvGrpSpPr/>
        <p:nvPr/>
      </p:nvGrpSpPr>
      <p:grpSpPr>
        <a:xfrm>
          <a:off x="0" y="0"/>
          <a:ext cx="0" cy="0"/>
          <a:chOff x="0" y="0"/>
          <a:chExt cx="0" cy="0"/>
        </a:xfrm>
      </p:grpSpPr>
      <p:sp>
        <p:nvSpPr>
          <p:cNvPr id="2" name="Text 0"/>
          <p:cNvSpPr/>
          <p:nvPr/>
        </p:nvSpPr>
        <p:spPr>
          <a:xfrm>
            <a:off x="310896" y="256032"/>
            <a:ext cx="7772400" cy="182880"/>
          </a:xfrm>
          <a:prstGeom prst="rect">
            <a:avLst/>
          </a:prstGeom>
          <a:noFill/>
          <a:ln/>
        </p:spPr>
        <p:txBody>
          <a:bodyPr wrap="square" lIns="0" tIns="0" rIns="0" bIns="0" rtlCol="0" anchor="ctr"/>
          <a:lstStyle/>
          <a:p>
            <a:pPr indent="0" marL="0">
              <a:buNone/>
            </a:pPr>
            <a:r>
              <a:rPr lang="en-US" sz="800" dirty="0">
                <a:solidFill>
                  <a:srgbClr val="708267"/>
                </a:solidFill>
              </a:rPr>
              <a:t>PANTRY NOTES / THE MEASUREMENT NOTEBOOK</a:t>
            </a:r>
            <a:endParaRPr lang="en-US" sz="800" dirty="0"/>
          </a:p>
        </p:txBody>
      </p:sp>
      <p:sp>
        <p:nvSpPr>
          <p:cNvPr id="3" name="Text 1"/>
          <p:cNvSpPr/>
          <p:nvPr/>
        </p:nvSpPr>
        <p:spPr>
          <a:xfrm>
            <a:off x="310896" y="594360"/>
            <a:ext cx="7772400" cy="237744"/>
          </a:xfrm>
          <a:prstGeom prst="rect">
            <a:avLst/>
          </a:prstGeom>
          <a:noFill/>
          <a:ln/>
        </p:spPr>
        <p:txBody>
          <a:bodyPr wrap="square" lIns="0" tIns="0" rIns="0" bIns="0" rtlCol="0" anchor="ctr"/>
          <a:lstStyle/>
          <a:p>
            <a:pPr indent="0" marL="0">
              <a:buNone/>
            </a:pPr>
            <a:r>
              <a:rPr lang="en-US" sz="1400" dirty="0">
                <a:solidFill>
                  <a:srgbClr val="344E41"/>
                </a:solidFill>
                <a:latin typeface="Georgia" pitchFamily="34" charset="0"/>
                <a:ea typeface="Georgia" pitchFamily="34" charset="-122"/>
                <a:cs typeface="Georgia" pitchFamily="34" charset="-120"/>
              </a:rPr>
              <a:t>05 / Compare with care</a:t>
            </a:r>
            <a:endParaRPr lang="en-US" sz="1400" dirty="0"/>
          </a:p>
        </p:txBody>
      </p:sp>
      <p:sp>
        <p:nvSpPr>
          <p:cNvPr id="4" name="Text 2"/>
          <p:cNvSpPr/>
          <p:nvPr/>
        </p:nvSpPr>
        <p:spPr>
          <a:xfrm>
            <a:off x="9784080" y="274320"/>
            <a:ext cx="640080" cy="411480"/>
          </a:xfrm>
          <a:prstGeom prst="rect">
            <a:avLst/>
          </a:prstGeom>
          <a:noFill/>
          <a:ln/>
        </p:spPr>
        <p:txBody>
          <a:bodyPr wrap="square" lIns="0" tIns="0" rIns="0" bIns="0" rtlCol="0" anchor="ctr"/>
          <a:lstStyle/>
          <a:p>
            <a:pPr algn="r" indent="0" marL="0">
              <a:buNone/>
            </a:pPr>
            <a:r>
              <a:rPr lang="en-US" sz="2500" dirty="0">
                <a:solidFill>
                  <a:srgbClr val="B1724C"/>
                </a:solidFill>
              </a:rPr>
              <a:t>18</a:t>
            </a:r>
            <a:endParaRPr lang="en-US" sz="2500" dirty="0"/>
          </a:p>
        </p:txBody>
      </p:sp>
      <p:sp>
        <p:nvSpPr>
          <p:cNvPr id="5" name="Shape 3"/>
          <p:cNvSpPr/>
          <p:nvPr/>
        </p:nvSpPr>
        <p:spPr>
          <a:xfrm>
            <a:off x="310896" y="960120"/>
            <a:ext cx="10149840" cy="0"/>
          </a:xfrm>
          <a:prstGeom prst="line">
            <a:avLst/>
          </a:prstGeom>
          <a:noFill/>
          <a:ln w="12700">
            <a:solidFill>
              <a:srgbClr val="C6D0BC"/>
            </a:solidFill>
            <a:prstDash val="solid"/>
          </a:ln>
        </p:spPr>
      </p:sp>
      <p:pic>
        <p:nvPicPr>
          <p:cNvPr id="6" name="Image 0" descr="/home/user/design-buddy/design-buddy-home/public/atelier/pantry-notes/images/09.jpg">    </p:cNvPr>
          <p:cNvPicPr>
            <a:picLocks noChangeAspect="1"/>
          </p:cNvPicPr>
          <p:nvPr/>
        </p:nvPicPr>
        <p:blipFill>
          <a:blip r:embed="rId1"/>
          <a:srcRect l="0" r="0" t="0" b="0"/>
          <a:stretch/>
        </p:blipFill>
        <p:spPr>
          <a:xfrm>
            <a:off x="310896" y="1207008"/>
            <a:ext cx="6217920" cy="4023360"/>
          </a:xfrm>
          <a:prstGeom prst="rect">
            <a:avLst/>
          </a:prstGeom>
        </p:spPr>
      </p:pic>
      <p:sp>
        <p:nvSpPr>
          <p:cNvPr id="7" name="Text 4"/>
          <p:cNvSpPr/>
          <p:nvPr/>
        </p:nvSpPr>
        <p:spPr>
          <a:xfrm>
            <a:off x="310896" y="5376672"/>
            <a:ext cx="6217920" cy="320040"/>
          </a:xfrm>
          <a:prstGeom prst="rect">
            <a:avLst/>
          </a:prstGeom>
          <a:noFill/>
          <a:ln/>
        </p:spPr>
        <p:txBody>
          <a:bodyPr wrap="square" lIns="0" tIns="0" rIns="0" bIns="0" rtlCol="0" anchor="ctr"/>
          <a:lstStyle/>
          <a:p>
            <a:pPr indent="0" marL="0">
              <a:buNone/>
            </a:pPr>
            <a:r>
              <a:rPr lang="en-US" sz="700" dirty="0">
                <a:solidFill>
                  <a:srgbClr val="7C886F"/>
                </a:solidFill>
              </a:rPr>
              <a:t>Watercolour study 9 / illustration, not measurement evidence</a:t>
            </a:r>
            <a:endParaRPr lang="en-US" sz="700" dirty="0"/>
          </a:p>
        </p:txBody>
      </p:sp>
      <p:sp>
        <p:nvSpPr>
          <p:cNvPr id="8" name="Text 5"/>
          <p:cNvSpPr/>
          <p:nvPr/>
        </p:nvSpPr>
        <p:spPr>
          <a:xfrm>
            <a:off x="6803136" y="1216152"/>
            <a:ext cx="3383280" cy="182880"/>
          </a:xfrm>
          <a:prstGeom prst="rect">
            <a:avLst/>
          </a:prstGeom>
          <a:noFill/>
          <a:ln/>
        </p:spPr>
        <p:txBody>
          <a:bodyPr wrap="square" lIns="0" tIns="0" rIns="0" bIns="0" rtlCol="0" anchor="ctr"/>
          <a:lstStyle/>
          <a:p>
            <a:pPr indent="0" marL="0">
              <a:buNone/>
            </a:pPr>
            <a:r>
              <a:rPr lang="en-US" sz="700" dirty="0">
                <a:solidFill>
                  <a:srgbClr val="A46343"/>
                </a:solidFill>
              </a:rPr>
              <a:t>THE OBSERVATION</a:t>
            </a:r>
            <a:endParaRPr lang="en-US" sz="700" dirty="0"/>
          </a:p>
        </p:txBody>
      </p:sp>
      <p:sp>
        <p:nvSpPr>
          <p:cNvPr id="9" name="Text 6"/>
          <p:cNvSpPr/>
          <p:nvPr/>
        </p:nvSpPr>
        <p:spPr>
          <a:xfrm>
            <a:off x="6803136" y="1554480"/>
            <a:ext cx="3383280" cy="969264"/>
          </a:xfrm>
          <a:prstGeom prst="rect">
            <a:avLst/>
          </a:prstGeom>
          <a:noFill/>
          <a:ln/>
        </p:spPr>
        <p:txBody>
          <a:bodyPr wrap="square" lIns="0" tIns="0" rIns="0" bIns="0" rtlCol="0" anchor="ctr">
            <a:normAutofit/>
          </a:bodyPr>
          <a:lstStyle/>
          <a:p>
            <a:pPr indent="0" marL="0">
              <a:buNone/>
            </a:pPr>
            <a:r>
              <a:rPr lang="en-US" sz="2500" dirty="0">
                <a:solidFill>
                  <a:srgbClr val="3E5743"/>
                </a:solidFill>
                <a:latin typeface="Georgia" pitchFamily="34" charset="0"/>
                <a:ea typeface="Georgia" pitchFamily="34" charset="-122"/>
                <a:cs typeface="Georgia" pitchFamily="34" charset="-120"/>
              </a:rPr>
              <a:t>Convert only a stated relationship.</a:t>
            </a:r>
            <a:endParaRPr lang="en-US" sz="2500" dirty="0"/>
          </a:p>
        </p:txBody>
      </p:sp>
      <p:sp>
        <p:nvSpPr>
          <p:cNvPr id="10" name="Text 7"/>
          <p:cNvSpPr/>
          <p:nvPr/>
        </p:nvSpPr>
        <p:spPr>
          <a:xfrm>
            <a:off x="6803136" y="2715768"/>
            <a:ext cx="3383280" cy="1883664"/>
          </a:xfrm>
          <a:prstGeom prst="rect">
            <a:avLst/>
          </a:prstGeom>
          <a:noFill/>
          <a:ln/>
        </p:spPr>
        <p:txBody>
          <a:bodyPr wrap="square" lIns="0" tIns="0" rIns="0" bIns="0" rtlCol="0" anchor="t">
            <a:normAutofit/>
          </a:bodyPr>
          <a:lstStyle/>
          <a:p>
            <a:pPr indent="0" marL="0">
              <a:buNone/>
            </a:pPr>
            <a:r>
              <a:rPr lang="en-US" sz="1200" dirty="0">
                <a:solidFill>
                  <a:srgbClr val="344E41"/>
                </a:solidFill>
                <a:latin typeface="Georgia" pitchFamily="34" charset="0"/>
                <a:ea typeface="Georgia" pitchFamily="34" charset="-122"/>
                <a:cs typeface="Georgia" pitchFamily="34" charset="-120"/>
              </a:rPr>
              <a:t>A written conversion needs a known relationship between units of the same quantity, or additional justified information for unlike quantities. Do not fill a gap with a guess just to produce a clean-looking answer.</a:t>
            </a:r>
            <a:endParaRPr lang="en-US" sz="1200" dirty="0"/>
          </a:p>
        </p:txBody>
      </p:sp>
      <p:sp>
        <p:nvSpPr>
          <p:cNvPr id="11" name="Text 8"/>
          <p:cNvSpPr/>
          <p:nvPr/>
        </p:nvSpPr>
        <p:spPr>
          <a:xfrm>
            <a:off x="6803136" y="4782312"/>
            <a:ext cx="3383280" cy="164592"/>
          </a:xfrm>
          <a:prstGeom prst="rect">
            <a:avLst/>
          </a:prstGeom>
          <a:noFill/>
          <a:ln/>
        </p:spPr>
        <p:txBody>
          <a:bodyPr wrap="square" lIns="0" tIns="0" rIns="0" bIns="0" rtlCol="0" anchor="ctr"/>
          <a:lstStyle/>
          <a:p>
            <a:pPr indent="0" marL="0">
              <a:buNone/>
            </a:pPr>
            <a:r>
              <a:rPr lang="en-US" sz="700" dirty="0">
                <a:solidFill>
                  <a:srgbClr val="A46343"/>
                </a:solidFill>
              </a:rPr>
              <a:t>MODEL / METHOD NOTE</a:t>
            </a:r>
            <a:endParaRPr lang="en-US" sz="700" dirty="0"/>
          </a:p>
        </p:txBody>
      </p:sp>
      <p:sp>
        <p:nvSpPr>
          <p:cNvPr id="12" name="Text 9"/>
          <p:cNvSpPr/>
          <p:nvPr/>
        </p:nvSpPr>
        <p:spPr>
          <a:xfrm>
            <a:off x="6803136" y="5074920"/>
            <a:ext cx="3383280" cy="594360"/>
          </a:xfrm>
          <a:prstGeom prst="rect">
            <a:avLst/>
          </a:prstGeom>
          <a:noFill/>
          <a:ln/>
        </p:spPr>
        <p:txBody>
          <a:bodyPr wrap="square" lIns="0" tIns="0" rIns="0" bIns="0" rtlCol="0" anchor="ctr">
            <a:normAutofit/>
          </a:bodyPr>
          <a:lstStyle/>
          <a:p>
            <a:pPr indent="0" marL="0">
              <a:buNone/>
            </a:pPr>
            <a:r>
              <a:rPr lang="en-US" sz="1000" dirty="0">
                <a:solidFill>
                  <a:srgbClr val="62745B"/>
                </a:solidFill>
                <a:latin typeface="Georgia" pitchFamily="34" charset="0"/>
                <a:ea typeface="Georgia" pitchFamily="34" charset="-122"/>
                <a:cs typeface="Georgia" pitchFamily="34" charset="-120"/>
              </a:rPr>
              <a:t>Known: 1 L = 1,000 mL. Not supplied: material density.</a:t>
            </a:r>
            <a:endParaRPr lang="en-US" sz="1000" dirty="0"/>
          </a:p>
        </p:txBody>
      </p:sp>
      <p:sp>
        <p:nvSpPr>
          <p:cNvPr id="13" name="Shape 10"/>
          <p:cNvSpPr/>
          <p:nvPr/>
        </p:nvSpPr>
        <p:spPr>
          <a:xfrm>
            <a:off x="310896" y="5961888"/>
            <a:ext cx="10149840" cy="1207008"/>
          </a:xfrm>
          <a:prstGeom prst="rect">
            <a:avLst/>
          </a:prstGeom>
          <a:solidFill>
            <a:srgbClr val="E9EDDF"/>
          </a:solidFill>
          <a:ln w="12700">
            <a:solidFill>
              <a:srgbClr val="E9EDDF"/>
            </a:solidFill>
            <a:prstDash val="solid"/>
          </a:ln>
        </p:spPr>
      </p:sp>
      <p:sp>
        <p:nvSpPr>
          <p:cNvPr id="14" name="Text 11"/>
          <p:cNvSpPr/>
          <p:nvPr/>
        </p:nvSpPr>
        <p:spPr>
          <a:xfrm>
            <a:off x="493776" y="6126480"/>
            <a:ext cx="9784080" cy="164592"/>
          </a:xfrm>
          <a:prstGeom prst="rect">
            <a:avLst/>
          </a:prstGeom>
          <a:noFill/>
          <a:ln/>
        </p:spPr>
        <p:txBody>
          <a:bodyPr wrap="square" lIns="0" tIns="0" rIns="0" bIns="0" rtlCol="0" anchor="ctr"/>
          <a:lstStyle/>
          <a:p>
            <a:pPr indent="0" marL="0">
              <a:buNone/>
            </a:pPr>
            <a:r>
              <a:rPr lang="en-US" sz="700" dirty="0">
                <a:solidFill>
                  <a:srgbClr val="A46343"/>
                </a:solidFill>
              </a:rPr>
              <a:t>TRY / REFLECT</a:t>
            </a:r>
            <a:endParaRPr lang="en-US" sz="700" dirty="0"/>
          </a:p>
        </p:txBody>
      </p:sp>
      <p:sp>
        <p:nvSpPr>
          <p:cNvPr id="15" name="Text 12"/>
          <p:cNvSpPr/>
          <p:nvPr/>
        </p:nvSpPr>
        <p:spPr>
          <a:xfrm>
            <a:off x="493776" y="6428232"/>
            <a:ext cx="9784080" cy="384048"/>
          </a:xfrm>
          <a:prstGeom prst="rect">
            <a:avLst/>
          </a:prstGeom>
          <a:noFill/>
          <a:ln/>
        </p:spPr>
        <p:txBody>
          <a:bodyPr wrap="square" lIns="0" tIns="0" rIns="0" bIns="0" rtlCol="0" anchor="ctr">
            <a:normAutofit/>
          </a:bodyPr>
          <a:lstStyle/>
          <a:p>
            <a:pPr indent="0" marL="0">
              <a:buNone/>
            </a:pPr>
            <a:r>
              <a:rPr lang="en-US" sz="1300" dirty="0">
                <a:solidFill>
                  <a:srgbClr val="344E41"/>
                </a:solidFill>
                <a:latin typeface="Georgia" pitchFamily="34" charset="0"/>
                <a:ea typeface="Georgia" pitchFamily="34" charset="-122"/>
                <a:cs typeface="Georgia" pitchFamily="34" charset="-120"/>
              </a:rPr>
              <a:t>Which conversion can you complete from this page, and which must remain unresolved?</a:t>
            </a:r>
            <a:endParaRPr lang="en-US" sz="1300" dirty="0"/>
          </a:p>
        </p:txBody>
      </p:sp>
      <p:sp>
        <p:nvSpPr>
          <p:cNvPr id="16" name="Text 13"/>
          <p:cNvSpPr/>
          <p:nvPr/>
        </p:nvSpPr>
        <p:spPr>
          <a:xfrm>
            <a:off x="493776" y="6940296"/>
            <a:ext cx="9784080" cy="137160"/>
          </a:xfrm>
          <a:prstGeom prst="rect">
            <a:avLst/>
          </a:prstGeom>
          <a:noFill/>
          <a:ln/>
        </p:spPr>
        <p:txBody>
          <a:bodyPr wrap="square" lIns="0" tIns="0" rIns="0" bIns="0" rtlCol="0" anchor="ctr"/>
          <a:lstStyle/>
          <a:p>
            <a:pPr indent="0" marL="0">
              <a:buNone/>
            </a:pPr>
            <a:r>
              <a:rPr lang="en-US" sz="600" dirty="0">
                <a:solidFill>
                  <a:srgbClr val="77836B"/>
                </a:solidFill>
              </a:rPr>
              <a:t>COMPLETE / 32 PAGES / 16 INDEPENDENT MAIN ILLUSTRATIONS / MODEL NUMBERS, NOT REAL READINGS</a:t>
            </a:r>
            <a:endParaRPr lang="en-US" sz="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3"/>
        </a:solidFill>
      </p:bgPr>
    </p:bg>
    <p:spTree>
      <p:nvGrpSpPr>
        <p:cNvPr id="1" name=""/>
        <p:cNvGrpSpPr/>
        <p:nvPr/>
      </p:nvGrpSpPr>
      <p:grpSpPr>
        <a:xfrm>
          <a:off x="0" y="0"/>
          <a:ext cx="0" cy="0"/>
          <a:chOff x="0" y="0"/>
          <a:chExt cx="0" cy="0"/>
        </a:xfrm>
      </p:grpSpPr>
      <p:sp>
        <p:nvSpPr>
          <p:cNvPr id="2" name="Text 0"/>
          <p:cNvSpPr/>
          <p:nvPr/>
        </p:nvSpPr>
        <p:spPr>
          <a:xfrm>
            <a:off x="310896" y="256032"/>
            <a:ext cx="7772400" cy="182880"/>
          </a:xfrm>
          <a:prstGeom prst="rect">
            <a:avLst/>
          </a:prstGeom>
          <a:noFill/>
          <a:ln/>
        </p:spPr>
        <p:txBody>
          <a:bodyPr wrap="square" lIns="0" tIns="0" rIns="0" bIns="0" rtlCol="0" anchor="ctr"/>
          <a:lstStyle/>
          <a:p>
            <a:pPr indent="0" marL="0">
              <a:buNone/>
            </a:pPr>
            <a:r>
              <a:rPr lang="en-US" sz="800" dirty="0">
                <a:solidFill>
                  <a:srgbClr val="708267"/>
                </a:solidFill>
              </a:rPr>
              <a:t>PANTRY NOTES / THE MEASUREMENT NOTEBOOK</a:t>
            </a:r>
            <a:endParaRPr lang="en-US" sz="800" dirty="0"/>
          </a:p>
        </p:txBody>
      </p:sp>
      <p:sp>
        <p:nvSpPr>
          <p:cNvPr id="3" name="Text 1"/>
          <p:cNvSpPr/>
          <p:nvPr/>
        </p:nvSpPr>
        <p:spPr>
          <a:xfrm>
            <a:off x="310896" y="594360"/>
            <a:ext cx="7772400" cy="237744"/>
          </a:xfrm>
          <a:prstGeom prst="rect">
            <a:avLst/>
          </a:prstGeom>
          <a:noFill/>
          <a:ln/>
        </p:spPr>
        <p:txBody>
          <a:bodyPr wrap="square" lIns="0" tIns="0" rIns="0" bIns="0" rtlCol="0" anchor="ctr"/>
          <a:lstStyle/>
          <a:p>
            <a:pPr indent="0" marL="0">
              <a:buNone/>
            </a:pPr>
            <a:r>
              <a:rPr lang="en-US" sz="1400" dirty="0">
                <a:solidFill>
                  <a:srgbClr val="344E41"/>
                </a:solidFill>
                <a:latin typeface="Georgia" pitchFamily="34" charset="0"/>
                <a:ea typeface="Georgia" pitchFamily="34" charset="-122"/>
                <a:cs typeface="Georgia" pitchFamily="34" charset="-120"/>
              </a:rPr>
              <a:t>05 / Compare with care</a:t>
            </a:r>
            <a:endParaRPr lang="en-US" sz="1400" dirty="0"/>
          </a:p>
        </p:txBody>
      </p:sp>
      <p:sp>
        <p:nvSpPr>
          <p:cNvPr id="4" name="Text 2"/>
          <p:cNvSpPr/>
          <p:nvPr/>
        </p:nvSpPr>
        <p:spPr>
          <a:xfrm>
            <a:off x="9784080" y="274320"/>
            <a:ext cx="640080" cy="411480"/>
          </a:xfrm>
          <a:prstGeom prst="rect">
            <a:avLst/>
          </a:prstGeom>
          <a:noFill/>
          <a:ln/>
        </p:spPr>
        <p:txBody>
          <a:bodyPr wrap="square" lIns="0" tIns="0" rIns="0" bIns="0" rtlCol="0" anchor="ctr"/>
          <a:lstStyle/>
          <a:p>
            <a:pPr algn="r" indent="0" marL="0">
              <a:buNone/>
            </a:pPr>
            <a:r>
              <a:rPr lang="en-US" sz="2500" dirty="0">
                <a:solidFill>
                  <a:srgbClr val="B1724C"/>
                </a:solidFill>
              </a:rPr>
              <a:t>19</a:t>
            </a:r>
            <a:endParaRPr lang="en-US" sz="2500" dirty="0"/>
          </a:p>
        </p:txBody>
      </p:sp>
      <p:sp>
        <p:nvSpPr>
          <p:cNvPr id="5" name="Shape 3"/>
          <p:cNvSpPr/>
          <p:nvPr/>
        </p:nvSpPr>
        <p:spPr>
          <a:xfrm>
            <a:off x="310896" y="960120"/>
            <a:ext cx="10149840" cy="0"/>
          </a:xfrm>
          <a:prstGeom prst="line">
            <a:avLst/>
          </a:prstGeom>
          <a:noFill/>
          <a:ln w="12700">
            <a:solidFill>
              <a:srgbClr val="C6D0BC"/>
            </a:solidFill>
            <a:prstDash val="solid"/>
          </a:ln>
        </p:spPr>
      </p:sp>
      <p:pic>
        <p:nvPicPr>
          <p:cNvPr id="6" name="Image 0" descr="/home/user/design-buddy/design-buddy-home/public/atelier/pantry-notes/images/10.jpg">    </p:cNvPr>
          <p:cNvPicPr>
            <a:picLocks noChangeAspect="1"/>
          </p:cNvPicPr>
          <p:nvPr/>
        </p:nvPicPr>
        <p:blipFill>
          <a:blip r:embed="rId1"/>
          <a:srcRect l="0" r="0" t="0" b="0"/>
          <a:stretch/>
        </p:blipFill>
        <p:spPr>
          <a:xfrm>
            <a:off x="310896" y="1207008"/>
            <a:ext cx="6217920" cy="4023360"/>
          </a:xfrm>
          <a:prstGeom prst="rect">
            <a:avLst/>
          </a:prstGeom>
        </p:spPr>
      </p:pic>
      <p:sp>
        <p:nvSpPr>
          <p:cNvPr id="7" name="Text 4"/>
          <p:cNvSpPr/>
          <p:nvPr/>
        </p:nvSpPr>
        <p:spPr>
          <a:xfrm>
            <a:off x="310896" y="5376672"/>
            <a:ext cx="6217920" cy="320040"/>
          </a:xfrm>
          <a:prstGeom prst="rect">
            <a:avLst/>
          </a:prstGeom>
          <a:noFill/>
          <a:ln/>
        </p:spPr>
        <p:txBody>
          <a:bodyPr wrap="square" lIns="0" tIns="0" rIns="0" bIns="0" rtlCol="0" anchor="ctr"/>
          <a:lstStyle/>
          <a:p>
            <a:pPr indent="0" marL="0">
              <a:buNone/>
            </a:pPr>
            <a:r>
              <a:rPr lang="en-US" sz="700" dirty="0">
                <a:solidFill>
                  <a:srgbClr val="7C886F"/>
                </a:solidFill>
              </a:rPr>
              <a:t>Watercolour study 10 / illustration, not measurement evidence</a:t>
            </a:r>
            <a:endParaRPr lang="en-US" sz="700" dirty="0"/>
          </a:p>
        </p:txBody>
      </p:sp>
      <p:sp>
        <p:nvSpPr>
          <p:cNvPr id="8" name="Text 5"/>
          <p:cNvSpPr/>
          <p:nvPr/>
        </p:nvSpPr>
        <p:spPr>
          <a:xfrm>
            <a:off x="6803136" y="1216152"/>
            <a:ext cx="3383280" cy="182880"/>
          </a:xfrm>
          <a:prstGeom prst="rect">
            <a:avLst/>
          </a:prstGeom>
          <a:noFill/>
          <a:ln/>
        </p:spPr>
        <p:txBody>
          <a:bodyPr wrap="square" lIns="0" tIns="0" rIns="0" bIns="0" rtlCol="0" anchor="ctr"/>
          <a:lstStyle/>
          <a:p>
            <a:pPr indent="0" marL="0">
              <a:buNone/>
            </a:pPr>
            <a:r>
              <a:rPr lang="en-US" sz="700" dirty="0">
                <a:solidFill>
                  <a:srgbClr val="A46343"/>
                </a:solidFill>
              </a:rPr>
              <a:t>THE OBSERVATION</a:t>
            </a:r>
            <a:endParaRPr lang="en-US" sz="700" dirty="0"/>
          </a:p>
        </p:txBody>
      </p:sp>
      <p:sp>
        <p:nvSpPr>
          <p:cNvPr id="9" name="Text 6"/>
          <p:cNvSpPr/>
          <p:nvPr/>
        </p:nvSpPr>
        <p:spPr>
          <a:xfrm>
            <a:off x="6803136" y="1554480"/>
            <a:ext cx="3383280" cy="969264"/>
          </a:xfrm>
          <a:prstGeom prst="rect">
            <a:avLst/>
          </a:prstGeom>
          <a:noFill/>
          <a:ln/>
        </p:spPr>
        <p:txBody>
          <a:bodyPr wrap="square" lIns="0" tIns="0" rIns="0" bIns="0" rtlCol="0" anchor="ctr">
            <a:normAutofit/>
          </a:bodyPr>
          <a:lstStyle/>
          <a:p>
            <a:pPr indent="0" marL="0">
              <a:buNone/>
            </a:pPr>
            <a:r>
              <a:rPr lang="en-US" sz="2500" dirty="0">
                <a:solidFill>
                  <a:srgbClr val="3E5743"/>
                </a:solidFill>
                <a:latin typeface="Georgia" pitchFamily="34" charset="0"/>
                <a:ea typeface="Georgia" pitchFamily="34" charset="-122"/>
                <a:cs typeface="Georgia" pitchFamily="34" charset="-120"/>
              </a:rPr>
              <a:t>Double the named amount.</a:t>
            </a:r>
            <a:endParaRPr lang="en-US" sz="2500" dirty="0"/>
          </a:p>
        </p:txBody>
      </p:sp>
      <p:sp>
        <p:nvSpPr>
          <p:cNvPr id="10" name="Text 7"/>
          <p:cNvSpPr/>
          <p:nvPr/>
        </p:nvSpPr>
        <p:spPr>
          <a:xfrm>
            <a:off x="6803136" y="2715768"/>
            <a:ext cx="3383280" cy="1883664"/>
          </a:xfrm>
          <a:prstGeom prst="rect">
            <a:avLst/>
          </a:prstGeom>
          <a:noFill/>
          <a:ln/>
        </p:spPr>
        <p:txBody>
          <a:bodyPr wrap="square" lIns="0" tIns="0" rIns="0" bIns="0" rtlCol="0" anchor="t">
            <a:normAutofit/>
          </a:bodyPr>
          <a:lstStyle/>
          <a:p>
            <a:pPr indent="0" marL="0">
              <a:buNone/>
            </a:pPr>
            <a:r>
              <a:rPr lang="en-US" sz="1200" dirty="0">
                <a:solidFill>
                  <a:srgbClr val="344E41"/>
                </a:solidFill>
                <a:latin typeface="Georgia" pitchFamily="34" charset="0"/>
                <a:ea typeface="Georgia" pitchFamily="34" charset="-122"/>
                <a:cs typeface="Georgia" pitchFamily="34" charset="-120"/>
              </a:rPr>
              <a:t>In this arithmetic model, doubling a specified 125 g amount gives 250 g. The operation describes a quantity relationship, not a recommendation to scale a recipe, equipment setting or process time.</a:t>
            </a:r>
            <a:endParaRPr lang="en-US" sz="1200" dirty="0"/>
          </a:p>
        </p:txBody>
      </p:sp>
      <p:sp>
        <p:nvSpPr>
          <p:cNvPr id="11" name="Text 8"/>
          <p:cNvSpPr/>
          <p:nvPr/>
        </p:nvSpPr>
        <p:spPr>
          <a:xfrm>
            <a:off x="6803136" y="4782312"/>
            <a:ext cx="3383280" cy="164592"/>
          </a:xfrm>
          <a:prstGeom prst="rect">
            <a:avLst/>
          </a:prstGeom>
          <a:noFill/>
          <a:ln/>
        </p:spPr>
        <p:txBody>
          <a:bodyPr wrap="square" lIns="0" tIns="0" rIns="0" bIns="0" rtlCol="0" anchor="ctr"/>
          <a:lstStyle/>
          <a:p>
            <a:pPr indent="0" marL="0">
              <a:buNone/>
            </a:pPr>
            <a:r>
              <a:rPr lang="en-US" sz="700" dirty="0">
                <a:solidFill>
                  <a:srgbClr val="A46343"/>
                </a:solidFill>
              </a:rPr>
              <a:t>MODEL / METHOD NOTE</a:t>
            </a:r>
            <a:endParaRPr lang="en-US" sz="700" dirty="0"/>
          </a:p>
        </p:txBody>
      </p:sp>
      <p:sp>
        <p:nvSpPr>
          <p:cNvPr id="12" name="Text 9"/>
          <p:cNvSpPr/>
          <p:nvPr/>
        </p:nvSpPr>
        <p:spPr>
          <a:xfrm>
            <a:off x="6803136" y="5074920"/>
            <a:ext cx="3383280" cy="594360"/>
          </a:xfrm>
          <a:prstGeom prst="rect">
            <a:avLst/>
          </a:prstGeom>
          <a:noFill/>
          <a:ln/>
        </p:spPr>
        <p:txBody>
          <a:bodyPr wrap="square" lIns="0" tIns="0" rIns="0" bIns="0" rtlCol="0" anchor="ctr">
            <a:normAutofit/>
          </a:bodyPr>
          <a:lstStyle/>
          <a:p>
            <a:pPr indent="0" marL="0">
              <a:buNone/>
            </a:pPr>
            <a:r>
              <a:rPr lang="en-US" sz="1000" dirty="0">
                <a:solidFill>
                  <a:srgbClr val="62745B"/>
                </a:solidFill>
                <a:latin typeface="Georgia" pitchFamily="34" charset="0"/>
                <a:ea typeface="Georgia" pitchFamily="34" charset="-122"/>
                <a:cs typeface="Georgia" pitchFamily="34" charset="-120"/>
              </a:rPr>
              <a:t>2 × 125 g = 250 g.</a:t>
            </a:r>
            <a:endParaRPr lang="en-US" sz="1000" dirty="0"/>
          </a:p>
        </p:txBody>
      </p:sp>
      <p:sp>
        <p:nvSpPr>
          <p:cNvPr id="13" name="Shape 10"/>
          <p:cNvSpPr/>
          <p:nvPr/>
        </p:nvSpPr>
        <p:spPr>
          <a:xfrm>
            <a:off x="310896" y="5961888"/>
            <a:ext cx="10149840" cy="1207008"/>
          </a:xfrm>
          <a:prstGeom prst="rect">
            <a:avLst/>
          </a:prstGeom>
          <a:solidFill>
            <a:srgbClr val="E9EDDF"/>
          </a:solidFill>
          <a:ln w="12700">
            <a:solidFill>
              <a:srgbClr val="E9EDDF"/>
            </a:solidFill>
            <a:prstDash val="solid"/>
          </a:ln>
        </p:spPr>
      </p:sp>
      <p:sp>
        <p:nvSpPr>
          <p:cNvPr id="14" name="Text 11"/>
          <p:cNvSpPr/>
          <p:nvPr/>
        </p:nvSpPr>
        <p:spPr>
          <a:xfrm>
            <a:off x="493776" y="6126480"/>
            <a:ext cx="9784080" cy="164592"/>
          </a:xfrm>
          <a:prstGeom prst="rect">
            <a:avLst/>
          </a:prstGeom>
          <a:noFill/>
          <a:ln/>
        </p:spPr>
        <p:txBody>
          <a:bodyPr wrap="square" lIns="0" tIns="0" rIns="0" bIns="0" rtlCol="0" anchor="ctr"/>
          <a:lstStyle/>
          <a:p>
            <a:pPr indent="0" marL="0">
              <a:buNone/>
            </a:pPr>
            <a:r>
              <a:rPr lang="en-US" sz="700" dirty="0">
                <a:solidFill>
                  <a:srgbClr val="A46343"/>
                </a:solidFill>
              </a:rPr>
              <a:t>TRY / REFLECT</a:t>
            </a:r>
            <a:endParaRPr lang="en-US" sz="700" dirty="0"/>
          </a:p>
        </p:txBody>
      </p:sp>
      <p:sp>
        <p:nvSpPr>
          <p:cNvPr id="15" name="Text 12"/>
          <p:cNvSpPr/>
          <p:nvPr/>
        </p:nvSpPr>
        <p:spPr>
          <a:xfrm>
            <a:off x="493776" y="6428232"/>
            <a:ext cx="9784080" cy="384048"/>
          </a:xfrm>
          <a:prstGeom prst="rect">
            <a:avLst/>
          </a:prstGeom>
          <a:noFill/>
          <a:ln/>
        </p:spPr>
        <p:txBody>
          <a:bodyPr wrap="square" lIns="0" tIns="0" rIns="0" bIns="0" rtlCol="0" anchor="ctr">
            <a:normAutofit/>
          </a:bodyPr>
          <a:lstStyle/>
          <a:p>
            <a:pPr indent="0" marL="0">
              <a:buNone/>
            </a:pPr>
            <a:r>
              <a:rPr lang="en-US" sz="1300" dirty="0">
                <a:solidFill>
                  <a:srgbClr val="344E41"/>
                </a:solidFill>
                <a:latin typeface="Georgia" pitchFamily="34" charset="0"/>
                <a:ea typeface="Georgia" pitchFamily="34" charset="-122"/>
                <a:cs typeface="Georgia" pitchFamily="34" charset="-120"/>
              </a:rPr>
              <a:t>Double 175 g and retain the unit in the answer.</a:t>
            </a:r>
            <a:endParaRPr lang="en-US" sz="1300" dirty="0"/>
          </a:p>
        </p:txBody>
      </p:sp>
      <p:sp>
        <p:nvSpPr>
          <p:cNvPr id="16" name="Text 13"/>
          <p:cNvSpPr/>
          <p:nvPr/>
        </p:nvSpPr>
        <p:spPr>
          <a:xfrm>
            <a:off x="493776" y="6940296"/>
            <a:ext cx="9784080" cy="137160"/>
          </a:xfrm>
          <a:prstGeom prst="rect">
            <a:avLst/>
          </a:prstGeom>
          <a:noFill/>
          <a:ln/>
        </p:spPr>
        <p:txBody>
          <a:bodyPr wrap="square" lIns="0" tIns="0" rIns="0" bIns="0" rtlCol="0" anchor="ctr"/>
          <a:lstStyle/>
          <a:p>
            <a:pPr indent="0" marL="0">
              <a:buNone/>
            </a:pPr>
            <a:r>
              <a:rPr lang="en-US" sz="600" dirty="0">
                <a:solidFill>
                  <a:srgbClr val="77836B"/>
                </a:solidFill>
              </a:rPr>
              <a:t>COMPLETE / 32 PAGES / 16 INDEPENDENT MAIN ILLUSTRATIONS / MODEL NUMBERS, NOT REAL READINGS</a:t>
            </a:r>
            <a:endParaRPr lang="en-US" sz="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3"/>
        </a:solidFill>
      </p:bgPr>
    </p:bg>
    <p:spTree>
      <p:nvGrpSpPr>
        <p:cNvPr id="1" name=""/>
        <p:cNvGrpSpPr/>
        <p:nvPr/>
      </p:nvGrpSpPr>
      <p:grpSpPr>
        <a:xfrm>
          <a:off x="0" y="0"/>
          <a:ext cx="0" cy="0"/>
          <a:chOff x="0" y="0"/>
          <a:chExt cx="0" cy="0"/>
        </a:xfrm>
      </p:grpSpPr>
      <p:sp>
        <p:nvSpPr>
          <p:cNvPr id="2" name="Text 0"/>
          <p:cNvSpPr/>
          <p:nvPr/>
        </p:nvSpPr>
        <p:spPr>
          <a:xfrm>
            <a:off x="310896" y="256032"/>
            <a:ext cx="7772400" cy="182880"/>
          </a:xfrm>
          <a:prstGeom prst="rect">
            <a:avLst/>
          </a:prstGeom>
          <a:noFill/>
          <a:ln/>
        </p:spPr>
        <p:txBody>
          <a:bodyPr wrap="square" lIns="0" tIns="0" rIns="0" bIns="0" rtlCol="0" anchor="ctr"/>
          <a:lstStyle/>
          <a:p>
            <a:pPr indent="0" marL="0">
              <a:buNone/>
            </a:pPr>
            <a:r>
              <a:rPr lang="en-US" sz="800" dirty="0">
                <a:solidFill>
                  <a:srgbClr val="708267"/>
                </a:solidFill>
              </a:rPr>
              <a:t>PANTRY NOTES / THE MEASUREMENT NOTEBOOK</a:t>
            </a:r>
            <a:endParaRPr lang="en-US" sz="800" dirty="0"/>
          </a:p>
        </p:txBody>
      </p:sp>
      <p:sp>
        <p:nvSpPr>
          <p:cNvPr id="3" name="Text 1"/>
          <p:cNvSpPr/>
          <p:nvPr/>
        </p:nvSpPr>
        <p:spPr>
          <a:xfrm>
            <a:off x="310896" y="594360"/>
            <a:ext cx="7772400" cy="237744"/>
          </a:xfrm>
          <a:prstGeom prst="rect">
            <a:avLst/>
          </a:prstGeom>
          <a:noFill/>
          <a:ln/>
        </p:spPr>
        <p:txBody>
          <a:bodyPr wrap="square" lIns="0" tIns="0" rIns="0" bIns="0" rtlCol="0" anchor="ctr"/>
          <a:lstStyle/>
          <a:p>
            <a:pPr indent="0" marL="0">
              <a:buNone/>
            </a:pPr>
            <a:r>
              <a:rPr lang="en-US" sz="1400" dirty="0">
                <a:solidFill>
                  <a:srgbClr val="344E41"/>
                </a:solidFill>
                <a:latin typeface="Georgia" pitchFamily="34" charset="0"/>
                <a:ea typeface="Georgia" pitchFamily="34" charset="-122"/>
                <a:cs typeface="Georgia" pitchFamily="34" charset="-120"/>
              </a:rPr>
              <a:t>05 / Compare with care</a:t>
            </a:r>
            <a:endParaRPr lang="en-US" sz="1400" dirty="0"/>
          </a:p>
        </p:txBody>
      </p:sp>
      <p:sp>
        <p:nvSpPr>
          <p:cNvPr id="4" name="Text 2"/>
          <p:cNvSpPr/>
          <p:nvPr/>
        </p:nvSpPr>
        <p:spPr>
          <a:xfrm>
            <a:off x="9784080" y="274320"/>
            <a:ext cx="640080" cy="411480"/>
          </a:xfrm>
          <a:prstGeom prst="rect">
            <a:avLst/>
          </a:prstGeom>
          <a:noFill/>
          <a:ln/>
        </p:spPr>
        <p:txBody>
          <a:bodyPr wrap="square" lIns="0" tIns="0" rIns="0" bIns="0" rtlCol="0" anchor="ctr"/>
          <a:lstStyle/>
          <a:p>
            <a:pPr algn="r" indent="0" marL="0">
              <a:buNone/>
            </a:pPr>
            <a:r>
              <a:rPr lang="en-US" sz="2500" dirty="0">
                <a:solidFill>
                  <a:srgbClr val="B1724C"/>
                </a:solidFill>
              </a:rPr>
              <a:t>20</a:t>
            </a:r>
            <a:endParaRPr lang="en-US" sz="2500" dirty="0"/>
          </a:p>
        </p:txBody>
      </p:sp>
      <p:sp>
        <p:nvSpPr>
          <p:cNvPr id="5" name="Shape 3"/>
          <p:cNvSpPr/>
          <p:nvPr/>
        </p:nvSpPr>
        <p:spPr>
          <a:xfrm>
            <a:off x="310896" y="960120"/>
            <a:ext cx="10149840" cy="0"/>
          </a:xfrm>
          <a:prstGeom prst="line">
            <a:avLst/>
          </a:prstGeom>
          <a:noFill/>
          <a:ln w="12700">
            <a:solidFill>
              <a:srgbClr val="C6D0BC"/>
            </a:solidFill>
            <a:prstDash val="solid"/>
          </a:ln>
        </p:spPr>
      </p:sp>
      <p:pic>
        <p:nvPicPr>
          <p:cNvPr id="6" name="Image 0" descr="/home/user/design-buddy/design-buddy-home/public/atelier/pantry-notes/images/10.jpg">    </p:cNvPr>
          <p:cNvPicPr>
            <a:picLocks noChangeAspect="1"/>
          </p:cNvPicPr>
          <p:nvPr/>
        </p:nvPicPr>
        <p:blipFill>
          <a:blip r:embed="rId1"/>
          <a:srcRect l="0" r="0" t="0" b="0"/>
          <a:stretch/>
        </p:blipFill>
        <p:spPr>
          <a:xfrm>
            <a:off x="310896" y="1207008"/>
            <a:ext cx="6217920" cy="4023360"/>
          </a:xfrm>
          <a:prstGeom prst="rect">
            <a:avLst/>
          </a:prstGeom>
        </p:spPr>
      </p:pic>
      <p:sp>
        <p:nvSpPr>
          <p:cNvPr id="7" name="Text 4"/>
          <p:cNvSpPr/>
          <p:nvPr/>
        </p:nvSpPr>
        <p:spPr>
          <a:xfrm>
            <a:off x="310896" y="5376672"/>
            <a:ext cx="6217920" cy="320040"/>
          </a:xfrm>
          <a:prstGeom prst="rect">
            <a:avLst/>
          </a:prstGeom>
          <a:noFill/>
          <a:ln/>
        </p:spPr>
        <p:txBody>
          <a:bodyPr wrap="square" lIns="0" tIns="0" rIns="0" bIns="0" rtlCol="0" anchor="ctr"/>
          <a:lstStyle/>
          <a:p>
            <a:pPr indent="0" marL="0">
              <a:buNone/>
            </a:pPr>
            <a:r>
              <a:rPr lang="en-US" sz="700" dirty="0">
                <a:solidFill>
                  <a:srgbClr val="7C886F"/>
                </a:solidFill>
              </a:rPr>
              <a:t>Watercolour study 10 / illustration, not measurement evidence</a:t>
            </a:r>
            <a:endParaRPr lang="en-US" sz="700" dirty="0"/>
          </a:p>
        </p:txBody>
      </p:sp>
      <p:sp>
        <p:nvSpPr>
          <p:cNvPr id="8" name="Text 5"/>
          <p:cNvSpPr/>
          <p:nvPr/>
        </p:nvSpPr>
        <p:spPr>
          <a:xfrm>
            <a:off x="6803136" y="1216152"/>
            <a:ext cx="3383280" cy="182880"/>
          </a:xfrm>
          <a:prstGeom prst="rect">
            <a:avLst/>
          </a:prstGeom>
          <a:noFill/>
          <a:ln/>
        </p:spPr>
        <p:txBody>
          <a:bodyPr wrap="square" lIns="0" tIns="0" rIns="0" bIns="0" rtlCol="0" anchor="ctr"/>
          <a:lstStyle/>
          <a:p>
            <a:pPr indent="0" marL="0">
              <a:buNone/>
            </a:pPr>
            <a:r>
              <a:rPr lang="en-US" sz="700" dirty="0">
                <a:solidFill>
                  <a:srgbClr val="A46343"/>
                </a:solidFill>
              </a:rPr>
              <a:t>THE OBSERVATION</a:t>
            </a:r>
            <a:endParaRPr lang="en-US" sz="700" dirty="0"/>
          </a:p>
        </p:txBody>
      </p:sp>
      <p:sp>
        <p:nvSpPr>
          <p:cNvPr id="9" name="Text 6"/>
          <p:cNvSpPr/>
          <p:nvPr/>
        </p:nvSpPr>
        <p:spPr>
          <a:xfrm>
            <a:off x="6803136" y="1554480"/>
            <a:ext cx="3383280" cy="969264"/>
          </a:xfrm>
          <a:prstGeom prst="rect">
            <a:avLst/>
          </a:prstGeom>
          <a:noFill/>
          <a:ln/>
        </p:spPr>
        <p:txBody>
          <a:bodyPr wrap="square" lIns="0" tIns="0" rIns="0" bIns="0" rtlCol="0" anchor="ctr">
            <a:normAutofit/>
          </a:bodyPr>
          <a:lstStyle/>
          <a:p>
            <a:pPr indent="0" marL="0">
              <a:buNone/>
            </a:pPr>
            <a:r>
              <a:rPr lang="en-US" sz="2500" dirty="0">
                <a:solidFill>
                  <a:srgbClr val="3E5743"/>
                </a:solidFill>
                <a:latin typeface="Georgia" pitchFamily="34" charset="0"/>
                <a:ea typeface="Georgia" pitchFamily="34" charset="-122"/>
                <a:cs typeface="Georgia" pitchFamily="34" charset="-120"/>
              </a:rPr>
              <a:t>Halve without losing the unit.</a:t>
            </a:r>
            <a:endParaRPr lang="en-US" sz="2500" dirty="0"/>
          </a:p>
        </p:txBody>
      </p:sp>
      <p:sp>
        <p:nvSpPr>
          <p:cNvPr id="10" name="Text 7"/>
          <p:cNvSpPr/>
          <p:nvPr/>
        </p:nvSpPr>
        <p:spPr>
          <a:xfrm>
            <a:off x="6803136" y="2715768"/>
            <a:ext cx="3383280" cy="1883664"/>
          </a:xfrm>
          <a:prstGeom prst="rect">
            <a:avLst/>
          </a:prstGeom>
          <a:noFill/>
          <a:ln/>
        </p:spPr>
        <p:txBody>
          <a:bodyPr wrap="square" lIns="0" tIns="0" rIns="0" bIns="0" rtlCol="0" anchor="t">
            <a:normAutofit/>
          </a:bodyPr>
          <a:lstStyle/>
          <a:p>
            <a:pPr indent="0" marL="0">
              <a:buNone/>
            </a:pPr>
            <a:r>
              <a:rPr lang="en-US" sz="1200" dirty="0">
                <a:solidFill>
                  <a:srgbClr val="344E41"/>
                </a:solidFill>
                <a:latin typeface="Georgia" pitchFamily="34" charset="0"/>
                <a:ea typeface="Georgia" pitchFamily="34" charset="-122"/>
                <a:cs typeface="Georgia" pitchFamily="34" charset="-120"/>
              </a:rPr>
              <a:t>Half of the model amount 180 g is 90 g. Keeping the unit makes the result readable outside this page. A numerical scaling example does not imply that every real cooking process can be scaled in the same way.</a:t>
            </a:r>
            <a:endParaRPr lang="en-US" sz="1200" dirty="0"/>
          </a:p>
        </p:txBody>
      </p:sp>
      <p:sp>
        <p:nvSpPr>
          <p:cNvPr id="11" name="Text 8"/>
          <p:cNvSpPr/>
          <p:nvPr/>
        </p:nvSpPr>
        <p:spPr>
          <a:xfrm>
            <a:off x="6803136" y="4782312"/>
            <a:ext cx="3383280" cy="164592"/>
          </a:xfrm>
          <a:prstGeom prst="rect">
            <a:avLst/>
          </a:prstGeom>
          <a:noFill/>
          <a:ln/>
        </p:spPr>
        <p:txBody>
          <a:bodyPr wrap="square" lIns="0" tIns="0" rIns="0" bIns="0" rtlCol="0" anchor="ctr"/>
          <a:lstStyle/>
          <a:p>
            <a:pPr indent="0" marL="0">
              <a:buNone/>
            </a:pPr>
            <a:r>
              <a:rPr lang="en-US" sz="700" dirty="0">
                <a:solidFill>
                  <a:srgbClr val="A46343"/>
                </a:solidFill>
              </a:rPr>
              <a:t>MODEL / METHOD NOTE</a:t>
            </a:r>
            <a:endParaRPr lang="en-US" sz="700" dirty="0"/>
          </a:p>
        </p:txBody>
      </p:sp>
      <p:sp>
        <p:nvSpPr>
          <p:cNvPr id="12" name="Text 9"/>
          <p:cNvSpPr/>
          <p:nvPr/>
        </p:nvSpPr>
        <p:spPr>
          <a:xfrm>
            <a:off x="6803136" y="5074920"/>
            <a:ext cx="3383280" cy="594360"/>
          </a:xfrm>
          <a:prstGeom prst="rect">
            <a:avLst/>
          </a:prstGeom>
          <a:noFill/>
          <a:ln/>
        </p:spPr>
        <p:txBody>
          <a:bodyPr wrap="square" lIns="0" tIns="0" rIns="0" bIns="0" rtlCol="0" anchor="ctr">
            <a:normAutofit/>
          </a:bodyPr>
          <a:lstStyle/>
          <a:p>
            <a:pPr indent="0" marL="0">
              <a:buNone/>
            </a:pPr>
            <a:r>
              <a:rPr lang="en-US" sz="1000" dirty="0">
                <a:solidFill>
                  <a:srgbClr val="62745B"/>
                </a:solidFill>
                <a:latin typeface="Georgia" pitchFamily="34" charset="0"/>
                <a:ea typeface="Georgia" pitchFamily="34" charset="-122"/>
                <a:cs typeface="Georgia" pitchFamily="34" charset="-120"/>
              </a:rPr>
              <a:t>180 g ÷ 2 = 90 g.</a:t>
            </a:r>
            <a:endParaRPr lang="en-US" sz="1000" dirty="0"/>
          </a:p>
        </p:txBody>
      </p:sp>
      <p:sp>
        <p:nvSpPr>
          <p:cNvPr id="13" name="Shape 10"/>
          <p:cNvSpPr/>
          <p:nvPr/>
        </p:nvSpPr>
        <p:spPr>
          <a:xfrm>
            <a:off x="310896" y="5961888"/>
            <a:ext cx="10149840" cy="1207008"/>
          </a:xfrm>
          <a:prstGeom prst="rect">
            <a:avLst/>
          </a:prstGeom>
          <a:solidFill>
            <a:srgbClr val="E9EDDF"/>
          </a:solidFill>
          <a:ln w="12700">
            <a:solidFill>
              <a:srgbClr val="E9EDDF"/>
            </a:solidFill>
            <a:prstDash val="solid"/>
          </a:ln>
        </p:spPr>
      </p:sp>
      <p:sp>
        <p:nvSpPr>
          <p:cNvPr id="14" name="Text 11"/>
          <p:cNvSpPr/>
          <p:nvPr/>
        </p:nvSpPr>
        <p:spPr>
          <a:xfrm>
            <a:off x="493776" y="6126480"/>
            <a:ext cx="9784080" cy="164592"/>
          </a:xfrm>
          <a:prstGeom prst="rect">
            <a:avLst/>
          </a:prstGeom>
          <a:noFill/>
          <a:ln/>
        </p:spPr>
        <p:txBody>
          <a:bodyPr wrap="square" lIns="0" tIns="0" rIns="0" bIns="0" rtlCol="0" anchor="ctr"/>
          <a:lstStyle/>
          <a:p>
            <a:pPr indent="0" marL="0">
              <a:buNone/>
            </a:pPr>
            <a:r>
              <a:rPr lang="en-US" sz="700" dirty="0">
                <a:solidFill>
                  <a:srgbClr val="A46343"/>
                </a:solidFill>
              </a:rPr>
              <a:t>TRY / REFLECT</a:t>
            </a:r>
            <a:endParaRPr lang="en-US" sz="700" dirty="0"/>
          </a:p>
        </p:txBody>
      </p:sp>
      <p:sp>
        <p:nvSpPr>
          <p:cNvPr id="15" name="Text 12"/>
          <p:cNvSpPr/>
          <p:nvPr/>
        </p:nvSpPr>
        <p:spPr>
          <a:xfrm>
            <a:off x="493776" y="6428232"/>
            <a:ext cx="9784080" cy="384048"/>
          </a:xfrm>
          <a:prstGeom prst="rect">
            <a:avLst/>
          </a:prstGeom>
          <a:noFill/>
          <a:ln/>
        </p:spPr>
        <p:txBody>
          <a:bodyPr wrap="square" lIns="0" tIns="0" rIns="0" bIns="0" rtlCol="0" anchor="ctr">
            <a:normAutofit/>
          </a:bodyPr>
          <a:lstStyle/>
          <a:p>
            <a:pPr indent="0" marL="0">
              <a:buNone/>
            </a:pPr>
            <a:r>
              <a:rPr lang="en-US" sz="1300" dirty="0">
                <a:solidFill>
                  <a:srgbClr val="344E41"/>
                </a:solidFill>
                <a:latin typeface="Georgia" pitchFamily="34" charset="0"/>
                <a:ea typeface="Georgia" pitchFamily="34" charset="-122"/>
                <a:cs typeface="Georgia" pitchFamily="34" charset="-120"/>
              </a:rPr>
              <a:t>Explain what this arithmetic does—and does not—say about a real recipe.</a:t>
            </a:r>
            <a:endParaRPr lang="en-US" sz="1300" dirty="0"/>
          </a:p>
        </p:txBody>
      </p:sp>
      <p:sp>
        <p:nvSpPr>
          <p:cNvPr id="16" name="Text 13"/>
          <p:cNvSpPr/>
          <p:nvPr/>
        </p:nvSpPr>
        <p:spPr>
          <a:xfrm>
            <a:off x="493776" y="6940296"/>
            <a:ext cx="9784080" cy="137160"/>
          </a:xfrm>
          <a:prstGeom prst="rect">
            <a:avLst/>
          </a:prstGeom>
          <a:noFill/>
          <a:ln/>
        </p:spPr>
        <p:txBody>
          <a:bodyPr wrap="square" lIns="0" tIns="0" rIns="0" bIns="0" rtlCol="0" anchor="ctr"/>
          <a:lstStyle/>
          <a:p>
            <a:pPr indent="0" marL="0">
              <a:buNone/>
            </a:pPr>
            <a:r>
              <a:rPr lang="en-US" sz="600" dirty="0">
                <a:solidFill>
                  <a:srgbClr val="77836B"/>
                </a:solidFill>
              </a:rPr>
              <a:t>COMPLETE / 32 PAGES / 16 INDEPENDENT MAIN ILLUSTRATIONS / MODEL NUMBERS, NOT REAL READINGS</a:t>
            </a:r>
            <a:endParaRPr lang="en-US" sz="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3"/>
        </a:solidFill>
      </p:bgPr>
    </p:bg>
    <p:spTree>
      <p:nvGrpSpPr>
        <p:cNvPr id="1" name=""/>
        <p:cNvGrpSpPr/>
        <p:nvPr/>
      </p:nvGrpSpPr>
      <p:grpSpPr>
        <a:xfrm>
          <a:off x="0" y="0"/>
          <a:ext cx="0" cy="0"/>
          <a:chOff x="0" y="0"/>
          <a:chExt cx="0" cy="0"/>
        </a:xfrm>
      </p:grpSpPr>
      <p:sp>
        <p:nvSpPr>
          <p:cNvPr id="2" name="Text 0"/>
          <p:cNvSpPr/>
          <p:nvPr/>
        </p:nvSpPr>
        <p:spPr>
          <a:xfrm>
            <a:off x="310896" y="256032"/>
            <a:ext cx="7772400" cy="182880"/>
          </a:xfrm>
          <a:prstGeom prst="rect">
            <a:avLst/>
          </a:prstGeom>
          <a:noFill/>
          <a:ln/>
        </p:spPr>
        <p:txBody>
          <a:bodyPr wrap="square" lIns="0" tIns="0" rIns="0" bIns="0" rtlCol="0" anchor="ctr"/>
          <a:lstStyle/>
          <a:p>
            <a:pPr indent="0" marL="0">
              <a:buNone/>
            </a:pPr>
            <a:r>
              <a:rPr lang="en-US" sz="800" dirty="0">
                <a:solidFill>
                  <a:srgbClr val="708267"/>
                </a:solidFill>
              </a:rPr>
              <a:t>PANTRY NOTES / THE MEASUREMENT NOTEBOOK</a:t>
            </a:r>
            <a:endParaRPr lang="en-US" sz="800" dirty="0"/>
          </a:p>
        </p:txBody>
      </p:sp>
      <p:sp>
        <p:nvSpPr>
          <p:cNvPr id="3" name="Text 1"/>
          <p:cNvSpPr/>
          <p:nvPr/>
        </p:nvSpPr>
        <p:spPr>
          <a:xfrm>
            <a:off x="310896" y="594360"/>
            <a:ext cx="7772400" cy="237744"/>
          </a:xfrm>
          <a:prstGeom prst="rect">
            <a:avLst/>
          </a:prstGeom>
          <a:noFill/>
          <a:ln/>
        </p:spPr>
        <p:txBody>
          <a:bodyPr wrap="square" lIns="0" tIns="0" rIns="0" bIns="0" rtlCol="0" anchor="ctr"/>
          <a:lstStyle/>
          <a:p>
            <a:pPr indent="0" marL="0">
              <a:buNone/>
            </a:pPr>
            <a:r>
              <a:rPr lang="en-US" sz="1400" dirty="0">
                <a:solidFill>
                  <a:srgbClr val="344E41"/>
                </a:solidFill>
                <a:latin typeface="Georgia" pitchFamily="34" charset="0"/>
                <a:ea typeface="Georgia" pitchFamily="34" charset="-122"/>
                <a:cs typeface="Georgia" pitchFamily="34" charset="-120"/>
              </a:rPr>
              <a:t>06 / Describe the model</a:t>
            </a:r>
            <a:endParaRPr lang="en-US" sz="1400" dirty="0"/>
          </a:p>
        </p:txBody>
      </p:sp>
      <p:sp>
        <p:nvSpPr>
          <p:cNvPr id="4" name="Text 2"/>
          <p:cNvSpPr/>
          <p:nvPr/>
        </p:nvSpPr>
        <p:spPr>
          <a:xfrm>
            <a:off x="9784080" y="274320"/>
            <a:ext cx="640080" cy="411480"/>
          </a:xfrm>
          <a:prstGeom prst="rect">
            <a:avLst/>
          </a:prstGeom>
          <a:noFill/>
          <a:ln/>
        </p:spPr>
        <p:txBody>
          <a:bodyPr wrap="square" lIns="0" tIns="0" rIns="0" bIns="0" rtlCol="0" anchor="ctr"/>
          <a:lstStyle/>
          <a:p>
            <a:pPr algn="r" indent="0" marL="0">
              <a:buNone/>
            </a:pPr>
            <a:r>
              <a:rPr lang="en-US" sz="2500" dirty="0">
                <a:solidFill>
                  <a:srgbClr val="B1724C"/>
                </a:solidFill>
              </a:rPr>
              <a:t>21</a:t>
            </a:r>
            <a:endParaRPr lang="en-US" sz="2500" dirty="0"/>
          </a:p>
        </p:txBody>
      </p:sp>
      <p:sp>
        <p:nvSpPr>
          <p:cNvPr id="5" name="Shape 3"/>
          <p:cNvSpPr/>
          <p:nvPr/>
        </p:nvSpPr>
        <p:spPr>
          <a:xfrm>
            <a:off x="310896" y="960120"/>
            <a:ext cx="10149840" cy="0"/>
          </a:xfrm>
          <a:prstGeom prst="line">
            <a:avLst/>
          </a:prstGeom>
          <a:noFill/>
          <a:ln w="12700">
            <a:solidFill>
              <a:srgbClr val="C6D0BC"/>
            </a:solidFill>
            <a:prstDash val="solid"/>
          </a:ln>
        </p:spPr>
      </p:sp>
      <p:pic>
        <p:nvPicPr>
          <p:cNvPr id="6" name="Image 0" descr="/home/user/design-buddy/design-buddy-home/public/atelier/pantry-notes/images/11.jpg">    </p:cNvPr>
          <p:cNvPicPr>
            <a:picLocks noChangeAspect="1"/>
          </p:cNvPicPr>
          <p:nvPr/>
        </p:nvPicPr>
        <p:blipFill>
          <a:blip r:embed="rId1"/>
          <a:srcRect l="0" r="0" t="0" b="0"/>
          <a:stretch/>
        </p:blipFill>
        <p:spPr>
          <a:xfrm>
            <a:off x="310896" y="1207008"/>
            <a:ext cx="6217920" cy="4023360"/>
          </a:xfrm>
          <a:prstGeom prst="rect">
            <a:avLst/>
          </a:prstGeom>
        </p:spPr>
      </p:pic>
      <p:sp>
        <p:nvSpPr>
          <p:cNvPr id="7" name="Text 4"/>
          <p:cNvSpPr/>
          <p:nvPr/>
        </p:nvSpPr>
        <p:spPr>
          <a:xfrm>
            <a:off x="310896" y="5376672"/>
            <a:ext cx="6217920" cy="320040"/>
          </a:xfrm>
          <a:prstGeom prst="rect">
            <a:avLst/>
          </a:prstGeom>
          <a:noFill/>
          <a:ln/>
        </p:spPr>
        <p:txBody>
          <a:bodyPr wrap="square" lIns="0" tIns="0" rIns="0" bIns="0" rtlCol="0" anchor="ctr"/>
          <a:lstStyle/>
          <a:p>
            <a:pPr indent="0" marL="0">
              <a:buNone/>
            </a:pPr>
            <a:r>
              <a:rPr lang="en-US" sz="700" dirty="0">
                <a:solidFill>
                  <a:srgbClr val="7C886F"/>
                </a:solidFill>
              </a:rPr>
              <a:t>Watercolour study 11 / illustration, not measurement evidence</a:t>
            </a:r>
            <a:endParaRPr lang="en-US" sz="700" dirty="0"/>
          </a:p>
        </p:txBody>
      </p:sp>
      <p:sp>
        <p:nvSpPr>
          <p:cNvPr id="8" name="Text 5"/>
          <p:cNvSpPr/>
          <p:nvPr/>
        </p:nvSpPr>
        <p:spPr>
          <a:xfrm>
            <a:off x="6803136" y="1216152"/>
            <a:ext cx="3383280" cy="182880"/>
          </a:xfrm>
          <a:prstGeom prst="rect">
            <a:avLst/>
          </a:prstGeom>
          <a:noFill/>
          <a:ln/>
        </p:spPr>
        <p:txBody>
          <a:bodyPr wrap="square" lIns="0" tIns="0" rIns="0" bIns="0" rtlCol="0" anchor="ctr"/>
          <a:lstStyle/>
          <a:p>
            <a:pPr indent="0" marL="0">
              <a:buNone/>
            </a:pPr>
            <a:r>
              <a:rPr lang="en-US" sz="700" dirty="0">
                <a:solidFill>
                  <a:srgbClr val="A46343"/>
                </a:solidFill>
              </a:rPr>
              <a:t>THE OBSERVATION</a:t>
            </a:r>
            <a:endParaRPr lang="en-US" sz="700" dirty="0"/>
          </a:p>
        </p:txBody>
      </p:sp>
      <p:sp>
        <p:nvSpPr>
          <p:cNvPr id="9" name="Text 6"/>
          <p:cNvSpPr/>
          <p:nvPr/>
        </p:nvSpPr>
        <p:spPr>
          <a:xfrm>
            <a:off x="6803136" y="1554480"/>
            <a:ext cx="3383280" cy="969264"/>
          </a:xfrm>
          <a:prstGeom prst="rect">
            <a:avLst/>
          </a:prstGeom>
          <a:noFill/>
          <a:ln/>
        </p:spPr>
        <p:txBody>
          <a:bodyPr wrap="square" lIns="0" tIns="0" rIns="0" bIns="0" rtlCol="0" anchor="ctr">
            <a:normAutofit/>
          </a:bodyPr>
          <a:lstStyle/>
          <a:p>
            <a:pPr indent="0" marL="0">
              <a:buNone/>
            </a:pPr>
            <a:r>
              <a:rPr lang="en-US" sz="2500" dirty="0">
                <a:solidFill>
                  <a:srgbClr val="3E5743"/>
                </a:solidFill>
                <a:latin typeface="Georgia" pitchFamily="34" charset="0"/>
                <a:ea typeface="Georgia" pitchFamily="34" charset="-122"/>
                <a:cs typeface="Georgia" pitchFamily="34" charset="-120"/>
              </a:rPr>
              <a:t>Equal groups are an assumption.</a:t>
            </a:r>
            <a:endParaRPr lang="en-US" sz="2500" dirty="0"/>
          </a:p>
        </p:txBody>
      </p:sp>
      <p:sp>
        <p:nvSpPr>
          <p:cNvPr id="10" name="Text 7"/>
          <p:cNvSpPr/>
          <p:nvPr/>
        </p:nvSpPr>
        <p:spPr>
          <a:xfrm>
            <a:off x="6803136" y="2715768"/>
            <a:ext cx="3383280" cy="1883664"/>
          </a:xfrm>
          <a:prstGeom prst="rect">
            <a:avLst/>
          </a:prstGeom>
          <a:noFill/>
          <a:ln/>
        </p:spPr>
        <p:txBody>
          <a:bodyPr wrap="square" lIns="0" tIns="0" rIns="0" bIns="0" rtlCol="0" anchor="t">
            <a:normAutofit/>
          </a:bodyPr>
          <a:lstStyle/>
          <a:p>
            <a:pPr indent="0" marL="0">
              <a:buNone/>
            </a:pPr>
            <a:r>
              <a:rPr lang="en-US" sz="1200" dirty="0">
                <a:solidFill>
                  <a:srgbClr val="344E41"/>
                </a:solidFill>
                <a:latin typeface="Georgia" pitchFamily="34" charset="0"/>
                <a:ea typeface="Georgia" pitchFamily="34" charset="-122"/>
                <a:cs typeface="Georgia" pitchFamily="34" charset="-120"/>
              </a:rPr>
              <a:t>If a model explicitly gives three equal groups of 200 g, their combined mass is 600 g. Equal grouping is a stated assumption here, not a conclusion drawn from an illustration of several bowls.</a:t>
            </a:r>
            <a:endParaRPr lang="en-US" sz="1200" dirty="0"/>
          </a:p>
        </p:txBody>
      </p:sp>
      <p:sp>
        <p:nvSpPr>
          <p:cNvPr id="11" name="Text 8"/>
          <p:cNvSpPr/>
          <p:nvPr/>
        </p:nvSpPr>
        <p:spPr>
          <a:xfrm>
            <a:off x="6803136" y="4782312"/>
            <a:ext cx="3383280" cy="164592"/>
          </a:xfrm>
          <a:prstGeom prst="rect">
            <a:avLst/>
          </a:prstGeom>
          <a:noFill/>
          <a:ln/>
        </p:spPr>
        <p:txBody>
          <a:bodyPr wrap="square" lIns="0" tIns="0" rIns="0" bIns="0" rtlCol="0" anchor="ctr"/>
          <a:lstStyle/>
          <a:p>
            <a:pPr indent="0" marL="0">
              <a:buNone/>
            </a:pPr>
            <a:r>
              <a:rPr lang="en-US" sz="700" dirty="0">
                <a:solidFill>
                  <a:srgbClr val="A46343"/>
                </a:solidFill>
              </a:rPr>
              <a:t>MODEL / METHOD NOTE</a:t>
            </a:r>
            <a:endParaRPr lang="en-US" sz="700" dirty="0"/>
          </a:p>
        </p:txBody>
      </p:sp>
      <p:sp>
        <p:nvSpPr>
          <p:cNvPr id="12" name="Text 9"/>
          <p:cNvSpPr/>
          <p:nvPr/>
        </p:nvSpPr>
        <p:spPr>
          <a:xfrm>
            <a:off x="6803136" y="5074920"/>
            <a:ext cx="3383280" cy="594360"/>
          </a:xfrm>
          <a:prstGeom prst="rect">
            <a:avLst/>
          </a:prstGeom>
          <a:noFill/>
          <a:ln/>
        </p:spPr>
        <p:txBody>
          <a:bodyPr wrap="square" lIns="0" tIns="0" rIns="0" bIns="0" rtlCol="0" anchor="ctr">
            <a:normAutofit/>
          </a:bodyPr>
          <a:lstStyle/>
          <a:p>
            <a:pPr indent="0" marL="0">
              <a:buNone/>
            </a:pPr>
            <a:r>
              <a:rPr lang="en-US" sz="1000" dirty="0">
                <a:solidFill>
                  <a:srgbClr val="62745B"/>
                </a:solidFill>
                <a:latin typeface="Georgia" pitchFamily="34" charset="0"/>
                <a:ea typeface="Georgia" pitchFamily="34" charset="-122"/>
                <a:cs typeface="Georgia" pitchFamily="34" charset="-120"/>
              </a:rPr>
              <a:t>3 × 200 g = 600 g, assuming three equal model groups.</a:t>
            </a:r>
            <a:endParaRPr lang="en-US" sz="1000" dirty="0"/>
          </a:p>
        </p:txBody>
      </p:sp>
      <p:sp>
        <p:nvSpPr>
          <p:cNvPr id="13" name="Shape 10"/>
          <p:cNvSpPr/>
          <p:nvPr/>
        </p:nvSpPr>
        <p:spPr>
          <a:xfrm>
            <a:off x="310896" y="5961888"/>
            <a:ext cx="10149840" cy="1207008"/>
          </a:xfrm>
          <a:prstGeom prst="rect">
            <a:avLst/>
          </a:prstGeom>
          <a:solidFill>
            <a:srgbClr val="E9EDDF"/>
          </a:solidFill>
          <a:ln w="12700">
            <a:solidFill>
              <a:srgbClr val="E9EDDF"/>
            </a:solidFill>
            <a:prstDash val="solid"/>
          </a:ln>
        </p:spPr>
      </p:sp>
      <p:sp>
        <p:nvSpPr>
          <p:cNvPr id="14" name="Text 11"/>
          <p:cNvSpPr/>
          <p:nvPr/>
        </p:nvSpPr>
        <p:spPr>
          <a:xfrm>
            <a:off x="493776" y="6126480"/>
            <a:ext cx="9784080" cy="164592"/>
          </a:xfrm>
          <a:prstGeom prst="rect">
            <a:avLst/>
          </a:prstGeom>
          <a:noFill/>
          <a:ln/>
        </p:spPr>
        <p:txBody>
          <a:bodyPr wrap="square" lIns="0" tIns="0" rIns="0" bIns="0" rtlCol="0" anchor="ctr"/>
          <a:lstStyle/>
          <a:p>
            <a:pPr indent="0" marL="0">
              <a:buNone/>
            </a:pPr>
            <a:r>
              <a:rPr lang="en-US" sz="700" dirty="0">
                <a:solidFill>
                  <a:srgbClr val="A46343"/>
                </a:solidFill>
              </a:rPr>
              <a:t>TRY / REFLECT</a:t>
            </a:r>
            <a:endParaRPr lang="en-US" sz="700" dirty="0"/>
          </a:p>
        </p:txBody>
      </p:sp>
      <p:sp>
        <p:nvSpPr>
          <p:cNvPr id="15" name="Text 12"/>
          <p:cNvSpPr/>
          <p:nvPr/>
        </p:nvSpPr>
        <p:spPr>
          <a:xfrm>
            <a:off x="493776" y="6428232"/>
            <a:ext cx="9784080" cy="384048"/>
          </a:xfrm>
          <a:prstGeom prst="rect">
            <a:avLst/>
          </a:prstGeom>
          <a:noFill/>
          <a:ln/>
        </p:spPr>
        <p:txBody>
          <a:bodyPr wrap="square" lIns="0" tIns="0" rIns="0" bIns="0" rtlCol="0" anchor="ctr">
            <a:normAutofit/>
          </a:bodyPr>
          <a:lstStyle/>
          <a:p>
            <a:pPr indent="0" marL="0">
              <a:buNone/>
            </a:pPr>
            <a:r>
              <a:rPr lang="en-US" sz="1300" dirty="0">
                <a:solidFill>
                  <a:srgbClr val="344E41"/>
                </a:solidFill>
                <a:latin typeface="Georgia" pitchFamily="34" charset="0"/>
                <a:ea typeface="Georgia" pitchFamily="34" charset="-122"/>
                <a:cs typeface="Georgia" pitchFamily="34" charset="-120"/>
              </a:rPr>
              <a:t>What would change if the groups were not equal?</a:t>
            </a:r>
            <a:endParaRPr lang="en-US" sz="1300" dirty="0"/>
          </a:p>
        </p:txBody>
      </p:sp>
      <p:sp>
        <p:nvSpPr>
          <p:cNvPr id="16" name="Text 13"/>
          <p:cNvSpPr/>
          <p:nvPr/>
        </p:nvSpPr>
        <p:spPr>
          <a:xfrm>
            <a:off x="493776" y="6940296"/>
            <a:ext cx="9784080" cy="137160"/>
          </a:xfrm>
          <a:prstGeom prst="rect">
            <a:avLst/>
          </a:prstGeom>
          <a:noFill/>
          <a:ln/>
        </p:spPr>
        <p:txBody>
          <a:bodyPr wrap="square" lIns="0" tIns="0" rIns="0" bIns="0" rtlCol="0" anchor="ctr"/>
          <a:lstStyle/>
          <a:p>
            <a:pPr indent="0" marL="0">
              <a:buNone/>
            </a:pPr>
            <a:r>
              <a:rPr lang="en-US" sz="600" dirty="0">
                <a:solidFill>
                  <a:srgbClr val="77836B"/>
                </a:solidFill>
              </a:rPr>
              <a:t>COMPLETE / 32 PAGES / 16 INDEPENDENT MAIN ILLUSTRATIONS / MODEL NUMBERS, NOT REAL READINGS</a:t>
            </a:r>
            <a:endParaRPr lang="en-US" sz="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3"/>
        </a:solidFill>
      </p:bgPr>
    </p:bg>
    <p:spTree>
      <p:nvGrpSpPr>
        <p:cNvPr id="1" name=""/>
        <p:cNvGrpSpPr/>
        <p:nvPr/>
      </p:nvGrpSpPr>
      <p:grpSpPr>
        <a:xfrm>
          <a:off x="0" y="0"/>
          <a:ext cx="0" cy="0"/>
          <a:chOff x="0" y="0"/>
          <a:chExt cx="0" cy="0"/>
        </a:xfrm>
      </p:grpSpPr>
      <p:sp>
        <p:nvSpPr>
          <p:cNvPr id="2" name="Text 0"/>
          <p:cNvSpPr/>
          <p:nvPr/>
        </p:nvSpPr>
        <p:spPr>
          <a:xfrm>
            <a:off x="310896" y="256032"/>
            <a:ext cx="7772400" cy="182880"/>
          </a:xfrm>
          <a:prstGeom prst="rect">
            <a:avLst/>
          </a:prstGeom>
          <a:noFill/>
          <a:ln/>
        </p:spPr>
        <p:txBody>
          <a:bodyPr wrap="square" lIns="0" tIns="0" rIns="0" bIns="0" rtlCol="0" anchor="ctr"/>
          <a:lstStyle/>
          <a:p>
            <a:pPr indent="0" marL="0">
              <a:buNone/>
            </a:pPr>
            <a:r>
              <a:rPr lang="en-US" sz="800" dirty="0">
                <a:solidFill>
                  <a:srgbClr val="708267"/>
                </a:solidFill>
              </a:rPr>
              <a:t>PANTRY NOTES / THE MEASUREMENT NOTEBOOK</a:t>
            </a:r>
            <a:endParaRPr lang="en-US" sz="800" dirty="0"/>
          </a:p>
        </p:txBody>
      </p:sp>
      <p:sp>
        <p:nvSpPr>
          <p:cNvPr id="3" name="Text 1"/>
          <p:cNvSpPr/>
          <p:nvPr/>
        </p:nvSpPr>
        <p:spPr>
          <a:xfrm>
            <a:off x="310896" y="594360"/>
            <a:ext cx="7772400" cy="237744"/>
          </a:xfrm>
          <a:prstGeom prst="rect">
            <a:avLst/>
          </a:prstGeom>
          <a:noFill/>
          <a:ln/>
        </p:spPr>
        <p:txBody>
          <a:bodyPr wrap="square" lIns="0" tIns="0" rIns="0" bIns="0" rtlCol="0" anchor="ctr"/>
          <a:lstStyle/>
          <a:p>
            <a:pPr indent="0" marL="0">
              <a:buNone/>
            </a:pPr>
            <a:r>
              <a:rPr lang="en-US" sz="1400" dirty="0">
                <a:solidFill>
                  <a:srgbClr val="344E41"/>
                </a:solidFill>
                <a:latin typeface="Georgia" pitchFamily="34" charset="0"/>
                <a:ea typeface="Georgia" pitchFamily="34" charset="-122"/>
                <a:cs typeface="Georgia" pitchFamily="34" charset="-120"/>
              </a:rPr>
              <a:t>06 / Describe the model</a:t>
            </a:r>
            <a:endParaRPr lang="en-US" sz="1400" dirty="0"/>
          </a:p>
        </p:txBody>
      </p:sp>
      <p:sp>
        <p:nvSpPr>
          <p:cNvPr id="4" name="Text 2"/>
          <p:cNvSpPr/>
          <p:nvPr/>
        </p:nvSpPr>
        <p:spPr>
          <a:xfrm>
            <a:off x="9784080" y="274320"/>
            <a:ext cx="640080" cy="411480"/>
          </a:xfrm>
          <a:prstGeom prst="rect">
            <a:avLst/>
          </a:prstGeom>
          <a:noFill/>
          <a:ln/>
        </p:spPr>
        <p:txBody>
          <a:bodyPr wrap="square" lIns="0" tIns="0" rIns="0" bIns="0" rtlCol="0" anchor="ctr"/>
          <a:lstStyle/>
          <a:p>
            <a:pPr algn="r" indent="0" marL="0">
              <a:buNone/>
            </a:pPr>
            <a:r>
              <a:rPr lang="en-US" sz="2500" dirty="0">
                <a:solidFill>
                  <a:srgbClr val="B1724C"/>
                </a:solidFill>
              </a:rPr>
              <a:t>22</a:t>
            </a:r>
            <a:endParaRPr lang="en-US" sz="2500" dirty="0"/>
          </a:p>
        </p:txBody>
      </p:sp>
      <p:sp>
        <p:nvSpPr>
          <p:cNvPr id="5" name="Shape 3"/>
          <p:cNvSpPr/>
          <p:nvPr/>
        </p:nvSpPr>
        <p:spPr>
          <a:xfrm>
            <a:off x="310896" y="960120"/>
            <a:ext cx="10149840" cy="0"/>
          </a:xfrm>
          <a:prstGeom prst="line">
            <a:avLst/>
          </a:prstGeom>
          <a:noFill/>
          <a:ln w="12700">
            <a:solidFill>
              <a:srgbClr val="C6D0BC"/>
            </a:solidFill>
            <a:prstDash val="solid"/>
          </a:ln>
        </p:spPr>
      </p:sp>
      <p:pic>
        <p:nvPicPr>
          <p:cNvPr id="6" name="Image 0" descr="/home/user/design-buddy/design-buddy-home/public/atelier/pantry-notes/images/11.jpg">    </p:cNvPr>
          <p:cNvPicPr>
            <a:picLocks noChangeAspect="1"/>
          </p:cNvPicPr>
          <p:nvPr/>
        </p:nvPicPr>
        <p:blipFill>
          <a:blip r:embed="rId1"/>
          <a:srcRect l="0" r="0" t="0" b="0"/>
          <a:stretch/>
        </p:blipFill>
        <p:spPr>
          <a:xfrm>
            <a:off x="310896" y="1207008"/>
            <a:ext cx="6217920" cy="4023360"/>
          </a:xfrm>
          <a:prstGeom prst="rect">
            <a:avLst/>
          </a:prstGeom>
        </p:spPr>
      </p:pic>
      <p:sp>
        <p:nvSpPr>
          <p:cNvPr id="7" name="Text 4"/>
          <p:cNvSpPr/>
          <p:nvPr/>
        </p:nvSpPr>
        <p:spPr>
          <a:xfrm>
            <a:off x="310896" y="5376672"/>
            <a:ext cx="6217920" cy="320040"/>
          </a:xfrm>
          <a:prstGeom prst="rect">
            <a:avLst/>
          </a:prstGeom>
          <a:noFill/>
          <a:ln/>
        </p:spPr>
        <p:txBody>
          <a:bodyPr wrap="square" lIns="0" tIns="0" rIns="0" bIns="0" rtlCol="0" anchor="ctr"/>
          <a:lstStyle/>
          <a:p>
            <a:pPr indent="0" marL="0">
              <a:buNone/>
            </a:pPr>
            <a:r>
              <a:rPr lang="en-US" sz="700" dirty="0">
                <a:solidFill>
                  <a:srgbClr val="7C886F"/>
                </a:solidFill>
              </a:rPr>
              <a:t>Watercolour study 11 / illustration, not measurement evidence</a:t>
            </a:r>
            <a:endParaRPr lang="en-US" sz="700" dirty="0"/>
          </a:p>
        </p:txBody>
      </p:sp>
      <p:sp>
        <p:nvSpPr>
          <p:cNvPr id="8" name="Text 5"/>
          <p:cNvSpPr/>
          <p:nvPr/>
        </p:nvSpPr>
        <p:spPr>
          <a:xfrm>
            <a:off x="6803136" y="1216152"/>
            <a:ext cx="3383280" cy="182880"/>
          </a:xfrm>
          <a:prstGeom prst="rect">
            <a:avLst/>
          </a:prstGeom>
          <a:noFill/>
          <a:ln/>
        </p:spPr>
        <p:txBody>
          <a:bodyPr wrap="square" lIns="0" tIns="0" rIns="0" bIns="0" rtlCol="0" anchor="ctr"/>
          <a:lstStyle/>
          <a:p>
            <a:pPr indent="0" marL="0">
              <a:buNone/>
            </a:pPr>
            <a:r>
              <a:rPr lang="en-US" sz="700" dirty="0">
                <a:solidFill>
                  <a:srgbClr val="A46343"/>
                </a:solidFill>
              </a:rPr>
              <a:t>THE OBSERVATION</a:t>
            </a:r>
            <a:endParaRPr lang="en-US" sz="700" dirty="0"/>
          </a:p>
        </p:txBody>
      </p:sp>
      <p:sp>
        <p:nvSpPr>
          <p:cNvPr id="9" name="Text 6"/>
          <p:cNvSpPr/>
          <p:nvPr/>
        </p:nvSpPr>
        <p:spPr>
          <a:xfrm>
            <a:off x="6803136" y="1554480"/>
            <a:ext cx="3383280" cy="969264"/>
          </a:xfrm>
          <a:prstGeom prst="rect">
            <a:avLst/>
          </a:prstGeom>
          <a:noFill/>
          <a:ln/>
        </p:spPr>
        <p:txBody>
          <a:bodyPr wrap="square" lIns="0" tIns="0" rIns="0" bIns="0" rtlCol="0" anchor="ctr">
            <a:normAutofit/>
          </a:bodyPr>
          <a:lstStyle/>
          <a:p>
            <a:pPr indent="0" marL="0">
              <a:buNone/>
            </a:pPr>
            <a:r>
              <a:rPr lang="en-US" sz="2500" dirty="0">
                <a:solidFill>
                  <a:srgbClr val="3E5743"/>
                </a:solidFill>
                <a:latin typeface="Georgia" pitchFamily="34" charset="0"/>
                <a:ea typeface="Georgia" pitchFamily="34" charset="-122"/>
                <a:cs typeface="Georgia" pitchFamily="34" charset="-120"/>
              </a:rPr>
              <a:t>Separate fixed and variable parts.</a:t>
            </a:r>
            <a:endParaRPr lang="en-US" sz="2500" dirty="0"/>
          </a:p>
        </p:txBody>
      </p:sp>
      <p:sp>
        <p:nvSpPr>
          <p:cNvPr id="10" name="Text 7"/>
          <p:cNvSpPr/>
          <p:nvPr/>
        </p:nvSpPr>
        <p:spPr>
          <a:xfrm>
            <a:off x="6803136" y="2715768"/>
            <a:ext cx="3383280" cy="1883664"/>
          </a:xfrm>
          <a:prstGeom prst="rect">
            <a:avLst/>
          </a:prstGeom>
          <a:noFill/>
          <a:ln/>
        </p:spPr>
        <p:txBody>
          <a:bodyPr wrap="square" lIns="0" tIns="0" rIns="0" bIns="0" rtlCol="0" anchor="t">
            <a:normAutofit/>
          </a:bodyPr>
          <a:lstStyle/>
          <a:p>
            <a:pPr indent="0" marL="0">
              <a:buNone/>
            </a:pPr>
            <a:r>
              <a:rPr lang="en-US" sz="1200" dirty="0">
                <a:solidFill>
                  <a:srgbClr val="344E41"/>
                </a:solidFill>
                <a:latin typeface="Georgia" pitchFamily="34" charset="0"/>
                <a:ea typeface="Georgia" pitchFamily="34" charset="-122"/>
                <a:cs typeface="Georgia" pitchFamily="34" charset="-120"/>
              </a:rPr>
              <a:t>A container contribution and a contents contribution play different roles in a combined reading. If contents change while the same container is retained, record which part was held fixed. Do not compare totals without this context.</a:t>
            </a:r>
            <a:endParaRPr lang="en-US" sz="1200" dirty="0"/>
          </a:p>
        </p:txBody>
      </p:sp>
      <p:sp>
        <p:nvSpPr>
          <p:cNvPr id="11" name="Text 8"/>
          <p:cNvSpPr/>
          <p:nvPr/>
        </p:nvSpPr>
        <p:spPr>
          <a:xfrm>
            <a:off x="6803136" y="4782312"/>
            <a:ext cx="3383280" cy="164592"/>
          </a:xfrm>
          <a:prstGeom prst="rect">
            <a:avLst/>
          </a:prstGeom>
          <a:noFill/>
          <a:ln/>
        </p:spPr>
        <p:txBody>
          <a:bodyPr wrap="square" lIns="0" tIns="0" rIns="0" bIns="0" rtlCol="0" anchor="ctr"/>
          <a:lstStyle/>
          <a:p>
            <a:pPr indent="0" marL="0">
              <a:buNone/>
            </a:pPr>
            <a:r>
              <a:rPr lang="en-US" sz="700" dirty="0">
                <a:solidFill>
                  <a:srgbClr val="A46343"/>
                </a:solidFill>
              </a:rPr>
              <a:t>MODEL / METHOD NOTE</a:t>
            </a:r>
            <a:endParaRPr lang="en-US" sz="700" dirty="0"/>
          </a:p>
        </p:txBody>
      </p:sp>
      <p:sp>
        <p:nvSpPr>
          <p:cNvPr id="12" name="Text 9"/>
          <p:cNvSpPr/>
          <p:nvPr/>
        </p:nvSpPr>
        <p:spPr>
          <a:xfrm>
            <a:off x="6803136" y="5074920"/>
            <a:ext cx="3383280" cy="594360"/>
          </a:xfrm>
          <a:prstGeom prst="rect">
            <a:avLst/>
          </a:prstGeom>
          <a:noFill/>
          <a:ln/>
        </p:spPr>
        <p:txBody>
          <a:bodyPr wrap="square" lIns="0" tIns="0" rIns="0" bIns="0" rtlCol="0" anchor="ctr">
            <a:normAutofit/>
          </a:bodyPr>
          <a:lstStyle/>
          <a:p>
            <a:pPr indent="0" marL="0">
              <a:buNone/>
            </a:pPr>
            <a:r>
              <a:rPr lang="en-US" sz="1000" dirty="0">
                <a:solidFill>
                  <a:srgbClr val="62745B"/>
                </a:solidFill>
                <a:latin typeface="Georgia" pitchFamily="34" charset="0"/>
                <a:ea typeface="Georgia" pitchFamily="34" charset="-122"/>
                <a:cs typeface="Georgia" pitchFamily="34" charset="-120"/>
              </a:rPr>
              <a:t>Combined model = container contribution + contents contribution.</a:t>
            </a:r>
            <a:endParaRPr lang="en-US" sz="1000" dirty="0"/>
          </a:p>
        </p:txBody>
      </p:sp>
      <p:sp>
        <p:nvSpPr>
          <p:cNvPr id="13" name="Shape 10"/>
          <p:cNvSpPr/>
          <p:nvPr/>
        </p:nvSpPr>
        <p:spPr>
          <a:xfrm>
            <a:off x="310896" y="5961888"/>
            <a:ext cx="10149840" cy="1207008"/>
          </a:xfrm>
          <a:prstGeom prst="rect">
            <a:avLst/>
          </a:prstGeom>
          <a:solidFill>
            <a:srgbClr val="E9EDDF"/>
          </a:solidFill>
          <a:ln w="12700">
            <a:solidFill>
              <a:srgbClr val="E9EDDF"/>
            </a:solidFill>
            <a:prstDash val="solid"/>
          </a:ln>
        </p:spPr>
      </p:sp>
      <p:sp>
        <p:nvSpPr>
          <p:cNvPr id="14" name="Text 11"/>
          <p:cNvSpPr/>
          <p:nvPr/>
        </p:nvSpPr>
        <p:spPr>
          <a:xfrm>
            <a:off x="493776" y="6126480"/>
            <a:ext cx="9784080" cy="164592"/>
          </a:xfrm>
          <a:prstGeom prst="rect">
            <a:avLst/>
          </a:prstGeom>
          <a:noFill/>
          <a:ln/>
        </p:spPr>
        <p:txBody>
          <a:bodyPr wrap="square" lIns="0" tIns="0" rIns="0" bIns="0" rtlCol="0" anchor="ctr"/>
          <a:lstStyle/>
          <a:p>
            <a:pPr indent="0" marL="0">
              <a:buNone/>
            </a:pPr>
            <a:r>
              <a:rPr lang="en-US" sz="700" dirty="0">
                <a:solidFill>
                  <a:srgbClr val="A46343"/>
                </a:solidFill>
              </a:rPr>
              <a:t>TRY / REFLECT</a:t>
            </a:r>
            <a:endParaRPr lang="en-US" sz="700" dirty="0"/>
          </a:p>
        </p:txBody>
      </p:sp>
      <p:sp>
        <p:nvSpPr>
          <p:cNvPr id="15" name="Text 12"/>
          <p:cNvSpPr/>
          <p:nvPr/>
        </p:nvSpPr>
        <p:spPr>
          <a:xfrm>
            <a:off x="493776" y="6428232"/>
            <a:ext cx="9784080" cy="384048"/>
          </a:xfrm>
          <a:prstGeom prst="rect">
            <a:avLst/>
          </a:prstGeom>
          <a:noFill/>
          <a:ln/>
        </p:spPr>
        <p:txBody>
          <a:bodyPr wrap="square" lIns="0" tIns="0" rIns="0" bIns="0" rtlCol="0" anchor="ctr">
            <a:normAutofit/>
          </a:bodyPr>
          <a:lstStyle/>
          <a:p>
            <a:pPr indent="0" marL="0">
              <a:buNone/>
            </a:pPr>
            <a:r>
              <a:rPr lang="en-US" sz="1300" dirty="0">
                <a:solidFill>
                  <a:srgbClr val="344E41"/>
                </a:solidFill>
                <a:latin typeface="Georgia" pitchFamily="34" charset="0"/>
                <a:ea typeface="Georgia" pitchFamily="34" charset="-122"/>
                <a:cs typeface="Georgia" pitchFamily="34" charset="-120"/>
              </a:rPr>
              <a:t>Which part would stay fixed if only the contents changed?</a:t>
            </a:r>
            <a:endParaRPr lang="en-US" sz="1300" dirty="0"/>
          </a:p>
        </p:txBody>
      </p:sp>
      <p:sp>
        <p:nvSpPr>
          <p:cNvPr id="16" name="Text 13"/>
          <p:cNvSpPr/>
          <p:nvPr/>
        </p:nvSpPr>
        <p:spPr>
          <a:xfrm>
            <a:off x="493776" y="6940296"/>
            <a:ext cx="9784080" cy="137160"/>
          </a:xfrm>
          <a:prstGeom prst="rect">
            <a:avLst/>
          </a:prstGeom>
          <a:noFill/>
          <a:ln/>
        </p:spPr>
        <p:txBody>
          <a:bodyPr wrap="square" lIns="0" tIns="0" rIns="0" bIns="0" rtlCol="0" anchor="ctr"/>
          <a:lstStyle/>
          <a:p>
            <a:pPr indent="0" marL="0">
              <a:buNone/>
            </a:pPr>
            <a:r>
              <a:rPr lang="en-US" sz="600" dirty="0">
                <a:solidFill>
                  <a:srgbClr val="77836B"/>
                </a:solidFill>
              </a:rPr>
              <a:t>COMPLETE / 32 PAGES / 16 INDEPENDENT MAIN ILLUSTRATIONS / MODEL NUMBERS, NOT REAL READINGS</a:t>
            </a:r>
            <a:endParaRPr lang="en-US" sz="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3"/>
        </a:solidFill>
      </p:bgPr>
    </p:bg>
    <p:spTree>
      <p:nvGrpSpPr>
        <p:cNvPr id="1" name=""/>
        <p:cNvGrpSpPr/>
        <p:nvPr/>
      </p:nvGrpSpPr>
      <p:grpSpPr>
        <a:xfrm>
          <a:off x="0" y="0"/>
          <a:ext cx="0" cy="0"/>
          <a:chOff x="0" y="0"/>
          <a:chExt cx="0" cy="0"/>
        </a:xfrm>
      </p:grpSpPr>
      <p:sp>
        <p:nvSpPr>
          <p:cNvPr id="2" name="Text 0"/>
          <p:cNvSpPr/>
          <p:nvPr/>
        </p:nvSpPr>
        <p:spPr>
          <a:xfrm>
            <a:off x="310896" y="256032"/>
            <a:ext cx="7772400" cy="182880"/>
          </a:xfrm>
          <a:prstGeom prst="rect">
            <a:avLst/>
          </a:prstGeom>
          <a:noFill/>
          <a:ln/>
        </p:spPr>
        <p:txBody>
          <a:bodyPr wrap="square" lIns="0" tIns="0" rIns="0" bIns="0" rtlCol="0" anchor="ctr"/>
          <a:lstStyle/>
          <a:p>
            <a:pPr indent="0" marL="0">
              <a:buNone/>
            </a:pPr>
            <a:r>
              <a:rPr lang="en-US" sz="800" dirty="0">
                <a:solidFill>
                  <a:srgbClr val="708267"/>
                </a:solidFill>
              </a:rPr>
              <a:t>PANTRY NOTES / THE MEASUREMENT NOTEBOOK</a:t>
            </a:r>
            <a:endParaRPr lang="en-US" sz="800" dirty="0"/>
          </a:p>
        </p:txBody>
      </p:sp>
      <p:sp>
        <p:nvSpPr>
          <p:cNvPr id="3" name="Text 1"/>
          <p:cNvSpPr/>
          <p:nvPr/>
        </p:nvSpPr>
        <p:spPr>
          <a:xfrm>
            <a:off x="310896" y="594360"/>
            <a:ext cx="7772400" cy="237744"/>
          </a:xfrm>
          <a:prstGeom prst="rect">
            <a:avLst/>
          </a:prstGeom>
          <a:noFill/>
          <a:ln/>
        </p:spPr>
        <p:txBody>
          <a:bodyPr wrap="square" lIns="0" tIns="0" rIns="0" bIns="0" rtlCol="0" anchor="ctr"/>
          <a:lstStyle/>
          <a:p>
            <a:pPr indent="0" marL="0">
              <a:buNone/>
            </a:pPr>
            <a:r>
              <a:rPr lang="en-US" sz="1400" dirty="0">
                <a:solidFill>
                  <a:srgbClr val="344E41"/>
                </a:solidFill>
                <a:latin typeface="Georgia" pitchFamily="34" charset="0"/>
                <a:ea typeface="Georgia" pitchFamily="34" charset="-122"/>
                <a:cs typeface="Georgia" pitchFamily="34" charset="-120"/>
              </a:rPr>
              <a:t>06 / Describe the model</a:t>
            </a:r>
            <a:endParaRPr lang="en-US" sz="1400" dirty="0"/>
          </a:p>
        </p:txBody>
      </p:sp>
      <p:sp>
        <p:nvSpPr>
          <p:cNvPr id="4" name="Text 2"/>
          <p:cNvSpPr/>
          <p:nvPr/>
        </p:nvSpPr>
        <p:spPr>
          <a:xfrm>
            <a:off x="9784080" y="274320"/>
            <a:ext cx="640080" cy="411480"/>
          </a:xfrm>
          <a:prstGeom prst="rect">
            <a:avLst/>
          </a:prstGeom>
          <a:noFill/>
          <a:ln/>
        </p:spPr>
        <p:txBody>
          <a:bodyPr wrap="square" lIns="0" tIns="0" rIns="0" bIns="0" rtlCol="0" anchor="ctr"/>
          <a:lstStyle/>
          <a:p>
            <a:pPr algn="r" indent="0" marL="0">
              <a:buNone/>
            </a:pPr>
            <a:r>
              <a:rPr lang="en-US" sz="2500" dirty="0">
                <a:solidFill>
                  <a:srgbClr val="B1724C"/>
                </a:solidFill>
              </a:rPr>
              <a:t>23</a:t>
            </a:r>
            <a:endParaRPr lang="en-US" sz="2500" dirty="0"/>
          </a:p>
        </p:txBody>
      </p:sp>
      <p:sp>
        <p:nvSpPr>
          <p:cNvPr id="5" name="Shape 3"/>
          <p:cNvSpPr/>
          <p:nvPr/>
        </p:nvSpPr>
        <p:spPr>
          <a:xfrm>
            <a:off x="310896" y="960120"/>
            <a:ext cx="10149840" cy="0"/>
          </a:xfrm>
          <a:prstGeom prst="line">
            <a:avLst/>
          </a:prstGeom>
          <a:noFill/>
          <a:ln w="12700">
            <a:solidFill>
              <a:srgbClr val="C6D0BC"/>
            </a:solidFill>
            <a:prstDash val="solid"/>
          </a:ln>
        </p:spPr>
      </p:sp>
      <p:pic>
        <p:nvPicPr>
          <p:cNvPr id="6" name="Image 0" descr="/home/user/design-buddy/design-buddy-home/public/atelier/pantry-notes/images/12.jpg">    </p:cNvPr>
          <p:cNvPicPr>
            <a:picLocks noChangeAspect="1"/>
          </p:cNvPicPr>
          <p:nvPr/>
        </p:nvPicPr>
        <p:blipFill>
          <a:blip r:embed="rId1"/>
          <a:srcRect l="0" r="0" t="0" b="0"/>
          <a:stretch/>
        </p:blipFill>
        <p:spPr>
          <a:xfrm>
            <a:off x="310896" y="1207008"/>
            <a:ext cx="6217920" cy="4023360"/>
          </a:xfrm>
          <a:prstGeom prst="rect">
            <a:avLst/>
          </a:prstGeom>
        </p:spPr>
      </p:pic>
      <p:sp>
        <p:nvSpPr>
          <p:cNvPr id="7" name="Text 4"/>
          <p:cNvSpPr/>
          <p:nvPr/>
        </p:nvSpPr>
        <p:spPr>
          <a:xfrm>
            <a:off x="310896" y="5376672"/>
            <a:ext cx="6217920" cy="320040"/>
          </a:xfrm>
          <a:prstGeom prst="rect">
            <a:avLst/>
          </a:prstGeom>
          <a:noFill/>
          <a:ln/>
        </p:spPr>
        <p:txBody>
          <a:bodyPr wrap="square" lIns="0" tIns="0" rIns="0" bIns="0" rtlCol="0" anchor="ctr"/>
          <a:lstStyle/>
          <a:p>
            <a:pPr indent="0" marL="0">
              <a:buNone/>
            </a:pPr>
            <a:r>
              <a:rPr lang="en-US" sz="700" dirty="0">
                <a:solidFill>
                  <a:srgbClr val="7C886F"/>
                </a:solidFill>
              </a:rPr>
              <a:t>Watercolour study 12 / illustration, not measurement evidence</a:t>
            </a:r>
            <a:endParaRPr lang="en-US" sz="700" dirty="0"/>
          </a:p>
        </p:txBody>
      </p:sp>
      <p:sp>
        <p:nvSpPr>
          <p:cNvPr id="8" name="Text 5"/>
          <p:cNvSpPr/>
          <p:nvPr/>
        </p:nvSpPr>
        <p:spPr>
          <a:xfrm>
            <a:off x="6803136" y="1216152"/>
            <a:ext cx="3383280" cy="182880"/>
          </a:xfrm>
          <a:prstGeom prst="rect">
            <a:avLst/>
          </a:prstGeom>
          <a:noFill/>
          <a:ln/>
        </p:spPr>
        <p:txBody>
          <a:bodyPr wrap="square" lIns="0" tIns="0" rIns="0" bIns="0" rtlCol="0" anchor="ctr"/>
          <a:lstStyle/>
          <a:p>
            <a:pPr indent="0" marL="0">
              <a:buNone/>
            </a:pPr>
            <a:r>
              <a:rPr lang="en-US" sz="700" dirty="0">
                <a:solidFill>
                  <a:srgbClr val="A46343"/>
                </a:solidFill>
              </a:rPr>
              <a:t>THE OBSERVATION</a:t>
            </a:r>
            <a:endParaRPr lang="en-US" sz="700" dirty="0"/>
          </a:p>
        </p:txBody>
      </p:sp>
      <p:sp>
        <p:nvSpPr>
          <p:cNvPr id="9" name="Text 6"/>
          <p:cNvSpPr/>
          <p:nvPr/>
        </p:nvSpPr>
        <p:spPr>
          <a:xfrm>
            <a:off x="6803136" y="1554480"/>
            <a:ext cx="3383280" cy="969264"/>
          </a:xfrm>
          <a:prstGeom prst="rect">
            <a:avLst/>
          </a:prstGeom>
          <a:noFill/>
          <a:ln/>
        </p:spPr>
        <p:txBody>
          <a:bodyPr wrap="square" lIns="0" tIns="0" rIns="0" bIns="0" rtlCol="0" anchor="ctr">
            <a:normAutofit/>
          </a:bodyPr>
          <a:lstStyle/>
          <a:p>
            <a:pPr indent="0" marL="0">
              <a:buNone/>
            </a:pPr>
            <a:r>
              <a:rPr lang="en-US" sz="2500" dirty="0">
                <a:solidFill>
                  <a:srgbClr val="3E5743"/>
                </a:solidFill>
                <a:latin typeface="Georgia" pitchFamily="34" charset="0"/>
                <a:ea typeface="Georgia" pitchFamily="34" charset="-122"/>
                <a:cs typeface="Georgia" pitchFamily="34" charset="-120"/>
              </a:rPr>
              <a:t>A discrepancy is a question.</a:t>
            </a:r>
            <a:endParaRPr lang="en-US" sz="2500" dirty="0"/>
          </a:p>
        </p:txBody>
      </p:sp>
      <p:sp>
        <p:nvSpPr>
          <p:cNvPr id="10" name="Text 7"/>
          <p:cNvSpPr/>
          <p:nvPr/>
        </p:nvSpPr>
        <p:spPr>
          <a:xfrm>
            <a:off x="6803136" y="2715768"/>
            <a:ext cx="3383280" cy="1883664"/>
          </a:xfrm>
          <a:prstGeom prst="rect">
            <a:avLst/>
          </a:prstGeom>
          <a:noFill/>
          <a:ln/>
        </p:spPr>
        <p:txBody>
          <a:bodyPr wrap="square" lIns="0" tIns="0" rIns="0" bIns="0" rtlCol="0" anchor="t">
            <a:normAutofit/>
          </a:bodyPr>
          <a:lstStyle/>
          <a:p>
            <a:pPr indent="0" marL="0">
              <a:buNone/>
            </a:pPr>
            <a:r>
              <a:rPr lang="en-US" sz="1200" dirty="0">
                <a:solidFill>
                  <a:srgbClr val="344E41"/>
                </a:solidFill>
                <a:latin typeface="Georgia" pitchFamily="34" charset="0"/>
                <a:ea typeface="Georgia" pitchFamily="34" charset="-122"/>
                <a:cs typeface="Georgia" pitchFamily="34" charset="-120"/>
              </a:rPr>
              <a:t>Different numbers can arise from different objects, methods, notation or instruments. A discrepancy alone does not prove which explanation is correct. Keep the original records and list a checkable question before assigning a cause.</a:t>
            </a:r>
            <a:endParaRPr lang="en-US" sz="1200" dirty="0"/>
          </a:p>
        </p:txBody>
      </p:sp>
      <p:sp>
        <p:nvSpPr>
          <p:cNvPr id="11" name="Text 8"/>
          <p:cNvSpPr/>
          <p:nvPr/>
        </p:nvSpPr>
        <p:spPr>
          <a:xfrm>
            <a:off x="6803136" y="4782312"/>
            <a:ext cx="3383280" cy="164592"/>
          </a:xfrm>
          <a:prstGeom prst="rect">
            <a:avLst/>
          </a:prstGeom>
          <a:noFill/>
          <a:ln/>
        </p:spPr>
        <p:txBody>
          <a:bodyPr wrap="square" lIns="0" tIns="0" rIns="0" bIns="0" rtlCol="0" anchor="ctr"/>
          <a:lstStyle/>
          <a:p>
            <a:pPr indent="0" marL="0">
              <a:buNone/>
            </a:pPr>
            <a:r>
              <a:rPr lang="en-US" sz="700" dirty="0">
                <a:solidFill>
                  <a:srgbClr val="A46343"/>
                </a:solidFill>
              </a:rPr>
              <a:t>MODEL / METHOD NOTE</a:t>
            </a:r>
            <a:endParaRPr lang="en-US" sz="700" dirty="0"/>
          </a:p>
        </p:txBody>
      </p:sp>
      <p:sp>
        <p:nvSpPr>
          <p:cNvPr id="12" name="Text 9"/>
          <p:cNvSpPr/>
          <p:nvPr/>
        </p:nvSpPr>
        <p:spPr>
          <a:xfrm>
            <a:off x="6803136" y="5074920"/>
            <a:ext cx="3383280" cy="594360"/>
          </a:xfrm>
          <a:prstGeom prst="rect">
            <a:avLst/>
          </a:prstGeom>
          <a:noFill/>
          <a:ln/>
        </p:spPr>
        <p:txBody>
          <a:bodyPr wrap="square" lIns="0" tIns="0" rIns="0" bIns="0" rtlCol="0" anchor="ctr">
            <a:normAutofit/>
          </a:bodyPr>
          <a:lstStyle/>
          <a:p>
            <a:pPr indent="0" marL="0">
              <a:buNone/>
            </a:pPr>
            <a:r>
              <a:rPr lang="en-US" sz="1000" dirty="0">
                <a:solidFill>
                  <a:srgbClr val="62745B"/>
                </a:solidFill>
                <a:latin typeface="Georgia" pitchFamily="34" charset="0"/>
                <a:ea typeface="Georgia" pitchFamily="34" charset="-122"/>
                <a:cs typeface="Georgia" pitchFamily="34" charset="-120"/>
              </a:rPr>
              <a:t>Difference observed; cause not established.</a:t>
            </a:r>
            <a:endParaRPr lang="en-US" sz="1000" dirty="0"/>
          </a:p>
        </p:txBody>
      </p:sp>
      <p:sp>
        <p:nvSpPr>
          <p:cNvPr id="13" name="Shape 10"/>
          <p:cNvSpPr/>
          <p:nvPr/>
        </p:nvSpPr>
        <p:spPr>
          <a:xfrm>
            <a:off x="310896" y="5961888"/>
            <a:ext cx="10149840" cy="1207008"/>
          </a:xfrm>
          <a:prstGeom prst="rect">
            <a:avLst/>
          </a:prstGeom>
          <a:solidFill>
            <a:srgbClr val="E9EDDF"/>
          </a:solidFill>
          <a:ln w="12700">
            <a:solidFill>
              <a:srgbClr val="E9EDDF"/>
            </a:solidFill>
            <a:prstDash val="solid"/>
          </a:ln>
        </p:spPr>
      </p:sp>
      <p:sp>
        <p:nvSpPr>
          <p:cNvPr id="14" name="Text 11"/>
          <p:cNvSpPr/>
          <p:nvPr/>
        </p:nvSpPr>
        <p:spPr>
          <a:xfrm>
            <a:off x="493776" y="6126480"/>
            <a:ext cx="9784080" cy="164592"/>
          </a:xfrm>
          <a:prstGeom prst="rect">
            <a:avLst/>
          </a:prstGeom>
          <a:noFill/>
          <a:ln/>
        </p:spPr>
        <p:txBody>
          <a:bodyPr wrap="square" lIns="0" tIns="0" rIns="0" bIns="0" rtlCol="0" anchor="ctr"/>
          <a:lstStyle/>
          <a:p>
            <a:pPr indent="0" marL="0">
              <a:buNone/>
            </a:pPr>
            <a:r>
              <a:rPr lang="en-US" sz="700" dirty="0">
                <a:solidFill>
                  <a:srgbClr val="A46343"/>
                </a:solidFill>
              </a:rPr>
              <a:t>TRY / REFLECT</a:t>
            </a:r>
            <a:endParaRPr lang="en-US" sz="700" dirty="0"/>
          </a:p>
        </p:txBody>
      </p:sp>
      <p:sp>
        <p:nvSpPr>
          <p:cNvPr id="15" name="Text 12"/>
          <p:cNvSpPr/>
          <p:nvPr/>
        </p:nvSpPr>
        <p:spPr>
          <a:xfrm>
            <a:off x="493776" y="6428232"/>
            <a:ext cx="9784080" cy="384048"/>
          </a:xfrm>
          <a:prstGeom prst="rect">
            <a:avLst/>
          </a:prstGeom>
          <a:noFill/>
          <a:ln/>
        </p:spPr>
        <p:txBody>
          <a:bodyPr wrap="square" lIns="0" tIns="0" rIns="0" bIns="0" rtlCol="0" anchor="ctr">
            <a:normAutofit/>
          </a:bodyPr>
          <a:lstStyle/>
          <a:p>
            <a:pPr indent="0" marL="0">
              <a:buNone/>
            </a:pPr>
            <a:r>
              <a:rPr lang="en-US" sz="1300" dirty="0">
                <a:solidFill>
                  <a:srgbClr val="344E41"/>
                </a:solidFill>
                <a:latin typeface="Georgia" pitchFamily="34" charset="0"/>
                <a:ea typeface="Georgia" pitchFamily="34" charset="-122"/>
                <a:cs typeface="Georgia" pitchFamily="34" charset="-120"/>
              </a:rPr>
              <a:t>Write a question that would help distinguish a notation change from an object change.</a:t>
            </a:r>
            <a:endParaRPr lang="en-US" sz="1300" dirty="0"/>
          </a:p>
        </p:txBody>
      </p:sp>
      <p:sp>
        <p:nvSpPr>
          <p:cNvPr id="16" name="Text 13"/>
          <p:cNvSpPr/>
          <p:nvPr/>
        </p:nvSpPr>
        <p:spPr>
          <a:xfrm>
            <a:off x="493776" y="6940296"/>
            <a:ext cx="9784080" cy="137160"/>
          </a:xfrm>
          <a:prstGeom prst="rect">
            <a:avLst/>
          </a:prstGeom>
          <a:noFill/>
          <a:ln/>
        </p:spPr>
        <p:txBody>
          <a:bodyPr wrap="square" lIns="0" tIns="0" rIns="0" bIns="0" rtlCol="0" anchor="ctr"/>
          <a:lstStyle/>
          <a:p>
            <a:pPr indent="0" marL="0">
              <a:buNone/>
            </a:pPr>
            <a:r>
              <a:rPr lang="en-US" sz="600" dirty="0">
                <a:solidFill>
                  <a:srgbClr val="77836B"/>
                </a:solidFill>
              </a:rPr>
              <a:t>COMPLETE / 32 PAGES / 16 INDEPENDENT MAIN ILLUSTRATIONS / MODEL NUMBERS, NOT REAL READINGS</a:t>
            </a:r>
            <a:endParaRPr lang="en-US" sz="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3"/>
        </a:solidFill>
      </p:bgPr>
    </p:bg>
    <p:spTree>
      <p:nvGrpSpPr>
        <p:cNvPr id="1" name=""/>
        <p:cNvGrpSpPr/>
        <p:nvPr/>
      </p:nvGrpSpPr>
      <p:grpSpPr>
        <a:xfrm>
          <a:off x="0" y="0"/>
          <a:ext cx="0" cy="0"/>
          <a:chOff x="0" y="0"/>
          <a:chExt cx="0" cy="0"/>
        </a:xfrm>
      </p:grpSpPr>
      <p:sp>
        <p:nvSpPr>
          <p:cNvPr id="2" name="Text 0"/>
          <p:cNvSpPr/>
          <p:nvPr/>
        </p:nvSpPr>
        <p:spPr>
          <a:xfrm>
            <a:off x="310896" y="256032"/>
            <a:ext cx="7772400" cy="182880"/>
          </a:xfrm>
          <a:prstGeom prst="rect">
            <a:avLst/>
          </a:prstGeom>
          <a:noFill/>
          <a:ln/>
        </p:spPr>
        <p:txBody>
          <a:bodyPr wrap="square" lIns="0" tIns="0" rIns="0" bIns="0" rtlCol="0" anchor="ctr"/>
          <a:lstStyle/>
          <a:p>
            <a:pPr indent="0" marL="0">
              <a:buNone/>
            </a:pPr>
            <a:r>
              <a:rPr lang="en-US" sz="800" dirty="0">
                <a:solidFill>
                  <a:srgbClr val="708267"/>
                </a:solidFill>
              </a:rPr>
              <a:t>PANTRY NOTES / THE MEASUREMENT NOTEBOOK</a:t>
            </a:r>
            <a:endParaRPr lang="en-US" sz="800" dirty="0"/>
          </a:p>
        </p:txBody>
      </p:sp>
      <p:sp>
        <p:nvSpPr>
          <p:cNvPr id="3" name="Text 1"/>
          <p:cNvSpPr/>
          <p:nvPr/>
        </p:nvSpPr>
        <p:spPr>
          <a:xfrm>
            <a:off x="310896" y="594360"/>
            <a:ext cx="7772400" cy="237744"/>
          </a:xfrm>
          <a:prstGeom prst="rect">
            <a:avLst/>
          </a:prstGeom>
          <a:noFill/>
          <a:ln/>
        </p:spPr>
        <p:txBody>
          <a:bodyPr wrap="square" lIns="0" tIns="0" rIns="0" bIns="0" rtlCol="0" anchor="ctr"/>
          <a:lstStyle/>
          <a:p>
            <a:pPr indent="0" marL="0">
              <a:buNone/>
            </a:pPr>
            <a:r>
              <a:rPr lang="en-US" sz="1400" dirty="0">
                <a:solidFill>
                  <a:srgbClr val="344E41"/>
                </a:solidFill>
                <a:latin typeface="Georgia" pitchFamily="34" charset="0"/>
                <a:ea typeface="Georgia" pitchFamily="34" charset="-122"/>
                <a:cs typeface="Georgia" pitchFamily="34" charset="-120"/>
              </a:rPr>
              <a:t>06 / Describe the model</a:t>
            </a:r>
            <a:endParaRPr lang="en-US" sz="1400" dirty="0"/>
          </a:p>
        </p:txBody>
      </p:sp>
      <p:sp>
        <p:nvSpPr>
          <p:cNvPr id="4" name="Text 2"/>
          <p:cNvSpPr/>
          <p:nvPr/>
        </p:nvSpPr>
        <p:spPr>
          <a:xfrm>
            <a:off x="9784080" y="274320"/>
            <a:ext cx="640080" cy="411480"/>
          </a:xfrm>
          <a:prstGeom prst="rect">
            <a:avLst/>
          </a:prstGeom>
          <a:noFill/>
          <a:ln/>
        </p:spPr>
        <p:txBody>
          <a:bodyPr wrap="square" lIns="0" tIns="0" rIns="0" bIns="0" rtlCol="0" anchor="ctr"/>
          <a:lstStyle/>
          <a:p>
            <a:pPr algn="r" indent="0" marL="0">
              <a:buNone/>
            </a:pPr>
            <a:r>
              <a:rPr lang="en-US" sz="2500" dirty="0">
                <a:solidFill>
                  <a:srgbClr val="B1724C"/>
                </a:solidFill>
              </a:rPr>
              <a:t>24</a:t>
            </a:r>
            <a:endParaRPr lang="en-US" sz="2500" dirty="0"/>
          </a:p>
        </p:txBody>
      </p:sp>
      <p:sp>
        <p:nvSpPr>
          <p:cNvPr id="5" name="Shape 3"/>
          <p:cNvSpPr/>
          <p:nvPr/>
        </p:nvSpPr>
        <p:spPr>
          <a:xfrm>
            <a:off x="310896" y="960120"/>
            <a:ext cx="10149840" cy="0"/>
          </a:xfrm>
          <a:prstGeom prst="line">
            <a:avLst/>
          </a:prstGeom>
          <a:noFill/>
          <a:ln w="12700">
            <a:solidFill>
              <a:srgbClr val="C6D0BC"/>
            </a:solidFill>
            <a:prstDash val="solid"/>
          </a:ln>
        </p:spPr>
      </p:sp>
      <p:pic>
        <p:nvPicPr>
          <p:cNvPr id="6" name="Image 0" descr="/home/user/design-buddy/design-buddy-home/public/atelier/pantry-notes/images/12.jpg">    </p:cNvPr>
          <p:cNvPicPr>
            <a:picLocks noChangeAspect="1"/>
          </p:cNvPicPr>
          <p:nvPr/>
        </p:nvPicPr>
        <p:blipFill>
          <a:blip r:embed="rId1"/>
          <a:srcRect l="0" r="0" t="0" b="0"/>
          <a:stretch/>
        </p:blipFill>
        <p:spPr>
          <a:xfrm>
            <a:off x="310896" y="1207008"/>
            <a:ext cx="6217920" cy="4023360"/>
          </a:xfrm>
          <a:prstGeom prst="rect">
            <a:avLst/>
          </a:prstGeom>
        </p:spPr>
      </p:pic>
      <p:sp>
        <p:nvSpPr>
          <p:cNvPr id="7" name="Text 4"/>
          <p:cNvSpPr/>
          <p:nvPr/>
        </p:nvSpPr>
        <p:spPr>
          <a:xfrm>
            <a:off x="310896" y="5376672"/>
            <a:ext cx="6217920" cy="320040"/>
          </a:xfrm>
          <a:prstGeom prst="rect">
            <a:avLst/>
          </a:prstGeom>
          <a:noFill/>
          <a:ln/>
        </p:spPr>
        <p:txBody>
          <a:bodyPr wrap="square" lIns="0" tIns="0" rIns="0" bIns="0" rtlCol="0" anchor="ctr"/>
          <a:lstStyle/>
          <a:p>
            <a:pPr indent="0" marL="0">
              <a:buNone/>
            </a:pPr>
            <a:r>
              <a:rPr lang="en-US" sz="700" dirty="0">
                <a:solidFill>
                  <a:srgbClr val="7C886F"/>
                </a:solidFill>
              </a:rPr>
              <a:t>Watercolour study 12 / illustration, not measurement evidence</a:t>
            </a:r>
            <a:endParaRPr lang="en-US" sz="700" dirty="0"/>
          </a:p>
        </p:txBody>
      </p:sp>
      <p:sp>
        <p:nvSpPr>
          <p:cNvPr id="8" name="Text 5"/>
          <p:cNvSpPr/>
          <p:nvPr/>
        </p:nvSpPr>
        <p:spPr>
          <a:xfrm>
            <a:off x="6803136" y="1216152"/>
            <a:ext cx="3383280" cy="182880"/>
          </a:xfrm>
          <a:prstGeom prst="rect">
            <a:avLst/>
          </a:prstGeom>
          <a:noFill/>
          <a:ln/>
        </p:spPr>
        <p:txBody>
          <a:bodyPr wrap="square" lIns="0" tIns="0" rIns="0" bIns="0" rtlCol="0" anchor="ctr"/>
          <a:lstStyle/>
          <a:p>
            <a:pPr indent="0" marL="0">
              <a:buNone/>
            </a:pPr>
            <a:r>
              <a:rPr lang="en-US" sz="700" dirty="0">
                <a:solidFill>
                  <a:srgbClr val="A46343"/>
                </a:solidFill>
              </a:rPr>
              <a:t>THE OBSERVATION</a:t>
            </a:r>
            <a:endParaRPr lang="en-US" sz="700" dirty="0"/>
          </a:p>
        </p:txBody>
      </p:sp>
      <p:sp>
        <p:nvSpPr>
          <p:cNvPr id="9" name="Text 6"/>
          <p:cNvSpPr/>
          <p:nvPr/>
        </p:nvSpPr>
        <p:spPr>
          <a:xfrm>
            <a:off x="6803136" y="1554480"/>
            <a:ext cx="3383280" cy="969264"/>
          </a:xfrm>
          <a:prstGeom prst="rect">
            <a:avLst/>
          </a:prstGeom>
          <a:noFill/>
          <a:ln/>
        </p:spPr>
        <p:txBody>
          <a:bodyPr wrap="square" lIns="0" tIns="0" rIns="0" bIns="0" rtlCol="0" anchor="ctr">
            <a:normAutofit/>
          </a:bodyPr>
          <a:lstStyle/>
          <a:p>
            <a:pPr indent="0" marL="0">
              <a:buNone/>
            </a:pPr>
            <a:r>
              <a:rPr lang="en-US" sz="2500" dirty="0">
                <a:solidFill>
                  <a:srgbClr val="3E5743"/>
                </a:solidFill>
                <a:latin typeface="Georgia" pitchFamily="34" charset="0"/>
                <a:ea typeface="Georgia" pitchFamily="34" charset="-122"/>
                <a:cs typeface="Georgia" pitchFamily="34" charset="-120"/>
              </a:rPr>
              <a:t>A range is a description.</a:t>
            </a:r>
            <a:endParaRPr lang="en-US" sz="2500" dirty="0"/>
          </a:p>
        </p:txBody>
      </p:sp>
      <p:sp>
        <p:nvSpPr>
          <p:cNvPr id="10" name="Text 7"/>
          <p:cNvSpPr/>
          <p:nvPr/>
        </p:nvSpPr>
        <p:spPr>
          <a:xfrm>
            <a:off x="6803136" y="2715768"/>
            <a:ext cx="3383280" cy="1883664"/>
          </a:xfrm>
          <a:prstGeom prst="rect">
            <a:avLst/>
          </a:prstGeom>
          <a:noFill/>
          <a:ln/>
        </p:spPr>
        <p:txBody>
          <a:bodyPr wrap="square" lIns="0" tIns="0" rIns="0" bIns="0" rtlCol="0" anchor="t">
            <a:normAutofit/>
          </a:bodyPr>
          <a:lstStyle/>
          <a:p>
            <a:pPr indent="0" marL="0">
              <a:buNone/>
            </a:pPr>
            <a:r>
              <a:rPr lang="en-US" sz="1200" dirty="0">
                <a:solidFill>
                  <a:srgbClr val="344E41"/>
                </a:solidFill>
                <a:latin typeface="Georgia" pitchFamily="34" charset="0"/>
                <a:ea typeface="Georgia" pitchFamily="34" charset="-122"/>
                <a:cs typeface="Georgia" pitchFamily="34" charset="-120"/>
              </a:rPr>
              <a:t>For the invented readings 98 g, 100 g and 102 g, the range is 4 g. This is the difference between largest and smallest in this set, not an uncertainty guarantee or a limit on future readings.</a:t>
            </a:r>
            <a:endParaRPr lang="en-US" sz="1200" dirty="0"/>
          </a:p>
        </p:txBody>
      </p:sp>
      <p:sp>
        <p:nvSpPr>
          <p:cNvPr id="11" name="Text 8"/>
          <p:cNvSpPr/>
          <p:nvPr/>
        </p:nvSpPr>
        <p:spPr>
          <a:xfrm>
            <a:off x="6803136" y="4782312"/>
            <a:ext cx="3383280" cy="164592"/>
          </a:xfrm>
          <a:prstGeom prst="rect">
            <a:avLst/>
          </a:prstGeom>
          <a:noFill/>
          <a:ln/>
        </p:spPr>
        <p:txBody>
          <a:bodyPr wrap="square" lIns="0" tIns="0" rIns="0" bIns="0" rtlCol="0" anchor="ctr"/>
          <a:lstStyle/>
          <a:p>
            <a:pPr indent="0" marL="0">
              <a:buNone/>
            </a:pPr>
            <a:r>
              <a:rPr lang="en-US" sz="700" dirty="0">
                <a:solidFill>
                  <a:srgbClr val="A46343"/>
                </a:solidFill>
              </a:rPr>
              <a:t>MODEL / METHOD NOTE</a:t>
            </a:r>
            <a:endParaRPr lang="en-US" sz="700" dirty="0"/>
          </a:p>
        </p:txBody>
      </p:sp>
      <p:sp>
        <p:nvSpPr>
          <p:cNvPr id="12" name="Text 9"/>
          <p:cNvSpPr/>
          <p:nvPr/>
        </p:nvSpPr>
        <p:spPr>
          <a:xfrm>
            <a:off x="6803136" y="5074920"/>
            <a:ext cx="3383280" cy="594360"/>
          </a:xfrm>
          <a:prstGeom prst="rect">
            <a:avLst/>
          </a:prstGeom>
          <a:noFill/>
          <a:ln/>
        </p:spPr>
        <p:txBody>
          <a:bodyPr wrap="square" lIns="0" tIns="0" rIns="0" bIns="0" rtlCol="0" anchor="ctr">
            <a:normAutofit/>
          </a:bodyPr>
          <a:lstStyle/>
          <a:p>
            <a:pPr indent="0" marL="0">
              <a:buNone/>
            </a:pPr>
            <a:r>
              <a:rPr lang="en-US" sz="1000" dirty="0">
                <a:solidFill>
                  <a:srgbClr val="62745B"/>
                </a:solidFill>
                <a:latin typeface="Georgia" pitchFamily="34" charset="0"/>
                <a:ea typeface="Georgia" pitchFamily="34" charset="-122"/>
                <a:cs typeface="Georgia" pitchFamily="34" charset="-120"/>
              </a:rPr>
              <a:t>102 g − 98 g = 4 g.</a:t>
            </a:r>
            <a:endParaRPr lang="en-US" sz="1000" dirty="0"/>
          </a:p>
        </p:txBody>
      </p:sp>
      <p:sp>
        <p:nvSpPr>
          <p:cNvPr id="13" name="Shape 10"/>
          <p:cNvSpPr/>
          <p:nvPr/>
        </p:nvSpPr>
        <p:spPr>
          <a:xfrm>
            <a:off x="310896" y="5961888"/>
            <a:ext cx="10149840" cy="1207008"/>
          </a:xfrm>
          <a:prstGeom prst="rect">
            <a:avLst/>
          </a:prstGeom>
          <a:solidFill>
            <a:srgbClr val="E9EDDF"/>
          </a:solidFill>
          <a:ln w="12700">
            <a:solidFill>
              <a:srgbClr val="E9EDDF"/>
            </a:solidFill>
            <a:prstDash val="solid"/>
          </a:ln>
        </p:spPr>
      </p:sp>
      <p:sp>
        <p:nvSpPr>
          <p:cNvPr id="14" name="Text 11"/>
          <p:cNvSpPr/>
          <p:nvPr/>
        </p:nvSpPr>
        <p:spPr>
          <a:xfrm>
            <a:off x="493776" y="6126480"/>
            <a:ext cx="9784080" cy="164592"/>
          </a:xfrm>
          <a:prstGeom prst="rect">
            <a:avLst/>
          </a:prstGeom>
          <a:noFill/>
          <a:ln/>
        </p:spPr>
        <p:txBody>
          <a:bodyPr wrap="square" lIns="0" tIns="0" rIns="0" bIns="0" rtlCol="0" anchor="ctr"/>
          <a:lstStyle/>
          <a:p>
            <a:pPr indent="0" marL="0">
              <a:buNone/>
            </a:pPr>
            <a:r>
              <a:rPr lang="en-US" sz="700" dirty="0">
                <a:solidFill>
                  <a:srgbClr val="A46343"/>
                </a:solidFill>
              </a:rPr>
              <a:t>TRY / REFLECT</a:t>
            </a:r>
            <a:endParaRPr lang="en-US" sz="700" dirty="0"/>
          </a:p>
        </p:txBody>
      </p:sp>
      <p:sp>
        <p:nvSpPr>
          <p:cNvPr id="15" name="Text 12"/>
          <p:cNvSpPr/>
          <p:nvPr/>
        </p:nvSpPr>
        <p:spPr>
          <a:xfrm>
            <a:off x="493776" y="6428232"/>
            <a:ext cx="9784080" cy="384048"/>
          </a:xfrm>
          <a:prstGeom prst="rect">
            <a:avLst/>
          </a:prstGeom>
          <a:noFill/>
          <a:ln/>
        </p:spPr>
        <p:txBody>
          <a:bodyPr wrap="square" lIns="0" tIns="0" rIns="0" bIns="0" rtlCol="0" anchor="ctr">
            <a:normAutofit/>
          </a:bodyPr>
          <a:lstStyle/>
          <a:p>
            <a:pPr indent="0" marL="0">
              <a:buNone/>
            </a:pPr>
            <a:r>
              <a:rPr lang="en-US" sz="1300" dirty="0">
                <a:solidFill>
                  <a:srgbClr val="344E41"/>
                </a:solidFill>
                <a:latin typeface="Georgia" pitchFamily="34" charset="0"/>
                <a:ea typeface="Georgia" pitchFamily="34" charset="-122"/>
                <a:cs typeface="Georgia" pitchFamily="34" charset="-120"/>
              </a:rPr>
              <a:t>Why could a later observation lie outside this three-value range?</a:t>
            </a:r>
            <a:endParaRPr lang="en-US" sz="1300" dirty="0"/>
          </a:p>
        </p:txBody>
      </p:sp>
      <p:sp>
        <p:nvSpPr>
          <p:cNvPr id="16" name="Text 13"/>
          <p:cNvSpPr/>
          <p:nvPr/>
        </p:nvSpPr>
        <p:spPr>
          <a:xfrm>
            <a:off x="493776" y="6940296"/>
            <a:ext cx="9784080" cy="137160"/>
          </a:xfrm>
          <a:prstGeom prst="rect">
            <a:avLst/>
          </a:prstGeom>
          <a:noFill/>
          <a:ln/>
        </p:spPr>
        <p:txBody>
          <a:bodyPr wrap="square" lIns="0" tIns="0" rIns="0" bIns="0" rtlCol="0" anchor="ctr"/>
          <a:lstStyle/>
          <a:p>
            <a:pPr indent="0" marL="0">
              <a:buNone/>
            </a:pPr>
            <a:r>
              <a:rPr lang="en-US" sz="600" dirty="0">
                <a:solidFill>
                  <a:srgbClr val="77836B"/>
                </a:solidFill>
              </a:rPr>
              <a:t>COMPLETE / 32 PAGES / 16 INDEPENDENT MAIN ILLUSTRATIONS / MODEL NUMBERS, NOT REAL READINGS</a:t>
            </a:r>
            <a:endParaRPr lang="en-US" sz="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3"/>
        </a:solidFill>
      </p:bgPr>
    </p:bg>
    <p:spTree>
      <p:nvGrpSpPr>
        <p:cNvPr id="1" name=""/>
        <p:cNvGrpSpPr/>
        <p:nvPr/>
      </p:nvGrpSpPr>
      <p:grpSpPr>
        <a:xfrm>
          <a:off x="0" y="0"/>
          <a:ext cx="0" cy="0"/>
          <a:chOff x="0" y="0"/>
          <a:chExt cx="0" cy="0"/>
        </a:xfrm>
      </p:grpSpPr>
      <p:sp>
        <p:nvSpPr>
          <p:cNvPr id="2" name="Text 0"/>
          <p:cNvSpPr/>
          <p:nvPr/>
        </p:nvSpPr>
        <p:spPr>
          <a:xfrm>
            <a:off x="310896" y="256032"/>
            <a:ext cx="7772400" cy="182880"/>
          </a:xfrm>
          <a:prstGeom prst="rect">
            <a:avLst/>
          </a:prstGeom>
          <a:noFill/>
          <a:ln/>
        </p:spPr>
        <p:txBody>
          <a:bodyPr wrap="square" lIns="0" tIns="0" rIns="0" bIns="0" rtlCol="0" anchor="ctr"/>
          <a:lstStyle/>
          <a:p>
            <a:pPr indent="0" marL="0">
              <a:buNone/>
            </a:pPr>
            <a:r>
              <a:rPr lang="en-US" sz="800" dirty="0">
                <a:solidFill>
                  <a:srgbClr val="708267"/>
                </a:solidFill>
              </a:rPr>
              <a:t>PANTRY NOTES / THE MEASUREMENT NOTEBOOK</a:t>
            </a:r>
            <a:endParaRPr lang="en-US" sz="800" dirty="0"/>
          </a:p>
        </p:txBody>
      </p:sp>
      <p:sp>
        <p:nvSpPr>
          <p:cNvPr id="3" name="Text 1"/>
          <p:cNvSpPr/>
          <p:nvPr/>
        </p:nvSpPr>
        <p:spPr>
          <a:xfrm>
            <a:off x="310896" y="594360"/>
            <a:ext cx="7772400" cy="237744"/>
          </a:xfrm>
          <a:prstGeom prst="rect">
            <a:avLst/>
          </a:prstGeom>
          <a:noFill/>
          <a:ln/>
        </p:spPr>
        <p:txBody>
          <a:bodyPr wrap="square" lIns="0" tIns="0" rIns="0" bIns="0" rtlCol="0" anchor="ctr"/>
          <a:lstStyle/>
          <a:p>
            <a:pPr indent="0" marL="0">
              <a:buNone/>
            </a:pPr>
            <a:r>
              <a:rPr lang="en-US" sz="1400" dirty="0">
                <a:solidFill>
                  <a:srgbClr val="344E41"/>
                </a:solidFill>
                <a:latin typeface="Georgia" pitchFamily="34" charset="0"/>
                <a:ea typeface="Georgia" pitchFamily="34" charset="-122"/>
                <a:cs typeface="Georgia" pitchFamily="34" charset="-120"/>
              </a:rPr>
              <a:t>07 / Share the context</a:t>
            </a:r>
            <a:endParaRPr lang="en-US" sz="1400" dirty="0"/>
          </a:p>
        </p:txBody>
      </p:sp>
      <p:sp>
        <p:nvSpPr>
          <p:cNvPr id="4" name="Text 2"/>
          <p:cNvSpPr/>
          <p:nvPr/>
        </p:nvSpPr>
        <p:spPr>
          <a:xfrm>
            <a:off x="9784080" y="274320"/>
            <a:ext cx="640080" cy="411480"/>
          </a:xfrm>
          <a:prstGeom prst="rect">
            <a:avLst/>
          </a:prstGeom>
          <a:noFill/>
          <a:ln/>
        </p:spPr>
        <p:txBody>
          <a:bodyPr wrap="square" lIns="0" tIns="0" rIns="0" bIns="0" rtlCol="0" anchor="ctr"/>
          <a:lstStyle/>
          <a:p>
            <a:pPr algn="r" indent="0" marL="0">
              <a:buNone/>
            </a:pPr>
            <a:r>
              <a:rPr lang="en-US" sz="2500" dirty="0">
                <a:solidFill>
                  <a:srgbClr val="B1724C"/>
                </a:solidFill>
              </a:rPr>
              <a:t>25</a:t>
            </a:r>
            <a:endParaRPr lang="en-US" sz="2500" dirty="0"/>
          </a:p>
        </p:txBody>
      </p:sp>
      <p:sp>
        <p:nvSpPr>
          <p:cNvPr id="5" name="Shape 3"/>
          <p:cNvSpPr/>
          <p:nvPr/>
        </p:nvSpPr>
        <p:spPr>
          <a:xfrm>
            <a:off x="310896" y="960120"/>
            <a:ext cx="10149840" cy="0"/>
          </a:xfrm>
          <a:prstGeom prst="line">
            <a:avLst/>
          </a:prstGeom>
          <a:noFill/>
          <a:ln w="12700">
            <a:solidFill>
              <a:srgbClr val="C6D0BC"/>
            </a:solidFill>
            <a:prstDash val="solid"/>
          </a:ln>
        </p:spPr>
      </p:sp>
      <p:pic>
        <p:nvPicPr>
          <p:cNvPr id="6" name="Image 0" descr="/home/user/design-buddy/design-buddy-home/public/atelier/pantry-notes/images/13.jpg">    </p:cNvPr>
          <p:cNvPicPr>
            <a:picLocks noChangeAspect="1"/>
          </p:cNvPicPr>
          <p:nvPr/>
        </p:nvPicPr>
        <p:blipFill>
          <a:blip r:embed="rId1"/>
          <a:srcRect l="0" r="0" t="0" b="0"/>
          <a:stretch/>
        </p:blipFill>
        <p:spPr>
          <a:xfrm>
            <a:off x="310896" y="1207008"/>
            <a:ext cx="6217920" cy="4023360"/>
          </a:xfrm>
          <a:prstGeom prst="rect">
            <a:avLst/>
          </a:prstGeom>
        </p:spPr>
      </p:pic>
      <p:sp>
        <p:nvSpPr>
          <p:cNvPr id="7" name="Text 4"/>
          <p:cNvSpPr/>
          <p:nvPr/>
        </p:nvSpPr>
        <p:spPr>
          <a:xfrm>
            <a:off x="310896" y="5376672"/>
            <a:ext cx="6217920" cy="320040"/>
          </a:xfrm>
          <a:prstGeom prst="rect">
            <a:avLst/>
          </a:prstGeom>
          <a:noFill/>
          <a:ln/>
        </p:spPr>
        <p:txBody>
          <a:bodyPr wrap="square" lIns="0" tIns="0" rIns="0" bIns="0" rtlCol="0" anchor="ctr"/>
          <a:lstStyle/>
          <a:p>
            <a:pPr indent="0" marL="0">
              <a:buNone/>
            </a:pPr>
            <a:r>
              <a:rPr lang="en-US" sz="700" dirty="0">
                <a:solidFill>
                  <a:srgbClr val="7C886F"/>
                </a:solidFill>
              </a:rPr>
              <a:t>Watercolour study 13 / illustration, not measurement evidence</a:t>
            </a:r>
            <a:endParaRPr lang="en-US" sz="700" dirty="0"/>
          </a:p>
        </p:txBody>
      </p:sp>
      <p:sp>
        <p:nvSpPr>
          <p:cNvPr id="8" name="Text 5"/>
          <p:cNvSpPr/>
          <p:nvPr/>
        </p:nvSpPr>
        <p:spPr>
          <a:xfrm>
            <a:off x="6803136" y="1216152"/>
            <a:ext cx="3383280" cy="182880"/>
          </a:xfrm>
          <a:prstGeom prst="rect">
            <a:avLst/>
          </a:prstGeom>
          <a:noFill/>
          <a:ln/>
        </p:spPr>
        <p:txBody>
          <a:bodyPr wrap="square" lIns="0" tIns="0" rIns="0" bIns="0" rtlCol="0" anchor="ctr"/>
          <a:lstStyle/>
          <a:p>
            <a:pPr indent="0" marL="0">
              <a:buNone/>
            </a:pPr>
            <a:r>
              <a:rPr lang="en-US" sz="700" dirty="0">
                <a:solidFill>
                  <a:srgbClr val="A46343"/>
                </a:solidFill>
              </a:rPr>
              <a:t>THE OBSERVATION</a:t>
            </a:r>
            <a:endParaRPr lang="en-US" sz="700" dirty="0"/>
          </a:p>
        </p:txBody>
      </p:sp>
      <p:sp>
        <p:nvSpPr>
          <p:cNvPr id="9" name="Text 6"/>
          <p:cNvSpPr/>
          <p:nvPr/>
        </p:nvSpPr>
        <p:spPr>
          <a:xfrm>
            <a:off x="6803136" y="1554480"/>
            <a:ext cx="3383280" cy="969264"/>
          </a:xfrm>
          <a:prstGeom prst="rect">
            <a:avLst/>
          </a:prstGeom>
          <a:noFill/>
          <a:ln/>
        </p:spPr>
        <p:txBody>
          <a:bodyPr wrap="square" lIns="0" tIns="0" rIns="0" bIns="0" rtlCol="0" anchor="ctr">
            <a:normAutofit/>
          </a:bodyPr>
          <a:lstStyle/>
          <a:p>
            <a:pPr indent="0" marL="0">
              <a:buNone/>
            </a:pPr>
            <a:r>
              <a:rPr lang="en-US" sz="2500" dirty="0">
                <a:solidFill>
                  <a:srgbClr val="3E5743"/>
                </a:solidFill>
                <a:latin typeface="Georgia" pitchFamily="34" charset="0"/>
                <a:ea typeface="Georgia" pitchFamily="34" charset="-122"/>
                <a:cs typeface="Georgia" pitchFamily="34" charset="-120"/>
              </a:rPr>
              <a:t>Keep the origin attached.</a:t>
            </a:r>
            <a:endParaRPr lang="en-US" sz="2500" dirty="0"/>
          </a:p>
        </p:txBody>
      </p:sp>
      <p:sp>
        <p:nvSpPr>
          <p:cNvPr id="10" name="Text 7"/>
          <p:cNvSpPr/>
          <p:nvPr/>
        </p:nvSpPr>
        <p:spPr>
          <a:xfrm>
            <a:off x="6803136" y="2715768"/>
            <a:ext cx="3383280" cy="1883664"/>
          </a:xfrm>
          <a:prstGeom prst="rect">
            <a:avLst/>
          </a:prstGeom>
          <a:noFill/>
          <a:ln/>
        </p:spPr>
        <p:txBody>
          <a:bodyPr wrap="square" lIns="0" tIns="0" rIns="0" bIns="0" rtlCol="0" anchor="t">
            <a:normAutofit/>
          </a:bodyPr>
          <a:lstStyle/>
          <a:p>
            <a:pPr indent="0" marL="0">
              <a:buNone/>
            </a:pPr>
            <a:r>
              <a:rPr lang="en-US" sz="1200" dirty="0">
                <a:solidFill>
                  <a:srgbClr val="344E41"/>
                </a:solidFill>
                <a:latin typeface="Georgia" pitchFamily="34" charset="0"/>
                <a:ea typeface="Georgia" pitchFamily="34" charset="-122"/>
                <a:cs typeface="Georgia" pitchFamily="34" charset="-120"/>
              </a:rPr>
              <a:t>When sharing an example, state whether the values were invented, observed or copied from a named source. All numbers in this journal are learning models. The illustrations do not document an actual measurement session.</a:t>
            </a:r>
            <a:endParaRPr lang="en-US" sz="1200" dirty="0"/>
          </a:p>
        </p:txBody>
      </p:sp>
      <p:sp>
        <p:nvSpPr>
          <p:cNvPr id="11" name="Text 8"/>
          <p:cNvSpPr/>
          <p:nvPr/>
        </p:nvSpPr>
        <p:spPr>
          <a:xfrm>
            <a:off x="6803136" y="4782312"/>
            <a:ext cx="3383280" cy="164592"/>
          </a:xfrm>
          <a:prstGeom prst="rect">
            <a:avLst/>
          </a:prstGeom>
          <a:noFill/>
          <a:ln/>
        </p:spPr>
        <p:txBody>
          <a:bodyPr wrap="square" lIns="0" tIns="0" rIns="0" bIns="0" rtlCol="0" anchor="ctr"/>
          <a:lstStyle/>
          <a:p>
            <a:pPr indent="0" marL="0">
              <a:buNone/>
            </a:pPr>
            <a:r>
              <a:rPr lang="en-US" sz="700" dirty="0">
                <a:solidFill>
                  <a:srgbClr val="A46343"/>
                </a:solidFill>
              </a:rPr>
              <a:t>MODEL / METHOD NOTE</a:t>
            </a:r>
            <a:endParaRPr lang="en-US" sz="700" dirty="0"/>
          </a:p>
        </p:txBody>
      </p:sp>
      <p:sp>
        <p:nvSpPr>
          <p:cNvPr id="12" name="Text 9"/>
          <p:cNvSpPr/>
          <p:nvPr/>
        </p:nvSpPr>
        <p:spPr>
          <a:xfrm>
            <a:off x="6803136" y="5074920"/>
            <a:ext cx="3383280" cy="594360"/>
          </a:xfrm>
          <a:prstGeom prst="rect">
            <a:avLst/>
          </a:prstGeom>
          <a:noFill/>
          <a:ln/>
        </p:spPr>
        <p:txBody>
          <a:bodyPr wrap="square" lIns="0" tIns="0" rIns="0" bIns="0" rtlCol="0" anchor="ctr">
            <a:normAutofit/>
          </a:bodyPr>
          <a:lstStyle/>
          <a:p>
            <a:pPr indent="0" marL="0">
              <a:buNone/>
            </a:pPr>
            <a:r>
              <a:rPr lang="en-US" sz="1000" dirty="0">
                <a:solidFill>
                  <a:srgbClr val="62745B"/>
                </a:solidFill>
                <a:latin typeface="Georgia" pitchFamily="34" charset="0"/>
                <a:ea typeface="Georgia" pitchFamily="34" charset="-122"/>
                <a:cs typeface="Georgia" pitchFamily="34" charset="-120"/>
              </a:rPr>
              <a:t>Source label: fictional arithmetic for measurement literacy.</a:t>
            </a:r>
            <a:endParaRPr lang="en-US" sz="1000" dirty="0"/>
          </a:p>
        </p:txBody>
      </p:sp>
      <p:sp>
        <p:nvSpPr>
          <p:cNvPr id="13" name="Shape 10"/>
          <p:cNvSpPr/>
          <p:nvPr/>
        </p:nvSpPr>
        <p:spPr>
          <a:xfrm>
            <a:off x="310896" y="5961888"/>
            <a:ext cx="10149840" cy="1207008"/>
          </a:xfrm>
          <a:prstGeom prst="rect">
            <a:avLst/>
          </a:prstGeom>
          <a:solidFill>
            <a:srgbClr val="E9EDDF"/>
          </a:solidFill>
          <a:ln w="12700">
            <a:solidFill>
              <a:srgbClr val="E9EDDF"/>
            </a:solidFill>
            <a:prstDash val="solid"/>
          </a:ln>
        </p:spPr>
      </p:sp>
      <p:sp>
        <p:nvSpPr>
          <p:cNvPr id="14" name="Text 11"/>
          <p:cNvSpPr/>
          <p:nvPr/>
        </p:nvSpPr>
        <p:spPr>
          <a:xfrm>
            <a:off x="493776" y="6126480"/>
            <a:ext cx="9784080" cy="164592"/>
          </a:xfrm>
          <a:prstGeom prst="rect">
            <a:avLst/>
          </a:prstGeom>
          <a:noFill/>
          <a:ln/>
        </p:spPr>
        <p:txBody>
          <a:bodyPr wrap="square" lIns="0" tIns="0" rIns="0" bIns="0" rtlCol="0" anchor="ctr"/>
          <a:lstStyle/>
          <a:p>
            <a:pPr indent="0" marL="0">
              <a:buNone/>
            </a:pPr>
            <a:r>
              <a:rPr lang="en-US" sz="700" dirty="0">
                <a:solidFill>
                  <a:srgbClr val="A46343"/>
                </a:solidFill>
              </a:rPr>
              <a:t>TRY / REFLECT</a:t>
            </a:r>
            <a:endParaRPr lang="en-US" sz="700" dirty="0"/>
          </a:p>
        </p:txBody>
      </p:sp>
      <p:sp>
        <p:nvSpPr>
          <p:cNvPr id="15" name="Text 12"/>
          <p:cNvSpPr/>
          <p:nvPr/>
        </p:nvSpPr>
        <p:spPr>
          <a:xfrm>
            <a:off x="493776" y="6428232"/>
            <a:ext cx="9784080" cy="384048"/>
          </a:xfrm>
          <a:prstGeom prst="rect">
            <a:avLst/>
          </a:prstGeom>
          <a:noFill/>
          <a:ln/>
        </p:spPr>
        <p:txBody>
          <a:bodyPr wrap="square" lIns="0" tIns="0" rIns="0" bIns="0" rtlCol="0" anchor="ctr">
            <a:normAutofit/>
          </a:bodyPr>
          <a:lstStyle/>
          <a:p>
            <a:pPr indent="0" marL="0">
              <a:buNone/>
            </a:pPr>
            <a:r>
              <a:rPr lang="en-US" sz="1300" dirty="0">
                <a:solidFill>
                  <a:srgbClr val="344E41"/>
                </a:solidFill>
                <a:latin typeface="Georgia" pitchFamily="34" charset="0"/>
                <a:ea typeface="Georgia" pitchFamily="34" charset="-122"/>
                <a:cs typeface="Georgia" pitchFamily="34" charset="-120"/>
              </a:rPr>
              <a:t>How would you stop someone mistaking this page for real measurement evidence?</a:t>
            </a:r>
            <a:endParaRPr lang="en-US" sz="1300" dirty="0"/>
          </a:p>
        </p:txBody>
      </p:sp>
      <p:sp>
        <p:nvSpPr>
          <p:cNvPr id="16" name="Text 13"/>
          <p:cNvSpPr/>
          <p:nvPr/>
        </p:nvSpPr>
        <p:spPr>
          <a:xfrm>
            <a:off x="493776" y="6940296"/>
            <a:ext cx="9784080" cy="137160"/>
          </a:xfrm>
          <a:prstGeom prst="rect">
            <a:avLst/>
          </a:prstGeom>
          <a:noFill/>
          <a:ln/>
        </p:spPr>
        <p:txBody>
          <a:bodyPr wrap="square" lIns="0" tIns="0" rIns="0" bIns="0" rtlCol="0" anchor="ctr"/>
          <a:lstStyle/>
          <a:p>
            <a:pPr indent="0" marL="0">
              <a:buNone/>
            </a:pPr>
            <a:r>
              <a:rPr lang="en-US" sz="600" dirty="0">
                <a:solidFill>
                  <a:srgbClr val="77836B"/>
                </a:solidFill>
              </a:rPr>
              <a:t>COMPLETE / 32 PAGES / 16 INDEPENDENT MAIN ILLUSTRATIONS / MODEL NUMBERS, NOT REAL READINGS</a:t>
            </a:r>
            <a:endParaRPr lang="en-US" sz="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3"/>
        </a:solidFill>
      </p:bgPr>
    </p:bg>
    <p:spTree>
      <p:nvGrpSpPr>
        <p:cNvPr id="1" name=""/>
        <p:cNvGrpSpPr/>
        <p:nvPr/>
      </p:nvGrpSpPr>
      <p:grpSpPr>
        <a:xfrm>
          <a:off x="0" y="0"/>
          <a:ext cx="0" cy="0"/>
          <a:chOff x="0" y="0"/>
          <a:chExt cx="0" cy="0"/>
        </a:xfrm>
      </p:grpSpPr>
      <p:sp>
        <p:nvSpPr>
          <p:cNvPr id="2" name="Text 0"/>
          <p:cNvSpPr/>
          <p:nvPr/>
        </p:nvSpPr>
        <p:spPr>
          <a:xfrm>
            <a:off x="310896" y="256032"/>
            <a:ext cx="7772400" cy="182880"/>
          </a:xfrm>
          <a:prstGeom prst="rect">
            <a:avLst/>
          </a:prstGeom>
          <a:noFill/>
          <a:ln/>
        </p:spPr>
        <p:txBody>
          <a:bodyPr wrap="square" lIns="0" tIns="0" rIns="0" bIns="0" rtlCol="0" anchor="ctr"/>
          <a:lstStyle/>
          <a:p>
            <a:pPr indent="0" marL="0">
              <a:buNone/>
            </a:pPr>
            <a:r>
              <a:rPr lang="en-US" sz="800" dirty="0">
                <a:solidFill>
                  <a:srgbClr val="708267"/>
                </a:solidFill>
              </a:rPr>
              <a:t>PANTRY NOTES / THE MEASUREMENT NOTEBOOK</a:t>
            </a:r>
            <a:endParaRPr lang="en-US" sz="800" dirty="0"/>
          </a:p>
        </p:txBody>
      </p:sp>
      <p:sp>
        <p:nvSpPr>
          <p:cNvPr id="3" name="Text 1"/>
          <p:cNvSpPr/>
          <p:nvPr/>
        </p:nvSpPr>
        <p:spPr>
          <a:xfrm>
            <a:off x="310896" y="594360"/>
            <a:ext cx="7772400" cy="237744"/>
          </a:xfrm>
          <a:prstGeom prst="rect">
            <a:avLst/>
          </a:prstGeom>
          <a:noFill/>
          <a:ln/>
        </p:spPr>
        <p:txBody>
          <a:bodyPr wrap="square" lIns="0" tIns="0" rIns="0" bIns="0" rtlCol="0" anchor="ctr"/>
          <a:lstStyle/>
          <a:p>
            <a:pPr indent="0" marL="0">
              <a:buNone/>
            </a:pPr>
            <a:r>
              <a:rPr lang="en-US" sz="1400" dirty="0">
                <a:solidFill>
                  <a:srgbClr val="344E41"/>
                </a:solidFill>
                <a:latin typeface="Georgia" pitchFamily="34" charset="0"/>
                <a:ea typeface="Georgia" pitchFamily="34" charset="-122"/>
                <a:cs typeface="Georgia" pitchFamily="34" charset="-120"/>
              </a:rPr>
              <a:t>07 / Share the context</a:t>
            </a:r>
            <a:endParaRPr lang="en-US" sz="1400" dirty="0"/>
          </a:p>
        </p:txBody>
      </p:sp>
      <p:sp>
        <p:nvSpPr>
          <p:cNvPr id="4" name="Text 2"/>
          <p:cNvSpPr/>
          <p:nvPr/>
        </p:nvSpPr>
        <p:spPr>
          <a:xfrm>
            <a:off x="9784080" y="274320"/>
            <a:ext cx="640080" cy="411480"/>
          </a:xfrm>
          <a:prstGeom prst="rect">
            <a:avLst/>
          </a:prstGeom>
          <a:noFill/>
          <a:ln/>
        </p:spPr>
        <p:txBody>
          <a:bodyPr wrap="square" lIns="0" tIns="0" rIns="0" bIns="0" rtlCol="0" anchor="ctr"/>
          <a:lstStyle/>
          <a:p>
            <a:pPr algn="r" indent="0" marL="0">
              <a:buNone/>
            </a:pPr>
            <a:r>
              <a:rPr lang="en-US" sz="2500" dirty="0">
                <a:solidFill>
                  <a:srgbClr val="B1724C"/>
                </a:solidFill>
              </a:rPr>
              <a:t>26</a:t>
            </a:r>
            <a:endParaRPr lang="en-US" sz="2500" dirty="0"/>
          </a:p>
        </p:txBody>
      </p:sp>
      <p:sp>
        <p:nvSpPr>
          <p:cNvPr id="5" name="Shape 3"/>
          <p:cNvSpPr/>
          <p:nvPr/>
        </p:nvSpPr>
        <p:spPr>
          <a:xfrm>
            <a:off x="310896" y="960120"/>
            <a:ext cx="10149840" cy="0"/>
          </a:xfrm>
          <a:prstGeom prst="line">
            <a:avLst/>
          </a:prstGeom>
          <a:noFill/>
          <a:ln w="12700">
            <a:solidFill>
              <a:srgbClr val="C6D0BC"/>
            </a:solidFill>
            <a:prstDash val="solid"/>
          </a:ln>
        </p:spPr>
      </p:sp>
      <p:pic>
        <p:nvPicPr>
          <p:cNvPr id="6" name="Image 0" descr="/home/user/design-buddy/design-buddy-home/public/atelier/pantry-notes/images/13.jpg">    </p:cNvPr>
          <p:cNvPicPr>
            <a:picLocks noChangeAspect="1"/>
          </p:cNvPicPr>
          <p:nvPr/>
        </p:nvPicPr>
        <p:blipFill>
          <a:blip r:embed="rId1"/>
          <a:srcRect l="0" r="0" t="0" b="0"/>
          <a:stretch/>
        </p:blipFill>
        <p:spPr>
          <a:xfrm>
            <a:off x="310896" y="1207008"/>
            <a:ext cx="6217920" cy="4023360"/>
          </a:xfrm>
          <a:prstGeom prst="rect">
            <a:avLst/>
          </a:prstGeom>
        </p:spPr>
      </p:pic>
      <p:sp>
        <p:nvSpPr>
          <p:cNvPr id="7" name="Text 4"/>
          <p:cNvSpPr/>
          <p:nvPr/>
        </p:nvSpPr>
        <p:spPr>
          <a:xfrm>
            <a:off x="310896" y="5376672"/>
            <a:ext cx="6217920" cy="320040"/>
          </a:xfrm>
          <a:prstGeom prst="rect">
            <a:avLst/>
          </a:prstGeom>
          <a:noFill/>
          <a:ln/>
        </p:spPr>
        <p:txBody>
          <a:bodyPr wrap="square" lIns="0" tIns="0" rIns="0" bIns="0" rtlCol="0" anchor="ctr"/>
          <a:lstStyle/>
          <a:p>
            <a:pPr indent="0" marL="0">
              <a:buNone/>
            </a:pPr>
            <a:r>
              <a:rPr lang="en-US" sz="700" dirty="0">
                <a:solidFill>
                  <a:srgbClr val="7C886F"/>
                </a:solidFill>
              </a:rPr>
              <a:t>Watercolour study 13 / illustration, not measurement evidence</a:t>
            </a:r>
            <a:endParaRPr lang="en-US" sz="700" dirty="0"/>
          </a:p>
        </p:txBody>
      </p:sp>
      <p:sp>
        <p:nvSpPr>
          <p:cNvPr id="8" name="Text 5"/>
          <p:cNvSpPr/>
          <p:nvPr/>
        </p:nvSpPr>
        <p:spPr>
          <a:xfrm>
            <a:off x="6803136" y="1216152"/>
            <a:ext cx="3383280" cy="182880"/>
          </a:xfrm>
          <a:prstGeom prst="rect">
            <a:avLst/>
          </a:prstGeom>
          <a:noFill/>
          <a:ln/>
        </p:spPr>
        <p:txBody>
          <a:bodyPr wrap="square" lIns="0" tIns="0" rIns="0" bIns="0" rtlCol="0" anchor="ctr"/>
          <a:lstStyle/>
          <a:p>
            <a:pPr indent="0" marL="0">
              <a:buNone/>
            </a:pPr>
            <a:r>
              <a:rPr lang="en-US" sz="700" dirty="0">
                <a:solidFill>
                  <a:srgbClr val="A46343"/>
                </a:solidFill>
              </a:rPr>
              <a:t>THE OBSERVATION</a:t>
            </a:r>
            <a:endParaRPr lang="en-US" sz="700" dirty="0"/>
          </a:p>
        </p:txBody>
      </p:sp>
      <p:sp>
        <p:nvSpPr>
          <p:cNvPr id="9" name="Text 6"/>
          <p:cNvSpPr/>
          <p:nvPr/>
        </p:nvSpPr>
        <p:spPr>
          <a:xfrm>
            <a:off x="6803136" y="1554480"/>
            <a:ext cx="3383280" cy="969264"/>
          </a:xfrm>
          <a:prstGeom prst="rect">
            <a:avLst/>
          </a:prstGeom>
          <a:noFill/>
          <a:ln/>
        </p:spPr>
        <p:txBody>
          <a:bodyPr wrap="square" lIns="0" tIns="0" rIns="0" bIns="0" rtlCol="0" anchor="ctr">
            <a:normAutofit/>
          </a:bodyPr>
          <a:lstStyle/>
          <a:p>
            <a:pPr indent="0" marL="0">
              <a:buNone/>
            </a:pPr>
            <a:r>
              <a:rPr lang="en-US" sz="2500" dirty="0">
                <a:solidFill>
                  <a:srgbClr val="3E5743"/>
                </a:solidFill>
                <a:latin typeface="Georgia" pitchFamily="34" charset="0"/>
                <a:ea typeface="Georgia" pitchFamily="34" charset="-122"/>
                <a:cs typeface="Georgia" pitchFamily="34" charset="-120"/>
              </a:rPr>
              <a:t>Missing is not zero.</a:t>
            </a:r>
            <a:endParaRPr lang="en-US" sz="2500" dirty="0"/>
          </a:p>
        </p:txBody>
      </p:sp>
      <p:sp>
        <p:nvSpPr>
          <p:cNvPr id="10" name="Text 7"/>
          <p:cNvSpPr/>
          <p:nvPr/>
        </p:nvSpPr>
        <p:spPr>
          <a:xfrm>
            <a:off x="6803136" y="2715768"/>
            <a:ext cx="3383280" cy="1883664"/>
          </a:xfrm>
          <a:prstGeom prst="rect">
            <a:avLst/>
          </a:prstGeom>
          <a:noFill/>
          <a:ln/>
        </p:spPr>
        <p:txBody>
          <a:bodyPr wrap="square" lIns="0" tIns="0" rIns="0" bIns="0" rtlCol="0" anchor="t">
            <a:normAutofit/>
          </a:bodyPr>
          <a:lstStyle/>
          <a:p>
            <a:pPr indent="0" marL="0">
              <a:buNone/>
            </a:pPr>
            <a:r>
              <a:rPr lang="en-US" sz="1200" dirty="0">
                <a:solidFill>
                  <a:srgbClr val="344E41"/>
                </a:solidFill>
                <a:latin typeface="Georgia" pitchFamily="34" charset="0"/>
                <a:ea typeface="Georgia" pitchFamily="34" charset="-122"/>
                <a:cs typeface="Georgia" pitchFamily="34" charset="-120"/>
              </a:rPr>
              <a:t>An unrecorded value means the record does not supply a value. Replacing it with zero introduces information that was never observed. Keep a missing state explicit until there is an appropriate source or method to resolve it.</a:t>
            </a:r>
            <a:endParaRPr lang="en-US" sz="1200" dirty="0"/>
          </a:p>
        </p:txBody>
      </p:sp>
      <p:sp>
        <p:nvSpPr>
          <p:cNvPr id="11" name="Text 8"/>
          <p:cNvSpPr/>
          <p:nvPr/>
        </p:nvSpPr>
        <p:spPr>
          <a:xfrm>
            <a:off x="6803136" y="4782312"/>
            <a:ext cx="3383280" cy="164592"/>
          </a:xfrm>
          <a:prstGeom prst="rect">
            <a:avLst/>
          </a:prstGeom>
          <a:noFill/>
          <a:ln/>
        </p:spPr>
        <p:txBody>
          <a:bodyPr wrap="square" lIns="0" tIns="0" rIns="0" bIns="0" rtlCol="0" anchor="ctr"/>
          <a:lstStyle/>
          <a:p>
            <a:pPr indent="0" marL="0">
              <a:buNone/>
            </a:pPr>
            <a:r>
              <a:rPr lang="en-US" sz="700" dirty="0">
                <a:solidFill>
                  <a:srgbClr val="A46343"/>
                </a:solidFill>
              </a:rPr>
              <a:t>MODEL / METHOD NOTE</a:t>
            </a:r>
            <a:endParaRPr lang="en-US" sz="700" dirty="0"/>
          </a:p>
        </p:txBody>
      </p:sp>
      <p:sp>
        <p:nvSpPr>
          <p:cNvPr id="12" name="Text 9"/>
          <p:cNvSpPr/>
          <p:nvPr/>
        </p:nvSpPr>
        <p:spPr>
          <a:xfrm>
            <a:off x="6803136" y="5074920"/>
            <a:ext cx="3383280" cy="594360"/>
          </a:xfrm>
          <a:prstGeom prst="rect">
            <a:avLst/>
          </a:prstGeom>
          <a:noFill/>
          <a:ln/>
        </p:spPr>
        <p:txBody>
          <a:bodyPr wrap="square" lIns="0" tIns="0" rIns="0" bIns="0" rtlCol="0" anchor="ctr">
            <a:normAutofit/>
          </a:bodyPr>
          <a:lstStyle/>
          <a:p>
            <a:pPr indent="0" marL="0">
              <a:buNone/>
            </a:pPr>
            <a:r>
              <a:rPr lang="en-US" sz="1000" dirty="0">
                <a:solidFill>
                  <a:srgbClr val="62745B"/>
                </a:solidFill>
                <a:latin typeface="Georgia" pitchFamily="34" charset="0"/>
                <a:ea typeface="Georgia" pitchFamily="34" charset="-122"/>
                <a:cs typeface="Georgia" pitchFamily="34" charset="-120"/>
              </a:rPr>
              <a:t>Not recorded ≠ observed zero.</a:t>
            </a:r>
            <a:endParaRPr lang="en-US" sz="1000" dirty="0"/>
          </a:p>
        </p:txBody>
      </p:sp>
      <p:sp>
        <p:nvSpPr>
          <p:cNvPr id="13" name="Shape 10"/>
          <p:cNvSpPr/>
          <p:nvPr/>
        </p:nvSpPr>
        <p:spPr>
          <a:xfrm>
            <a:off x="310896" y="5961888"/>
            <a:ext cx="10149840" cy="1207008"/>
          </a:xfrm>
          <a:prstGeom prst="rect">
            <a:avLst/>
          </a:prstGeom>
          <a:solidFill>
            <a:srgbClr val="E9EDDF"/>
          </a:solidFill>
          <a:ln w="12700">
            <a:solidFill>
              <a:srgbClr val="E9EDDF"/>
            </a:solidFill>
            <a:prstDash val="solid"/>
          </a:ln>
        </p:spPr>
      </p:sp>
      <p:sp>
        <p:nvSpPr>
          <p:cNvPr id="14" name="Text 11"/>
          <p:cNvSpPr/>
          <p:nvPr/>
        </p:nvSpPr>
        <p:spPr>
          <a:xfrm>
            <a:off x="493776" y="6126480"/>
            <a:ext cx="9784080" cy="164592"/>
          </a:xfrm>
          <a:prstGeom prst="rect">
            <a:avLst/>
          </a:prstGeom>
          <a:noFill/>
          <a:ln/>
        </p:spPr>
        <p:txBody>
          <a:bodyPr wrap="square" lIns="0" tIns="0" rIns="0" bIns="0" rtlCol="0" anchor="ctr"/>
          <a:lstStyle/>
          <a:p>
            <a:pPr indent="0" marL="0">
              <a:buNone/>
            </a:pPr>
            <a:r>
              <a:rPr lang="en-US" sz="700" dirty="0">
                <a:solidFill>
                  <a:srgbClr val="A46343"/>
                </a:solidFill>
              </a:rPr>
              <a:t>TRY / REFLECT</a:t>
            </a:r>
            <a:endParaRPr lang="en-US" sz="700" dirty="0"/>
          </a:p>
        </p:txBody>
      </p:sp>
      <p:sp>
        <p:nvSpPr>
          <p:cNvPr id="15" name="Text 12"/>
          <p:cNvSpPr/>
          <p:nvPr/>
        </p:nvSpPr>
        <p:spPr>
          <a:xfrm>
            <a:off x="493776" y="6428232"/>
            <a:ext cx="9784080" cy="384048"/>
          </a:xfrm>
          <a:prstGeom prst="rect">
            <a:avLst/>
          </a:prstGeom>
          <a:noFill/>
          <a:ln/>
        </p:spPr>
        <p:txBody>
          <a:bodyPr wrap="square" lIns="0" tIns="0" rIns="0" bIns="0" rtlCol="0" anchor="ctr">
            <a:normAutofit/>
          </a:bodyPr>
          <a:lstStyle/>
          <a:p>
            <a:pPr indent="0" marL="0">
              <a:buNone/>
            </a:pPr>
            <a:r>
              <a:rPr lang="en-US" sz="1300" dirty="0">
                <a:solidFill>
                  <a:srgbClr val="344E41"/>
                </a:solidFill>
                <a:latin typeface="Georgia" pitchFamily="34" charset="0"/>
                <a:ea typeface="Georgia" pitchFamily="34" charset="-122"/>
                <a:cs typeface="Georgia" pitchFamily="34" charset="-120"/>
              </a:rPr>
              <a:t>Describe a missing reading without inventing a replacement number.</a:t>
            </a:r>
            <a:endParaRPr lang="en-US" sz="1300" dirty="0"/>
          </a:p>
        </p:txBody>
      </p:sp>
      <p:sp>
        <p:nvSpPr>
          <p:cNvPr id="16" name="Text 13"/>
          <p:cNvSpPr/>
          <p:nvPr/>
        </p:nvSpPr>
        <p:spPr>
          <a:xfrm>
            <a:off x="493776" y="6940296"/>
            <a:ext cx="9784080" cy="137160"/>
          </a:xfrm>
          <a:prstGeom prst="rect">
            <a:avLst/>
          </a:prstGeom>
          <a:noFill/>
          <a:ln/>
        </p:spPr>
        <p:txBody>
          <a:bodyPr wrap="square" lIns="0" tIns="0" rIns="0" bIns="0" rtlCol="0" anchor="ctr"/>
          <a:lstStyle/>
          <a:p>
            <a:pPr indent="0" marL="0">
              <a:buNone/>
            </a:pPr>
            <a:r>
              <a:rPr lang="en-US" sz="600" dirty="0">
                <a:solidFill>
                  <a:srgbClr val="77836B"/>
                </a:solidFill>
              </a:rPr>
              <a:t>COMPLETE / 32 PAGES / 16 INDEPENDENT MAIN ILLUSTRATIONS / MODEL NUMBERS, NOT REAL READINGS</a:t>
            </a:r>
            <a:endParaRPr lang="en-US" sz="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3"/>
        </a:solidFill>
      </p:bgPr>
    </p:bg>
    <p:spTree>
      <p:nvGrpSpPr>
        <p:cNvPr id="1" name=""/>
        <p:cNvGrpSpPr/>
        <p:nvPr/>
      </p:nvGrpSpPr>
      <p:grpSpPr>
        <a:xfrm>
          <a:off x="0" y="0"/>
          <a:ext cx="0" cy="0"/>
          <a:chOff x="0" y="0"/>
          <a:chExt cx="0" cy="0"/>
        </a:xfrm>
      </p:grpSpPr>
      <p:sp>
        <p:nvSpPr>
          <p:cNvPr id="2" name="Text 0"/>
          <p:cNvSpPr/>
          <p:nvPr/>
        </p:nvSpPr>
        <p:spPr>
          <a:xfrm>
            <a:off x="310896" y="256032"/>
            <a:ext cx="7772400" cy="182880"/>
          </a:xfrm>
          <a:prstGeom prst="rect">
            <a:avLst/>
          </a:prstGeom>
          <a:noFill/>
          <a:ln/>
        </p:spPr>
        <p:txBody>
          <a:bodyPr wrap="square" lIns="0" tIns="0" rIns="0" bIns="0" rtlCol="0" anchor="ctr"/>
          <a:lstStyle/>
          <a:p>
            <a:pPr indent="0" marL="0">
              <a:buNone/>
            </a:pPr>
            <a:r>
              <a:rPr lang="en-US" sz="800" dirty="0">
                <a:solidFill>
                  <a:srgbClr val="708267"/>
                </a:solidFill>
              </a:rPr>
              <a:t>PANTRY NOTES / THE MEASUREMENT NOTEBOOK</a:t>
            </a:r>
            <a:endParaRPr lang="en-US" sz="800" dirty="0"/>
          </a:p>
        </p:txBody>
      </p:sp>
      <p:sp>
        <p:nvSpPr>
          <p:cNvPr id="3" name="Text 1"/>
          <p:cNvSpPr/>
          <p:nvPr/>
        </p:nvSpPr>
        <p:spPr>
          <a:xfrm>
            <a:off x="310896" y="594360"/>
            <a:ext cx="7772400" cy="237744"/>
          </a:xfrm>
          <a:prstGeom prst="rect">
            <a:avLst/>
          </a:prstGeom>
          <a:noFill/>
          <a:ln/>
        </p:spPr>
        <p:txBody>
          <a:bodyPr wrap="square" lIns="0" tIns="0" rIns="0" bIns="0" rtlCol="0" anchor="ctr"/>
          <a:lstStyle/>
          <a:p>
            <a:pPr indent="0" marL="0">
              <a:buNone/>
            </a:pPr>
            <a:r>
              <a:rPr lang="en-US" sz="1400" dirty="0">
                <a:solidFill>
                  <a:srgbClr val="344E41"/>
                </a:solidFill>
                <a:latin typeface="Georgia" pitchFamily="34" charset="0"/>
                <a:ea typeface="Georgia" pitchFamily="34" charset="-122"/>
                <a:cs typeface="Georgia" pitchFamily="34" charset="-120"/>
              </a:rPr>
              <a:t>07 / Share the context</a:t>
            </a:r>
            <a:endParaRPr lang="en-US" sz="1400" dirty="0"/>
          </a:p>
        </p:txBody>
      </p:sp>
      <p:sp>
        <p:nvSpPr>
          <p:cNvPr id="4" name="Text 2"/>
          <p:cNvSpPr/>
          <p:nvPr/>
        </p:nvSpPr>
        <p:spPr>
          <a:xfrm>
            <a:off x="9784080" y="274320"/>
            <a:ext cx="640080" cy="411480"/>
          </a:xfrm>
          <a:prstGeom prst="rect">
            <a:avLst/>
          </a:prstGeom>
          <a:noFill/>
          <a:ln/>
        </p:spPr>
        <p:txBody>
          <a:bodyPr wrap="square" lIns="0" tIns="0" rIns="0" bIns="0" rtlCol="0" anchor="ctr"/>
          <a:lstStyle/>
          <a:p>
            <a:pPr algn="r" indent="0" marL="0">
              <a:buNone/>
            </a:pPr>
            <a:r>
              <a:rPr lang="en-US" sz="2500" dirty="0">
                <a:solidFill>
                  <a:srgbClr val="B1724C"/>
                </a:solidFill>
              </a:rPr>
              <a:t>27</a:t>
            </a:r>
            <a:endParaRPr lang="en-US" sz="2500" dirty="0"/>
          </a:p>
        </p:txBody>
      </p:sp>
      <p:sp>
        <p:nvSpPr>
          <p:cNvPr id="5" name="Shape 3"/>
          <p:cNvSpPr/>
          <p:nvPr/>
        </p:nvSpPr>
        <p:spPr>
          <a:xfrm>
            <a:off x="310896" y="960120"/>
            <a:ext cx="10149840" cy="0"/>
          </a:xfrm>
          <a:prstGeom prst="line">
            <a:avLst/>
          </a:prstGeom>
          <a:noFill/>
          <a:ln w="12700">
            <a:solidFill>
              <a:srgbClr val="C6D0BC"/>
            </a:solidFill>
            <a:prstDash val="solid"/>
          </a:ln>
        </p:spPr>
      </p:sp>
      <p:pic>
        <p:nvPicPr>
          <p:cNvPr id="6" name="Image 0" descr="/home/user/design-buddy/design-buddy-home/public/atelier/pantry-notes/images/14.jpg">    </p:cNvPr>
          <p:cNvPicPr>
            <a:picLocks noChangeAspect="1"/>
          </p:cNvPicPr>
          <p:nvPr/>
        </p:nvPicPr>
        <p:blipFill>
          <a:blip r:embed="rId1"/>
          <a:srcRect l="0" r="0" t="0" b="0"/>
          <a:stretch/>
        </p:blipFill>
        <p:spPr>
          <a:xfrm>
            <a:off x="310896" y="1207008"/>
            <a:ext cx="6217920" cy="4023360"/>
          </a:xfrm>
          <a:prstGeom prst="rect">
            <a:avLst/>
          </a:prstGeom>
        </p:spPr>
      </p:pic>
      <p:sp>
        <p:nvSpPr>
          <p:cNvPr id="7" name="Text 4"/>
          <p:cNvSpPr/>
          <p:nvPr/>
        </p:nvSpPr>
        <p:spPr>
          <a:xfrm>
            <a:off x="310896" y="5376672"/>
            <a:ext cx="6217920" cy="320040"/>
          </a:xfrm>
          <a:prstGeom prst="rect">
            <a:avLst/>
          </a:prstGeom>
          <a:noFill/>
          <a:ln/>
        </p:spPr>
        <p:txBody>
          <a:bodyPr wrap="square" lIns="0" tIns="0" rIns="0" bIns="0" rtlCol="0" anchor="ctr"/>
          <a:lstStyle/>
          <a:p>
            <a:pPr indent="0" marL="0">
              <a:buNone/>
            </a:pPr>
            <a:r>
              <a:rPr lang="en-US" sz="700" dirty="0">
                <a:solidFill>
                  <a:srgbClr val="7C886F"/>
                </a:solidFill>
              </a:rPr>
              <a:t>Watercolour study 14 / illustration, not measurement evidence</a:t>
            </a:r>
            <a:endParaRPr lang="en-US" sz="700" dirty="0"/>
          </a:p>
        </p:txBody>
      </p:sp>
      <p:sp>
        <p:nvSpPr>
          <p:cNvPr id="8" name="Text 5"/>
          <p:cNvSpPr/>
          <p:nvPr/>
        </p:nvSpPr>
        <p:spPr>
          <a:xfrm>
            <a:off x="6803136" y="1216152"/>
            <a:ext cx="3383280" cy="182880"/>
          </a:xfrm>
          <a:prstGeom prst="rect">
            <a:avLst/>
          </a:prstGeom>
          <a:noFill/>
          <a:ln/>
        </p:spPr>
        <p:txBody>
          <a:bodyPr wrap="square" lIns="0" tIns="0" rIns="0" bIns="0" rtlCol="0" anchor="ctr"/>
          <a:lstStyle/>
          <a:p>
            <a:pPr indent="0" marL="0">
              <a:buNone/>
            </a:pPr>
            <a:r>
              <a:rPr lang="en-US" sz="700" dirty="0">
                <a:solidFill>
                  <a:srgbClr val="A46343"/>
                </a:solidFill>
              </a:rPr>
              <a:t>THE OBSERVATION</a:t>
            </a:r>
            <a:endParaRPr lang="en-US" sz="700" dirty="0"/>
          </a:p>
        </p:txBody>
      </p:sp>
      <p:sp>
        <p:nvSpPr>
          <p:cNvPr id="9" name="Text 6"/>
          <p:cNvSpPr/>
          <p:nvPr/>
        </p:nvSpPr>
        <p:spPr>
          <a:xfrm>
            <a:off x="6803136" y="1554480"/>
            <a:ext cx="3383280" cy="969264"/>
          </a:xfrm>
          <a:prstGeom prst="rect">
            <a:avLst/>
          </a:prstGeom>
          <a:noFill/>
          <a:ln/>
        </p:spPr>
        <p:txBody>
          <a:bodyPr wrap="square" lIns="0" tIns="0" rIns="0" bIns="0" rtlCol="0" anchor="ctr">
            <a:normAutofit/>
          </a:bodyPr>
          <a:lstStyle/>
          <a:p>
            <a:pPr indent="0" marL="0">
              <a:buNone/>
            </a:pPr>
            <a:r>
              <a:rPr lang="en-US" sz="2500" dirty="0">
                <a:solidFill>
                  <a:srgbClr val="3E5743"/>
                </a:solidFill>
                <a:latin typeface="Georgia" pitchFamily="34" charset="0"/>
                <a:ea typeface="Georgia" pitchFamily="34" charset="-122"/>
                <a:cs typeface="Georgia" pitchFamily="34" charset="-120"/>
              </a:rPr>
              <a:t>Leave unsupported certainty out.</a:t>
            </a:r>
            <a:endParaRPr lang="en-US" sz="2500" dirty="0"/>
          </a:p>
        </p:txBody>
      </p:sp>
      <p:sp>
        <p:nvSpPr>
          <p:cNvPr id="10" name="Text 7"/>
          <p:cNvSpPr/>
          <p:nvPr/>
        </p:nvSpPr>
        <p:spPr>
          <a:xfrm>
            <a:off x="6803136" y="2715768"/>
            <a:ext cx="3383280" cy="1883664"/>
          </a:xfrm>
          <a:prstGeom prst="rect">
            <a:avLst/>
          </a:prstGeom>
          <a:noFill/>
          <a:ln/>
        </p:spPr>
        <p:txBody>
          <a:bodyPr wrap="square" lIns="0" tIns="0" rIns="0" bIns="0" rtlCol="0" anchor="t">
            <a:normAutofit/>
          </a:bodyPr>
          <a:lstStyle/>
          <a:p>
            <a:pPr indent="0" marL="0">
              <a:buNone/>
            </a:pPr>
            <a:r>
              <a:rPr lang="en-US" sz="1200" dirty="0">
                <a:solidFill>
                  <a:srgbClr val="344E41"/>
                </a:solidFill>
                <a:latin typeface="Georgia" pitchFamily="34" charset="0"/>
                <a:ea typeface="Georgia" pitchFamily="34" charset="-122"/>
                <a:cs typeface="Georgia" pitchFamily="34" charset="-120"/>
              </a:rPr>
              <a:t>These examples do not quantify instrument uncertainty or certify a measurement process. If a real decision requires such information, seek an appropriate documented method and qualified support instead of inferring it from these pages.</a:t>
            </a:r>
            <a:endParaRPr lang="en-US" sz="1200" dirty="0"/>
          </a:p>
        </p:txBody>
      </p:sp>
      <p:sp>
        <p:nvSpPr>
          <p:cNvPr id="11" name="Text 8"/>
          <p:cNvSpPr/>
          <p:nvPr/>
        </p:nvSpPr>
        <p:spPr>
          <a:xfrm>
            <a:off x="6803136" y="4782312"/>
            <a:ext cx="3383280" cy="164592"/>
          </a:xfrm>
          <a:prstGeom prst="rect">
            <a:avLst/>
          </a:prstGeom>
          <a:noFill/>
          <a:ln/>
        </p:spPr>
        <p:txBody>
          <a:bodyPr wrap="square" lIns="0" tIns="0" rIns="0" bIns="0" rtlCol="0" anchor="ctr"/>
          <a:lstStyle/>
          <a:p>
            <a:pPr indent="0" marL="0">
              <a:buNone/>
            </a:pPr>
            <a:r>
              <a:rPr lang="en-US" sz="700" dirty="0">
                <a:solidFill>
                  <a:srgbClr val="A46343"/>
                </a:solidFill>
              </a:rPr>
              <a:t>MODEL / METHOD NOTE</a:t>
            </a:r>
            <a:endParaRPr lang="en-US" sz="700" dirty="0"/>
          </a:p>
        </p:txBody>
      </p:sp>
      <p:sp>
        <p:nvSpPr>
          <p:cNvPr id="12" name="Text 9"/>
          <p:cNvSpPr/>
          <p:nvPr/>
        </p:nvSpPr>
        <p:spPr>
          <a:xfrm>
            <a:off x="6803136" y="5074920"/>
            <a:ext cx="3383280" cy="594360"/>
          </a:xfrm>
          <a:prstGeom prst="rect">
            <a:avLst/>
          </a:prstGeom>
          <a:noFill/>
          <a:ln/>
        </p:spPr>
        <p:txBody>
          <a:bodyPr wrap="square" lIns="0" tIns="0" rIns="0" bIns="0" rtlCol="0" anchor="ctr">
            <a:normAutofit/>
          </a:bodyPr>
          <a:lstStyle/>
          <a:p>
            <a:pPr indent="0" marL="0">
              <a:buNone/>
            </a:pPr>
            <a:r>
              <a:rPr lang="en-US" sz="1000" dirty="0">
                <a:solidFill>
                  <a:srgbClr val="62745B"/>
                </a:solidFill>
                <a:latin typeface="Georgia" pitchFamily="34" charset="0"/>
                <a:ea typeface="Georgia" pitchFamily="34" charset="-122"/>
                <a:cs typeface="Georgia" pitchFamily="34" charset="-120"/>
              </a:rPr>
              <a:t>No calibration, uncertainty bound or safety-critical suitability is claimed.</a:t>
            </a:r>
            <a:endParaRPr lang="en-US" sz="1000" dirty="0"/>
          </a:p>
        </p:txBody>
      </p:sp>
      <p:sp>
        <p:nvSpPr>
          <p:cNvPr id="13" name="Shape 10"/>
          <p:cNvSpPr/>
          <p:nvPr/>
        </p:nvSpPr>
        <p:spPr>
          <a:xfrm>
            <a:off x="310896" y="5961888"/>
            <a:ext cx="10149840" cy="1207008"/>
          </a:xfrm>
          <a:prstGeom prst="rect">
            <a:avLst/>
          </a:prstGeom>
          <a:solidFill>
            <a:srgbClr val="E9EDDF"/>
          </a:solidFill>
          <a:ln w="12700">
            <a:solidFill>
              <a:srgbClr val="E9EDDF"/>
            </a:solidFill>
            <a:prstDash val="solid"/>
          </a:ln>
        </p:spPr>
      </p:sp>
      <p:sp>
        <p:nvSpPr>
          <p:cNvPr id="14" name="Text 11"/>
          <p:cNvSpPr/>
          <p:nvPr/>
        </p:nvSpPr>
        <p:spPr>
          <a:xfrm>
            <a:off x="493776" y="6126480"/>
            <a:ext cx="9784080" cy="164592"/>
          </a:xfrm>
          <a:prstGeom prst="rect">
            <a:avLst/>
          </a:prstGeom>
          <a:noFill/>
          <a:ln/>
        </p:spPr>
        <p:txBody>
          <a:bodyPr wrap="square" lIns="0" tIns="0" rIns="0" bIns="0" rtlCol="0" anchor="ctr"/>
          <a:lstStyle/>
          <a:p>
            <a:pPr indent="0" marL="0">
              <a:buNone/>
            </a:pPr>
            <a:r>
              <a:rPr lang="en-US" sz="700" dirty="0">
                <a:solidFill>
                  <a:srgbClr val="A46343"/>
                </a:solidFill>
              </a:rPr>
              <a:t>TRY / REFLECT</a:t>
            </a:r>
            <a:endParaRPr lang="en-US" sz="700" dirty="0"/>
          </a:p>
        </p:txBody>
      </p:sp>
      <p:sp>
        <p:nvSpPr>
          <p:cNvPr id="15" name="Text 12"/>
          <p:cNvSpPr/>
          <p:nvPr/>
        </p:nvSpPr>
        <p:spPr>
          <a:xfrm>
            <a:off x="493776" y="6428232"/>
            <a:ext cx="9784080" cy="384048"/>
          </a:xfrm>
          <a:prstGeom prst="rect">
            <a:avLst/>
          </a:prstGeom>
          <a:noFill/>
          <a:ln/>
        </p:spPr>
        <p:txBody>
          <a:bodyPr wrap="square" lIns="0" tIns="0" rIns="0" bIns="0" rtlCol="0" anchor="ctr">
            <a:normAutofit/>
          </a:bodyPr>
          <a:lstStyle/>
          <a:p>
            <a:pPr indent="0" marL="0">
              <a:buNone/>
            </a:pPr>
            <a:r>
              <a:rPr lang="en-US" sz="1300" dirty="0">
                <a:solidFill>
                  <a:srgbClr val="344E41"/>
                </a:solidFill>
                <a:latin typeface="Georgia" pitchFamily="34" charset="0"/>
                <a:ea typeface="Georgia" pitchFamily="34" charset="-122"/>
                <a:cs typeface="Georgia" pitchFamily="34" charset="-120"/>
              </a:rPr>
              <a:t>Which claim would exceed the evidence supplied by this notebook?</a:t>
            </a:r>
            <a:endParaRPr lang="en-US" sz="1300" dirty="0"/>
          </a:p>
        </p:txBody>
      </p:sp>
      <p:sp>
        <p:nvSpPr>
          <p:cNvPr id="16" name="Text 13"/>
          <p:cNvSpPr/>
          <p:nvPr/>
        </p:nvSpPr>
        <p:spPr>
          <a:xfrm>
            <a:off x="493776" y="6940296"/>
            <a:ext cx="9784080" cy="137160"/>
          </a:xfrm>
          <a:prstGeom prst="rect">
            <a:avLst/>
          </a:prstGeom>
          <a:noFill/>
          <a:ln/>
        </p:spPr>
        <p:txBody>
          <a:bodyPr wrap="square" lIns="0" tIns="0" rIns="0" bIns="0" rtlCol="0" anchor="ctr"/>
          <a:lstStyle/>
          <a:p>
            <a:pPr indent="0" marL="0">
              <a:buNone/>
            </a:pPr>
            <a:r>
              <a:rPr lang="en-US" sz="600" dirty="0">
                <a:solidFill>
                  <a:srgbClr val="77836B"/>
                </a:solidFill>
              </a:rPr>
              <a:t>COMPLETE / 32 PAGES / 16 INDEPENDENT MAIN ILLUSTRATIONS / MODEL NUMBERS, NOT REAL READINGS</a:t>
            </a:r>
            <a:endParaRPr lang="en-US" sz="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3"/>
        </a:solidFill>
      </p:bgPr>
    </p:bg>
    <p:spTree>
      <p:nvGrpSpPr>
        <p:cNvPr id="1" name=""/>
        <p:cNvGrpSpPr/>
        <p:nvPr/>
      </p:nvGrpSpPr>
      <p:grpSpPr>
        <a:xfrm>
          <a:off x="0" y="0"/>
          <a:ext cx="0" cy="0"/>
          <a:chOff x="0" y="0"/>
          <a:chExt cx="0" cy="0"/>
        </a:xfrm>
      </p:grpSpPr>
      <p:sp>
        <p:nvSpPr>
          <p:cNvPr id="2" name="Text 0"/>
          <p:cNvSpPr/>
          <p:nvPr/>
        </p:nvSpPr>
        <p:spPr>
          <a:xfrm>
            <a:off x="310896" y="256032"/>
            <a:ext cx="7772400" cy="182880"/>
          </a:xfrm>
          <a:prstGeom prst="rect">
            <a:avLst/>
          </a:prstGeom>
          <a:noFill/>
          <a:ln/>
        </p:spPr>
        <p:txBody>
          <a:bodyPr wrap="square" lIns="0" tIns="0" rIns="0" bIns="0" rtlCol="0" anchor="ctr"/>
          <a:lstStyle/>
          <a:p>
            <a:pPr indent="0" marL="0">
              <a:buNone/>
            </a:pPr>
            <a:r>
              <a:rPr lang="en-US" sz="800" dirty="0">
                <a:solidFill>
                  <a:srgbClr val="708267"/>
                </a:solidFill>
              </a:rPr>
              <a:t>PANTRY NOTES / THE MEASUREMENT NOTEBOOK</a:t>
            </a:r>
            <a:endParaRPr lang="en-US" sz="800" dirty="0"/>
          </a:p>
        </p:txBody>
      </p:sp>
      <p:sp>
        <p:nvSpPr>
          <p:cNvPr id="3" name="Text 1"/>
          <p:cNvSpPr/>
          <p:nvPr/>
        </p:nvSpPr>
        <p:spPr>
          <a:xfrm>
            <a:off x="310896" y="594360"/>
            <a:ext cx="7772400" cy="237744"/>
          </a:xfrm>
          <a:prstGeom prst="rect">
            <a:avLst/>
          </a:prstGeom>
          <a:noFill/>
          <a:ln/>
        </p:spPr>
        <p:txBody>
          <a:bodyPr wrap="square" lIns="0" tIns="0" rIns="0" bIns="0" rtlCol="0" anchor="ctr"/>
          <a:lstStyle/>
          <a:p>
            <a:pPr indent="0" marL="0">
              <a:buNone/>
            </a:pPr>
            <a:r>
              <a:rPr lang="en-US" sz="1400" dirty="0">
                <a:solidFill>
                  <a:srgbClr val="344E41"/>
                </a:solidFill>
                <a:latin typeface="Georgia" pitchFamily="34" charset="0"/>
                <a:ea typeface="Georgia" pitchFamily="34" charset="-122"/>
                <a:cs typeface="Georgia" pitchFamily="34" charset="-120"/>
              </a:rPr>
              <a:t>07 / Share the context</a:t>
            </a:r>
            <a:endParaRPr lang="en-US" sz="1400" dirty="0"/>
          </a:p>
        </p:txBody>
      </p:sp>
      <p:sp>
        <p:nvSpPr>
          <p:cNvPr id="4" name="Text 2"/>
          <p:cNvSpPr/>
          <p:nvPr/>
        </p:nvSpPr>
        <p:spPr>
          <a:xfrm>
            <a:off x="9784080" y="274320"/>
            <a:ext cx="640080" cy="411480"/>
          </a:xfrm>
          <a:prstGeom prst="rect">
            <a:avLst/>
          </a:prstGeom>
          <a:noFill/>
          <a:ln/>
        </p:spPr>
        <p:txBody>
          <a:bodyPr wrap="square" lIns="0" tIns="0" rIns="0" bIns="0" rtlCol="0" anchor="ctr"/>
          <a:lstStyle/>
          <a:p>
            <a:pPr algn="r" indent="0" marL="0">
              <a:buNone/>
            </a:pPr>
            <a:r>
              <a:rPr lang="en-US" sz="2500" dirty="0">
                <a:solidFill>
                  <a:srgbClr val="B1724C"/>
                </a:solidFill>
              </a:rPr>
              <a:t>28</a:t>
            </a:r>
            <a:endParaRPr lang="en-US" sz="2500" dirty="0"/>
          </a:p>
        </p:txBody>
      </p:sp>
      <p:sp>
        <p:nvSpPr>
          <p:cNvPr id="5" name="Shape 3"/>
          <p:cNvSpPr/>
          <p:nvPr/>
        </p:nvSpPr>
        <p:spPr>
          <a:xfrm>
            <a:off x="310896" y="960120"/>
            <a:ext cx="10149840" cy="0"/>
          </a:xfrm>
          <a:prstGeom prst="line">
            <a:avLst/>
          </a:prstGeom>
          <a:noFill/>
          <a:ln w="12700">
            <a:solidFill>
              <a:srgbClr val="C6D0BC"/>
            </a:solidFill>
            <a:prstDash val="solid"/>
          </a:ln>
        </p:spPr>
      </p:sp>
      <p:pic>
        <p:nvPicPr>
          <p:cNvPr id="6" name="Image 0" descr="/home/user/design-buddy/design-buddy-home/public/atelier/pantry-notes/images/14.jpg">    </p:cNvPr>
          <p:cNvPicPr>
            <a:picLocks noChangeAspect="1"/>
          </p:cNvPicPr>
          <p:nvPr/>
        </p:nvPicPr>
        <p:blipFill>
          <a:blip r:embed="rId1"/>
          <a:srcRect l="0" r="0" t="0" b="0"/>
          <a:stretch/>
        </p:blipFill>
        <p:spPr>
          <a:xfrm>
            <a:off x="310896" y="1207008"/>
            <a:ext cx="6217920" cy="4023360"/>
          </a:xfrm>
          <a:prstGeom prst="rect">
            <a:avLst/>
          </a:prstGeom>
        </p:spPr>
      </p:pic>
      <p:sp>
        <p:nvSpPr>
          <p:cNvPr id="7" name="Text 4"/>
          <p:cNvSpPr/>
          <p:nvPr/>
        </p:nvSpPr>
        <p:spPr>
          <a:xfrm>
            <a:off x="310896" y="5376672"/>
            <a:ext cx="6217920" cy="320040"/>
          </a:xfrm>
          <a:prstGeom prst="rect">
            <a:avLst/>
          </a:prstGeom>
          <a:noFill/>
          <a:ln/>
        </p:spPr>
        <p:txBody>
          <a:bodyPr wrap="square" lIns="0" tIns="0" rIns="0" bIns="0" rtlCol="0" anchor="ctr"/>
          <a:lstStyle/>
          <a:p>
            <a:pPr indent="0" marL="0">
              <a:buNone/>
            </a:pPr>
            <a:r>
              <a:rPr lang="en-US" sz="700" dirty="0">
                <a:solidFill>
                  <a:srgbClr val="7C886F"/>
                </a:solidFill>
              </a:rPr>
              <a:t>Watercolour study 14 / illustration, not measurement evidence</a:t>
            </a:r>
            <a:endParaRPr lang="en-US" sz="700" dirty="0"/>
          </a:p>
        </p:txBody>
      </p:sp>
      <p:sp>
        <p:nvSpPr>
          <p:cNvPr id="8" name="Text 5"/>
          <p:cNvSpPr/>
          <p:nvPr/>
        </p:nvSpPr>
        <p:spPr>
          <a:xfrm>
            <a:off x="6803136" y="1216152"/>
            <a:ext cx="3383280" cy="182880"/>
          </a:xfrm>
          <a:prstGeom prst="rect">
            <a:avLst/>
          </a:prstGeom>
          <a:noFill/>
          <a:ln/>
        </p:spPr>
        <p:txBody>
          <a:bodyPr wrap="square" lIns="0" tIns="0" rIns="0" bIns="0" rtlCol="0" anchor="ctr"/>
          <a:lstStyle/>
          <a:p>
            <a:pPr indent="0" marL="0">
              <a:buNone/>
            </a:pPr>
            <a:r>
              <a:rPr lang="en-US" sz="700" dirty="0">
                <a:solidFill>
                  <a:srgbClr val="A46343"/>
                </a:solidFill>
              </a:rPr>
              <a:t>THE OBSERVATION</a:t>
            </a:r>
            <a:endParaRPr lang="en-US" sz="700" dirty="0"/>
          </a:p>
        </p:txBody>
      </p:sp>
      <p:sp>
        <p:nvSpPr>
          <p:cNvPr id="9" name="Text 6"/>
          <p:cNvSpPr/>
          <p:nvPr/>
        </p:nvSpPr>
        <p:spPr>
          <a:xfrm>
            <a:off x="6803136" y="1554480"/>
            <a:ext cx="3383280" cy="969264"/>
          </a:xfrm>
          <a:prstGeom prst="rect">
            <a:avLst/>
          </a:prstGeom>
          <a:noFill/>
          <a:ln/>
        </p:spPr>
        <p:txBody>
          <a:bodyPr wrap="square" lIns="0" tIns="0" rIns="0" bIns="0" rtlCol="0" anchor="ctr">
            <a:normAutofit/>
          </a:bodyPr>
          <a:lstStyle/>
          <a:p>
            <a:pPr indent="0" marL="0">
              <a:buNone/>
            </a:pPr>
            <a:r>
              <a:rPr lang="en-US" sz="2500" dirty="0">
                <a:solidFill>
                  <a:srgbClr val="3E5743"/>
                </a:solidFill>
                <a:latin typeface="Georgia" pitchFamily="34" charset="0"/>
                <a:ea typeface="Georgia" pitchFamily="34" charset="-122"/>
                <a:cs typeface="Georgia" pitchFamily="34" charset="-120"/>
              </a:rPr>
              <a:t>Hand over a method, not a guess.</a:t>
            </a:r>
            <a:endParaRPr lang="en-US" sz="2500" dirty="0"/>
          </a:p>
        </p:txBody>
      </p:sp>
      <p:sp>
        <p:nvSpPr>
          <p:cNvPr id="10" name="Text 7"/>
          <p:cNvSpPr/>
          <p:nvPr/>
        </p:nvSpPr>
        <p:spPr>
          <a:xfrm>
            <a:off x="6803136" y="2715768"/>
            <a:ext cx="3383280" cy="1883664"/>
          </a:xfrm>
          <a:prstGeom prst="rect">
            <a:avLst/>
          </a:prstGeom>
          <a:noFill/>
          <a:ln/>
        </p:spPr>
        <p:txBody>
          <a:bodyPr wrap="square" lIns="0" tIns="0" rIns="0" bIns="0" rtlCol="0" anchor="t">
            <a:normAutofit/>
          </a:bodyPr>
          <a:lstStyle/>
          <a:p>
            <a:pPr indent="0" marL="0">
              <a:buNone/>
            </a:pPr>
            <a:r>
              <a:rPr lang="en-US" sz="1200" dirty="0">
                <a:solidFill>
                  <a:srgbClr val="344E41"/>
                </a:solidFill>
                <a:latin typeface="Georgia" pitchFamily="34" charset="0"/>
                <a:ea typeface="Georgia" pitchFamily="34" charset="-122"/>
                <a:cs typeface="Georgia" pitchFamily="34" charset="-120"/>
              </a:rPr>
              <a:t>A useful handoff gives the question, the named quantity and unit, the method and known limitations. Ask the next reader to explain the note back in their own words so unclear terms can be corrected.</a:t>
            </a:r>
            <a:endParaRPr lang="en-US" sz="1200" dirty="0"/>
          </a:p>
        </p:txBody>
      </p:sp>
      <p:sp>
        <p:nvSpPr>
          <p:cNvPr id="11" name="Text 8"/>
          <p:cNvSpPr/>
          <p:nvPr/>
        </p:nvSpPr>
        <p:spPr>
          <a:xfrm>
            <a:off x="6803136" y="4782312"/>
            <a:ext cx="3383280" cy="164592"/>
          </a:xfrm>
          <a:prstGeom prst="rect">
            <a:avLst/>
          </a:prstGeom>
          <a:noFill/>
          <a:ln/>
        </p:spPr>
        <p:txBody>
          <a:bodyPr wrap="square" lIns="0" tIns="0" rIns="0" bIns="0" rtlCol="0" anchor="ctr"/>
          <a:lstStyle/>
          <a:p>
            <a:pPr indent="0" marL="0">
              <a:buNone/>
            </a:pPr>
            <a:r>
              <a:rPr lang="en-US" sz="700" dirty="0">
                <a:solidFill>
                  <a:srgbClr val="A46343"/>
                </a:solidFill>
              </a:rPr>
              <a:t>MODEL / METHOD NOTE</a:t>
            </a:r>
            <a:endParaRPr lang="en-US" sz="700" dirty="0"/>
          </a:p>
        </p:txBody>
      </p:sp>
      <p:sp>
        <p:nvSpPr>
          <p:cNvPr id="12" name="Text 9"/>
          <p:cNvSpPr/>
          <p:nvPr/>
        </p:nvSpPr>
        <p:spPr>
          <a:xfrm>
            <a:off x="6803136" y="5074920"/>
            <a:ext cx="3383280" cy="594360"/>
          </a:xfrm>
          <a:prstGeom prst="rect">
            <a:avLst/>
          </a:prstGeom>
          <a:noFill/>
          <a:ln/>
        </p:spPr>
        <p:txBody>
          <a:bodyPr wrap="square" lIns="0" tIns="0" rIns="0" bIns="0" rtlCol="0" anchor="ctr">
            <a:normAutofit/>
          </a:bodyPr>
          <a:lstStyle/>
          <a:p>
            <a:pPr indent="0" marL="0">
              <a:buNone/>
            </a:pPr>
            <a:r>
              <a:rPr lang="en-US" sz="1000" dirty="0">
                <a:solidFill>
                  <a:srgbClr val="62745B"/>
                </a:solidFill>
                <a:latin typeface="Georgia" pitchFamily="34" charset="0"/>
                <a:ea typeface="Georgia" pitchFamily="34" charset="-122"/>
                <a:cs typeface="Georgia" pitchFamily="34" charset="-120"/>
              </a:rPr>
              <a:t>Question → quantity/unit → method → limitations → next reader.</a:t>
            </a:r>
            <a:endParaRPr lang="en-US" sz="1000" dirty="0"/>
          </a:p>
        </p:txBody>
      </p:sp>
      <p:sp>
        <p:nvSpPr>
          <p:cNvPr id="13" name="Shape 10"/>
          <p:cNvSpPr/>
          <p:nvPr/>
        </p:nvSpPr>
        <p:spPr>
          <a:xfrm>
            <a:off x="310896" y="5961888"/>
            <a:ext cx="10149840" cy="1207008"/>
          </a:xfrm>
          <a:prstGeom prst="rect">
            <a:avLst/>
          </a:prstGeom>
          <a:solidFill>
            <a:srgbClr val="E9EDDF"/>
          </a:solidFill>
          <a:ln w="12700">
            <a:solidFill>
              <a:srgbClr val="E9EDDF"/>
            </a:solidFill>
            <a:prstDash val="solid"/>
          </a:ln>
        </p:spPr>
      </p:sp>
      <p:sp>
        <p:nvSpPr>
          <p:cNvPr id="14" name="Text 11"/>
          <p:cNvSpPr/>
          <p:nvPr/>
        </p:nvSpPr>
        <p:spPr>
          <a:xfrm>
            <a:off x="493776" y="6126480"/>
            <a:ext cx="9784080" cy="164592"/>
          </a:xfrm>
          <a:prstGeom prst="rect">
            <a:avLst/>
          </a:prstGeom>
          <a:noFill/>
          <a:ln/>
        </p:spPr>
        <p:txBody>
          <a:bodyPr wrap="square" lIns="0" tIns="0" rIns="0" bIns="0" rtlCol="0" anchor="ctr"/>
          <a:lstStyle/>
          <a:p>
            <a:pPr indent="0" marL="0">
              <a:buNone/>
            </a:pPr>
            <a:r>
              <a:rPr lang="en-US" sz="700" dirty="0">
                <a:solidFill>
                  <a:srgbClr val="A46343"/>
                </a:solidFill>
              </a:rPr>
              <a:t>TRY / REFLECT</a:t>
            </a:r>
            <a:endParaRPr lang="en-US" sz="700" dirty="0"/>
          </a:p>
        </p:txBody>
      </p:sp>
      <p:sp>
        <p:nvSpPr>
          <p:cNvPr id="15" name="Text 12"/>
          <p:cNvSpPr/>
          <p:nvPr/>
        </p:nvSpPr>
        <p:spPr>
          <a:xfrm>
            <a:off x="493776" y="6428232"/>
            <a:ext cx="9784080" cy="384048"/>
          </a:xfrm>
          <a:prstGeom prst="rect">
            <a:avLst/>
          </a:prstGeom>
          <a:noFill/>
          <a:ln/>
        </p:spPr>
        <p:txBody>
          <a:bodyPr wrap="square" lIns="0" tIns="0" rIns="0" bIns="0" rtlCol="0" anchor="ctr">
            <a:normAutofit/>
          </a:bodyPr>
          <a:lstStyle/>
          <a:p>
            <a:pPr indent="0" marL="0">
              <a:buNone/>
            </a:pPr>
            <a:r>
              <a:rPr lang="en-US" sz="1300" dirty="0">
                <a:solidFill>
                  <a:srgbClr val="344E41"/>
                </a:solidFill>
                <a:latin typeface="Georgia" pitchFamily="34" charset="0"/>
                <a:ea typeface="Georgia" pitchFamily="34" charset="-122"/>
                <a:cs typeface="Georgia" pitchFamily="34" charset="-120"/>
              </a:rPr>
              <a:t>Which term would you clarify before a second person repeats the example?</a:t>
            </a:r>
            <a:endParaRPr lang="en-US" sz="1300" dirty="0"/>
          </a:p>
        </p:txBody>
      </p:sp>
      <p:sp>
        <p:nvSpPr>
          <p:cNvPr id="16" name="Text 13"/>
          <p:cNvSpPr/>
          <p:nvPr/>
        </p:nvSpPr>
        <p:spPr>
          <a:xfrm>
            <a:off x="493776" y="6940296"/>
            <a:ext cx="9784080" cy="137160"/>
          </a:xfrm>
          <a:prstGeom prst="rect">
            <a:avLst/>
          </a:prstGeom>
          <a:noFill/>
          <a:ln/>
        </p:spPr>
        <p:txBody>
          <a:bodyPr wrap="square" lIns="0" tIns="0" rIns="0" bIns="0" rtlCol="0" anchor="ctr"/>
          <a:lstStyle/>
          <a:p>
            <a:pPr indent="0" marL="0">
              <a:buNone/>
            </a:pPr>
            <a:r>
              <a:rPr lang="en-US" sz="600" dirty="0">
                <a:solidFill>
                  <a:srgbClr val="77836B"/>
                </a:solidFill>
              </a:rPr>
              <a:t>COMPLETE / 32 PAGES / 16 INDEPENDENT MAIN ILLUSTRATIONS / MODEL NUMBERS, NOT REAL READINGS</a:t>
            </a:r>
            <a:endParaRPr lang="en-US" sz="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3"/>
        </a:solidFill>
      </p:bgPr>
    </p:bg>
    <p:spTree>
      <p:nvGrpSpPr>
        <p:cNvPr id="1" name=""/>
        <p:cNvGrpSpPr/>
        <p:nvPr/>
      </p:nvGrpSpPr>
      <p:grpSpPr>
        <a:xfrm>
          <a:off x="0" y="0"/>
          <a:ext cx="0" cy="0"/>
          <a:chOff x="0" y="0"/>
          <a:chExt cx="0" cy="0"/>
        </a:xfrm>
      </p:grpSpPr>
      <p:sp>
        <p:nvSpPr>
          <p:cNvPr id="2" name="Text 0"/>
          <p:cNvSpPr/>
          <p:nvPr/>
        </p:nvSpPr>
        <p:spPr>
          <a:xfrm>
            <a:off x="310896" y="256032"/>
            <a:ext cx="7772400" cy="182880"/>
          </a:xfrm>
          <a:prstGeom prst="rect">
            <a:avLst/>
          </a:prstGeom>
          <a:noFill/>
          <a:ln/>
        </p:spPr>
        <p:txBody>
          <a:bodyPr wrap="square" lIns="0" tIns="0" rIns="0" bIns="0" rtlCol="0" anchor="ctr"/>
          <a:lstStyle/>
          <a:p>
            <a:pPr indent="0" marL="0">
              <a:buNone/>
            </a:pPr>
            <a:r>
              <a:rPr lang="en-US" sz="800" dirty="0">
                <a:solidFill>
                  <a:srgbClr val="708267"/>
                </a:solidFill>
              </a:rPr>
              <a:t>PANTRY NOTES / THE MEASUREMENT NOTEBOOK</a:t>
            </a:r>
            <a:endParaRPr lang="en-US" sz="800" dirty="0"/>
          </a:p>
        </p:txBody>
      </p:sp>
      <p:sp>
        <p:nvSpPr>
          <p:cNvPr id="3" name="Text 1"/>
          <p:cNvSpPr/>
          <p:nvPr/>
        </p:nvSpPr>
        <p:spPr>
          <a:xfrm>
            <a:off x="310896" y="594360"/>
            <a:ext cx="7772400" cy="237744"/>
          </a:xfrm>
          <a:prstGeom prst="rect">
            <a:avLst/>
          </a:prstGeom>
          <a:noFill/>
          <a:ln/>
        </p:spPr>
        <p:txBody>
          <a:bodyPr wrap="square" lIns="0" tIns="0" rIns="0" bIns="0" rtlCol="0" anchor="ctr"/>
          <a:lstStyle/>
          <a:p>
            <a:pPr indent="0" marL="0">
              <a:buNone/>
            </a:pPr>
            <a:r>
              <a:rPr lang="en-US" sz="1400" dirty="0">
                <a:solidFill>
                  <a:srgbClr val="344E41"/>
                </a:solidFill>
                <a:latin typeface="Georgia" pitchFamily="34" charset="0"/>
                <a:ea typeface="Georgia" pitchFamily="34" charset="-122"/>
                <a:cs typeface="Georgia" pitchFamily="34" charset="-120"/>
              </a:rPr>
              <a:t>08 / Close the notebook</a:t>
            </a:r>
            <a:endParaRPr lang="en-US" sz="1400" dirty="0"/>
          </a:p>
        </p:txBody>
      </p:sp>
      <p:sp>
        <p:nvSpPr>
          <p:cNvPr id="4" name="Text 2"/>
          <p:cNvSpPr/>
          <p:nvPr/>
        </p:nvSpPr>
        <p:spPr>
          <a:xfrm>
            <a:off x="9784080" y="274320"/>
            <a:ext cx="640080" cy="411480"/>
          </a:xfrm>
          <a:prstGeom prst="rect">
            <a:avLst/>
          </a:prstGeom>
          <a:noFill/>
          <a:ln/>
        </p:spPr>
        <p:txBody>
          <a:bodyPr wrap="square" lIns="0" tIns="0" rIns="0" bIns="0" rtlCol="0" anchor="ctr"/>
          <a:lstStyle/>
          <a:p>
            <a:pPr algn="r" indent="0" marL="0">
              <a:buNone/>
            </a:pPr>
            <a:r>
              <a:rPr lang="en-US" sz="2500" dirty="0">
                <a:solidFill>
                  <a:srgbClr val="B1724C"/>
                </a:solidFill>
              </a:rPr>
              <a:t>29</a:t>
            </a:r>
            <a:endParaRPr lang="en-US" sz="2500" dirty="0"/>
          </a:p>
        </p:txBody>
      </p:sp>
      <p:sp>
        <p:nvSpPr>
          <p:cNvPr id="5" name="Shape 3"/>
          <p:cNvSpPr/>
          <p:nvPr/>
        </p:nvSpPr>
        <p:spPr>
          <a:xfrm>
            <a:off x="310896" y="960120"/>
            <a:ext cx="10149840" cy="0"/>
          </a:xfrm>
          <a:prstGeom prst="line">
            <a:avLst/>
          </a:prstGeom>
          <a:noFill/>
          <a:ln w="12700">
            <a:solidFill>
              <a:srgbClr val="C6D0BC"/>
            </a:solidFill>
            <a:prstDash val="solid"/>
          </a:ln>
        </p:spPr>
      </p:sp>
      <p:pic>
        <p:nvPicPr>
          <p:cNvPr id="6" name="Image 0" descr="/home/user/design-buddy/design-buddy-home/public/atelier/pantry-notes/images/15.jpg">    </p:cNvPr>
          <p:cNvPicPr>
            <a:picLocks noChangeAspect="1"/>
          </p:cNvPicPr>
          <p:nvPr/>
        </p:nvPicPr>
        <p:blipFill>
          <a:blip r:embed="rId1"/>
          <a:srcRect l="0" r="0" t="0" b="0"/>
          <a:stretch/>
        </p:blipFill>
        <p:spPr>
          <a:xfrm>
            <a:off x="310896" y="1207008"/>
            <a:ext cx="6217920" cy="4023360"/>
          </a:xfrm>
          <a:prstGeom prst="rect">
            <a:avLst/>
          </a:prstGeom>
        </p:spPr>
      </p:pic>
      <p:sp>
        <p:nvSpPr>
          <p:cNvPr id="7" name="Text 4"/>
          <p:cNvSpPr/>
          <p:nvPr/>
        </p:nvSpPr>
        <p:spPr>
          <a:xfrm>
            <a:off x="310896" y="5376672"/>
            <a:ext cx="6217920" cy="320040"/>
          </a:xfrm>
          <a:prstGeom prst="rect">
            <a:avLst/>
          </a:prstGeom>
          <a:noFill/>
          <a:ln/>
        </p:spPr>
        <p:txBody>
          <a:bodyPr wrap="square" lIns="0" tIns="0" rIns="0" bIns="0" rtlCol="0" anchor="ctr"/>
          <a:lstStyle/>
          <a:p>
            <a:pPr indent="0" marL="0">
              <a:buNone/>
            </a:pPr>
            <a:r>
              <a:rPr lang="en-US" sz="700" dirty="0">
                <a:solidFill>
                  <a:srgbClr val="7C886F"/>
                </a:solidFill>
              </a:rPr>
              <a:t>Watercolour study 15 / illustration, not measurement evidence</a:t>
            </a:r>
            <a:endParaRPr lang="en-US" sz="700" dirty="0"/>
          </a:p>
        </p:txBody>
      </p:sp>
      <p:sp>
        <p:nvSpPr>
          <p:cNvPr id="8" name="Text 5"/>
          <p:cNvSpPr/>
          <p:nvPr/>
        </p:nvSpPr>
        <p:spPr>
          <a:xfrm>
            <a:off x="6803136" y="1216152"/>
            <a:ext cx="3383280" cy="182880"/>
          </a:xfrm>
          <a:prstGeom prst="rect">
            <a:avLst/>
          </a:prstGeom>
          <a:noFill/>
          <a:ln/>
        </p:spPr>
        <p:txBody>
          <a:bodyPr wrap="square" lIns="0" tIns="0" rIns="0" bIns="0" rtlCol="0" anchor="ctr"/>
          <a:lstStyle/>
          <a:p>
            <a:pPr indent="0" marL="0">
              <a:buNone/>
            </a:pPr>
            <a:r>
              <a:rPr lang="en-US" sz="700" dirty="0">
                <a:solidFill>
                  <a:srgbClr val="A46343"/>
                </a:solidFill>
              </a:rPr>
              <a:t>THE OBSERVATION</a:t>
            </a:r>
            <a:endParaRPr lang="en-US" sz="700" dirty="0"/>
          </a:p>
        </p:txBody>
      </p:sp>
      <p:sp>
        <p:nvSpPr>
          <p:cNvPr id="9" name="Text 6"/>
          <p:cNvSpPr/>
          <p:nvPr/>
        </p:nvSpPr>
        <p:spPr>
          <a:xfrm>
            <a:off x="6803136" y="1554480"/>
            <a:ext cx="3383280" cy="969264"/>
          </a:xfrm>
          <a:prstGeom prst="rect">
            <a:avLst/>
          </a:prstGeom>
          <a:noFill/>
          <a:ln/>
        </p:spPr>
        <p:txBody>
          <a:bodyPr wrap="square" lIns="0" tIns="0" rIns="0" bIns="0" rtlCol="0" anchor="ctr">
            <a:normAutofit/>
          </a:bodyPr>
          <a:lstStyle/>
          <a:p>
            <a:pPr indent="0" marL="0">
              <a:buNone/>
            </a:pPr>
            <a:r>
              <a:rPr lang="en-US" sz="2500" dirty="0">
                <a:solidFill>
                  <a:srgbClr val="3E5743"/>
                </a:solidFill>
                <a:latin typeface="Georgia" pitchFamily="34" charset="0"/>
                <a:ea typeface="Georgia" pitchFamily="34" charset="-122"/>
                <a:cs typeface="Georgia" pitchFamily="34" charset="-120"/>
              </a:rPr>
              <a:t>Revise without erasing the trail.</a:t>
            </a:r>
            <a:endParaRPr lang="en-US" sz="2500" dirty="0"/>
          </a:p>
        </p:txBody>
      </p:sp>
      <p:sp>
        <p:nvSpPr>
          <p:cNvPr id="10" name="Text 7"/>
          <p:cNvSpPr/>
          <p:nvPr/>
        </p:nvSpPr>
        <p:spPr>
          <a:xfrm>
            <a:off x="6803136" y="2715768"/>
            <a:ext cx="3383280" cy="1883664"/>
          </a:xfrm>
          <a:prstGeom prst="rect">
            <a:avLst/>
          </a:prstGeom>
          <a:noFill/>
          <a:ln/>
        </p:spPr>
        <p:txBody>
          <a:bodyPr wrap="square" lIns="0" tIns="0" rIns="0" bIns="0" rtlCol="0" anchor="t">
            <a:normAutofit/>
          </a:bodyPr>
          <a:lstStyle/>
          <a:p>
            <a:pPr indent="0" marL="0">
              <a:buNone/>
            </a:pPr>
            <a:r>
              <a:rPr lang="en-US" sz="1200" dirty="0">
                <a:solidFill>
                  <a:srgbClr val="344E41"/>
                </a:solidFill>
                <a:latin typeface="Georgia" pitchFamily="34" charset="0"/>
                <a:ea typeface="Georgia" pitchFamily="34" charset="-122"/>
                <a:cs typeface="Georgia" pitchFamily="34" charset="-120"/>
              </a:rPr>
              <a:t>If a notation error is found, preserve the distinction between the original note and the corrected version. A correction should explain what changed; it is not a reason to invent a missing observation or conceal a method difference.</a:t>
            </a:r>
            <a:endParaRPr lang="en-US" sz="1200" dirty="0"/>
          </a:p>
        </p:txBody>
      </p:sp>
      <p:sp>
        <p:nvSpPr>
          <p:cNvPr id="11" name="Text 8"/>
          <p:cNvSpPr/>
          <p:nvPr/>
        </p:nvSpPr>
        <p:spPr>
          <a:xfrm>
            <a:off x="6803136" y="4782312"/>
            <a:ext cx="3383280" cy="164592"/>
          </a:xfrm>
          <a:prstGeom prst="rect">
            <a:avLst/>
          </a:prstGeom>
          <a:noFill/>
          <a:ln/>
        </p:spPr>
        <p:txBody>
          <a:bodyPr wrap="square" lIns="0" tIns="0" rIns="0" bIns="0" rtlCol="0" anchor="ctr"/>
          <a:lstStyle/>
          <a:p>
            <a:pPr indent="0" marL="0">
              <a:buNone/>
            </a:pPr>
            <a:r>
              <a:rPr lang="en-US" sz="700" dirty="0">
                <a:solidFill>
                  <a:srgbClr val="A46343"/>
                </a:solidFill>
              </a:rPr>
              <a:t>MODEL / METHOD NOTE</a:t>
            </a:r>
            <a:endParaRPr lang="en-US" sz="700" dirty="0"/>
          </a:p>
        </p:txBody>
      </p:sp>
      <p:sp>
        <p:nvSpPr>
          <p:cNvPr id="12" name="Text 9"/>
          <p:cNvSpPr/>
          <p:nvPr/>
        </p:nvSpPr>
        <p:spPr>
          <a:xfrm>
            <a:off x="6803136" y="5074920"/>
            <a:ext cx="3383280" cy="594360"/>
          </a:xfrm>
          <a:prstGeom prst="rect">
            <a:avLst/>
          </a:prstGeom>
          <a:noFill/>
          <a:ln/>
        </p:spPr>
        <p:txBody>
          <a:bodyPr wrap="square" lIns="0" tIns="0" rIns="0" bIns="0" rtlCol="0" anchor="ctr">
            <a:normAutofit/>
          </a:bodyPr>
          <a:lstStyle/>
          <a:p>
            <a:pPr indent="0" marL="0">
              <a:buNone/>
            </a:pPr>
            <a:r>
              <a:rPr lang="en-US" sz="1000" dirty="0">
                <a:solidFill>
                  <a:srgbClr val="62745B"/>
                </a:solidFill>
                <a:latin typeface="Georgia" pitchFamily="34" charset="0"/>
                <a:ea typeface="Georgia" pitchFamily="34" charset="-122"/>
                <a:cs typeface="Georgia" pitchFamily="34" charset="-120"/>
              </a:rPr>
              <a:t>Correction example: unit label clarified; original observation not re-created.</a:t>
            </a:r>
            <a:endParaRPr lang="en-US" sz="1000" dirty="0"/>
          </a:p>
        </p:txBody>
      </p:sp>
      <p:sp>
        <p:nvSpPr>
          <p:cNvPr id="13" name="Shape 10"/>
          <p:cNvSpPr/>
          <p:nvPr/>
        </p:nvSpPr>
        <p:spPr>
          <a:xfrm>
            <a:off x="310896" y="5961888"/>
            <a:ext cx="10149840" cy="1207008"/>
          </a:xfrm>
          <a:prstGeom prst="rect">
            <a:avLst/>
          </a:prstGeom>
          <a:solidFill>
            <a:srgbClr val="E9EDDF"/>
          </a:solidFill>
          <a:ln w="12700">
            <a:solidFill>
              <a:srgbClr val="E9EDDF"/>
            </a:solidFill>
            <a:prstDash val="solid"/>
          </a:ln>
        </p:spPr>
      </p:sp>
      <p:sp>
        <p:nvSpPr>
          <p:cNvPr id="14" name="Text 11"/>
          <p:cNvSpPr/>
          <p:nvPr/>
        </p:nvSpPr>
        <p:spPr>
          <a:xfrm>
            <a:off x="493776" y="6126480"/>
            <a:ext cx="9784080" cy="164592"/>
          </a:xfrm>
          <a:prstGeom prst="rect">
            <a:avLst/>
          </a:prstGeom>
          <a:noFill/>
          <a:ln/>
        </p:spPr>
        <p:txBody>
          <a:bodyPr wrap="square" lIns="0" tIns="0" rIns="0" bIns="0" rtlCol="0" anchor="ctr"/>
          <a:lstStyle/>
          <a:p>
            <a:pPr indent="0" marL="0">
              <a:buNone/>
            </a:pPr>
            <a:r>
              <a:rPr lang="en-US" sz="700" dirty="0">
                <a:solidFill>
                  <a:srgbClr val="A46343"/>
                </a:solidFill>
              </a:rPr>
              <a:t>TRY / REFLECT</a:t>
            </a:r>
            <a:endParaRPr lang="en-US" sz="700" dirty="0"/>
          </a:p>
        </p:txBody>
      </p:sp>
      <p:sp>
        <p:nvSpPr>
          <p:cNvPr id="15" name="Text 12"/>
          <p:cNvSpPr/>
          <p:nvPr/>
        </p:nvSpPr>
        <p:spPr>
          <a:xfrm>
            <a:off x="493776" y="6428232"/>
            <a:ext cx="9784080" cy="384048"/>
          </a:xfrm>
          <a:prstGeom prst="rect">
            <a:avLst/>
          </a:prstGeom>
          <a:noFill/>
          <a:ln/>
        </p:spPr>
        <p:txBody>
          <a:bodyPr wrap="square" lIns="0" tIns="0" rIns="0" bIns="0" rtlCol="0" anchor="ctr">
            <a:normAutofit/>
          </a:bodyPr>
          <a:lstStyle/>
          <a:p>
            <a:pPr indent="0" marL="0">
              <a:buNone/>
            </a:pPr>
            <a:r>
              <a:rPr lang="en-US" sz="1300" dirty="0">
                <a:solidFill>
                  <a:srgbClr val="344E41"/>
                </a:solidFill>
                <a:latin typeface="Georgia" pitchFamily="34" charset="0"/>
                <a:ea typeface="Georgia" pitchFamily="34" charset="-122"/>
                <a:cs typeface="Georgia" pitchFamily="34" charset="-120"/>
              </a:rPr>
              <a:t>How would you label a correction without pretending to have remeasured the object?</a:t>
            </a:r>
            <a:endParaRPr lang="en-US" sz="1300" dirty="0"/>
          </a:p>
        </p:txBody>
      </p:sp>
      <p:sp>
        <p:nvSpPr>
          <p:cNvPr id="16" name="Text 13"/>
          <p:cNvSpPr/>
          <p:nvPr/>
        </p:nvSpPr>
        <p:spPr>
          <a:xfrm>
            <a:off x="493776" y="6940296"/>
            <a:ext cx="9784080" cy="137160"/>
          </a:xfrm>
          <a:prstGeom prst="rect">
            <a:avLst/>
          </a:prstGeom>
          <a:noFill/>
          <a:ln/>
        </p:spPr>
        <p:txBody>
          <a:bodyPr wrap="square" lIns="0" tIns="0" rIns="0" bIns="0" rtlCol="0" anchor="ctr"/>
          <a:lstStyle/>
          <a:p>
            <a:pPr indent="0" marL="0">
              <a:buNone/>
            </a:pPr>
            <a:r>
              <a:rPr lang="en-US" sz="600" dirty="0">
                <a:solidFill>
                  <a:srgbClr val="77836B"/>
                </a:solidFill>
              </a:rPr>
              <a:t>COMPLETE / 32 PAGES / 16 INDEPENDENT MAIN ILLUSTRATIONS / MODEL NUMBERS, NOT REAL READINGS</a:t>
            </a:r>
            <a:endParaRPr lang="en-US" sz="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3"/>
        </a:solidFill>
      </p:bgPr>
    </p:bg>
    <p:spTree>
      <p:nvGrpSpPr>
        <p:cNvPr id="1" name=""/>
        <p:cNvGrpSpPr/>
        <p:nvPr/>
      </p:nvGrpSpPr>
      <p:grpSpPr>
        <a:xfrm>
          <a:off x="0" y="0"/>
          <a:ext cx="0" cy="0"/>
          <a:chOff x="0" y="0"/>
          <a:chExt cx="0" cy="0"/>
        </a:xfrm>
      </p:grpSpPr>
      <p:sp>
        <p:nvSpPr>
          <p:cNvPr id="2" name="Text 0"/>
          <p:cNvSpPr/>
          <p:nvPr/>
        </p:nvSpPr>
        <p:spPr>
          <a:xfrm>
            <a:off x="310896" y="256032"/>
            <a:ext cx="7772400" cy="182880"/>
          </a:xfrm>
          <a:prstGeom prst="rect">
            <a:avLst/>
          </a:prstGeom>
          <a:noFill/>
          <a:ln/>
        </p:spPr>
        <p:txBody>
          <a:bodyPr wrap="square" lIns="0" tIns="0" rIns="0" bIns="0" rtlCol="0" anchor="ctr"/>
          <a:lstStyle/>
          <a:p>
            <a:pPr indent="0" marL="0">
              <a:buNone/>
            </a:pPr>
            <a:r>
              <a:rPr lang="en-US" sz="800" dirty="0">
                <a:solidFill>
                  <a:srgbClr val="708267"/>
                </a:solidFill>
              </a:rPr>
              <a:t>PANTRY NOTES / THE MEASUREMENT NOTEBOOK</a:t>
            </a:r>
            <a:endParaRPr lang="en-US" sz="800" dirty="0"/>
          </a:p>
        </p:txBody>
      </p:sp>
      <p:sp>
        <p:nvSpPr>
          <p:cNvPr id="3" name="Text 1"/>
          <p:cNvSpPr/>
          <p:nvPr/>
        </p:nvSpPr>
        <p:spPr>
          <a:xfrm>
            <a:off x="310896" y="594360"/>
            <a:ext cx="7772400" cy="237744"/>
          </a:xfrm>
          <a:prstGeom prst="rect">
            <a:avLst/>
          </a:prstGeom>
          <a:noFill/>
          <a:ln/>
        </p:spPr>
        <p:txBody>
          <a:bodyPr wrap="square" lIns="0" tIns="0" rIns="0" bIns="0" rtlCol="0" anchor="ctr"/>
          <a:lstStyle/>
          <a:p>
            <a:pPr indent="0" marL="0">
              <a:buNone/>
            </a:pPr>
            <a:r>
              <a:rPr lang="en-US" sz="1400" dirty="0">
                <a:solidFill>
                  <a:srgbClr val="344E41"/>
                </a:solidFill>
                <a:latin typeface="Georgia" pitchFamily="34" charset="0"/>
                <a:ea typeface="Georgia" pitchFamily="34" charset="-122"/>
                <a:cs typeface="Georgia" pitchFamily="34" charset="-120"/>
              </a:rPr>
              <a:t>08 / Close the notebook</a:t>
            </a:r>
            <a:endParaRPr lang="en-US" sz="1400" dirty="0"/>
          </a:p>
        </p:txBody>
      </p:sp>
      <p:sp>
        <p:nvSpPr>
          <p:cNvPr id="4" name="Text 2"/>
          <p:cNvSpPr/>
          <p:nvPr/>
        </p:nvSpPr>
        <p:spPr>
          <a:xfrm>
            <a:off x="9784080" y="274320"/>
            <a:ext cx="640080" cy="411480"/>
          </a:xfrm>
          <a:prstGeom prst="rect">
            <a:avLst/>
          </a:prstGeom>
          <a:noFill/>
          <a:ln/>
        </p:spPr>
        <p:txBody>
          <a:bodyPr wrap="square" lIns="0" tIns="0" rIns="0" bIns="0" rtlCol="0" anchor="ctr"/>
          <a:lstStyle/>
          <a:p>
            <a:pPr algn="r" indent="0" marL="0">
              <a:buNone/>
            </a:pPr>
            <a:r>
              <a:rPr lang="en-US" sz="2500" dirty="0">
                <a:solidFill>
                  <a:srgbClr val="B1724C"/>
                </a:solidFill>
              </a:rPr>
              <a:t>30</a:t>
            </a:r>
            <a:endParaRPr lang="en-US" sz="2500" dirty="0"/>
          </a:p>
        </p:txBody>
      </p:sp>
      <p:sp>
        <p:nvSpPr>
          <p:cNvPr id="5" name="Shape 3"/>
          <p:cNvSpPr/>
          <p:nvPr/>
        </p:nvSpPr>
        <p:spPr>
          <a:xfrm>
            <a:off x="310896" y="960120"/>
            <a:ext cx="10149840" cy="0"/>
          </a:xfrm>
          <a:prstGeom prst="line">
            <a:avLst/>
          </a:prstGeom>
          <a:noFill/>
          <a:ln w="12700">
            <a:solidFill>
              <a:srgbClr val="C6D0BC"/>
            </a:solidFill>
            <a:prstDash val="solid"/>
          </a:ln>
        </p:spPr>
      </p:sp>
      <p:pic>
        <p:nvPicPr>
          <p:cNvPr id="6" name="Image 0" descr="/home/user/design-buddy/design-buddy-home/public/atelier/pantry-notes/images/15.jpg">    </p:cNvPr>
          <p:cNvPicPr>
            <a:picLocks noChangeAspect="1"/>
          </p:cNvPicPr>
          <p:nvPr/>
        </p:nvPicPr>
        <p:blipFill>
          <a:blip r:embed="rId1"/>
          <a:srcRect l="0" r="0" t="0" b="0"/>
          <a:stretch/>
        </p:blipFill>
        <p:spPr>
          <a:xfrm>
            <a:off x="310896" y="1207008"/>
            <a:ext cx="6217920" cy="4023360"/>
          </a:xfrm>
          <a:prstGeom prst="rect">
            <a:avLst/>
          </a:prstGeom>
        </p:spPr>
      </p:pic>
      <p:sp>
        <p:nvSpPr>
          <p:cNvPr id="7" name="Text 4"/>
          <p:cNvSpPr/>
          <p:nvPr/>
        </p:nvSpPr>
        <p:spPr>
          <a:xfrm>
            <a:off x="310896" y="5376672"/>
            <a:ext cx="6217920" cy="320040"/>
          </a:xfrm>
          <a:prstGeom prst="rect">
            <a:avLst/>
          </a:prstGeom>
          <a:noFill/>
          <a:ln/>
        </p:spPr>
        <p:txBody>
          <a:bodyPr wrap="square" lIns="0" tIns="0" rIns="0" bIns="0" rtlCol="0" anchor="ctr"/>
          <a:lstStyle/>
          <a:p>
            <a:pPr indent="0" marL="0">
              <a:buNone/>
            </a:pPr>
            <a:r>
              <a:rPr lang="en-US" sz="700" dirty="0">
                <a:solidFill>
                  <a:srgbClr val="7C886F"/>
                </a:solidFill>
              </a:rPr>
              <a:t>Watercolour study 15 / illustration, not measurement evidence</a:t>
            </a:r>
            <a:endParaRPr lang="en-US" sz="700" dirty="0"/>
          </a:p>
        </p:txBody>
      </p:sp>
      <p:sp>
        <p:nvSpPr>
          <p:cNvPr id="8" name="Text 5"/>
          <p:cNvSpPr/>
          <p:nvPr/>
        </p:nvSpPr>
        <p:spPr>
          <a:xfrm>
            <a:off x="6803136" y="1216152"/>
            <a:ext cx="3383280" cy="182880"/>
          </a:xfrm>
          <a:prstGeom prst="rect">
            <a:avLst/>
          </a:prstGeom>
          <a:noFill/>
          <a:ln/>
        </p:spPr>
        <p:txBody>
          <a:bodyPr wrap="square" lIns="0" tIns="0" rIns="0" bIns="0" rtlCol="0" anchor="ctr"/>
          <a:lstStyle/>
          <a:p>
            <a:pPr indent="0" marL="0">
              <a:buNone/>
            </a:pPr>
            <a:r>
              <a:rPr lang="en-US" sz="700" dirty="0">
                <a:solidFill>
                  <a:srgbClr val="A46343"/>
                </a:solidFill>
              </a:rPr>
              <a:t>THE OBSERVATION</a:t>
            </a:r>
            <a:endParaRPr lang="en-US" sz="700" dirty="0"/>
          </a:p>
        </p:txBody>
      </p:sp>
      <p:sp>
        <p:nvSpPr>
          <p:cNvPr id="9" name="Text 6"/>
          <p:cNvSpPr/>
          <p:nvPr/>
        </p:nvSpPr>
        <p:spPr>
          <a:xfrm>
            <a:off x="6803136" y="1554480"/>
            <a:ext cx="3383280" cy="969264"/>
          </a:xfrm>
          <a:prstGeom prst="rect">
            <a:avLst/>
          </a:prstGeom>
          <a:noFill/>
          <a:ln/>
        </p:spPr>
        <p:txBody>
          <a:bodyPr wrap="square" lIns="0" tIns="0" rIns="0" bIns="0" rtlCol="0" anchor="ctr">
            <a:normAutofit/>
          </a:bodyPr>
          <a:lstStyle/>
          <a:p>
            <a:pPr indent="0" marL="0">
              <a:buNone/>
            </a:pPr>
            <a:r>
              <a:rPr lang="en-US" sz="2500" dirty="0">
                <a:solidFill>
                  <a:srgbClr val="3E5743"/>
                </a:solidFill>
                <a:latin typeface="Georgia" pitchFamily="34" charset="0"/>
                <a:ea typeface="Georgia" pitchFamily="34" charset="-122"/>
                <a:cs typeface="Georgia" pitchFamily="34" charset="-120"/>
              </a:rPr>
              <a:t>Check the unit in the answer.</a:t>
            </a:r>
            <a:endParaRPr lang="en-US" sz="2500" dirty="0"/>
          </a:p>
        </p:txBody>
      </p:sp>
      <p:sp>
        <p:nvSpPr>
          <p:cNvPr id="10" name="Text 7"/>
          <p:cNvSpPr/>
          <p:nvPr/>
        </p:nvSpPr>
        <p:spPr>
          <a:xfrm>
            <a:off x="6803136" y="2715768"/>
            <a:ext cx="3383280" cy="1883664"/>
          </a:xfrm>
          <a:prstGeom prst="rect">
            <a:avLst/>
          </a:prstGeom>
          <a:noFill/>
          <a:ln/>
        </p:spPr>
        <p:txBody>
          <a:bodyPr wrap="square" lIns="0" tIns="0" rIns="0" bIns="0" rtlCol="0" anchor="t">
            <a:normAutofit/>
          </a:bodyPr>
          <a:lstStyle/>
          <a:p>
            <a:pPr indent="0" marL="0">
              <a:buNone/>
            </a:pPr>
            <a:r>
              <a:rPr lang="en-US" sz="1200" dirty="0">
                <a:solidFill>
                  <a:srgbClr val="344E41"/>
                </a:solidFill>
                <a:latin typeface="Georgia" pitchFamily="34" charset="0"/>
                <a:ea typeface="Georgia" pitchFamily="34" charset="-122"/>
                <a:cs typeface="Georgia" pitchFamily="34" charset="-120"/>
              </a:rPr>
              <a:t>Review arithmetic and units together. Adding 100 g to 50 g gives 150 g within the model. Adding a mass to an unrelated volume is not justified just because both values are numbers.</a:t>
            </a:r>
            <a:endParaRPr lang="en-US" sz="1200" dirty="0"/>
          </a:p>
        </p:txBody>
      </p:sp>
      <p:sp>
        <p:nvSpPr>
          <p:cNvPr id="11" name="Text 8"/>
          <p:cNvSpPr/>
          <p:nvPr/>
        </p:nvSpPr>
        <p:spPr>
          <a:xfrm>
            <a:off x="6803136" y="4782312"/>
            <a:ext cx="3383280" cy="164592"/>
          </a:xfrm>
          <a:prstGeom prst="rect">
            <a:avLst/>
          </a:prstGeom>
          <a:noFill/>
          <a:ln/>
        </p:spPr>
        <p:txBody>
          <a:bodyPr wrap="square" lIns="0" tIns="0" rIns="0" bIns="0" rtlCol="0" anchor="ctr"/>
          <a:lstStyle/>
          <a:p>
            <a:pPr indent="0" marL="0">
              <a:buNone/>
            </a:pPr>
            <a:r>
              <a:rPr lang="en-US" sz="700" dirty="0">
                <a:solidFill>
                  <a:srgbClr val="A46343"/>
                </a:solidFill>
              </a:rPr>
              <a:t>MODEL / METHOD NOTE</a:t>
            </a:r>
            <a:endParaRPr lang="en-US" sz="700" dirty="0"/>
          </a:p>
        </p:txBody>
      </p:sp>
      <p:sp>
        <p:nvSpPr>
          <p:cNvPr id="12" name="Text 9"/>
          <p:cNvSpPr/>
          <p:nvPr/>
        </p:nvSpPr>
        <p:spPr>
          <a:xfrm>
            <a:off x="6803136" y="5074920"/>
            <a:ext cx="3383280" cy="594360"/>
          </a:xfrm>
          <a:prstGeom prst="rect">
            <a:avLst/>
          </a:prstGeom>
          <a:noFill/>
          <a:ln/>
        </p:spPr>
        <p:txBody>
          <a:bodyPr wrap="square" lIns="0" tIns="0" rIns="0" bIns="0" rtlCol="0" anchor="ctr">
            <a:normAutofit/>
          </a:bodyPr>
          <a:lstStyle/>
          <a:p>
            <a:pPr indent="0" marL="0">
              <a:buNone/>
            </a:pPr>
            <a:r>
              <a:rPr lang="en-US" sz="1000" dirty="0">
                <a:solidFill>
                  <a:srgbClr val="62745B"/>
                </a:solidFill>
                <a:latin typeface="Georgia" pitchFamily="34" charset="0"/>
                <a:ea typeface="Georgia" pitchFamily="34" charset="-122"/>
                <a:cs typeface="Georgia" pitchFamily="34" charset="-120"/>
              </a:rPr>
              <a:t>100 g + 50 g = 150 g; grams + millilitres needs a different explanation.</a:t>
            </a:r>
            <a:endParaRPr lang="en-US" sz="1000" dirty="0"/>
          </a:p>
        </p:txBody>
      </p:sp>
      <p:sp>
        <p:nvSpPr>
          <p:cNvPr id="13" name="Shape 10"/>
          <p:cNvSpPr/>
          <p:nvPr/>
        </p:nvSpPr>
        <p:spPr>
          <a:xfrm>
            <a:off x="310896" y="5961888"/>
            <a:ext cx="10149840" cy="1207008"/>
          </a:xfrm>
          <a:prstGeom prst="rect">
            <a:avLst/>
          </a:prstGeom>
          <a:solidFill>
            <a:srgbClr val="E9EDDF"/>
          </a:solidFill>
          <a:ln w="12700">
            <a:solidFill>
              <a:srgbClr val="E9EDDF"/>
            </a:solidFill>
            <a:prstDash val="solid"/>
          </a:ln>
        </p:spPr>
      </p:sp>
      <p:sp>
        <p:nvSpPr>
          <p:cNvPr id="14" name="Text 11"/>
          <p:cNvSpPr/>
          <p:nvPr/>
        </p:nvSpPr>
        <p:spPr>
          <a:xfrm>
            <a:off x="493776" y="6126480"/>
            <a:ext cx="9784080" cy="164592"/>
          </a:xfrm>
          <a:prstGeom prst="rect">
            <a:avLst/>
          </a:prstGeom>
          <a:noFill/>
          <a:ln/>
        </p:spPr>
        <p:txBody>
          <a:bodyPr wrap="square" lIns="0" tIns="0" rIns="0" bIns="0" rtlCol="0" anchor="ctr"/>
          <a:lstStyle/>
          <a:p>
            <a:pPr indent="0" marL="0">
              <a:buNone/>
            </a:pPr>
            <a:r>
              <a:rPr lang="en-US" sz="700" dirty="0">
                <a:solidFill>
                  <a:srgbClr val="A46343"/>
                </a:solidFill>
              </a:rPr>
              <a:t>TRY / REFLECT</a:t>
            </a:r>
            <a:endParaRPr lang="en-US" sz="700" dirty="0"/>
          </a:p>
        </p:txBody>
      </p:sp>
      <p:sp>
        <p:nvSpPr>
          <p:cNvPr id="15" name="Text 12"/>
          <p:cNvSpPr/>
          <p:nvPr/>
        </p:nvSpPr>
        <p:spPr>
          <a:xfrm>
            <a:off x="493776" y="6428232"/>
            <a:ext cx="9784080" cy="384048"/>
          </a:xfrm>
          <a:prstGeom prst="rect">
            <a:avLst/>
          </a:prstGeom>
          <a:noFill/>
          <a:ln/>
        </p:spPr>
        <p:txBody>
          <a:bodyPr wrap="square" lIns="0" tIns="0" rIns="0" bIns="0" rtlCol="0" anchor="ctr">
            <a:normAutofit/>
          </a:bodyPr>
          <a:lstStyle/>
          <a:p>
            <a:pPr indent="0" marL="0">
              <a:buNone/>
            </a:pPr>
            <a:r>
              <a:rPr lang="en-US" sz="1300" dirty="0">
                <a:solidFill>
                  <a:srgbClr val="344E41"/>
                </a:solidFill>
                <a:latin typeface="Georgia" pitchFamily="34" charset="0"/>
                <a:ea typeface="Georgia" pitchFamily="34" charset="-122"/>
                <a:cs typeface="Georgia" pitchFamily="34" charset="-120"/>
              </a:rPr>
              <a:t>Find one valid calculation and one unsupported combination in your own draft notes.</a:t>
            </a:r>
            <a:endParaRPr lang="en-US" sz="1300" dirty="0"/>
          </a:p>
        </p:txBody>
      </p:sp>
      <p:sp>
        <p:nvSpPr>
          <p:cNvPr id="16" name="Text 13"/>
          <p:cNvSpPr/>
          <p:nvPr/>
        </p:nvSpPr>
        <p:spPr>
          <a:xfrm>
            <a:off x="493776" y="6940296"/>
            <a:ext cx="9784080" cy="137160"/>
          </a:xfrm>
          <a:prstGeom prst="rect">
            <a:avLst/>
          </a:prstGeom>
          <a:noFill/>
          <a:ln/>
        </p:spPr>
        <p:txBody>
          <a:bodyPr wrap="square" lIns="0" tIns="0" rIns="0" bIns="0" rtlCol="0" anchor="ctr"/>
          <a:lstStyle/>
          <a:p>
            <a:pPr indent="0" marL="0">
              <a:buNone/>
            </a:pPr>
            <a:r>
              <a:rPr lang="en-US" sz="600" dirty="0">
                <a:solidFill>
                  <a:srgbClr val="77836B"/>
                </a:solidFill>
              </a:rPr>
              <a:t>COMPLETE / 32 PAGES / 16 INDEPENDENT MAIN ILLUSTRATIONS / MODEL NUMBERS, NOT REAL READINGS</a:t>
            </a:r>
            <a:endParaRPr lang="en-US" sz="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3"/>
        </a:solidFill>
      </p:bgPr>
    </p:bg>
    <p:spTree>
      <p:nvGrpSpPr>
        <p:cNvPr id="1" name=""/>
        <p:cNvGrpSpPr/>
        <p:nvPr/>
      </p:nvGrpSpPr>
      <p:grpSpPr>
        <a:xfrm>
          <a:off x="0" y="0"/>
          <a:ext cx="0" cy="0"/>
          <a:chOff x="0" y="0"/>
          <a:chExt cx="0" cy="0"/>
        </a:xfrm>
      </p:grpSpPr>
      <p:sp>
        <p:nvSpPr>
          <p:cNvPr id="2" name="Text 0"/>
          <p:cNvSpPr/>
          <p:nvPr/>
        </p:nvSpPr>
        <p:spPr>
          <a:xfrm>
            <a:off x="310896" y="256032"/>
            <a:ext cx="7772400" cy="182880"/>
          </a:xfrm>
          <a:prstGeom prst="rect">
            <a:avLst/>
          </a:prstGeom>
          <a:noFill/>
          <a:ln/>
        </p:spPr>
        <p:txBody>
          <a:bodyPr wrap="square" lIns="0" tIns="0" rIns="0" bIns="0" rtlCol="0" anchor="ctr"/>
          <a:lstStyle/>
          <a:p>
            <a:pPr indent="0" marL="0">
              <a:buNone/>
            </a:pPr>
            <a:r>
              <a:rPr lang="en-US" sz="800" dirty="0">
                <a:solidFill>
                  <a:srgbClr val="708267"/>
                </a:solidFill>
              </a:rPr>
              <a:t>PANTRY NOTES / THE MEASUREMENT NOTEBOOK</a:t>
            </a:r>
            <a:endParaRPr lang="en-US" sz="800" dirty="0"/>
          </a:p>
        </p:txBody>
      </p:sp>
      <p:sp>
        <p:nvSpPr>
          <p:cNvPr id="3" name="Text 1"/>
          <p:cNvSpPr/>
          <p:nvPr/>
        </p:nvSpPr>
        <p:spPr>
          <a:xfrm>
            <a:off x="310896" y="594360"/>
            <a:ext cx="7772400" cy="237744"/>
          </a:xfrm>
          <a:prstGeom prst="rect">
            <a:avLst/>
          </a:prstGeom>
          <a:noFill/>
          <a:ln/>
        </p:spPr>
        <p:txBody>
          <a:bodyPr wrap="square" lIns="0" tIns="0" rIns="0" bIns="0" rtlCol="0" anchor="ctr"/>
          <a:lstStyle/>
          <a:p>
            <a:pPr indent="0" marL="0">
              <a:buNone/>
            </a:pPr>
            <a:r>
              <a:rPr lang="en-US" sz="1400" dirty="0">
                <a:solidFill>
                  <a:srgbClr val="344E41"/>
                </a:solidFill>
                <a:latin typeface="Georgia" pitchFamily="34" charset="0"/>
                <a:ea typeface="Georgia" pitchFamily="34" charset="-122"/>
                <a:cs typeface="Georgia" pitchFamily="34" charset="-120"/>
              </a:rPr>
              <a:t>08 / Close the notebook</a:t>
            </a:r>
            <a:endParaRPr lang="en-US" sz="1400" dirty="0"/>
          </a:p>
        </p:txBody>
      </p:sp>
      <p:sp>
        <p:nvSpPr>
          <p:cNvPr id="4" name="Text 2"/>
          <p:cNvSpPr/>
          <p:nvPr/>
        </p:nvSpPr>
        <p:spPr>
          <a:xfrm>
            <a:off x="9784080" y="274320"/>
            <a:ext cx="640080" cy="411480"/>
          </a:xfrm>
          <a:prstGeom prst="rect">
            <a:avLst/>
          </a:prstGeom>
          <a:noFill/>
          <a:ln/>
        </p:spPr>
        <p:txBody>
          <a:bodyPr wrap="square" lIns="0" tIns="0" rIns="0" bIns="0" rtlCol="0" anchor="ctr"/>
          <a:lstStyle/>
          <a:p>
            <a:pPr algn="r" indent="0" marL="0">
              <a:buNone/>
            </a:pPr>
            <a:r>
              <a:rPr lang="en-US" sz="2500" dirty="0">
                <a:solidFill>
                  <a:srgbClr val="B1724C"/>
                </a:solidFill>
              </a:rPr>
              <a:t>31</a:t>
            </a:r>
            <a:endParaRPr lang="en-US" sz="2500" dirty="0"/>
          </a:p>
        </p:txBody>
      </p:sp>
      <p:sp>
        <p:nvSpPr>
          <p:cNvPr id="5" name="Shape 3"/>
          <p:cNvSpPr/>
          <p:nvPr/>
        </p:nvSpPr>
        <p:spPr>
          <a:xfrm>
            <a:off x="310896" y="960120"/>
            <a:ext cx="10149840" cy="0"/>
          </a:xfrm>
          <a:prstGeom prst="line">
            <a:avLst/>
          </a:prstGeom>
          <a:noFill/>
          <a:ln w="12700">
            <a:solidFill>
              <a:srgbClr val="C6D0BC"/>
            </a:solidFill>
            <a:prstDash val="solid"/>
          </a:ln>
        </p:spPr>
      </p:sp>
      <p:pic>
        <p:nvPicPr>
          <p:cNvPr id="6" name="Image 0" descr="/home/user/design-buddy/design-buddy-home/public/atelier/pantry-notes/images/16.jpg">    </p:cNvPr>
          <p:cNvPicPr>
            <a:picLocks noChangeAspect="1"/>
          </p:cNvPicPr>
          <p:nvPr/>
        </p:nvPicPr>
        <p:blipFill>
          <a:blip r:embed="rId1"/>
          <a:srcRect l="0" r="0" t="0" b="0"/>
          <a:stretch/>
        </p:blipFill>
        <p:spPr>
          <a:xfrm>
            <a:off x="310896" y="1207008"/>
            <a:ext cx="6217920" cy="4023360"/>
          </a:xfrm>
          <a:prstGeom prst="rect">
            <a:avLst/>
          </a:prstGeom>
        </p:spPr>
      </p:pic>
      <p:sp>
        <p:nvSpPr>
          <p:cNvPr id="7" name="Text 4"/>
          <p:cNvSpPr/>
          <p:nvPr/>
        </p:nvSpPr>
        <p:spPr>
          <a:xfrm>
            <a:off x="310896" y="5376672"/>
            <a:ext cx="6217920" cy="320040"/>
          </a:xfrm>
          <a:prstGeom prst="rect">
            <a:avLst/>
          </a:prstGeom>
          <a:noFill/>
          <a:ln/>
        </p:spPr>
        <p:txBody>
          <a:bodyPr wrap="square" lIns="0" tIns="0" rIns="0" bIns="0" rtlCol="0" anchor="ctr"/>
          <a:lstStyle/>
          <a:p>
            <a:pPr indent="0" marL="0">
              <a:buNone/>
            </a:pPr>
            <a:r>
              <a:rPr lang="en-US" sz="700" dirty="0">
                <a:solidFill>
                  <a:srgbClr val="7C886F"/>
                </a:solidFill>
              </a:rPr>
              <a:t>Watercolour study 16 / illustration, not measurement evidence</a:t>
            </a:r>
            <a:endParaRPr lang="en-US" sz="700" dirty="0"/>
          </a:p>
        </p:txBody>
      </p:sp>
      <p:sp>
        <p:nvSpPr>
          <p:cNvPr id="8" name="Text 5"/>
          <p:cNvSpPr/>
          <p:nvPr/>
        </p:nvSpPr>
        <p:spPr>
          <a:xfrm>
            <a:off x="6803136" y="1216152"/>
            <a:ext cx="3383280" cy="182880"/>
          </a:xfrm>
          <a:prstGeom prst="rect">
            <a:avLst/>
          </a:prstGeom>
          <a:noFill/>
          <a:ln/>
        </p:spPr>
        <p:txBody>
          <a:bodyPr wrap="square" lIns="0" tIns="0" rIns="0" bIns="0" rtlCol="0" anchor="ctr"/>
          <a:lstStyle/>
          <a:p>
            <a:pPr indent="0" marL="0">
              <a:buNone/>
            </a:pPr>
            <a:r>
              <a:rPr lang="en-US" sz="700" dirty="0">
                <a:solidFill>
                  <a:srgbClr val="A46343"/>
                </a:solidFill>
              </a:rPr>
              <a:t>THE OBSERVATION</a:t>
            </a:r>
            <a:endParaRPr lang="en-US" sz="700" dirty="0"/>
          </a:p>
        </p:txBody>
      </p:sp>
      <p:sp>
        <p:nvSpPr>
          <p:cNvPr id="9" name="Text 6"/>
          <p:cNvSpPr/>
          <p:nvPr/>
        </p:nvSpPr>
        <p:spPr>
          <a:xfrm>
            <a:off x="6803136" y="1554480"/>
            <a:ext cx="3383280" cy="969264"/>
          </a:xfrm>
          <a:prstGeom prst="rect">
            <a:avLst/>
          </a:prstGeom>
          <a:noFill/>
          <a:ln/>
        </p:spPr>
        <p:txBody>
          <a:bodyPr wrap="square" lIns="0" tIns="0" rIns="0" bIns="0" rtlCol="0" anchor="ctr">
            <a:normAutofit/>
          </a:bodyPr>
          <a:lstStyle/>
          <a:p>
            <a:pPr indent="0" marL="0">
              <a:buNone/>
            </a:pPr>
            <a:r>
              <a:rPr lang="en-US" sz="2500" dirty="0">
                <a:solidFill>
                  <a:srgbClr val="3E5743"/>
                </a:solidFill>
                <a:latin typeface="Georgia" pitchFamily="34" charset="0"/>
                <a:ea typeface="Georgia" pitchFamily="34" charset="-122"/>
                <a:cs typeface="Georgia" pitchFamily="34" charset="-120"/>
              </a:rPr>
              <a:t>Review the claim before sharing.</a:t>
            </a:r>
            <a:endParaRPr lang="en-US" sz="2500" dirty="0"/>
          </a:p>
        </p:txBody>
      </p:sp>
      <p:sp>
        <p:nvSpPr>
          <p:cNvPr id="10" name="Text 7"/>
          <p:cNvSpPr/>
          <p:nvPr/>
        </p:nvSpPr>
        <p:spPr>
          <a:xfrm>
            <a:off x="6803136" y="2715768"/>
            <a:ext cx="3383280" cy="1883664"/>
          </a:xfrm>
          <a:prstGeom prst="rect">
            <a:avLst/>
          </a:prstGeom>
          <a:noFill/>
          <a:ln/>
        </p:spPr>
        <p:txBody>
          <a:bodyPr wrap="square" lIns="0" tIns="0" rIns="0" bIns="0" rtlCol="0" anchor="t">
            <a:normAutofit/>
          </a:bodyPr>
          <a:lstStyle/>
          <a:p>
            <a:pPr indent="0" marL="0">
              <a:buNone/>
            </a:pPr>
            <a:r>
              <a:rPr lang="en-US" sz="1200" dirty="0">
                <a:solidFill>
                  <a:srgbClr val="344E41"/>
                </a:solidFill>
                <a:latin typeface="Georgia" pitchFamily="34" charset="0"/>
                <a:ea typeface="Georgia" pitchFamily="34" charset="-122"/>
                <a:cs typeface="Georgia" pitchFamily="34" charset="-120"/>
              </a:rPr>
              <a:t>Before exporting a note, ask whether a reader can distinguish model arithmetic from real evidence. Review units, assumptions and limitations. A local review mark is a personal reminder, not formal approval or certification.</a:t>
            </a:r>
            <a:endParaRPr lang="en-US" sz="1200" dirty="0"/>
          </a:p>
        </p:txBody>
      </p:sp>
      <p:sp>
        <p:nvSpPr>
          <p:cNvPr id="11" name="Text 8"/>
          <p:cNvSpPr/>
          <p:nvPr/>
        </p:nvSpPr>
        <p:spPr>
          <a:xfrm>
            <a:off x="6803136" y="4782312"/>
            <a:ext cx="3383280" cy="164592"/>
          </a:xfrm>
          <a:prstGeom prst="rect">
            <a:avLst/>
          </a:prstGeom>
          <a:noFill/>
          <a:ln/>
        </p:spPr>
        <p:txBody>
          <a:bodyPr wrap="square" lIns="0" tIns="0" rIns="0" bIns="0" rtlCol="0" anchor="ctr"/>
          <a:lstStyle/>
          <a:p>
            <a:pPr indent="0" marL="0">
              <a:buNone/>
            </a:pPr>
            <a:r>
              <a:rPr lang="en-US" sz="700" dirty="0">
                <a:solidFill>
                  <a:srgbClr val="A46343"/>
                </a:solidFill>
              </a:rPr>
              <a:t>MODEL / METHOD NOTE</a:t>
            </a:r>
            <a:endParaRPr lang="en-US" sz="700" dirty="0"/>
          </a:p>
        </p:txBody>
      </p:sp>
      <p:sp>
        <p:nvSpPr>
          <p:cNvPr id="12" name="Text 9"/>
          <p:cNvSpPr/>
          <p:nvPr/>
        </p:nvSpPr>
        <p:spPr>
          <a:xfrm>
            <a:off x="6803136" y="5074920"/>
            <a:ext cx="3383280" cy="594360"/>
          </a:xfrm>
          <a:prstGeom prst="rect">
            <a:avLst/>
          </a:prstGeom>
          <a:noFill/>
          <a:ln/>
        </p:spPr>
        <p:txBody>
          <a:bodyPr wrap="square" lIns="0" tIns="0" rIns="0" bIns="0" rtlCol="0" anchor="ctr">
            <a:normAutofit/>
          </a:bodyPr>
          <a:lstStyle/>
          <a:p>
            <a:pPr indent="0" marL="0">
              <a:buNone/>
            </a:pPr>
            <a:r>
              <a:rPr lang="en-US" sz="1000" dirty="0">
                <a:solidFill>
                  <a:srgbClr val="62745B"/>
                </a:solidFill>
                <a:latin typeface="Georgia" pitchFamily="34" charset="0"/>
                <a:ea typeface="Georgia" pitchFamily="34" charset="-122"/>
                <a:cs typeface="Georgia" pitchFamily="34" charset="-120"/>
              </a:rPr>
              <a:t>Review checklist: question / unit / method / source / limitation.</a:t>
            </a:r>
            <a:endParaRPr lang="en-US" sz="1000" dirty="0"/>
          </a:p>
        </p:txBody>
      </p:sp>
      <p:sp>
        <p:nvSpPr>
          <p:cNvPr id="13" name="Shape 10"/>
          <p:cNvSpPr/>
          <p:nvPr/>
        </p:nvSpPr>
        <p:spPr>
          <a:xfrm>
            <a:off x="310896" y="5961888"/>
            <a:ext cx="10149840" cy="1207008"/>
          </a:xfrm>
          <a:prstGeom prst="rect">
            <a:avLst/>
          </a:prstGeom>
          <a:solidFill>
            <a:srgbClr val="E9EDDF"/>
          </a:solidFill>
          <a:ln w="12700">
            <a:solidFill>
              <a:srgbClr val="E9EDDF"/>
            </a:solidFill>
            <a:prstDash val="solid"/>
          </a:ln>
        </p:spPr>
      </p:sp>
      <p:sp>
        <p:nvSpPr>
          <p:cNvPr id="14" name="Text 11"/>
          <p:cNvSpPr/>
          <p:nvPr/>
        </p:nvSpPr>
        <p:spPr>
          <a:xfrm>
            <a:off x="493776" y="6126480"/>
            <a:ext cx="9784080" cy="164592"/>
          </a:xfrm>
          <a:prstGeom prst="rect">
            <a:avLst/>
          </a:prstGeom>
          <a:noFill/>
          <a:ln/>
        </p:spPr>
        <p:txBody>
          <a:bodyPr wrap="square" lIns="0" tIns="0" rIns="0" bIns="0" rtlCol="0" anchor="ctr"/>
          <a:lstStyle/>
          <a:p>
            <a:pPr indent="0" marL="0">
              <a:buNone/>
            </a:pPr>
            <a:r>
              <a:rPr lang="en-US" sz="700" dirty="0">
                <a:solidFill>
                  <a:srgbClr val="A46343"/>
                </a:solidFill>
              </a:rPr>
              <a:t>TRY / REFLECT</a:t>
            </a:r>
            <a:endParaRPr lang="en-US" sz="700" dirty="0"/>
          </a:p>
        </p:txBody>
      </p:sp>
      <p:sp>
        <p:nvSpPr>
          <p:cNvPr id="15" name="Text 12"/>
          <p:cNvSpPr/>
          <p:nvPr/>
        </p:nvSpPr>
        <p:spPr>
          <a:xfrm>
            <a:off x="493776" y="6428232"/>
            <a:ext cx="9784080" cy="384048"/>
          </a:xfrm>
          <a:prstGeom prst="rect">
            <a:avLst/>
          </a:prstGeom>
          <a:noFill/>
          <a:ln/>
        </p:spPr>
        <p:txBody>
          <a:bodyPr wrap="square" lIns="0" tIns="0" rIns="0" bIns="0" rtlCol="0" anchor="ctr">
            <a:normAutofit/>
          </a:bodyPr>
          <a:lstStyle/>
          <a:p>
            <a:pPr indent="0" marL="0">
              <a:buNone/>
            </a:pPr>
            <a:r>
              <a:rPr lang="en-US" sz="1300" dirty="0">
                <a:solidFill>
                  <a:srgbClr val="344E41"/>
                </a:solidFill>
                <a:latin typeface="Georgia" pitchFamily="34" charset="0"/>
                <a:ea typeface="Georgia" pitchFamily="34" charset="-122"/>
                <a:cs typeface="Georgia" pitchFamily="34" charset="-120"/>
              </a:rPr>
              <a:t>Which limitation must remain visible when this notebook is shared?</a:t>
            </a:r>
            <a:endParaRPr lang="en-US" sz="1300" dirty="0"/>
          </a:p>
        </p:txBody>
      </p:sp>
      <p:sp>
        <p:nvSpPr>
          <p:cNvPr id="16" name="Text 13"/>
          <p:cNvSpPr/>
          <p:nvPr/>
        </p:nvSpPr>
        <p:spPr>
          <a:xfrm>
            <a:off x="493776" y="6940296"/>
            <a:ext cx="9784080" cy="137160"/>
          </a:xfrm>
          <a:prstGeom prst="rect">
            <a:avLst/>
          </a:prstGeom>
          <a:noFill/>
          <a:ln/>
        </p:spPr>
        <p:txBody>
          <a:bodyPr wrap="square" lIns="0" tIns="0" rIns="0" bIns="0" rtlCol="0" anchor="ctr"/>
          <a:lstStyle/>
          <a:p>
            <a:pPr indent="0" marL="0">
              <a:buNone/>
            </a:pPr>
            <a:r>
              <a:rPr lang="en-US" sz="600" dirty="0">
                <a:solidFill>
                  <a:srgbClr val="77836B"/>
                </a:solidFill>
              </a:rPr>
              <a:t>COMPLETE / 32 PAGES / 16 INDEPENDENT MAIN ILLUSTRATIONS / MODEL NUMBERS, NOT REAL READINGS</a:t>
            </a:r>
            <a:endParaRPr lang="en-US" sz="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3"/>
        </a:solidFill>
      </p:bgPr>
    </p:bg>
    <p:spTree>
      <p:nvGrpSpPr>
        <p:cNvPr id="1" name=""/>
        <p:cNvGrpSpPr/>
        <p:nvPr/>
      </p:nvGrpSpPr>
      <p:grpSpPr>
        <a:xfrm>
          <a:off x="0" y="0"/>
          <a:ext cx="0" cy="0"/>
          <a:chOff x="0" y="0"/>
          <a:chExt cx="0" cy="0"/>
        </a:xfrm>
      </p:grpSpPr>
      <p:sp>
        <p:nvSpPr>
          <p:cNvPr id="2" name="Text 0"/>
          <p:cNvSpPr/>
          <p:nvPr/>
        </p:nvSpPr>
        <p:spPr>
          <a:xfrm>
            <a:off x="310896" y="256032"/>
            <a:ext cx="7772400" cy="182880"/>
          </a:xfrm>
          <a:prstGeom prst="rect">
            <a:avLst/>
          </a:prstGeom>
          <a:noFill/>
          <a:ln/>
        </p:spPr>
        <p:txBody>
          <a:bodyPr wrap="square" lIns="0" tIns="0" rIns="0" bIns="0" rtlCol="0" anchor="ctr"/>
          <a:lstStyle/>
          <a:p>
            <a:pPr indent="0" marL="0">
              <a:buNone/>
            </a:pPr>
            <a:r>
              <a:rPr lang="en-US" sz="800" dirty="0">
                <a:solidFill>
                  <a:srgbClr val="708267"/>
                </a:solidFill>
              </a:rPr>
              <a:t>PANTRY NOTES / THE MEASUREMENT NOTEBOOK</a:t>
            </a:r>
            <a:endParaRPr lang="en-US" sz="800" dirty="0"/>
          </a:p>
        </p:txBody>
      </p:sp>
      <p:sp>
        <p:nvSpPr>
          <p:cNvPr id="3" name="Text 1"/>
          <p:cNvSpPr/>
          <p:nvPr/>
        </p:nvSpPr>
        <p:spPr>
          <a:xfrm>
            <a:off x="310896" y="594360"/>
            <a:ext cx="7772400" cy="237744"/>
          </a:xfrm>
          <a:prstGeom prst="rect">
            <a:avLst/>
          </a:prstGeom>
          <a:noFill/>
          <a:ln/>
        </p:spPr>
        <p:txBody>
          <a:bodyPr wrap="square" lIns="0" tIns="0" rIns="0" bIns="0" rtlCol="0" anchor="ctr"/>
          <a:lstStyle/>
          <a:p>
            <a:pPr indent="0" marL="0">
              <a:buNone/>
            </a:pPr>
            <a:r>
              <a:rPr lang="en-US" sz="1400" dirty="0">
                <a:solidFill>
                  <a:srgbClr val="344E41"/>
                </a:solidFill>
                <a:latin typeface="Georgia" pitchFamily="34" charset="0"/>
                <a:ea typeface="Georgia" pitchFamily="34" charset="-122"/>
                <a:cs typeface="Georgia" pitchFamily="34" charset="-120"/>
              </a:rPr>
              <a:t>08 / Close the notebook</a:t>
            </a:r>
            <a:endParaRPr lang="en-US" sz="1400" dirty="0"/>
          </a:p>
        </p:txBody>
      </p:sp>
      <p:sp>
        <p:nvSpPr>
          <p:cNvPr id="4" name="Text 2"/>
          <p:cNvSpPr/>
          <p:nvPr/>
        </p:nvSpPr>
        <p:spPr>
          <a:xfrm>
            <a:off x="9784080" y="274320"/>
            <a:ext cx="640080" cy="411480"/>
          </a:xfrm>
          <a:prstGeom prst="rect">
            <a:avLst/>
          </a:prstGeom>
          <a:noFill/>
          <a:ln/>
        </p:spPr>
        <p:txBody>
          <a:bodyPr wrap="square" lIns="0" tIns="0" rIns="0" bIns="0" rtlCol="0" anchor="ctr"/>
          <a:lstStyle/>
          <a:p>
            <a:pPr algn="r" indent="0" marL="0">
              <a:buNone/>
            </a:pPr>
            <a:r>
              <a:rPr lang="en-US" sz="2500" dirty="0">
                <a:solidFill>
                  <a:srgbClr val="B1724C"/>
                </a:solidFill>
              </a:rPr>
              <a:t>32</a:t>
            </a:r>
            <a:endParaRPr lang="en-US" sz="2500" dirty="0"/>
          </a:p>
        </p:txBody>
      </p:sp>
      <p:sp>
        <p:nvSpPr>
          <p:cNvPr id="5" name="Shape 3"/>
          <p:cNvSpPr/>
          <p:nvPr/>
        </p:nvSpPr>
        <p:spPr>
          <a:xfrm>
            <a:off x="310896" y="960120"/>
            <a:ext cx="10149840" cy="0"/>
          </a:xfrm>
          <a:prstGeom prst="line">
            <a:avLst/>
          </a:prstGeom>
          <a:noFill/>
          <a:ln w="12700">
            <a:solidFill>
              <a:srgbClr val="C6D0BC"/>
            </a:solidFill>
            <a:prstDash val="solid"/>
          </a:ln>
        </p:spPr>
      </p:sp>
      <p:pic>
        <p:nvPicPr>
          <p:cNvPr id="6" name="Image 0" descr="/home/user/design-buddy/design-buddy-home/public/atelier/pantry-notes/images/16.jpg">    </p:cNvPr>
          <p:cNvPicPr>
            <a:picLocks noChangeAspect="1"/>
          </p:cNvPicPr>
          <p:nvPr/>
        </p:nvPicPr>
        <p:blipFill>
          <a:blip r:embed="rId1"/>
          <a:srcRect l="0" r="0" t="0" b="0"/>
          <a:stretch/>
        </p:blipFill>
        <p:spPr>
          <a:xfrm>
            <a:off x="310896" y="1207008"/>
            <a:ext cx="6217920" cy="4023360"/>
          </a:xfrm>
          <a:prstGeom prst="rect">
            <a:avLst/>
          </a:prstGeom>
        </p:spPr>
      </p:pic>
      <p:sp>
        <p:nvSpPr>
          <p:cNvPr id="7" name="Text 4"/>
          <p:cNvSpPr/>
          <p:nvPr/>
        </p:nvSpPr>
        <p:spPr>
          <a:xfrm>
            <a:off x="310896" y="5376672"/>
            <a:ext cx="6217920" cy="320040"/>
          </a:xfrm>
          <a:prstGeom prst="rect">
            <a:avLst/>
          </a:prstGeom>
          <a:noFill/>
          <a:ln/>
        </p:spPr>
        <p:txBody>
          <a:bodyPr wrap="square" lIns="0" tIns="0" rIns="0" bIns="0" rtlCol="0" anchor="ctr"/>
          <a:lstStyle/>
          <a:p>
            <a:pPr indent="0" marL="0">
              <a:buNone/>
            </a:pPr>
            <a:r>
              <a:rPr lang="en-US" sz="700" dirty="0">
                <a:solidFill>
                  <a:srgbClr val="7C886F"/>
                </a:solidFill>
              </a:rPr>
              <a:t>Watercolour study 16 / illustration, not measurement evidence</a:t>
            </a:r>
            <a:endParaRPr lang="en-US" sz="700" dirty="0"/>
          </a:p>
        </p:txBody>
      </p:sp>
      <p:sp>
        <p:nvSpPr>
          <p:cNvPr id="8" name="Text 5"/>
          <p:cNvSpPr/>
          <p:nvPr/>
        </p:nvSpPr>
        <p:spPr>
          <a:xfrm>
            <a:off x="6803136" y="1216152"/>
            <a:ext cx="3383280" cy="182880"/>
          </a:xfrm>
          <a:prstGeom prst="rect">
            <a:avLst/>
          </a:prstGeom>
          <a:noFill/>
          <a:ln/>
        </p:spPr>
        <p:txBody>
          <a:bodyPr wrap="square" lIns="0" tIns="0" rIns="0" bIns="0" rtlCol="0" anchor="ctr"/>
          <a:lstStyle/>
          <a:p>
            <a:pPr indent="0" marL="0">
              <a:buNone/>
            </a:pPr>
            <a:r>
              <a:rPr lang="en-US" sz="700" dirty="0">
                <a:solidFill>
                  <a:srgbClr val="A46343"/>
                </a:solidFill>
              </a:rPr>
              <a:t>THE OBSERVATION</a:t>
            </a:r>
            <a:endParaRPr lang="en-US" sz="700" dirty="0"/>
          </a:p>
        </p:txBody>
      </p:sp>
      <p:sp>
        <p:nvSpPr>
          <p:cNvPr id="9" name="Text 6"/>
          <p:cNvSpPr/>
          <p:nvPr/>
        </p:nvSpPr>
        <p:spPr>
          <a:xfrm>
            <a:off x="6803136" y="1554480"/>
            <a:ext cx="3383280" cy="969264"/>
          </a:xfrm>
          <a:prstGeom prst="rect">
            <a:avLst/>
          </a:prstGeom>
          <a:noFill/>
          <a:ln/>
        </p:spPr>
        <p:txBody>
          <a:bodyPr wrap="square" lIns="0" tIns="0" rIns="0" bIns="0" rtlCol="0" anchor="ctr">
            <a:normAutofit/>
          </a:bodyPr>
          <a:lstStyle/>
          <a:p>
            <a:pPr indent="0" marL="0">
              <a:buNone/>
            </a:pPr>
            <a:r>
              <a:rPr lang="en-US" sz="2500" dirty="0">
                <a:solidFill>
                  <a:srgbClr val="3E5743"/>
                </a:solidFill>
                <a:latin typeface="Georgia" pitchFamily="34" charset="0"/>
                <a:ea typeface="Georgia" pitchFamily="34" charset="-122"/>
                <a:cs typeface="Georgia" pitchFamily="34" charset="-120"/>
              </a:rPr>
              <a:t>Leave a clearer next question.</a:t>
            </a:r>
            <a:endParaRPr lang="en-US" sz="2500" dirty="0"/>
          </a:p>
        </p:txBody>
      </p:sp>
      <p:sp>
        <p:nvSpPr>
          <p:cNvPr id="10" name="Text 7"/>
          <p:cNvSpPr/>
          <p:nvPr/>
        </p:nvSpPr>
        <p:spPr>
          <a:xfrm>
            <a:off x="6803136" y="2715768"/>
            <a:ext cx="3383280" cy="1883664"/>
          </a:xfrm>
          <a:prstGeom prst="rect">
            <a:avLst/>
          </a:prstGeom>
          <a:noFill/>
          <a:ln/>
        </p:spPr>
        <p:txBody>
          <a:bodyPr wrap="square" lIns="0" tIns="0" rIns="0" bIns="0" rtlCol="0" anchor="t">
            <a:normAutofit/>
          </a:bodyPr>
          <a:lstStyle/>
          <a:p>
            <a:pPr indent="0" marL="0">
              <a:buNone/>
            </a:pPr>
            <a:r>
              <a:rPr lang="en-US" sz="1200" dirty="0">
                <a:solidFill>
                  <a:srgbClr val="344E41"/>
                </a:solidFill>
                <a:latin typeface="Georgia" pitchFamily="34" charset="0"/>
                <a:ea typeface="Georgia" pitchFamily="34" charset="-122"/>
                <a:cs typeface="Georgia" pitchFamily="34" charset="-120"/>
              </a:rPr>
              <a:t>A useful notebook ends with a question that can be understood and examined, not a claim that every uncertainty has disappeared. Keep the object, quantity, unit and method in view as you plan the next observation.</a:t>
            </a:r>
            <a:endParaRPr lang="en-US" sz="1200" dirty="0"/>
          </a:p>
        </p:txBody>
      </p:sp>
      <p:sp>
        <p:nvSpPr>
          <p:cNvPr id="11" name="Text 8"/>
          <p:cNvSpPr/>
          <p:nvPr/>
        </p:nvSpPr>
        <p:spPr>
          <a:xfrm>
            <a:off x="6803136" y="4782312"/>
            <a:ext cx="3383280" cy="164592"/>
          </a:xfrm>
          <a:prstGeom prst="rect">
            <a:avLst/>
          </a:prstGeom>
          <a:noFill/>
          <a:ln/>
        </p:spPr>
        <p:txBody>
          <a:bodyPr wrap="square" lIns="0" tIns="0" rIns="0" bIns="0" rtlCol="0" anchor="ctr"/>
          <a:lstStyle/>
          <a:p>
            <a:pPr indent="0" marL="0">
              <a:buNone/>
            </a:pPr>
            <a:r>
              <a:rPr lang="en-US" sz="700" dirty="0">
                <a:solidFill>
                  <a:srgbClr val="A46343"/>
                </a:solidFill>
              </a:rPr>
              <a:t>MODEL / METHOD NOTE</a:t>
            </a:r>
            <a:endParaRPr lang="en-US" sz="700" dirty="0"/>
          </a:p>
        </p:txBody>
      </p:sp>
      <p:sp>
        <p:nvSpPr>
          <p:cNvPr id="12" name="Text 9"/>
          <p:cNvSpPr/>
          <p:nvPr/>
        </p:nvSpPr>
        <p:spPr>
          <a:xfrm>
            <a:off x="6803136" y="5074920"/>
            <a:ext cx="3383280" cy="594360"/>
          </a:xfrm>
          <a:prstGeom prst="rect">
            <a:avLst/>
          </a:prstGeom>
          <a:noFill/>
          <a:ln/>
        </p:spPr>
        <p:txBody>
          <a:bodyPr wrap="square" lIns="0" tIns="0" rIns="0" bIns="0" rtlCol="0" anchor="ctr">
            <a:normAutofit/>
          </a:bodyPr>
          <a:lstStyle/>
          <a:p>
            <a:pPr indent="0" marL="0">
              <a:buNone/>
            </a:pPr>
            <a:r>
              <a:rPr lang="en-US" sz="1000" dirty="0">
                <a:solidFill>
                  <a:srgbClr val="62745B"/>
                </a:solidFill>
                <a:latin typeface="Georgia" pitchFamily="34" charset="0"/>
                <a:ea typeface="Georgia" pitchFamily="34" charset="-122"/>
                <a:cs typeface="Georgia" pitchFamily="34" charset="-120"/>
              </a:rPr>
              <a:t>Notice carefully. Name the quantity. Keep the context.</a:t>
            </a:r>
            <a:endParaRPr lang="en-US" sz="1000" dirty="0"/>
          </a:p>
        </p:txBody>
      </p:sp>
      <p:sp>
        <p:nvSpPr>
          <p:cNvPr id="13" name="Shape 10"/>
          <p:cNvSpPr/>
          <p:nvPr/>
        </p:nvSpPr>
        <p:spPr>
          <a:xfrm>
            <a:off x="310896" y="5961888"/>
            <a:ext cx="10149840" cy="1207008"/>
          </a:xfrm>
          <a:prstGeom prst="rect">
            <a:avLst/>
          </a:prstGeom>
          <a:solidFill>
            <a:srgbClr val="E9EDDF"/>
          </a:solidFill>
          <a:ln w="12700">
            <a:solidFill>
              <a:srgbClr val="E9EDDF"/>
            </a:solidFill>
            <a:prstDash val="solid"/>
          </a:ln>
        </p:spPr>
      </p:sp>
      <p:sp>
        <p:nvSpPr>
          <p:cNvPr id="14" name="Text 11"/>
          <p:cNvSpPr/>
          <p:nvPr/>
        </p:nvSpPr>
        <p:spPr>
          <a:xfrm>
            <a:off x="493776" y="6126480"/>
            <a:ext cx="9784080" cy="164592"/>
          </a:xfrm>
          <a:prstGeom prst="rect">
            <a:avLst/>
          </a:prstGeom>
          <a:noFill/>
          <a:ln/>
        </p:spPr>
        <p:txBody>
          <a:bodyPr wrap="square" lIns="0" tIns="0" rIns="0" bIns="0" rtlCol="0" anchor="ctr"/>
          <a:lstStyle/>
          <a:p>
            <a:pPr indent="0" marL="0">
              <a:buNone/>
            </a:pPr>
            <a:r>
              <a:rPr lang="en-US" sz="700" dirty="0">
                <a:solidFill>
                  <a:srgbClr val="A46343"/>
                </a:solidFill>
              </a:rPr>
              <a:t>TRY / REFLECT</a:t>
            </a:r>
            <a:endParaRPr lang="en-US" sz="700" dirty="0"/>
          </a:p>
        </p:txBody>
      </p:sp>
      <p:sp>
        <p:nvSpPr>
          <p:cNvPr id="15" name="Text 12"/>
          <p:cNvSpPr/>
          <p:nvPr/>
        </p:nvSpPr>
        <p:spPr>
          <a:xfrm>
            <a:off x="493776" y="6428232"/>
            <a:ext cx="9784080" cy="384048"/>
          </a:xfrm>
          <a:prstGeom prst="rect">
            <a:avLst/>
          </a:prstGeom>
          <a:noFill/>
          <a:ln/>
        </p:spPr>
        <p:txBody>
          <a:bodyPr wrap="square" lIns="0" tIns="0" rIns="0" bIns="0" rtlCol="0" anchor="ctr">
            <a:normAutofit/>
          </a:bodyPr>
          <a:lstStyle/>
          <a:p>
            <a:pPr indent="0" marL="0">
              <a:buNone/>
            </a:pPr>
            <a:r>
              <a:rPr lang="en-US" sz="1300" dirty="0">
                <a:solidFill>
                  <a:srgbClr val="344E41"/>
                </a:solidFill>
                <a:latin typeface="Georgia" pitchFamily="34" charset="0"/>
                <a:ea typeface="Georgia" pitchFamily="34" charset="-122"/>
                <a:cs typeface="Georgia" pitchFamily="34" charset="-120"/>
              </a:rPr>
              <a:t>Write the next small question you would want a reader to understand.</a:t>
            </a:r>
            <a:endParaRPr lang="en-US" sz="1300" dirty="0"/>
          </a:p>
        </p:txBody>
      </p:sp>
      <p:sp>
        <p:nvSpPr>
          <p:cNvPr id="16" name="Text 13"/>
          <p:cNvSpPr/>
          <p:nvPr/>
        </p:nvSpPr>
        <p:spPr>
          <a:xfrm>
            <a:off x="493776" y="6940296"/>
            <a:ext cx="9784080" cy="137160"/>
          </a:xfrm>
          <a:prstGeom prst="rect">
            <a:avLst/>
          </a:prstGeom>
          <a:noFill/>
          <a:ln/>
        </p:spPr>
        <p:txBody>
          <a:bodyPr wrap="square" lIns="0" tIns="0" rIns="0" bIns="0" rtlCol="0" anchor="ctr"/>
          <a:lstStyle/>
          <a:p>
            <a:pPr indent="0" marL="0">
              <a:buNone/>
            </a:pPr>
            <a:r>
              <a:rPr lang="en-US" sz="600" dirty="0">
                <a:solidFill>
                  <a:srgbClr val="77836B"/>
                </a:solidFill>
              </a:rPr>
              <a:t>COMPLETE / 32 PAGES / 16 INDEPENDENT MAIN ILLUSTRATIONS / MODEL NUMBERS, NOT REAL READINGS</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PANTRY NOTES — Measurement notebook</dc:title>
  <dc:subject>32 pages; 16 of 16 independent illustrations; fictional arithmetic</dc:subject>
  <dc:creator>Design Buddy</dc:creator>
  <cp:lastModifiedBy>Design Buddy</cp:lastModifiedBy>
  <cp:revision>1</cp:revision>
  <dcterms:created xsi:type="dcterms:W3CDTF">2026-10-29T10:46:15Z</dcterms:created>
  <dcterms:modified xsi:type="dcterms:W3CDTF">2026-10-29T10:46:15Z</dcterms:modified>
</cp:coreProperties>
</file>
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0789920" cy="7498080"/>
  <p:notesSz cx="7498080" cy="107899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01 / Start with a question</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01</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1.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Notice before you measure.</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This field journal explores quantities, units and written observations through a familiar kitchen setting. Its numbers are invented learning examples, not readings from the pictured instruments. Start by saying what you want to describe.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Observation → quantity → unit → method.</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Name one quantity you could describe without claiming a recipe or safety outcome.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01 / Start with a question</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02</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1.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Make the question small.</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“How much is in this bowl?” is ambiguous. It might ask for mass, volume, price or a portion count. A useful measurement question names one quantity, the object and the intended comparison.</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Example question: What is the mass of these dry oats, excluding the bowl?</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Rewrite a broad kitchen question so a second reader knows what would be measured.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01 / Start with a question</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03</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2.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2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 tool does not define the claim.</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scale and a jug answer different questions. The illustration is contextual, not a calibrated instrument. Select a method appropriate to the quantity and describe the method rather than inferring accuracy from an attractive picture.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Mass and volume are different quantities.</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question calls for a mass reading, and which calls for a volume reading?</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01 / Start with a question</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04</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2.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2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Attach the unit immediately.</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bare number is not enough. “200” might mean grams, millilitres or a count. Keep the quantity and unit together in notes and handoffs so someone else does not have to reconstruct the meaning.</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200 g is a mass expression; 200 mL is a volume expression.</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Write two complete observations using different quantity-unit pairs.</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02 / Read the units</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05</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3.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3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One thousand grams.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For this unit relationship, one kilogram equals one thousand grams. Converting the written unit does not change the physical quantity, improve the instrument or make an observation more accurate.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 kg = 1,000 g; 0.25 kg = 250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Express 0.6 kg in grams without changing the quantity described.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02 / Read the units</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06</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3.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3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One thousand millilitres.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One litre equals one thousand millilitres. Keep this volume conversion separate from mass. A conversion between litres and grams needs additional material information and cannot be inferred from the unit names alone.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 L = 1,000 mL; 0.4 L = 400 mL.</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Explain why 400 mL cannot automatically be renamed 400 g for every material.</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02 / Read the units</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07</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4.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4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The container belongs in the method.</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If a reading includes a bowl, that reading describes bowl plus contents. Record whether the container was excluded by the method or subtracted later. Do not silently compare a combined reading with a contents-only reading.</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Name the empty-container step before recording a contents-only result.</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What would be missing from a note that says only “the bowl reads 320 g”?</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02 / Read the units</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08</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4.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4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Subtract like quantities.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In this invented arithmetic example, bowl plus contents is 320 g and the empty bowl is 120 g. Subtracting the container gives 200 g for the contents within the example. This is not evidence of scale accuracy.</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320 g − 120 g = 200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If the combined example is 410 g and the bowl is 160 g, what mass remains?</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03 / Keep a method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09</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5.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5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Describe the fill.</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cup of dry material may be loosely filled, compressed or heaped. Those are different preparation methods. Name the chosen method before comparing results; the drawing is an illustration, not a universally specified kitchen standard.</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Record: material / container / fill method / unit.</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part of a fill method would you need to repeat for a fair comparison?</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03 / Keep a method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10</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5.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5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Volume is not a material shortcut.</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Equal volumes of different materials need not have equal mass. A cup of oats and a cup of another material cannot be exchanged by mass without a justified relationship. This journal supplies no density table or recipe conversion.</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Same stated volume does not guarantee the same mass.</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Identify the unsupported assumption in “every full cup weighs the same”.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03 / Keep a method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11</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6.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6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Name how you read a level.</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liquid-level observation depends on the vessel and reading method. Describe the position and tool used, and follow the actual tool instructions. The pictured jug has no calibrated markings and should not be used to estimate a numeric reading.</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Contextual illustration only; no numeric reading can be taken from the art.</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What method details should accompany a real liquid-volume observation?</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03 / Keep a method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12</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6.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6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Hold the comparison conditions.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When comparing two observations, keep the named method and object consistent where the question requires it. If the material, container or preparation changes, record that change rather than presenting the values as directly interchangeable.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A changed method belongs beside the changed value.</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Name one change that would prevent a simple like-for-like comparison.</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04 / Keep a record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13</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7.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7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Write while the meaning is clear.</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compact note can preserve the quantity, unit, object, method and source. You do not need personal details to describe a kitchen arithmetic example. Write enough for another reader to understand what the value means.</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Record template: object / quantity / unit / method / context.</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Draft a short observation note without including anyone’s personal information.</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04 / Keep a record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14</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7.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7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Digits are not a quality certificate.</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longer number may appear precise, but its appearance does not prove accuracy. Avoid adding unsupported decimal places to a result or suggesting that a finely drawn scale is a calibration record.</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More displayed digits do not by themselves establish accuracy.</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Why is writing 200.000 g not an automatic improvement over 200 g?</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04 / Keep a record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15</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8.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8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Repeat the stated question.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Repeated observations are useful only when their context is recorded. State whether the same material and method were used. Three values are not enough to certify an instrument or establish a general performance claim.</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Repeated examples should keep labels and method notes attached.</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What context would you preserve beside three repeated readings?</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04 / Keep a record</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16</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8.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8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An average describes this set.</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For the invented values 100 g, 102 g and 101 g, the arithmetic mean is 101 g. That summary describes these three numbers only. It does not establish the true mass or justify a claim about instrument accuracy.</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(100 + 102 + 101) g ÷ 3 = 101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Name one question the mean does not answer.</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05 / Compare with care</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17</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9.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9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 cup needs a definition.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The word cup can refer to different conventions or household vessels. In this model only, cup A is defined as 240 mL and cup B as 250 mL. These definitions explain the arithmetic; they are not a universal rule for every cup.</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Model definitions: A = 240 mL; B = 250 mL; difference = 10 mL.</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Why must the chosen cup definition stay in a shared note?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05 / Compare with care</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18</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09.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9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Convert only a stated relationship.</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written conversion needs a known relationship between units of the same quantity, or additional justified information for unlike quantities. Do not fill a gap with a guess just to produce a clean-looking answer.</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Known: 1 L = 1,000 mL. Not supplied: material density.</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conversion can you complete from this page, and which must remain unresolved?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05 / Compare with care</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19</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0.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10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Double the named amount.</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In this arithmetic model, doubling a specified 125 g amount gives 250 g. The operation describes a quantity relationship, not a recommendation to scale a recipe, equipment setting or process time.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2 × 125 g = 250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Double 175 g and retain the unit in the answer.</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05 / Compare with care</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20</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design-buddy-home/public/atelier/pantry-notes/images/10.jp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Watercolour study 10 / illustration, not measurement evidence</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Halve without losing the unit.</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Half of the model amount 180 g is 90 g. Keeping the unit makes the result readable outside this page. A numerical scaling example does not imply that every real cooking process can be scaled in the same way.</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180 g ÷ 2 = 90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Explain what this arithmetic does—and does not—say about a real recipe.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06 / Describe the model</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21</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20.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11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Equal groups are an assumption.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If a model explicitly gives three equal groups of 200 g, their combined mass is 600 g. Equal grouping is a stated assumption here, not a conclusion drawn from an illustration of several bowls.</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3 × 200 g = 600 g, assuming three equal model groups.</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What would change if the groups were not equal?</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06 / Describe the model</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22</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21.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11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Separate fixed and variable parts.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container contribution and a contents contribution play different roles in a combined reading. If contents change while the same container is retained, record which part was held fixed. Do not compare totals without this context.</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Combined model = container contribution + contents contribution.</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part would stay fixed if only the contents changed?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06 / Describe the model</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23</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22.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12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 discrepancy is a question.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Different numbers can arise from different objects, methods, notation or instruments. A discrepancy alone does not prove which explanation is correct. Keep the original records and list a checkable question before assigning a cause.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Difference observed; cause not established.</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Write a question that would help distinguish a notation change from an object change.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06 / Describe the model</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24</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23.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12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A range is a description.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For the invented readings 98 g, 100 g and 102 g, the range is 4 g. This is the difference between largest and smallest in this set, not an uncertainty guarantee or a limit on future readings.</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102 g − 98 g = 4 g.</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Why could a later observation lie outside this three-value range?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07 / Share the context</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25</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24.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13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Keep the origin attached.</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When sharing an example, state whether the values were invented, observed or copied from a named source. All numbers in this journal are learning models. The illustrations do not document an actual measurement session.</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Source label: fictional arithmetic for measurement literacy.</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How would you stop someone mistaking this page for real measurement evidence?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07 / Share the context</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26</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25.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13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Missing is not zero.</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An unrecorded value means the record does not supply a value. Replacing it with zero introduces information that was never observed. Keep a missing state explicit until there is an appropriate source or method to resolve it.</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Not recorded ≠ observed zero.</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Describe a missing reading without inventing a replacement number.</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07 / Share the context</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27</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26.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14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Leave unsupported certainty out.</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These examples do not quantify instrument uncertainty or certify a measurement process. If a real decision requires such information, seek an appropriate documented method and qualified support instead of inferring it from these pages.</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No calibration, uncertainty bound or safety-critical suitability is claimed.</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claim would exceed the evidence supplied by this notebook?</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07 / Share the context</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28</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27.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14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Hand over a method, not a guess.</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useful handoff gives the question, the named quantity and unit, the method and known limitations. Ask the next reader to explain the note back in their own words so unclear terms can be corrected.</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Question → quantity/unit → method → limitations → next reader.</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term would you clarify before a second person repeats the example?</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08 / Close the notebook</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29</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28.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15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Revise without erasing the trail.</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If a notation error is found, preserve the distinction between the original note and the corrected version. A correction should explain what changed; it is not a reason to invent a missing observation or conceal a method difference.</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Correction example: unit label clarified; original observation not re-created.</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How would you label a correction without pretending to have remeasured the object?</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08 / Close the notebook</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30</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29.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15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Check the unit in the answer.</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Review arithmetic and units together. Adding 100 g to 50 g gives 150 g within the model. Adding a mass to an unrelated volume is not justified just because both values are numbers.</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100 g + 50 g = 150 g; grams + millilitres needs a different explanation.</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Find one valid calculation and one unsupported combination in your own draft notes.</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08 / Close the notebook</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31</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30.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16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Review the claim before sharing.</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Before exporting a note, ask whether a reader can distinguish model arithmetic from real evidence. Review units, assumptions and limitations. A local review mark is a personal reminder, not formal approval or certification.</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Review checklist: question / unit / method / source / limitation.</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Which limitation must remain visible when this notebook is shared?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3"/>
        </a:solidFill>
      </p:bgPr>
    </p:bg>
    <p:spTree>
      <p:nvGrpSpPr>
        <p:cNvPr id="1" name=""/>
        <p:cNvGrpSpPr/>
        <p:nvPr/>
      </p:nvGrpSpPr>
      <p:grpSpPr>
        <a:xfrm>
          <a:off x="0" y="0"/>
          <a:ext cx="0" cy="0"/>
          <a:chOff x="0" y="0"/>
          <a:chExt cx="0" cy="0"/>
        </a:xfrm>
      </p:grpSpPr>
      <p:sp>
        <p:nvSpPr>
          <p:cNvPr id="2" name="Text 0"/>
          <p:cNvSpPr/>
          <p:nvPr/>
        </p:nvSpPr>
        <p:spPr>
          <a:xfrm>
            <a:off x="310896" y="256032"/>
            <a:ext cx="7772400" cy="182880"/>
          </a:xfrm>
          <a:prstGeom prst="rect">
            <a:avLst/>
          </a:prstGeom>
          <a:noFill/>
          <a:ln/>
        </p:spPr>
        <p:txBody>
          <a:bodyPr wrap="square" lIns="0" tIns="0" rIns="0" bIns="0" rtlCol="0" anchor="ctr"/>
          <a:lstStyle/>
          <a:p>
            <a:pPr indent="0" marL="0">
              <a:buNone/>
            </a:pPr>
            <a:r>
              <a:rPr lang="en-US" sz="800" dirty="0">
                <a:solidFill>
                  <a:srgbClr val="708267"/>
                </a:solidFill>
              </a:rPr>
              <a:t>PANTRY NOTES / THE MEASUREMENT NOTEBOOK</a:t>
            </a:r>
            <a:endParaRPr lang="en-US" sz="800" dirty="0"/>
          </a:p>
        </p:txBody>
      </p:sp>
      <p:sp>
        <p:nvSpPr>
          <p:cNvPr id="3" name="Text 1"/>
          <p:cNvSpPr/>
          <p:nvPr/>
        </p:nvSpPr>
        <p:spPr>
          <a:xfrm>
            <a:off x="310896" y="594360"/>
            <a:ext cx="7772400" cy="237744"/>
          </a:xfrm>
          <a:prstGeom prst="rect">
            <a:avLst/>
          </a:prstGeom>
          <a:noFill/>
          <a:ln/>
        </p:spPr>
        <p:txBody>
          <a:bodyPr wrap="square" lIns="0" tIns="0" rIns="0" bIns="0" rtlCol="0" anchor="ctr"/>
          <a:lstStyle/>
          <a:p>
            <a:pPr indent="0" marL="0">
              <a:buNone/>
            </a:pPr>
            <a:r>
              <a:rPr lang="en-US" sz="1400" dirty="0">
                <a:solidFill>
                  <a:srgbClr val="344E41"/>
                </a:solidFill>
                <a:latin typeface="Georgia" pitchFamily="34" charset="0"/>
                <a:ea typeface="Georgia" pitchFamily="34" charset="-122"/>
                <a:cs typeface="Georgia" pitchFamily="34" charset="-120"/>
              </a:rPr>
              <a:t>08 / Close the notebook</a:t>
            </a:r>
            <a:endParaRPr lang="en-US" sz="1400" dirty="0"/>
          </a:p>
        </p:txBody>
      </p:sp>
      <p:sp>
        <p:nvSpPr>
          <p:cNvPr id="4" name="Text 2"/>
          <p:cNvSpPr/>
          <p:nvPr/>
        </p:nvSpPr>
        <p:spPr>
          <a:xfrm>
            <a:off x="9784080" y="274320"/>
            <a:ext cx="640080" cy="411480"/>
          </a:xfrm>
          <a:prstGeom prst="rect">
            <a:avLst/>
          </a:prstGeom>
          <a:noFill/>
          <a:ln/>
        </p:spPr>
        <p:txBody>
          <a:bodyPr wrap="square" lIns="0" tIns="0" rIns="0" bIns="0" rtlCol="0" anchor="ctr"/>
          <a:lstStyle/>
          <a:p>
            <a:pPr algn="r" indent="0" marL="0">
              <a:buNone/>
            </a:pPr>
            <a:r>
              <a:rPr lang="en-US" sz="2500" dirty="0">
                <a:solidFill>
                  <a:srgbClr val="B1724C"/>
                </a:solidFill>
              </a:rPr>
              <a:t>32</a:t>
            </a:r>
            <a:endParaRPr lang="en-US" sz="2500" dirty="0"/>
          </a:p>
        </p:txBody>
      </p:sp>
      <p:sp>
        <p:nvSpPr>
          <p:cNvPr id="5" name="Shape 3"/>
          <p:cNvSpPr/>
          <p:nvPr/>
        </p:nvSpPr>
        <p:spPr>
          <a:xfrm>
            <a:off x="310896" y="960120"/>
            <a:ext cx="10149840" cy="0"/>
          </a:xfrm>
          <a:prstGeom prst="line">
            <a:avLst/>
          </a:prstGeom>
          <a:noFill/>
          <a:ln w="12700">
            <a:solidFill>
              <a:srgbClr val="C6D0BC"/>
            </a:solidFill>
            <a:prstDash val="solid"/>
          </a:ln>
        </p:spPr>
      </p:sp>
      <p:pic>
        <p:nvPicPr>
          <p:cNvPr id="6" name="Image 0" descr="/home/user/design-buddy/.cache/pantry-notes/context-31.png">    </p:cNvPr>
          <p:cNvPicPr>
            <a:picLocks noChangeAspect="1"/>
          </p:cNvPicPr>
          <p:nvPr/>
        </p:nvPicPr>
        <p:blipFill>
          <a:blip r:embed="rId1"/>
          <a:srcRect l="0" r="0" t="0" b="0"/>
          <a:stretch/>
        </p:blipFill>
        <p:spPr>
          <a:xfrm>
            <a:off x="310896" y="1207008"/>
            <a:ext cx="6217920" cy="4023360"/>
          </a:xfrm>
          <a:prstGeom prst="rect">
            <a:avLst/>
          </a:prstGeom>
        </p:spPr>
      </p:pic>
      <p:sp>
        <p:nvSpPr>
          <p:cNvPr id="7" name="Text 4"/>
          <p:cNvSpPr/>
          <p:nvPr/>
        </p:nvSpPr>
        <p:spPr>
          <a:xfrm>
            <a:off x="310896" y="5376672"/>
            <a:ext cx="6217920" cy="320040"/>
          </a:xfrm>
          <a:prstGeom prst="rect">
            <a:avLst/>
          </a:prstGeom>
          <a:noFill/>
          <a:ln/>
        </p:spPr>
        <p:txBody>
          <a:bodyPr wrap="square" lIns="0" tIns="0" rIns="0" bIns="0" rtlCol="0" anchor="ctr"/>
          <a:lstStyle/>
          <a:p>
            <a:pPr indent="0" marL="0">
              <a:buNone/>
            </a:pPr>
            <a:r>
              <a:rPr lang="en-US" sz="700" dirty="0">
                <a:solidFill>
                  <a:srgbClr val="7C886F"/>
                </a:solidFill>
              </a:rPr>
              <a:t>MAIN ILLUSTRATION 16 PENDING / SUPPORTING DIAGRAM ONLY</a:t>
            </a:r>
            <a:endParaRPr lang="en-US" sz="700" dirty="0"/>
          </a:p>
        </p:txBody>
      </p:sp>
      <p:sp>
        <p:nvSpPr>
          <p:cNvPr id="8" name="Text 5"/>
          <p:cNvSpPr/>
          <p:nvPr/>
        </p:nvSpPr>
        <p:spPr>
          <a:xfrm>
            <a:off x="6803136" y="1216152"/>
            <a:ext cx="3383280" cy="182880"/>
          </a:xfrm>
          <a:prstGeom prst="rect">
            <a:avLst/>
          </a:prstGeom>
          <a:noFill/>
          <a:ln/>
        </p:spPr>
        <p:txBody>
          <a:bodyPr wrap="square" lIns="0" tIns="0" rIns="0" bIns="0" rtlCol="0" anchor="ctr"/>
          <a:lstStyle/>
          <a:p>
            <a:pPr indent="0" marL="0">
              <a:buNone/>
            </a:pPr>
            <a:r>
              <a:rPr lang="en-US" sz="700" dirty="0">
                <a:solidFill>
                  <a:srgbClr val="A46343"/>
                </a:solidFill>
              </a:rPr>
              <a:t>THE OBSERVATION</a:t>
            </a:r>
            <a:endParaRPr lang="en-US" sz="700" dirty="0"/>
          </a:p>
        </p:txBody>
      </p:sp>
      <p:sp>
        <p:nvSpPr>
          <p:cNvPr id="9" name="Text 6"/>
          <p:cNvSpPr/>
          <p:nvPr/>
        </p:nvSpPr>
        <p:spPr>
          <a:xfrm>
            <a:off x="6803136" y="1554480"/>
            <a:ext cx="3383280" cy="969264"/>
          </a:xfrm>
          <a:prstGeom prst="rect">
            <a:avLst/>
          </a:prstGeom>
          <a:noFill/>
          <a:ln/>
        </p:spPr>
        <p:txBody>
          <a:bodyPr wrap="square" lIns="0" tIns="0" rIns="0" bIns="0" rtlCol="0" anchor="ctr">
            <a:normAutofit/>
          </a:bodyPr>
          <a:lstStyle/>
          <a:p>
            <a:pPr indent="0" marL="0">
              <a:buNone/>
            </a:pPr>
            <a:r>
              <a:rPr lang="en-US" sz="2500" dirty="0">
                <a:solidFill>
                  <a:srgbClr val="3E5743"/>
                </a:solidFill>
                <a:latin typeface="Georgia" pitchFamily="34" charset="0"/>
                <a:ea typeface="Georgia" pitchFamily="34" charset="-122"/>
                <a:cs typeface="Georgia" pitchFamily="34" charset="-120"/>
              </a:rPr>
              <a:t>Leave a clearer next question.</a:t>
            </a:r>
            <a:endParaRPr lang="en-US" sz="2500" dirty="0"/>
          </a:p>
        </p:txBody>
      </p:sp>
      <p:sp>
        <p:nvSpPr>
          <p:cNvPr id="10" name="Text 7"/>
          <p:cNvSpPr/>
          <p:nvPr/>
        </p:nvSpPr>
        <p:spPr>
          <a:xfrm>
            <a:off x="6803136" y="2715768"/>
            <a:ext cx="3383280" cy="1883664"/>
          </a:xfrm>
          <a:prstGeom prst="rect">
            <a:avLst/>
          </a:prstGeom>
          <a:noFill/>
          <a:ln/>
        </p:spPr>
        <p:txBody>
          <a:bodyPr wrap="square" lIns="0" tIns="0" rIns="0" bIns="0" rtlCol="0" anchor="t">
            <a:normAutofit/>
          </a:bodyPr>
          <a:lstStyle/>
          <a:p>
            <a:pPr indent="0" marL="0">
              <a:buNone/>
            </a:pPr>
            <a:r>
              <a:rPr lang="en-US" sz="1200" dirty="0">
                <a:solidFill>
                  <a:srgbClr val="344E41"/>
                </a:solidFill>
                <a:latin typeface="Georgia" pitchFamily="34" charset="0"/>
                <a:ea typeface="Georgia" pitchFamily="34" charset="-122"/>
                <a:cs typeface="Georgia" pitchFamily="34" charset="-120"/>
              </a:rPr>
              <a:t>A useful notebook ends with a question that can be understood and examined, not a claim that every uncertainty has disappeared. Keep the object, quantity, unit and method in view as you plan the next observation.</a:t>
            </a:r>
            <a:endParaRPr lang="en-US" sz="1200" dirty="0"/>
          </a:p>
        </p:txBody>
      </p:sp>
      <p:sp>
        <p:nvSpPr>
          <p:cNvPr id="11" name="Text 8"/>
          <p:cNvSpPr/>
          <p:nvPr/>
        </p:nvSpPr>
        <p:spPr>
          <a:xfrm>
            <a:off x="6803136" y="4782312"/>
            <a:ext cx="3383280" cy="164592"/>
          </a:xfrm>
          <a:prstGeom prst="rect">
            <a:avLst/>
          </a:prstGeom>
          <a:noFill/>
          <a:ln/>
        </p:spPr>
        <p:txBody>
          <a:bodyPr wrap="square" lIns="0" tIns="0" rIns="0" bIns="0" rtlCol="0" anchor="ctr"/>
          <a:lstStyle/>
          <a:p>
            <a:pPr indent="0" marL="0">
              <a:buNone/>
            </a:pPr>
            <a:r>
              <a:rPr lang="en-US" sz="700" dirty="0">
                <a:solidFill>
                  <a:srgbClr val="A46343"/>
                </a:solidFill>
              </a:rPr>
              <a:t>MODEL / METHOD NOTE</a:t>
            </a:r>
            <a:endParaRPr lang="en-US" sz="700" dirty="0"/>
          </a:p>
        </p:txBody>
      </p:sp>
      <p:sp>
        <p:nvSpPr>
          <p:cNvPr id="12" name="Text 9"/>
          <p:cNvSpPr/>
          <p:nvPr/>
        </p:nvSpPr>
        <p:spPr>
          <a:xfrm>
            <a:off x="6803136" y="5074920"/>
            <a:ext cx="3383280" cy="594360"/>
          </a:xfrm>
          <a:prstGeom prst="rect">
            <a:avLst/>
          </a:prstGeom>
          <a:noFill/>
          <a:ln/>
        </p:spPr>
        <p:txBody>
          <a:bodyPr wrap="square" lIns="0" tIns="0" rIns="0" bIns="0" rtlCol="0" anchor="ctr">
            <a:normAutofit/>
          </a:bodyPr>
          <a:lstStyle/>
          <a:p>
            <a:pPr indent="0" marL="0">
              <a:buNone/>
            </a:pPr>
            <a:r>
              <a:rPr lang="en-US" sz="1000" dirty="0">
                <a:solidFill>
                  <a:srgbClr val="62745B"/>
                </a:solidFill>
                <a:latin typeface="Georgia" pitchFamily="34" charset="0"/>
                <a:ea typeface="Georgia" pitchFamily="34" charset="-122"/>
                <a:cs typeface="Georgia" pitchFamily="34" charset="-120"/>
              </a:rPr>
              <a:t>Notice carefully. Name the quantity. Keep the context.</a:t>
            </a:r>
            <a:endParaRPr lang="en-US" sz="1000" dirty="0"/>
          </a:p>
        </p:txBody>
      </p:sp>
      <p:sp>
        <p:nvSpPr>
          <p:cNvPr id="13" name="Shape 10"/>
          <p:cNvSpPr/>
          <p:nvPr/>
        </p:nvSpPr>
        <p:spPr>
          <a:xfrm>
            <a:off x="310896" y="5961888"/>
            <a:ext cx="10149840" cy="1207008"/>
          </a:xfrm>
          <a:prstGeom prst="rect">
            <a:avLst/>
          </a:prstGeom>
          <a:solidFill>
            <a:srgbClr val="E9EDDF"/>
          </a:solidFill>
          <a:ln w="12700">
            <a:solidFill>
              <a:srgbClr val="E9EDDF"/>
            </a:solidFill>
            <a:prstDash val="solid"/>
          </a:ln>
        </p:spPr>
      </p:sp>
      <p:sp>
        <p:nvSpPr>
          <p:cNvPr id="14" name="Text 11"/>
          <p:cNvSpPr/>
          <p:nvPr/>
        </p:nvSpPr>
        <p:spPr>
          <a:xfrm>
            <a:off x="493776" y="6126480"/>
            <a:ext cx="9784080" cy="164592"/>
          </a:xfrm>
          <a:prstGeom prst="rect">
            <a:avLst/>
          </a:prstGeom>
          <a:noFill/>
          <a:ln/>
        </p:spPr>
        <p:txBody>
          <a:bodyPr wrap="square" lIns="0" tIns="0" rIns="0" bIns="0" rtlCol="0" anchor="ctr"/>
          <a:lstStyle/>
          <a:p>
            <a:pPr indent="0" marL="0">
              <a:buNone/>
            </a:pPr>
            <a:r>
              <a:rPr lang="en-US" sz="700" dirty="0">
                <a:solidFill>
                  <a:srgbClr val="A46343"/>
                </a:solidFill>
              </a:rPr>
              <a:t>TRY / REFLECT</a:t>
            </a:r>
            <a:endParaRPr lang="en-US" sz="700" dirty="0"/>
          </a:p>
        </p:txBody>
      </p:sp>
      <p:sp>
        <p:nvSpPr>
          <p:cNvPr id="15" name="Text 12"/>
          <p:cNvSpPr/>
          <p:nvPr/>
        </p:nvSpPr>
        <p:spPr>
          <a:xfrm>
            <a:off x="493776" y="6428232"/>
            <a:ext cx="9784080" cy="384048"/>
          </a:xfrm>
          <a:prstGeom prst="rect">
            <a:avLst/>
          </a:prstGeom>
          <a:noFill/>
          <a:ln/>
        </p:spPr>
        <p:txBody>
          <a:bodyPr wrap="square" lIns="0" tIns="0" rIns="0" bIns="0" rtlCol="0" anchor="ctr">
            <a:normAutofit/>
          </a:bodyPr>
          <a:lstStyle/>
          <a:p>
            <a:pPr indent="0" marL="0">
              <a:buNone/>
            </a:pPr>
            <a:r>
              <a:rPr lang="en-US" sz="1300" dirty="0">
                <a:solidFill>
                  <a:srgbClr val="344E41"/>
                </a:solidFill>
                <a:latin typeface="Georgia" pitchFamily="34" charset="0"/>
                <a:ea typeface="Georgia" pitchFamily="34" charset="-122"/>
                <a:cs typeface="Georgia" pitchFamily="34" charset="-120"/>
              </a:rPr>
              <a:t>Write the next small question you would want a reader to understand.</a:t>
            </a:r>
            <a:endParaRPr lang="en-US" sz="1300" dirty="0"/>
          </a:p>
        </p:txBody>
      </p:sp>
      <p:sp>
        <p:nvSpPr>
          <p:cNvPr id="16" name="Text 13"/>
          <p:cNvSpPr/>
          <p:nvPr/>
        </p:nvSpPr>
        <p:spPr>
          <a:xfrm>
            <a:off x="493776" y="6940296"/>
            <a:ext cx="9784080" cy="137160"/>
          </a:xfrm>
          <a:prstGeom prst="rect">
            <a:avLst/>
          </a:prstGeom>
          <a:noFill/>
          <a:ln/>
        </p:spPr>
        <p:txBody>
          <a:bodyPr wrap="square" lIns="0" tIns="0" rIns="0" bIns="0" rtlCol="0" anchor="ctr"/>
          <a:lstStyle/>
          <a:p>
            <a:pPr indent="0" marL="0">
              <a:buNone/>
            </a:pPr>
            <a:r>
              <a:rPr lang="en-US" sz="600" dirty="0">
                <a:solidFill>
                  <a:srgbClr val="77836B"/>
                </a:solidFill>
              </a:rPr>
              <a:t>PREVIEW / 32 PAGES / 10 OF 16 MAIN ILLUSTRATIONS / MODEL NUMBERS, NOT REAL READINGS</a:t>
            </a:r>
            <a:endParaRPr lang="en-US" sz="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PANTRY NOTES — New rebuild preview</dc:title>
  <dc:subject>32 pages; 10 of 16 independent illustrations; fictional arithmetic</dc:subject>
  <dc:creator>Design Buddy</dc:creator>
  <cp:lastModifiedBy>Design Buddy</cp:lastModifiedBy>
  <cp:revision>1</cp:revision>
  <dcterms:created xsi:type="dcterms:W3CDTF">2026-10-29T09:17:51Z</dcterms:created>
  <dcterms:modified xsi:type="dcterms:W3CDTF">2026-10-29T09:17:51Z</dcterms:modified>
</cp:coreProperties>
</file>